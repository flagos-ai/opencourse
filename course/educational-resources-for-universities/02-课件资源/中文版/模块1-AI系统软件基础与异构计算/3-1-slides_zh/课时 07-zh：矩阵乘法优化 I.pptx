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2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notesSlides/notesSlide1.xml" Type="http://schemas.openxmlformats.org/officeDocument/2006/relationships/notesSlide"/><Relationship Id="rId35" Target="notesSlides/notesSlide2.xml" Type="http://schemas.openxmlformats.org/officeDocument/2006/relationships/notesSlide"/><Relationship Id="rId36" Target="notesSlides/notesSlide3.xml" Type="http://schemas.openxmlformats.org/officeDocument/2006/relationships/notesSlide"/><Relationship Id="rId37" Target="notesSlides/notesSlide4.xml" Type="http://schemas.openxmlformats.org/officeDocument/2006/relationships/notesSlide"/><Relationship Id="rId38" Target="notesSlides/notesSlide5.xml" Type="http://schemas.openxmlformats.org/officeDocument/2006/relationships/notesSlide"/><Relationship Id="rId39" Target="notesSlides/notesSlide6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notesSlides/notesSlide10.xml" Type="http://schemas.openxmlformats.org/officeDocument/2006/relationships/notesSlide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46" Target="notesSlides/notesSlide13.xml" Type="http://schemas.openxmlformats.org/officeDocument/2006/relationships/notesSlide"/><Relationship Id="rId47" Target="notesSlides/notesSlide14.xml" Type="http://schemas.openxmlformats.org/officeDocument/2006/relationships/notesSlide"/><Relationship Id="rId48" Target="notesSlides/notesSlide15.xml" Type="http://schemas.openxmlformats.org/officeDocument/2006/relationships/notesSlide"/><Relationship Id="rId49" Target="notesSlides/notesSlide16.xml" Type="http://schemas.openxmlformats.org/officeDocument/2006/relationships/notesSlide"/><Relationship Id="rId50" Target="notesSlides/notesSlide17.xml" Type="http://schemas.openxmlformats.org/officeDocument/2006/relationships/notesSlide"/><Relationship Id="rId51" Target="notesSlides/notesSlide18.xml" Type="http://schemas.openxmlformats.org/officeDocument/2006/relationships/notesSlide"/><Relationship Id="rId52" Target="notesSlides/notesSlide19.xml" Type="http://schemas.openxmlformats.org/officeDocument/2006/relationships/notesSlide"/><Relationship Id="rId53" Target="notesSlides/notesSlide20.xml" Type="http://schemas.openxmlformats.org/officeDocument/2006/relationships/notesSlide"/><Relationship Id="rId54" Target="notesSlides/notesSlide21.xml" Type="http://schemas.openxmlformats.org/officeDocument/2006/relationships/notesSlide"/><Relationship Id="rId55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这节课我们来学习矩阵乘法优化。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首先明确矩阵乘法的数学定义：C[M, N] = A[M, K] × B[K, N]，C 的每个元素 C[i, j] = Σ A[i,k] × B[k,j]，对 k 从 0 到 K-1 求和。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计算复杂度是 O(M × N × K)，浮点运算次数约为 2MNK。对于典型的大模型，M、N、K 可能都在数千到数万量级，计算量极其巨大。矩阵乘法的关键特征是：它是计算密集型任务，计算量（FLOPs）远大于数据量（Bytes）。这意味着理论上硬件的计算峰值才是性能上限，而不是内存带宽——但前提是内存访问模式设计合理，否则反而会被内存带宽拖累。理解这一点，是后续所有优化讨论的前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朴素的 GPU 矩阵乘法为什么慢？核心问题是全局内存的重复读取。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在 Naive 实现中，每个 thread 独立计算一个 C[i,j] 的值，需要读取矩阵 A 的第 i 行（共 K 个元素）和矩阵 B 的第 j 列（共 K 个元素）。问题是：矩阵 A 的同一行，会被计算同一行 C 的所有 N 个 thread 各自读取一遍，重复 N 次；矩阵 B 的同一列，会被计算同一列 C 的所有 M 个 thread 各自读取一遍，重复 M 次。这意味着全局内存访问量是 O(M×N×K)，而理论上每个元素只需从内存读取一次。大量冗余的内存读取，导致严重的内存带宽浪费，成为性能瓶颈。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为什么内存访问过多是个大问题？因为 GPU 的内存带宽远远小于其计算能力的增长速度。以一张典型的高端 GPU 为例：计算峰值可达数十 TFLOPS，但内存带宽只有数百 GB/s——两者之间存在数量级的差距。当 Kernel 的内存访问量过多，计算单元就会大量空闲，等待数据到来，导致 GPU 实际利用率极低，性能显著下降。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这就是我们常说的"访存瓶颈"或"Memory Bound"问题。解决这个问题的核心思路，就是下面要讲的 Tiling（分块）技术——通过数据复用，大幅减少对全局内存的访问次数。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为什么需要 Tiling？目标很明确：减少 Global Memory 的访问次数，提高数据复用率。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核心思想是：不要让每个 thread 独自读取数据，而是让一组 thread 协作加载一小块（Tile）数据到速度更快的片上存储（Shared Memory），然后大家共享这份数据进行计算，计算完再加载下一块。这种"加载一次、使用多次"的策略，就是数据复用。复用率越高，需要从全局内存读取的总字节数就越少，访存压力就越小，性能就越好。Tiling 是 GPU 矩阵乘法优化的基础技术，也是所有高性能线性代数库（cuBLAS、CUTLASS 等）的核心机制。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Tiling 的基本思想是把大矩阵划分为若干小块。对于 C = A × B：矩阵 A 被切成若干 BLOCK_M × BLOCK_K 的小块；矩阵 B 被切成若干 BLOCK_K × BLOCK_N 的小块；每次将 A 的一块和 B 的一块加载到片上存储，计算它们的乘积，得到 C 的对应输出块的部分和（Partial Sum）；沿 K 维度循环，将所有 Partial Sum 累加，得到最终结果。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分块大小（BLOCK_M、BLOCK_N、BLOCK_K）的选择是性能调优的关键参数，不同硬件有不同的最优配置，这正是编译器 autotuning 需要解决的问题。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Tile 计算流程可以分为四步：第一步，加载 Tile A——从 Global Memory 加载当前 K 维度位置的 BLOCK_M × BLOCK_K 数据块；第二步，加载 Tile B——加载对应的 BLOCK_K × BLOCK_N 数据块；第三步，计算 Partial Sum——在片上进行局部矩阵乘法，将结果累加到 accumulator；第四步，重复 K 维度——步进 BLOCK_K，重复前三步，直到覆盖完整的 K 维度。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这四步形成一个循环，循环结束时 accumulator 中存储的就是 C 的对应输出块的最终值。这种流水线式的计算方式，使得数据加载和计算可以部分重叠，是现代 GPU 获得高效能的重要手段。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数据复用是 Tiling 性能提升的根本原因，我们来定量分析一下。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在 Naive 方式下，矩阵 A 的每个元素被读取 N 次，矩阵 B 的每个元素被读取 M 次，无任何复用，高内存带宽消耗。在 Tiled 方式下，每个 Tile 只从全局内存加载一次，然后在片上被复用多次，高效数据复用。以 Tile 大小为 32 × 32 为例，每个 Tile 被复用约 32 次，全局内存访问量减少约 32 倍。复用率越高，性能提升越显著。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讲到这里，我们引入一个非常重要的性能分析指标：Arithmetic Intensity，也叫算术强度，即计算访存比。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定义是：Arithmetic Intensity = FLOPs / Bytes，即每读取一个字节的数据，执行多少次浮点运算。分子 FLOPs 是浮点运算次数，分母 Bytes 是内存访问字节数。优化的目标是最大化 Compute / Memory ratio——让每次从内存读取的数据被尽可能多地参与计算。Tiling 的本质就是通过数据复用来提高这个比值。Arithmetic Intensity 是后续 Roofline 模型分析的核心输入，也是评价一个 Kernel 是否充分利用了硬件计算能力的关键指标。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现在我们把 Tiling 与 Arithmetic Intensity 联系起来。对于 Naive MatMul：每个元素被重复读取，Arithmetic Intensity 低；对于 Tiled MatMul：数据复用，Arithmetic Intensity 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更高的 Arithmetic Intensity 意味着：单位内存访问对应的计算量更大，内存带宽得到更充分的利用，性能更高。这是 Tiling 性能收益的定量解释。大家在做性能分析时，养成计算 Arithmetic Intensity 的习惯，是判断优化空间的第一步。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有了 Arithmetic Intensity 的概念，我们就可以引入 Roofline Model——一种分析 GPU Kernel 性能上限的经典工具。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Roofline Model 的核心公式是：Performance = min(Compute Peak, Bandwidth × Arithmetic Intensity)。当 Arithmetic Intensity 较低时，性能受限于内存带宽——Memory-Bound 区域；当 Arithmetic Intensity 足够高时，性能受限于计算峰值——Compute-Bound 区域。两条"屋顶线"的交点对应的 Arithmetic Intensity 叫做 Ridge Point（脊点）。对于矩阵乘法这类计算密集型任务，我们希望通过 Tiling 等优化手段，让 Kernel 工作在 Compute-Bound 区域，充分利用 GPU 的计算峰值。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我们来看 Tiling 如何在 Roofline 框架下改善性能。Tiling 通过数据复用提高了 Arithmetic Intensity，在 Roofline 图上，工作点从 Memory-Bound 区域向右移动，越过 Ridge Point，进入 Compute-Bound 区域，最终逼近计算峰值。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同时，Tiling 还减少了对全局内存的带宽压力，并提高了 Cache 的利用率。这两个效果相互叠加，共同推动性能提升。一个优化良好的 Tiled MatMul，其 Arithmetic Intensity 可以比 Naive 实现高出一到两个数量级，对应的性能提升也在同一量级。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在 Triton 中，Tiling 通过 Block-based 编程自然表达。每个 program 负责计算输出矩阵 C 的一个 BLOCK_M × BLOCK_N 的小块。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典型配置：BLOCK_M = 128，BLOCK_N = 128，即每个 program 计算 128×128 = 16384 个输出元素。Grid 是二维的，行方向 program 数量 = ceil(M / BLOCK_M)，列方向 = ceil(N / BLOCK_N)。这种 Block-based 的表达方式，使得 Tiling 的思想直接映射到 Triton 的编程模型中，代码结构与算法结构高度一致，易于理解和调优。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对于二维输出（矩阵），我们需要两个 program_id 来定位当前 program 负责的 tile 位置：pid_m = tl.program_id(0) 是 M 维度（行方向）的编号；pid_n = tl.program_id(1) 是 N 维度（列方向）的编号。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这两个 pid 共同确定了当前 program 要计算的是 C 矩阵中哪一个 BLOCK_M × BLOCK_N 的输出块。这是二维 Grid 的典型用法，与 CUDA 中的 blockIdx.x 和 blockIdx.y 直接对应。后续计算 tile 索引时，pid_m 和 pid_n 会分别乘以对应的 BLOCK 大小，得到该 tile 在矩阵中的起始行列位置。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有了 pid_m 和 pid_n，计算当前 tile 的偏移量数组：offs_m = pid_m * BLOCK_M + tl.arange(0, BLOCK_M)，生成当前 tile 在 M 维度上的全局行索引数组，长度为 BLOCK_M；offs_n = pid_n * BLOCK_N + tl.arange(0, BLOCK_N)，生成 N 维度上的全局列索引数组，长度为 BLOCK_N。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这两个偏移量数组共同描述了当前 tile 在输出矩阵 C 中的位置。后续在加载矩阵 A 和 B 的 tile 数据时，也会类似地计算 offs_k。理解这种多维偏移量的计算方式，是掌握 Triton 矩阵乘法 Kernel 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矩阵乘法的核心是沿 K 维度的循环：for k in range(0, K, BLOCK_K)。这个循环从 k=0 开始，步长为 BLOCK_K，每次循环处理 K 维度上一段 BLOCK_K 宽度的数据块，直到覆盖完整的 K 维度。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每次循环执行三个操作：加载 A 的当前 tile；加载 B 的当前 tile；将这两个 tile 的乘积累加到 accumulator。这个循环的迭代次数是 K / BLOCK_K，每次迭代对应一次从全局内存的数据加载和一次局部矩阵乘。整个循环结束后，accumulator 存储的就是 C 对应块的最终值。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Accumulator（累加器）是 Tiled MatMul 实现中的重要概念。代码是：acc = tl.zeros((BLOCK_M, BLOCK_N)) 初始化为全零 tensor；在 K 维度循环中，acc += tl.dot(a, b) 将每个 Tile 的乘积累加进去。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使用 accumulator 的核心优势是：避免频繁写全局内存——所有中间结果都保留在寄存器中，只有在 K 维度循环全部完成后，才一次性写回全局内存。tl.dot(a, b) 在 Triton 中会被编译器映射为 GPU 的矩阵乘加指令（如 Tensor Core 的 MMA 指令），能充分利用 GPU 的专用矩阵计算硬件。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K 维度循环结束后，acc 中存储了完整的 BLOCK_M × BLOCK_N 输出块，最后一步是 tl.store(C_ptr, acc) 将其写回全局内存中 C 矩阵的对应位置。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关键特点：整个计算过程中，对 C 的全局内存只写一次，而不是在每次 K 维度循环迭代中都写一次。这种"延迟写回"的策略是减少写带宽消耗的标准方法。实际代码中写回时也需要加上越界保护 mask，处理方式与 Vector Add 完全一致，这再次印证了 mask 机制是 Triton 编程的基础模式。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99A1AF">
                    <a:alpha val="100000"/>
                  </a:srgbClr>
                </a:solidFill>
                <a:latin typeface="MiSans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实际应用中，被处理的矩阵往往非常大，无法一次性全部加载到 GPU 内存中。以 4096×4096 的单精度浮点矩阵为例，仅存储就需要约 64MB 显存，处理多个这样的矩阵时显存压力更大。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99A1AF"/>
                </a:solidFill>
                <a:latin typeface="MiSans"/>
                <a:ea typeface="MiSans"/>
                <a:cs typeface="MiSans"/>
                <a:sym typeface="MiSans"/>
              </a:rPr>
              <a:t>解决方案是 Streaming Computation（流式计算）：将大矩阵分为若干个 Chunk，逐块加载、逐块计算、逐块写回。Tiled MatMul 天然支持 Streaming 计算——K 维度的循环本身就是一种 Streaming 模式，每次只需在片上保存当前两个 Tile 和一个 accumulator。这使得 Tiled MatMul 的内存需求与 K 的大小无关，只取决于 Block Size，具有很好的可扩展性。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来看完整的 Triton MatMul Kernel 框架。整个 Kernel 的结构非常清晰：首先用 pid_m 和 pid_n 确定当前 program 负责的输出 tile 位置；然后初始化 accumulator；接着进入 K 维度循环——每次加载 A 和 B 的对应 tile，调用 tl.dot 计算并累加；最后循环结束后，将 acc 写回全局内存。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这个框架代码是理解后续所有高性能矩阵 Kernel（含融合 Kernel，如 Flash Attention）的基础。所有的优化技巧——Double Buffering、Warp Tiling、软件流水线等——都是在这个基础框架上的扩展和改进。建议大家把这个框架代码背下来，理解每一行的作用。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本节内容总结如下。我们从五个维度系统讲解了矩阵乘法优化：第一，Naive MatMul 慢的根本原因——重复读取全局内存，造成内存带宽瓶颈；第二，Tiling 的原理——数据分块、数据复用、减少访存；第三，Arithmetic Intensity——计算访存比，衡量 Kernel 效率的核心指标；第四，Roofline Model——分析性能上限的工具，帮助判断 Kernel 是 Memory-Bound 还是 Compute-Bound；第五，Triton Tiled MatMul 的实现——Block-based 编程、二维 program_id、accumulator 累加、Streaming 写回。这五个概念层层递进，构成了 GPU 矩阵乘法优化的完整知识体系。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简介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面向多芯片的统一、开源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系统软件栈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FlagOS 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，是由芯片企业、系统厂商、算法和软件相关单位、非营利性组织、科研机构等十多家国内外机构共同发起并创立的，围绕多种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芯片使用的核心痛点问题，打造的包括通用算子库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、自动迁移发版平台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FlagRelease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和多芯片评测工具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的系统软件生态。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FlagOS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让我们看到了打破不同芯片软件栈之间生态隔离的可能性，将有效降低开发者的迁移成本。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官网：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交互式问答入口：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https://wiki.flagos.io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官方文档：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https://docs.flagos.io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最新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版本介绍：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https://mp.weixin.qq.com/s/eBgg6_5FJV-RuYk5fBQvOg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💕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真诚开源，欢迎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Star-Watch-Fork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、高性能通用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算子库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FlagGems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https://github.com/flagos-ai/FlagGems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编译器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FlagTree: https://github.com/flagos-ai/flagtree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、并行训推一体框架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FlagScale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https://github.com/flagos-ai/FlagScale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、统一通信库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FlagCX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https://github.com/flagos-ai/FlagCX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、大模型评测工具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FlagPerf: https://github.com/flagos-ai/flagperf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、算子自动生成工具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KernelGen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：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https://kernelgen.flagos.io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b="false" i="false" strike="noStrike" u="none" sz="1200">
                <a:solidFill>
                  <a:srgbClr val="000000"/>
                </a:solidFill>
              </a:rPr>
              <a:t>、大模型发版工具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FlagRelease: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https://modelscope.cn/organization/FlagRelease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https://huggingface.co/FlagRelease/models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https://www.wisemodel.cn/models/FlagRelease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https://www.gpufree.cn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https://www.aihuanxin.cn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国内镜像站点：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https://gitcode.com/flagos-ai 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https://gitee.com/flagos-ai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微信公众号：智源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  <a:p>
            <a:pPr algn="l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  <a:latin typeface="DengXian"/>
                <a:ea typeface="DengXian"/>
                <a:cs typeface="DengXian"/>
                <a:sym typeface="DengXian"/>
              </a:rPr>
              <a:t>视频号：智源</a:t>
            </a:r>
            <a:r>
              <a:rPr lang="en-US" b="false" i="false" strike="noStrike" u="non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FlagOpen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Layouts/_rels/slideLayout13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4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5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6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17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8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19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1.png" Type="http://schemas.openxmlformats.org/officeDocument/2006/relationships/image"/></Relationships>
</file>

<file path=ppt/slideLayouts/_rels/slideLayout20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_rels/slideLayout21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_rels/slideLayout2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7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8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5" id="5"/>
          <p:cNvSpPr/>
          <p:nvPr>
            <p:ph idx="9" type="body" sz="quarter" hasCustomPrompt="true"/>
          </p:nvPr>
        </p:nvSpPr>
        <p:spPr>
          <a:xfrm rot="0" flipH="false" flipV="false"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0" type="body" sz="quarter" hasCustomPrompt="true"/>
          </p:nvPr>
        </p:nvSpPr>
        <p:spPr>
          <a:xfrm rot="0" flipH="false" flipV="false">
            <a:off x="741404" y="431629"/>
            <a:ext cx="9987507" cy="7009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1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2" type="body" sz="quarter" hasCustomPrompt="true"/>
          </p:nvPr>
        </p:nvSpPr>
        <p:spPr>
          <a:xfrm rot="0" flipH="false" flipV="false"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3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6" id="6"/>
          <p:cNvSpPr/>
          <p:nvPr>
            <p:ph idx="14" type="body" sz="quarter" hasCustomPrompt="true"/>
          </p:nvPr>
        </p:nvSpPr>
        <p:spPr>
          <a:xfrm rot="0" flipH="false" flipV="false"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5" type="body" sz="quarter" hasCustomPrompt="true"/>
          </p:nvPr>
        </p:nvSpPr>
        <p:spPr>
          <a:xfrm rot="0" flipH="false" flipV="false"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3" id="3"/>
          <p:cNvSpPr/>
          <p:nvPr>
            <p:ph idx="16" type="body" sz="quarter" hasCustomPrompt="true"/>
          </p:nvPr>
        </p:nvSpPr>
        <p:spPr>
          <a:xfrm rot="0" flipH="false" flipV="false"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‹#›</a:t>
            </a:r>
          </a:p>
        </p:txBody>
      </p:sp>
      <p:sp>
        <p:nvSpPr>
          <p:cNvPr name="AutoShape 4" id="4"/>
          <p:cNvSpPr/>
          <p:nvPr>
            <p:ph idx="17" type="body" sz="quarter" hasCustomPrompt="true"/>
          </p:nvPr>
        </p:nvSpPr>
        <p:spPr>
          <a:xfrm rot="0" flipH="false" flipV="false"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4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04800" marL="304800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254000" lvl="1" marL="596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03200" lvl="2" marL="8890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152400" lvl="3" marL="11811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2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sp>
        <p:nvSpPr>
          <p:cNvPr name="AutoShape 5" id="5"/>
          <p:cNvSpPr/>
          <p:nvPr>
            <p:ph idx="18" type="body" sz="quarter" hasCustomPrompt="true"/>
          </p:nvPr>
        </p:nvSpPr>
        <p:spPr>
          <a:xfrm rot="0" flipH="false" flipV="false"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19" type="body" sz="quarter" hasCustomPrompt="true"/>
          </p:nvPr>
        </p:nvSpPr>
        <p:spPr>
          <a:xfrm rot="0" flipH="false" flipV="false"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2800" b="false" i="false" u="none" strike="noStrike" spc="0">
                <a:solidFill>
                  <a:srgbClr val="404040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-355600" marL="355600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8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编辑母版文本样式</a:t>
            </a:r>
          </a:p>
          <a:p>
            <a:pPr algn="l" indent="-304800" lvl="1" marL="6477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4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第二级</a:t>
            </a:r>
          </a:p>
          <a:p>
            <a:pPr algn="l" indent="-254000" lvl="2" marL="9398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20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第三级</a:t>
            </a:r>
          </a:p>
          <a:p>
            <a:pPr algn="l" indent="-203200" lvl="3" marL="1231900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b="false" i="false" strike="noStrike" u="none" sz="1600">
                <a:solidFill>
                  <a:srgbClr val="404040"/>
                </a:solidFill>
                <a:latin typeface="微软雅黑"/>
                <a:ea typeface="微软雅黑"/>
                <a:cs typeface="微软雅黑"/>
                <a:sym typeface="微软雅黑"/>
              </a:rPr>
              <a:t>第四级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name="Connector 4" id="4"/>
            <p:cNvCxnSpPr/>
            <p:nvPr/>
          </p:nvCxnSpPr>
          <p:spPr>
            <a:xfrm rot="0" flipH="false" flipV="false"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name="Group 5" id="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name="Freeform 6" id="6"/>
              <p:cNvSpPr/>
              <p:nvPr/>
            </p:nvSpPr>
            <p:spPr>
              <a:xfrm rot="0" flipH="false" flipV="false"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r="r" b="b" t="t" l="l"/>
                <a:pathLst>
                  <a:path h="1154112" w="301824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7" id="7"/>
              <p:cNvSpPr/>
              <p:nvPr/>
            </p:nvSpPr>
            <p:spPr>
              <a:xfrm rot="0" flipH="false" flipV="false"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r="r" b="b" t="t" l="l"/>
                <a:pathLst>
                  <a:path h="155575" w="158940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8" id="8"/>
              <p:cNvSpPr/>
              <p:nvPr/>
            </p:nvSpPr>
            <p:spPr>
              <a:xfrm rot="0" flipH="false" flipV="false"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r="r" b="b" t="t" l="l"/>
                <a:pathLst>
                  <a:path h="188912" w="191049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9" id="9"/>
              <p:cNvSpPr/>
              <p:nvPr/>
            </p:nvSpPr>
            <p:spPr>
              <a:xfrm rot="0" flipH="false" flipV="false"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r="r" b="b" t="t" l="l"/>
                <a:pathLst>
                  <a:path h="1801812" w="311457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Freeform 10" id="10"/>
              <p:cNvSpPr/>
              <p:nvPr/>
            </p:nvSpPr>
            <p:spPr>
              <a:xfrm rot="0" flipH="false" flipV="false"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r="r" b="b" t="t" l="l"/>
                <a:pathLst>
                  <a:path h="188913" w="192654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name="AutoShape 11" id="11"/>
              <p:cNvSpPr/>
              <p:nvPr/>
            </p:nvSpPr>
            <p:spPr>
              <a:xfrm rot="0" flipH="false" flipV="false"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anchor="t" rtlCol="false" wrap="square" lIns="91440" rIns="91440" tIns="45720" bIns="45720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name="AutoShape 12" id="12"/>
          <p:cNvSpPr/>
          <p:nvPr>
            <p:ph idx="20" type="body" sz="quarter" hasCustomPrompt="true"/>
          </p:nvPr>
        </p:nvSpPr>
        <p:spPr>
          <a:xfrm rot="0" flipH="false" flipV="false"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3200" b="true" i="false" u="none" strike="noStrike" spc="0">
                <a:solidFill>
                  <a:srgbClr val="FFFFFF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true" i="false" strike="noStrike" u="none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1" type="body" sz="quarter" hasCustomPrompt="true"/>
          </p:nvPr>
        </p:nvSpPr>
        <p:spPr>
          <a:xfrm rot="0" flipH="false" flipV="false"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 indent="0">
              <a:lnSpc>
                <a:spcPct val="100000"/>
              </a:lnSpc>
            </a:pPr>
            <a:r>
              <a:rPr lang="en-US" b="false" i="false" strike="noStrike" u="none" sz="2400">
                <a:solidFill>
                  <a:srgbClr val="262626"/>
                </a:solidFill>
                <a:latin typeface="Calibri Light"/>
                <a:ea typeface="Calibri Light"/>
                <a:cs typeface="Calibri Light"/>
                <a:sym typeface="Calibri Light"/>
              </a:rPr>
              <a:t>日期</a:t>
            </a:r>
          </a:p>
        </p:txBody>
      </p:sp>
      <p:sp>
        <p:nvSpPr>
          <p:cNvPr name="AutoShape 3" id="3"/>
          <p:cNvSpPr/>
          <p:nvPr>
            <p:ph idx="22" type="body" sz="quarter" hasCustomPrompt="true"/>
          </p:nvPr>
        </p:nvSpPr>
        <p:spPr>
          <a:xfrm rot="0" flipH="false" flipV="false"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A5A5A5"/>
                </a:solidFill>
                <a:latin typeface="Garamond"/>
                <a:ea typeface="Garamond"/>
                <a:cs typeface="Garamond"/>
                <a:sym typeface="Garamond"/>
              </a:rPr>
              <a:t>页脚</a:t>
            </a:r>
          </a:p>
        </p:txBody>
      </p:sp>
      <p:sp>
        <p:nvSpPr>
          <p:cNvPr name="AutoShape 4" id="4"/>
          <p:cNvSpPr/>
          <p:nvPr>
            <p:ph idx="23" type="body" sz="quarter" hasCustomPrompt="true"/>
          </p:nvPr>
        </p:nvSpPr>
        <p:spPr>
          <a:xfrm rot="0" flipH="false" flipV="false"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单击此处编辑母版标题样式</a:t>
            </a:r>
          </a:p>
        </p:txBody>
      </p:sp>
      <p:sp>
        <p:nvSpPr>
          <p:cNvPr name="AutoShape 5" id="5"/>
          <p:cNvSpPr/>
          <p:nvPr>
            <p:ph idx="24" type="body" sz="quarter" hasCustomPrompt="true"/>
          </p:nvPr>
        </p:nvSpPr>
        <p:spPr>
          <a:xfrm rot="0" flipH="false" flipV="false"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100000"/>
              </a:lnSpc>
              <a:defRPr sz="24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24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5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6" type="body" sz="quarter" hasCustomPrompt="true"/>
          </p:nvPr>
        </p:nvSpPr>
        <p:spPr>
          <a:xfrm rot="0" flipH="false" flipV="false"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27" type="pic" sz="quarter"/>
          </p:nvPr>
        </p:nvSpPr>
        <p:spPr>
          <a:xfrm rot="0" flipH="false" flipV="false"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lIns="63500" rIns="63500" tIns="63500" bIns="63500"/>
          <a:lstStyle>
            <a:lvl1pPr algn="ctr">
              <a:defRPr sz="16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algn="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b="false" i="false" strike="noStrike" u="none" sz="4400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b="false" i="false" strike="noStrike" u="none" sz="4400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2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3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16.png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10" Target="../slideLayouts/slideLayout17.xml" Type="http://schemas.openxmlformats.org/officeDocument/2006/relationships/slideLayout"/><Relationship Id="rId11" Target="../slideLayouts/slideLayout18.xml" Type="http://schemas.openxmlformats.org/officeDocument/2006/relationships/slideLayout"/><Relationship Id="rId12" Target="../slideLayouts/slideLayout19.xml" Type="http://schemas.openxmlformats.org/officeDocument/2006/relationships/slideLayout"/><Relationship Id="rId13" Target="../slideLayouts/slideLayout20.xml" Type="http://schemas.openxmlformats.org/officeDocument/2006/relationships/slideLayout"/><Relationship Id="rId14" Target="../slideLayouts/slideLayout21.xml" Type="http://schemas.openxmlformats.org/officeDocument/2006/relationships/slideLayout"/><Relationship Id="rId15" Target="../slideLayouts/slideLayout22.xml" Type="http://schemas.openxmlformats.org/officeDocument/2006/relationships/slideLayout"/><Relationship Id="rId16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slideLayouts/slideLayout12.xml" Type="http://schemas.openxmlformats.org/officeDocument/2006/relationships/slideLayout"/><Relationship Id="rId6" Target="../slideLayouts/slideLayout13.xml" Type="http://schemas.openxmlformats.org/officeDocument/2006/relationships/slideLayout"/><Relationship Id="rId7" Target="../slideLayouts/slideLayout14.xml" Type="http://schemas.openxmlformats.org/officeDocument/2006/relationships/slideLayout"/><Relationship Id="rId8" Target="../slideLayouts/slideLayout15.xml" Type="http://schemas.openxmlformats.org/officeDocument/2006/relationships/slideLayout"/><Relationship Id="rId9" Target="../slideLayouts/slideLayout16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  <p:pic>
        <p:nvPicPr>
          <p:cNvPr name="Picture 1" id="1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母版">
    <p:bg>
      <p:bgPr>
        <a:blipFill dpi="0" rotWithShape="true">
          <a:blip r:embed="rId2">
            <a:lum/>
          </a:blip>
          <a:srcRect/>
          <a:stretch>
            <a:fillRect l="0" r="0" t="0" b="0"/>
          </a:stretch>
        </a:blip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1" id="1"/>
          <p:cNvSpPr/>
          <p:nvPr/>
        </p:nvSpPr>
        <p:spPr>
          <a:xfrm rot="0" flipH="false" flipV="true">
            <a:off x="-4185" y="529393"/>
            <a:ext cx="567982" cy="507999"/>
          </a:xfrm>
          <a:custGeom>
            <a:avLst/>
            <a:gdLst/>
            <a:ahLst/>
            <a:cxnLst/>
            <a:rect r="r" b="b" t="t" l="l"/>
            <a:pathLst>
              <a:path h="507999" w="567982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grpSp>
        <p:nvGrpSpPr>
          <p:cNvPr name="Group 2" id="2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4"/>
            <a:srcRect l="13229" r="10430" t="29812" b="29795"/>
            <a:stretch>
              <a:fillRect/>
            </a:stretch>
          </p:blipFill>
          <p:spPr>
            <a:xfrm rot="0" flipH="false" flipV="false"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9017000" y="5029200"/>
            <a:ext cx="2286000" cy="1371600"/>
          </a:xfrm>
          <a:prstGeom prst="rect">
            <a:avLst/>
          </a:prstGeom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5"/>
    <p:sldLayoutId id="2157483700" r:id="rId6"/>
    <p:sldLayoutId id="2157483701" r:id="rId7"/>
    <p:sldLayoutId id="2157483702" r:id="rId8"/>
    <p:sldLayoutId id="2157483703" r:id="rId9"/>
    <p:sldLayoutId id="2157483704" r:id="rId10"/>
    <p:sldLayoutId id="2157483705" r:id="rId11"/>
    <p:sldLayoutId id="2157483706" r:id="rId12"/>
    <p:sldLayoutId id="2157483707" r:id="rId13"/>
    <p:sldLayoutId id="2157483708" r:id="rId14"/>
    <p:sldLayoutId id="2157483709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21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8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0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3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22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7.xml" Type="http://schemas.openxmlformats.org/officeDocument/2006/relationships/slideLayout"/><Relationship Id="rId10" Target="https://www.zhihu.com/people/95-22-20-18/posts" TargetMode="External" Type="http://schemas.openxmlformats.org/officeDocument/2006/relationships/hyperlink"/><Relationship Id="rId11" Target="https://flagos.io/Home" TargetMode="External" Type="http://schemas.openxmlformats.org/officeDocument/2006/relationships/hyperlink"/><Relationship Id="rId12" Target="../media/image13.jpeg" Type="http://schemas.openxmlformats.org/officeDocument/2006/relationships/image"/><Relationship Id="rId13" Target="../media/image14.pn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https://github.com/flagos-ai" TargetMode="External" Type="http://schemas.openxmlformats.org/officeDocument/2006/relationships/hyperlink"/><Relationship Id="rId9" Target="https://space.bilibili.com/3546791834290849" TargetMode="External" Type="http://schemas.openxmlformats.org/officeDocument/2006/relationships/hyperlink"/></Relationships>
</file>

<file path=ppt/slides/_rels/slide25.xml.rels><?xml version="1.0" encoding="UTF-8" standalone="yes"?><Relationships xmlns="http://schemas.openxmlformats.org/package/2006/relationships"><Relationship Id="rId1" Target="../slideLayouts/slideLayout22.xml" Type="http://schemas.openxmlformats.org/officeDocument/2006/relationships/slideLayout"/><Relationship Id="rId2" Target="../media/image15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5" type="pic" sz="quarter"/>
          </p:nvPr>
        </p:nvPicPr>
        <p:blipFill>
          <a:blip r:embed="rId2"/>
          <a:srcRect l="0" r="0" t="349" b="349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91666"/>
              </a:lnSpc>
              <a:defRPr sz="4400" b="tru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91666"/>
              </a:lnSpc>
            </a:pP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智能计算系统</a:t>
            </a:r>
            <a:b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b="tru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软硬件基础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name="AutoShape 5" id="5"/>
            <p:cNvSpPr/>
            <p:nvPr/>
          </p:nvSpPr>
          <p:spPr>
            <a:xfrm rot="0" flipH="false" flipV="false"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anchor="ctr" rtlCol="false" wrap="square" lIns="91440" rIns="91440" tIns="45720" bIns="45720">
              <a:noAutofit/>
            </a:bodyPr>
            <a:lstStyle/>
            <a:p>
              <a:pPr algn="ctr" indent="0">
                <a:lnSpc>
                  <a:spcPct val="100000"/>
                </a:lnSpc>
                <a:defRPr/>
              </a:pPr>
              <a:r>
                <a:rPr lang="en-US" b="false" i="false" strike="noStrike" u="none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lang="en-US" sz="1100"/>
            </a:p>
          </p:txBody>
        </p:sp>
      </p:grpSp>
      <p:grpSp>
        <p:nvGrpSpPr>
          <p:cNvPr name="Group 7" id="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8" id="8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9" id="9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5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rmAutofit lnSpcReduction="0"/>
          </a:bodyPr>
          <a:lstStyle>
            <a:lvl1pPr algn="ctr">
              <a:lnSpc>
                <a:spcPct val="100000"/>
              </a:lnSpc>
              <a:defRPr sz="5100" b="false" i="false" u="none" strike="noStrike" spc="0">
                <a:solidFill>
                  <a:srgbClr val="262626">
                    <a:alpha val="100000"/>
                  </a:srgbClr>
                </a:solidFill>
                <a:latin typeface="Calibri"/>
              </a:defRPr>
            </a:lvl1pPr>
          </a:lstStyle>
          <a:p>
            <a:pPr algn="ctr" indent="0">
              <a:lnSpc>
                <a:spcPct val="100000"/>
              </a:lnSpc>
              <a:spcBef>
                <a:spcPts val="1500"/>
              </a:spcBef>
            </a:pP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Lecture 7</a:t>
            </a:r>
            <a:r>
              <a:rPr lang="en-US" b="false" i="false" strike="noStrike" u="none" sz="51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：矩阵乘法优化</a:t>
            </a:r>
            <a:r>
              <a:rPr lang="en-US" b="false" i="false" strike="noStrike" u="none" sz="51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I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6186" y="638524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矩阵乘法基础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1962236"/>
            <a:ext cx="5562600" cy="3504963"/>
            <a:chOff x="380956" y="1962236"/>
            <a:chExt cx="5562600" cy="3504963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1962236"/>
              <a:ext cx="55626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5562600">
                  <a:moveTo>
                    <a:pt x="76197" y="0"/>
                  </a:moveTo>
                  <a:lnTo>
                    <a:pt x="5486403" y="0"/>
                  </a:lnTo>
                  <a:cubicBezTo>
                    <a:pt x="5528485" y="0"/>
                    <a:pt x="5562600" y="34115"/>
                    <a:pt x="5562600" y="76197"/>
                  </a:cubicBezTo>
                  <a:lnTo>
                    <a:pt x="5562600" y="1409703"/>
                  </a:lnTo>
                  <a:cubicBezTo>
                    <a:pt x="5562600" y="1451785"/>
                    <a:pt x="5528485" y="1485900"/>
                    <a:pt x="5486403" y="1485900"/>
                  </a:cubicBezTo>
                  <a:lnTo>
                    <a:pt x="76197" y="1485900"/>
                  </a:lnTo>
                  <a:cubicBezTo>
                    <a:pt x="34115" y="1485900"/>
                    <a:pt x="0" y="1451785"/>
                    <a:pt x="0" y="1409703"/>
                  </a:cubicBezTo>
                  <a:lnTo>
                    <a:pt x="0" y="76197"/>
                  </a:lnTo>
                  <a:cubicBezTo>
                    <a:pt x="0" y="34143"/>
                    <a:pt x="34143" y="0"/>
                    <a:pt x="76197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5" id="5"/>
            <p:cNvSpPr/>
            <p:nvPr/>
          </p:nvSpPr>
          <p:spPr>
            <a:xfrm rot="0" flipH="false" flipV="false">
              <a:off x="609529" y="2190809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矩阵乘法定义</a:t>
              </a:r>
              <a:endParaRPr lang="en-US" sz="1100"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628484" y="2609897"/>
              <a:ext cx="5086255" cy="609600"/>
            </a:xfrm>
            <a:custGeom>
              <a:avLst/>
              <a:gdLst/>
              <a:ahLst/>
              <a:cxnLst/>
              <a:rect r="r" b="b" t="t" l="l"/>
              <a:pathLst>
                <a:path h="609600" w="5086255">
                  <a:moveTo>
                    <a:pt x="37910" y="0"/>
                  </a:moveTo>
                  <a:lnTo>
                    <a:pt x="5048155" y="0"/>
                  </a:lnTo>
                  <a:cubicBezTo>
                    <a:pt x="5069183" y="0"/>
                    <a:pt x="5086255" y="17073"/>
                    <a:pt x="5086255" y="38100"/>
                  </a:cubicBezTo>
                  <a:lnTo>
                    <a:pt x="5086255" y="571500"/>
                  </a:lnTo>
                  <a:cubicBezTo>
                    <a:pt x="5086255" y="592527"/>
                    <a:pt x="5069183" y="609600"/>
                    <a:pt x="5048155" y="609600"/>
                  </a:cubicBezTo>
                  <a:lnTo>
                    <a:pt x="37910" y="609600"/>
                  </a:lnTo>
                  <a:cubicBezTo>
                    <a:pt x="16974" y="609600"/>
                    <a:pt x="0" y="592626"/>
                    <a:pt x="0" y="5716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7" id="7"/>
            <p:cNvSpPr/>
            <p:nvPr/>
          </p:nvSpPr>
          <p:spPr>
            <a:xfrm rot="0" flipH="false" flipV="false">
              <a:off x="628484" y="2609897"/>
              <a:ext cx="37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609600"/>
                  </a:lnTo>
                  <a:lnTo>
                    <a:pt x="37910" y="609600"/>
                  </a:lnTo>
                  <a:cubicBezTo>
                    <a:pt x="16974" y="609600"/>
                    <a:pt x="0" y="592626"/>
                    <a:pt x="0" y="5716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609529" y="2609897"/>
              <a:ext cx="5181600" cy="609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152400" bIns="152400">
              <a:noAutofit/>
            </a:bodyPr>
            <a:lstStyle/>
            <a:p>
              <a:pPr algn="l" indent="0">
                <a:lnSpc>
                  <a:spcPct val="108333"/>
                </a:lnSpc>
                <a:defRPr/>
              </a:pPr>
              <a:r>
                <a:rPr lang="en-US" b="false" i="false" strike="noStrike" u="none" sz="1800">
                  <a:solidFill>
                    <a:srgbClr val="1A1A1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C[M, N] = A[M, K] × B[K, N]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380956" y="3676499"/>
              <a:ext cx="55626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5562600">
                  <a:moveTo>
                    <a:pt x="76194" y="0"/>
                  </a:moveTo>
                  <a:lnTo>
                    <a:pt x="5486406" y="0"/>
                  </a:lnTo>
                  <a:cubicBezTo>
                    <a:pt x="5528459" y="0"/>
                    <a:pt x="5562600" y="34141"/>
                    <a:pt x="5562600" y="76194"/>
                  </a:cubicBezTo>
                  <a:lnTo>
                    <a:pt x="5562600" y="1714506"/>
                  </a:lnTo>
                  <a:cubicBezTo>
                    <a:pt x="5562600" y="1756587"/>
                    <a:pt x="5528487" y="1790700"/>
                    <a:pt x="5486406" y="1790700"/>
                  </a:cubicBezTo>
                  <a:lnTo>
                    <a:pt x="76194" y="1790700"/>
                  </a:lnTo>
                  <a:cubicBezTo>
                    <a:pt x="34141" y="1790700"/>
                    <a:pt x="0" y="1756559"/>
                    <a:pt x="0" y="1714506"/>
                  </a:cubicBezTo>
                  <a:lnTo>
                    <a:pt x="0" y="76194"/>
                  </a:lnTo>
                  <a:cubicBezTo>
                    <a:pt x="0" y="34141"/>
                    <a:pt x="34141" y="0"/>
                    <a:pt x="76194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0" id="10"/>
            <p:cNvSpPr/>
            <p:nvPr/>
          </p:nvSpPr>
          <p:spPr>
            <a:xfrm rot="0" flipH="false" flipV="false">
              <a:off x="609529" y="3905072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计算公式</a:t>
              </a:r>
              <a:endParaRPr lang="en-US" sz="1100"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28484" y="4324160"/>
              <a:ext cx="5086255" cy="571500"/>
            </a:xfrm>
            <a:custGeom>
              <a:avLst/>
              <a:gdLst/>
              <a:ahLst/>
              <a:cxnLst/>
              <a:rect r="r" b="b" t="t" l="l"/>
              <a:pathLst>
                <a:path h="571500" w="5086255">
                  <a:moveTo>
                    <a:pt x="37910" y="0"/>
                  </a:moveTo>
                  <a:lnTo>
                    <a:pt x="5048153" y="0"/>
                  </a:lnTo>
                  <a:cubicBezTo>
                    <a:pt x="5069196" y="0"/>
                    <a:pt x="5086255" y="17059"/>
                    <a:pt x="5086255" y="38103"/>
                  </a:cubicBezTo>
                  <a:lnTo>
                    <a:pt x="5086255" y="533397"/>
                  </a:lnTo>
                  <a:cubicBezTo>
                    <a:pt x="5086255" y="554441"/>
                    <a:pt x="5069196" y="571500"/>
                    <a:pt x="5048153" y="571500"/>
                  </a:cubicBezTo>
                  <a:lnTo>
                    <a:pt x="37910" y="571500"/>
                  </a:lnTo>
                  <a:cubicBezTo>
                    <a:pt x="16974" y="571500"/>
                    <a:pt x="0" y="554526"/>
                    <a:pt x="0" y="5335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28484" y="4324160"/>
              <a:ext cx="37909" cy="571500"/>
            </a:xfrm>
            <a:custGeom>
              <a:avLst/>
              <a:gdLst/>
              <a:ahLst/>
              <a:cxnLst/>
              <a:rect r="r" b="b" t="t" l="l"/>
              <a:pathLst>
                <a:path h="57150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571500"/>
                  </a:lnTo>
                  <a:lnTo>
                    <a:pt x="37910" y="571500"/>
                  </a:lnTo>
                  <a:cubicBezTo>
                    <a:pt x="16974" y="571500"/>
                    <a:pt x="0" y="554526"/>
                    <a:pt x="0" y="5335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09529" y="4324160"/>
              <a:ext cx="5162550" cy="5715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52400" rIns="152400" tIns="152400" bIns="15240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false" i="false" strike="noStrike" u="none" sz="1500">
                  <a:solidFill>
                    <a:srgbClr val="1A1A1A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C[i, j] = Σ A[i, k] × B[k, j]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609529" y="5009880"/>
              <a:ext cx="51816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对 k 从 0 到 K-1 求和</a:t>
              </a:r>
              <a:endParaRPr lang="en-US" sz="1100"/>
            </a:p>
          </p:txBody>
        </p:sp>
      </p:grpSp>
      <p:grpSp>
        <p:nvGrpSpPr>
          <p:cNvPr name="Group 15" id="15"/>
          <p:cNvGrpSpPr/>
          <p:nvPr/>
        </p:nvGrpSpPr>
        <p:grpSpPr>
          <a:xfrm>
            <a:off x="6305506" y="1052973"/>
            <a:ext cx="5562600" cy="3228619"/>
            <a:chOff x="6305506" y="1052973"/>
            <a:chExt cx="5562600" cy="3228619"/>
          </a:xfrm>
        </p:grpSpPr>
        <p:sp>
          <p:nvSpPr>
            <p:cNvPr name="Freeform 16" id="16"/>
            <p:cNvSpPr/>
            <p:nvPr/>
          </p:nvSpPr>
          <p:spPr>
            <a:xfrm rot="0" flipH="false" flipV="false">
              <a:off x="6305506" y="1052973"/>
              <a:ext cx="55626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5562600">
                  <a:moveTo>
                    <a:pt x="76203" y="0"/>
                  </a:moveTo>
                  <a:lnTo>
                    <a:pt x="5486397" y="0"/>
                  </a:lnTo>
                  <a:cubicBezTo>
                    <a:pt x="5528483" y="0"/>
                    <a:pt x="5562600" y="34117"/>
                    <a:pt x="5562600" y="76203"/>
                  </a:cubicBezTo>
                  <a:lnTo>
                    <a:pt x="5562600" y="1523997"/>
                  </a:lnTo>
                  <a:cubicBezTo>
                    <a:pt x="5562600" y="1566083"/>
                    <a:pt x="5528483" y="1600200"/>
                    <a:pt x="54863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534079" y="1281546"/>
              <a:ext cx="520065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计算复杂度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534079" y="1700635"/>
              <a:ext cx="5276850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91666"/>
                </a:lnSpc>
                <a:defRPr/>
              </a:pPr>
              <a:r>
                <a:rPr lang="en-US" b="true" i="false" strike="noStrike" u="none" sz="27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O(M × N × K)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6314983" y="2891037"/>
              <a:ext cx="5543455" cy="1390555"/>
            </a:xfrm>
            <a:custGeom>
              <a:avLst/>
              <a:gdLst/>
              <a:ahLst/>
              <a:cxnLst/>
              <a:rect r="r" b="b" t="t" l="l"/>
              <a:pathLst>
                <a:path h="1390555" w="5543455">
                  <a:moveTo>
                    <a:pt x="76203" y="0"/>
                  </a:moveTo>
                  <a:lnTo>
                    <a:pt x="5467253" y="0"/>
                  </a:lnTo>
                  <a:cubicBezTo>
                    <a:pt x="5509337" y="0"/>
                    <a:pt x="5543455" y="34117"/>
                    <a:pt x="5543455" y="76203"/>
                  </a:cubicBezTo>
                  <a:lnTo>
                    <a:pt x="5543455" y="1314353"/>
                  </a:lnTo>
                  <a:cubicBezTo>
                    <a:pt x="5543455" y="1356437"/>
                    <a:pt x="5509337" y="1390555"/>
                    <a:pt x="5467253" y="1390555"/>
                  </a:cubicBezTo>
                  <a:lnTo>
                    <a:pt x="76203" y="1390555"/>
                  </a:lnTo>
                  <a:cubicBezTo>
                    <a:pt x="34117" y="1390555"/>
                    <a:pt x="0" y="1356437"/>
                    <a:pt x="0" y="1314353"/>
                  </a:cubicBezTo>
                  <a:lnTo>
                    <a:pt x="0" y="76203"/>
                  </a:lnTo>
                  <a:cubicBezTo>
                    <a:pt x="0" y="34117"/>
                    <a:pt x="34117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solidFill>
                <a:srgbClr val="8B0000">
                  <a:alpha val="100000"/>
                </a:srgbClr>
              </a:solidFill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600659" y="3157521"/>
              <a:ext cx="142875" cy="196452"/>
            </a:xfrm>
            <a:custGeom>
              <a:avLst/>
              <a:gdLst/>
              <a:ahLst/>
              <a:cxnLst/>
              <a:rect r="r" b="b" t="t" l="l"/>
              <a:pathLst>
                <a:path h="196452" w="142875">
                  <a:moveTo>
                    <a:pt x="108979" y="142875"/>
                  </a:moveTo>
                  <a:cubicBezTo>
                    <a:pt x="111696" y="134578"/>
                    <a:pt x="117128" y="127062"/>
                    <a:pt x="123267" y="120588"/>
                  </a:cubicBezTo>
                  <a:cubicBezTo>
                    <a:pt x="135434" y="107789"/>
                    <a:pt x="142875" y="90488"/>
                    <a:pt x="142875" y="71438"/>
                  </a:cubicBezTo>
                  <a:cubicBezTo>
                    <a:pt x="142875" y="31998"/>
                    <a:pt x="110877" y="0"/>
                    <a:pt x="71437" y="0"/>
                  </a:cubicBezTo>
                  <a:cubicBezTo>
                    <a:pt x="31998" y="0"/>
                    <a:pt x="0" y="31998"/>
                    <a:pt x="0" y="71438"/>
                  </a:cubicBezTo>
                  <a:cubicBezTo>
                    <a:pt x="0" y="90488"/>
                    <a:pt x="7441" y="107789"/>
                    <a:pt x="19608" y="120588"/>
                  </a:cubicBezTo>
                  <a:cubicBezTo>
                    <a:pt x="25747" y="127062"/>
                    <a:pt x="31217" y="134578"/>
                    <a:pt x="33896" y="142875"/>
                  </a:cubicBezTo>
                  <a:lnTo>
                    <a:pt x="108942" y="142875"/>
                  </a:lnTo>
                  <a:close/>
                  <a:moveTo>
                    <a:pt x="107156" y="160734"/>
                  </a:moveTo>
                  <a:lnTo>
                    <a:pt x="35719" y="160734"/>
                  </a:lnTo>
                  <a:lnTo>
                    <a:pt x="35719" y="166688"/>
                  </a:lnTo>
                  <a:cubicBezTo>
                    <a:pt x="35719" y="183133"/>
                    <a:pt x="49039" y="196452"/>
                    <a:pt x="65484" y="196452"/>
                  </a:cubicBezTo>
                  <a:lnTo>
                    <a:pt x="77391" y="196452"/>
                  </a:lnTo>
                  <a:cubicBezTo>
                    <a:pt x="93836" y="196452"/>
                    <a:pt x="107156" y="183133"/>
                    <a:pt x="107156" y="166688"/>
                  </a:cubicBezTo>
                  <a:lnTo>
                    <a:pt x="107156" y="160734"/>
                  </a:lnTo>
                  <a:close/>
                  <a:moveTo>
                    <a:pt x="68461" y="41673"/>
                  </a:moveTo>
                  <a:cubicBezTo>
                    <a:pt x="53652" y="41673"/>
                    <a:pt x="41673" y="53652"/>
                    <a:pt x="41673" y="68461"/>
                  </a:cubicBezTo>
                  <a:cubicBezTo>
                    <a:pt x="41673" y="73409"/>
                    <a:pt x="37691" y="77391"/>
                    <a:pt x="32742" y="77391"/>
                  </a:cubicBezTo>
                  <a:cubicBezTo>
                    <a:pt x="27794" y="77391"/>
                    <a:pt x="23812" y="73409"/>
                    <a:pt x="23812" y="68461"/>
                  </a:cubicBezTo>
                  <a:cubicBezTo>
                    <a:pt x="23812" y="43793"/>
                    <a:pt x="43793" y="23813"/>
                    <a:pt x="68461" y="23813"/>
                  </a:cubicBezTo>
                  <a:cubicBezTo>
                    <a:pt x="73409" y="23813"/>
                    <a:pt x="77391" y="27794"/>
                    <a:pt x="77391" y="32742"/>
                  </a:cubicBezTo>
                  <a:cubicBezTo>
                    <a:pt x="77391" y="37691"/>
                    <a:pt x="73409" y="41673"/>
                    <a:pt x="68461" y="41673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848309" y="3129088"/>
              <a:ext cx="48672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特点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553034" y="3510044"/>
              <a:ext cx="5153025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8B0000"/>
                  </a:solidFill>
                  <a:latin typeface="MiSans"/>
                  <a:ea typeface="MiSans"/>
                  <a:cs typeface="MiSans"/>
                  <a:sym typeface="MiSans"/>
                </a:rPr>
                <a:t>计算密集型任务</a:t>
              </a:r>
              <a:endParaRPr lang="en-US" sz="1100"/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计算量远大于数据量</a:t>
              </a:r>
            </a:p>
          </p:txBody>
        </p:sp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314983" y="4443615"/>
            <a:ext cx="447675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18486" y="59039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Naive GPU MatMul 的问题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2171928"/>
            <a:ext cx="4438650" cy="1524000"/>
          </a:xfrm>
          <a:custGeom>
            <a:avLst/>
            <a:gdLst/>
            <a:ahLst/>
            <a:cxnLst/>
            <a:rect r="r" b="b" t="t" l="l"/>
            <a:pathLst>
              <a:path h="1524000" w="4438650">
                <a:moveTo>
                  <a:pt x="76200" y="0"/>
                </a:moveTo>
                <a:lnTo>
                  <a:pt x="4362450" y="0"/>
                </a:lnTo>
                <a:cubicBezTo>
                  <a:pt x="4404506" y="0"/>
                  <a:pt x="4438650" y="34144"/>
                  <a:pt x="4438650" y="76200"/>
                </a:cubicBezTo>
                <a:lnTo>
                  <a:pt x="4438650" y="1447800"/>
                </a:lnTo>
                <a:cubicBezTo>
                  <a:pt x="4438650" y="1489856"/>
                  <a:pt x="4404506" y="1524000"/>
                  <a:pt x="436245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396" y="2362369"/>
            <a:ext cx="4143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Naive Kernel 实现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90352" y="2743324"/>
            <a:ext cx="4038505" cy="762000"/>
          </a:xfrm>
          <a:custGeom>
            <a:avLst/>
            <a:gdLst/>
            <a:ahLst/>
            <a:cxnLst/>
            <a:rect r="r" b="b" t="t" l="l"/>
            <a:pathLst>
              <a:path h="762000" w="4038505">
                <a:moveTo>
                  <a:pt x="37910" y="0"/>
                </a:moveTo>
                <a:lnTo>
                  <a:pt x="4000405" y="0"/>
                </a:lnTo>
                <a:cubicBezTo>
                  <a:pt x="4021433" y="0"/>
                  <a:pt x="4038505" y="17073"/>
                  <a:pt x="4038505" y="38100"/>
                </a:cubicBezTo>
                <a:lnTo>
                  <a:pt x="4038505" y="723900"/>
                </a:lnTo>
                <a:cubicBezTo>
                  <a:pt x="4038505" y="744927"/>
                  <a:pt x="4021433" y="762000"/>
                  <a:pt x="4000405" y="762000"/>
                </a:cubicBezTo>
                <a:lnTo>
                  <a:pt x="37910" y="762000"/>
                </a:lnTo>
                <a:cubicBezTo>
                  <a:pt x="16974" y="762000"/>
                  <a:pt x="0" y="745026"/>
                  <a:pt x="0" y="724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590352" y="2743324"/>
            <a:ext cx="37909" cy="762000"/>
          </a:xfrm>
          <a:custGeom>
            <a:avLst/>
            <a:gdLst/>
            <a:ahLst/>
            <a:cxnLst/>
            <a:rect r="r" b="b" t="t" l="l"/>
            <a:pathLst>
              <a:path h="762000" w="37909">
                <a:moveTo>
                  <a:pt x="37910" y="0"/>
                </a:moveTo>
                <a:lnTo>
                  <a:pt x="37910" y="0"/>
                </a:lnTo>
                <a:lnTo>
                  <a:pt x="37910" y="762000"/>
                </a:lnTo>
                <a:lnTo>
                  <a:pt x="37910" y="762000"/>
                </a:lnTo>
                <a:cubicBezTo>
                  <a:pt x="16974" y="762000"/>
                  <a:pt x="0" y="745026"/>
                  <a:pt x="0" y="7240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396" y="2743324"/>
            <a:ext cx="4095750" cy="762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52400" rIns="152400" tIns="152400" bIns="1524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每个 thread 计算</a:t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一个 C[i, j]</a:t>
            </a:r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886117"/>
            <a:ext cx="4438650" cy="1371600"/>
          </a:xfrm>
          <a:custGeom>
            <a:avLst/>
            <a:gdLst/>
            <a:ahLst/>
            <a:cxnLst/>
            <a:rect r="r" b="b" t="t" l="l"/>
            <a:pathLst>
              <a:path h="1371600" w="4438650">
                <a:moveTo>
                  <a:pt x="76206" y="0"/>
                </a:moveTo>
                <a:lnTo>
                  <a:pt x="4362444" y="0"/>
                </a:lnTo>
                <a:cubicBezTo>
                  <a:pt x="4404531" y="0"/>
                  <a:pt x="4438650" y="34119"/>
                  <a:pt x="4438650" y="76206"/>
                </a:cubicBezTo>
                <a:lnTo>
                  <a:pt x="4438650" y="1295394"/>
                </a:lnTo>
                <a:cubicBezTo>
                  <a:pt x="4438650" y="1337481"/>
                  <a:pt x="4404531" y="1371600"/>
                  <a:pt x="4362444" y="1371600"/>
                </a:cubicBezTo>
                <a:lnTo>
                  <a:pt x="76206" y="1371600"/>
                </a:lnTo>
                <a:cubicBezTo>
                  <a:pt x="34119" y="1371600"/>
                  <a:pt x="0" y="1337481"/>
                  <a:pt x="0" y="12953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71396" y="4076558"/>
            <a:ext cx="4143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核心问题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71396" y="4457514"/>
            <a:ext cx="417195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重复读取</a:t>
            </a:r>
            <a:endParaRPr lang="en-US" sz="1100"/>
          </a:p>
          <a:p>
            <a:pPr algn="l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Global Memory</a:t>
            </a:r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044385" y="1257116"/>
            <a:ext cx="6762750" cy="4914900"/>
          </a:xfrm>
          <a:custGeom>
            <a:avLst/>
            <a:gdLst/>
            <a:ahLst/>
            <a:cxnLst/>
            <a:rect r="r" b="b" t="t" l="l"/>
            <a:pathLst>
              <a:path h="4914900" w="6762750">
                <a:moveTo>
                  <a:pt x="76181" y="0"/>
                </a:moveTo>
                <a:lnTo>
                  <a:pt x="6686569" y="0"/>
                </a:lnTo>
                <a:cubicBezTo>
                  <a:pt x="6728643" y="0"/>
                  <a:pt x="6762750" y="34107"/>
                  <a:pt x="6762750" y="76181"/>
                </a:cubicBezTo>
                <a:lnTo>
                  <a:pt x="6762750" y="4838719"/>
                </a:lnTo>
                <a:cubicBezTo>
                  <a:pt x="6762750" y="4880793"/>
                  <a:pt x="6728643" y="4914900"/>
                  <a:pt x="6686569" y="4914900"/>
                </a:cubicBezTo>
                <a:lnTo>
                  <a:pt x="76181" y="4914900"/>
                </a:lnTo>
                <a:cubicBezTo>
                  <a:pt x="34107" y="4914900"/>
                  <a:pt x="0" y="4880793"/>
                  <a:pt x="0" y="4838719"/>
                </a:cubicBezTo>
                <a:lnTo>
                  <a:pt x="0" y="76181"/>
                </a:lnTo>
                <a:cubicBezTo>
                  <a:pt x="0" y="34136"/>
                  <a:pt x="34136" y="0"/>
                  <a:pt x="76181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272958" y="1485690"/>
            <a:ext cx="64008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内存访问示例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5291914" y="2419605"/>
            <a:ext cx="6286405" cy="952500"/>
          </a:xfrm>
          <a:custGeom>
            <a:avLst/>
            <a:gdLst/>
            <a:ahLst/>
            <a:cxnLst/>
            <a:rect r="r" b="b" t="t" l="l"/>
            <a:pathLst>
              <a:path h="952500" w="6286405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5291914" y="2419605"/>
            <a:ext cx="37910" cy="952500"/>
          </a:xfrm>
          <a:custGeom>
            <a:avLst/>
            <a:gdLst/>
            <a:ahLst/>
            <a:cxnLst/>
            <a:rect r="r" b="b" t="t" l="l"/>
            <a:pathLst>
              <a:path h="952500" w="3791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501310" y="2629074"/>
            <a:ext cx="1257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A[i, k]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01310" y="2933840"/>
            <a:ext cx="12477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矩阵A的单个元素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487008" y="2610045"/>
            <a:ext cx="904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N 次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553683" y="2952869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被重复读取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291914" y="3562323"/>
            <a:ext cx="6286405" cy="952500"/>
          </a:xfrm>
          <a:custGeom>
            <a:avLst/>
            <a:gdLst/>
            <a:ahLst/>
            <a:cxnLst/>
            <a:rect r="r" b="b" t="t" l="l"/>
            <a:pathLst>
              <a:path h="952500" w="6286405">
                <a:moveTo>
                  <a:pt x="37910" y="0"/>
                </a:moveTo>
                <a:lnTo>
                  <a:pt x="6210205" y="0"/>
                </a:lnTo>
                <a:cubicBezTo>
                  <a:pt x="6252261" y="0"/>
                  <a:pt x="6286405" y="34144"/>
                  <a:pt x="6286405" y="76200"/>
                </a:cubicBezTo>
                <a:lnTo>
                  <a:pt x="6286405" y="876300"/>
                </a:lnTo>
                <a:cubicBezTo>
                  <a:pt x="6286405" y="918356"/>
                  <a:pt x="6252261" y="952500"/>
                  <a:pt x="6210205" y="952500"/>
                </a:cubicBez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  <a:effectLst>
            <a:outerShdw dir="5400000" dist="0" blurRad="25400" algn="bl" rotWithShape="false">
              <a:srgbClr val="000000">
                <a:alpha val="10196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291914" y="3562323"/>
            <a:ext cx="37910" cy="952500"/>
          </a:xfrm>
          <a:custGeom>
            <a:avLst/>
            <a:gdLst/>
            <a:ahLst/>
            <a:cxnLst/>
            <a:rect r="r" b="b" t="t" l="l"/>
            <a:pathLst>
              <a:path h="952500" w="37910">
                <a:moveTo>
                  <a:pt x="37910" y="0"/>
                </a:moveTo>
                <a:lnTo>
                  <a:pt x="37910" y="0"/>
                </a:lnTo>
                <a:lnTo>
                  <a:pt x="37910" y="952500"/>
                </a:lnTo>
                <a:lnTo>
                  <a:pt x="37910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501310" y="3771793"/>
            <a:ext cx="12573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B[k, j]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01310" y="4076558"/>
            <a:ext cx="1247775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矩阵B的单个元素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487008" y="3752764"/>
            <a:ext cx="9048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M 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553683" y="4095587"/>
            <a:ext cx="838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被重复读取</a:t>
            </a:r>
            <a:endParaRPr lang="en-US" sz="1100"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5272958" y="4857424"/>
            <a:ext cx="6305550" cy="647700"/>
          </a:xfrm>
          <a:custGeom>
            <a:avLst/>
            <a:gdLst/>
            <a:ahLst/>
            <a:cxnLst/>
            <a:rect r="r" b="b" t="t" l="l"/>
            <a:pathLst>
              <a:path h="647700" w="6305550">
                <a:moveTo>
                  <a:pt x="76203" y="0"/>
                </a:moveTo>
                <a:lnTo>
                  <a:pt x="6229347" y="0"/>
                </a:lnTo>
                <a:cubicBezTo>
                  <a:pt x="6271433" y="0"/>
                  <a:pt x="6305550" y="34117"/>
                  <a:pt x="6305550" y="76203"/>
                </a:cubicBezTo>
                <a:lnTo>
                  <a:pt x="6305550" y="571497"/>
                </a:lnTo>
                <a:cubicBezTo>
                  <a:pt x="6305550" y="613583"/>
                  <a:pt x="6271433" y="647700"/>
                  <a:pt x="622934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758674" y="5047865"/>
            <a:ext cx="5724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问题：严重的内存带宽浪费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8" id="2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2847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GPU 访存带宽是主要瓶颈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71736"/>
            <a:ext cx="11430000" cy="1219200"/>
          </a:xfrm>
          <a:custGeom>
            <a:avLst/>
            <a:gdLst/>
            <a:ahLst/>
            <a:cxnLst/>
            <a:rect r="r" b="b" t="t" l="l"/>
            <a:pathLst>
              <a:path h="12192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600309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GPU 性能受限于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981191"/>
            <a:ext cx="11144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Memory Bandwidth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819293"/>
            <a:ext cx="5600700" cy="1562100"/>
          </a:xfrm>
          <a:custGeom>
            <a:avLst/>
            <a:gdLst/>
            <a:ahLst/>
            <a:cxnLst/>
            <a:rect r="r" b="b" t="t" l="l"/>
            <a:pathLst>
              <a:path h="1562100" w="56007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71429" y="3047866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GPU 计算能力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95229" y="3352631"/>
            <a:ext cx="53721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6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19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61904" y="388604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TFLOPS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10279" y="2819293"/>
            <a:ext cx="5600700" cy="1562100"/>
          </a:xfrm>
          <a:custGeom>
            <a:avLst/>
            <a:gdLst/>
            <a:ahLst/>
            <a:cxnLst/>
            <a:rect r="r" b="b" t="t" l="l"/>
            <a:pathLst>
              <a:path h="1562100" w="5600700">
                <a:moveTo>
                  <a:pt x="76199" y="0"/>
                </a:moveTo>
                <a:lnTo>
                  <a:pt x="5524501" y="0"/>
                </a:lnTo>
                <a:cubicBezTo>
                  <a:pt x="5566584" y="0"/>
                  <a:pt x="5600700" y="34116"/>
                  <a:pt x="5600700" y="76199"/>
                </a:cubicBezTo>
                <a:lnTo>
                  <a:pt x="5600700" y="1485901"/>
                </a:lnTo>
                <a:cubicBezTo>
                  <a:pt x="5600700" y="1527984"/>
                  <a:pt x="5566584" y="1562100"/>
                  <a:pt x="55245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00752" y="3047866"/>
            <a:ext cx="52197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内存带宽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324552" y="3352631"/>
            <a:ext cx="5372100" cy="457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83333"/>
              </a:lnSpc>
              <a:defRPr/>
            </a:pPr>
            <a:r>
              <a:rPr lang="en-US" b="true" i="false" strike="noStrike" u="none" sz="36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900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391227" y="3886043"/>
            <a:ext cx="5238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GB/s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4609895"/>
            <a:ext cx="11430000" cy="1447800"/>
          </a:xfrm>
          <a:custGeom>
            <a:avLst/>
            <a:gdLst/>
            <a:ahLst/>
            <a:cxnLst/>
            <a:rect r="r" b="b" t="t" l="l"/>
            <a:pathLst>
              <a:path h="1447800" w="114300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55963" y="4866902"/>
            <a:ext cx="145258" cy="191653"/>
          </a:xfrm>
          <a:custGeom>
            <a:avLst/>
            <a:gdLst/>
            <a:ahLst/>
            <a:cxnLst/>
            <a:rect r="r" b="b" t="t" l="l"/>
            <a:pathLst>
              <a:path h="191653" w="145258">
                <a:moveTo>
                  <a:pt x="64220" y="187002"/>
                </a:moveTo>
                <a:cubicBezTo>
                  <a:pt x="68871" y="191653"/>
                  <a:pt x="76425" y="191653"/>
                  <a:pt x="81074" y="187002"/>
                </a:cubicBezTo>
                <a:lnTo>
                  <a:pt x="140607" y="127471"/>
                </a:lnTo>
                <a:cubicBezTo>
                  <a:pt x="145257" y="122820"/>
                  <a:pt x="145257" y="115266"/>
                  <a:pt x="140607" y="110617"/>
                </a:cubicBezTo>
                <a:cubicBezTo>
                  <a:pt x="135955" y="105966"/>
                  <a:pt x="128402" y="105966"/>
                  <a:pt x="123751" y="110617"/>
                </a:cubicBezTo>
                <a:lnTo>
                  <a:pt x="84535" y="149833"/>
                </a:lnTo>
                <a:lnTo>
                  <a:pt x="84535" y="11906"/>
                </a:lnTo>
                <a:cubicBezTo>
                  <a:pt x="84535" y="5321"/>
                  <a:pt x="79213" y="0"/>
                  <a:pt x="72629" y="0"/>
                </a:cubicBezTo>
                <a:cubicBezTo>
                  <a:pt x="66044" y="0"/>
                  <a:pt x="60722" y="5321"/>
                  <a:pt x="60722" y="11906"/>
                </a:cubicBezTo>
                <a:lnTo>
                  <a:pt x="60722" y="149833"/>
                </a:lnTo>
                <a:lnTo>
                  <a:pt x="21506" y="110617"/>
                </a:lnTo>
                <a:cubicBezTo>
                  <a:pt x="16855" y="105966"/>
                  <a:pt x="9302" y="105966"/>
                  <a:pt x="4650" y="110617"/>
                </a:cubicBezTo>
                <a:cubicBezTo>
                  <a:pt x="0" y="115266"/>
                  <a:pt x="0" y="122820"/>
                  <a:pt x="4650" y="127471"/>
                </a:cubicBezTo>
                <a:lnTo>
                  <a:pt x="64183" y="1870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4804" y="4838469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如果访存过多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28484" y="5257557"/>
            <a:ext cx="5391055" cy="571500"/>
          </a:xfrm>
          <a:custGeom>
            <a:avLst/>
            <a:gdLst/>
            <a:ahLst/>
            <a:cxnLst/>
            <a:rect r="r" b="b" t="t" l="l"/>
            <a:pathLst>
              <a:path h="571500" w="5391055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28484" y="5257557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99822" y="5409938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Compute Units 空闲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191102" y="5257557"/>
            <a:ext cx="5391055" cy="571500"/>
          </a:xfrm>
          <a:custGeom>
            <a:avLst/>
            <a:gdLst/>
            <a:ahLst/>
            <a:cxnLst/>
            <a:rect r="r" b="b" t="t" l="l"/>
            <a:pathLst>
              <a:path h="571500" w="5391055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191102" y="5257557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362440" y="5409938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性能显著下降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0956" y="6324603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5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7083" y="62897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为什么需要 Tiling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76664"/>
            <a:ext cx="11430000" cy="1181100"/>
          </a:xfrm>
          <a:custGeom>
            <a:avLst/>
            <a:gdLst/>
            <a:ahLst/>
            <a:cxnLst/>
            <a:rect r="r" b="b" t="t" l="l"/>
            <a:pathLst>
              <a:path h="1181100" w="11430000">
                <a:moveTo>
                  <a:pt x="76205" y="0"/>
                </a:moveTo>
                <a:lnTo>
                  <a:pt x="11353795" y="0"/>
                </a:lnTo>
                <a:cubicBezTo>
                  <a:pt x="11395854" y="0"/>
                  <a:pt x="11430000" y="34146"/>
                  <a:pt x="11430000" y="76205"/>
                </a:cubicBezTo>
                <a:lnTo>
                  <a:pt x="11430000" y="1104895"/>
                </a:lnTo>
                <a:cubicBezTo>
                  <a:pt x="11430000" y="1146981"/>
                  <a:pt x="11395881" y="1181100"/>
                  <a:pt x="11353795" y="1181100"/>
                </a:cubicBezTo>
                <a:lnTo>
                  <a:pt x="76205" y="1181100"/>
                </a:lnTo>
                <a:cubicBezTo>
                  <a:pt x="34146" y="1181100"/>
                  <a:pt x="0" y="1146954"/>
                  <a:pt x="0" y="11048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505236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目标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886117"/>
            <a:ext cx="111156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减少 Global Memory 访问次数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686087"/>
            <a:ext cx="5600700" cy="2590800"/>
          </a:xfrm>
          <a:custGeom>
            <a:avLst/>
            <a:gdLst/>
            <a:ahLst/>
            <a:cxnLst/>
            <a:rect r="r" b="b" t="t" l="l"/>
            <a:pathLst>
              <a:path h="2590800" w="56007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2514605"/>
                </a:lnTo>
                <a:cubicBezTo>
                  <a:pt x="5600700" y="2556687"/>
                  <a:pt x="5566587" y="2590800"/>
                  <a:pt x="5524505" y="2590800"/>
                </a:cubicBezTo>
                <a:lnTo>
                  <a:pt x="76195" y="2590800"/>
                </a:lnTo>
                <a:cubicBezTo>
                  <a:pt x="34141" y="2590800"/>
                  <a:pt x="0" y="2556659"/>
                  <a:pt x="0" y="25146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04804" y="2914662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核心思想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19007" y="3343228"/>
            <a:ext cx="5124355" cy="742855"/>
          </a:xfrm>
          <a:custGeom>
            <a:avLst/>
            <a:gdLst/>
            <a:ahLst/>
            <a:cxnLst/>
            <a:rect r="r" b="b" t="t" l="l"/>
            <a:pathLst>
              <a:path h="742855" w="5124355">
                <a:moveTo>
                  <a:pt x="38101" y="0"/>
                </a:moveTo>
                <a:lnTo>
                  <a:pt x="5086253" y="0"/>
                </a:lnTo>
                <a:cubicBezTo>
                  <a:pt x="5107297" y="0"/>
                  <a:pt x="5124355" y="17057"/>
                  <a:pt x="5124355" y="38101"/>
                </a:cubicBezTo>
                <a:lnTo>
                  <a:pt x="5124355" y="704753"/>
                </a:lnTo>
                <a:cubicBezTo>
                  <a:pt x="5124355" y="725797"/>
                  <a:pt x="5107297" y="742855"/>
                  <a:pt x="50862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47487" y="3543147"/>
            <a:ext cx="48672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数据复用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10279" y="2686087"/>
            <a:ext cx="5600700" cy="2590800"/>
          </a:xfrm>
          <a:custGeom>
            <a:avLst/>
            <a:gdLst/>
            <a:ahLst/>
            <a:cxnLst/>
            <a:rect r="r" b="b" t="t" l="l"/>
            <a:pathLst>
              <a:path h="2590800" w="5600700">
                <a:moveTo>
                  <a:pt x="76195" y="0"/>
                </a:moveTo>
                <a:lnTo>
                  <a:pt x="5524505" y="0"/>
                </a:lnTo>
                <a:cubicBezTo>
                  <a:pt x="5566559" y="0"/>
                  <a:pt x="5600700" y="34141"/>
                  <a:pt x="5600700" y="76195"/>
                </a:cubicBezTo>
                <a:lnTo>
                  <a:pt x="5600700" y="2514605"/>
                </a:lnTo>
                <a:cubicBezTo>
                  <a:pt x="5600700" y="2556687"/>
                  <a:pt x="5566587" y="2590800"/>
                  <a:pt x="5524505" y="2590800"/>
                </a:cubicBezTo>
                <a:lnTo>
                  <a:pt x="76195" y="2590800"/>
                </a:lnTo>
                <a:cubicBezTo>
                  <a:pt x="34141" y="2590800"/>
                  <a:pt x="0" y="2556659"/>
                  <a:pt x="0" y="2514605"/>
                </a:cubicBezTo>
                <a:lnTo>
                  <a:pt x="0" y="76195"/>
                </a:lnTo>
                <a:cubicBezTo>
                  <a:pt x="0" y="34141"/>
                  <a:pt x="34141" y="0"/>
                  <a:pt x="76195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4127" y="2914662"/>
            <a:ext cx="49434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方法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457808" y="3333750"/>
            <a:ext cx="5124355" cy="495300"/>
          </a:xfrm>
          <a:custGeom>
            <a:avLst/>
            <a:gdLst/>
            <a:ahLst/>
            <a:cxnLst/>
            <a:rect r="r" b="b" t="t" l="l"/>
            <a:pathLst>
              <a:path h="495300" w="5124355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457808" y="3333750"/>
            <a:ext cx="37910" cy="495300"/>
          </a:xfrm>
          <a:custGeom>
            <a:avLst/>
            <a:gdLst/>
            <a:ahLst/>
            <a:cxnLst/>
            <a:rect r="r" b="b" t="t" l="l"/>
            <a:pathLst>
              <a:path h="495300" w="3791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91013" y="3447999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将矩阵分块（Tile）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457808" y="3943203"/>
            <a:ext cx="5124355" cy="495300"/>
          </a:xfrm>
          <a:custGeom>
            <a:avLst/>
            <a:gdLst/>
            <a:ahLst/>
            <a:cxnLst/>
            <a:rect r="r" b="b" t="t" l="l"/>
            <a:pathLst>
              <a:path h="495300" w="5124355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457808" y="3943203"/>
            <a:ext cx="37910" cy="495300"/>
          </a:xfrm>
          <a:custGeom>
            <a:avLst/>
            <a:gdLst/>
            <a:ahLst/>
            <a:cxnLst/>
            <a:rect r="r" b="b" t="t" l="l"/>
            <a:pathLst>
              <a:path h="495300" w="3791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91013" y="4057455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每次加载小块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57808" y="4552659"/>
            <a:ext cx="5124355" cy="495300"/>
          </a:xfrm>
          <a:custGeom>
            <a:avLst/>
            <a:gdLst/>
            <a:ahLst/>
            <a:cxnLst/>
            <a:rect r="r" b="b" t="t" l="l"/>
            <a:pathLst>
              <a:path h="495300" w="5124355">
                <a:moveTo>
                  <a:pt x="37909" y="0"/>
                </a:moveTo>
                <a:lnTo>
                  <a:pt x="5086257" y="0"/>
                </a:lnTo>
                <a:cubicBezTo>
                  <a:pt x="5107297" y="0"/>
                  <a:pt x="5124355" y="17057"/>
                  <a:pt x="5124355" y="38097"/>
                </a:cubicBezTo>
                <a:lnTo>
                  <a:pt x="5124355" y="457203"/>
                </a:lnTo>
                <a:cubicBezTo>
                  <a:pt x="5124355" y="478243"/>
                  <a:pt x="5107297" y="495300"/>
                  <a:pt x="5086257" y="495300"/>
                </a:cubicBezTo>
                <a:lnTo>
                  <a:pt x="37909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57808" y="4552659"/>
            <a:ext cx="37910" cy="495300"/>
          </a:xfrm>
          <a:custGeom>
            <a:avLst/>
            <a:gdLst/>
            <a:ahLst/>
            <a:cxnLst/>
            <a:rect r="r" b="b" t="t" l="l"/>
            <a:pathLst>
              <a:path h="495300" w="37910">
                <a:moveTo>
                  <a:pt x="37910" y="0"/>
                </a:moveTo>
                <a:lnTo>
                  <a:pt x="37910" y="0"/>
                </a:lnTo>
                <a:lnTo>
                  <a:pt x="37910" y="495300"/>
                </a:lnTo>
                <a:lnTo>
                  <a:pt x="37910" y="495300"/>
                </a:lnTo>
                <a:cubicBezTo>
                  <a:pt x="16974" y="495300"/>
                  <a:pt x="0" y="478326"/>
                  <a:pt x="0" y="457391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591013" y="4666908"/>
            <a:ext cx="4962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重复使用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380956" y="5505010"/>
            <a:ext cx="11430000" cy="647700"/>
          </a:xfrm>
          <a:custGeom>
            <a:avLst/>
            <a:gdLst/>
            <a:ahLst/>
            <a:cxnLst/>
            <a:rect r="r" b="b" t="t" l="l"/>
            <a:pathLst>
              <a:path h="647700" w="114300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571497"/>
                </a:lnTo>
                <a:cubicBezTo>
                  <a:pt x="11430000" y="613583"/>
                  <a:pt x="11395883" y="647700"/>
                  <a:pt x="11353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4316185" y="5733362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8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3"/>
                </a:cubicBezTo>
                <a:cubicBezTo>
                  <a:pt x="78090" y="118006"/>
                  <a:pt x="75545" y="116801"/>
                  <a:pt x="73971" y="114657"/>
                </a:cubicBezTo>
                <a:lnTo>
                  <a:pt x="57898" y="93226"/>
                </a:lnTo>
                <a:cubicBezTo>
                  <a:pt x="55220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3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4" y="58969"/>
                  <a:pt x="107659" y="57796"/>
                  <a:pt x="111443" y="60175"/>
                </a:cubicBezTo>
                <a:cubicBezTo>
                  <a:pt x="115226" y="62553"/>
                  <a:pt x="116365" y="67475"/>
                  <a:pt x="113988" y="7125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95234" y="5695452"/>
            <a:ext cx="10868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通过数据复用，大幅减少不必要的内存访问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80956" y="6324602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5" id="2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6186" y="604683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Tiling 基本思想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6"/>
            <a:ext cx="11430000" cy="1219200"/>
          </a:xfrm>
          <a:custGeom>
            <a:avLst/>
            <a:gdLst/>
            <a:ahLst/>
            <a:cxnLst/>
            <a:rect r="r" b="b" t="t" l="l"/>
            <a:pathLst>
              <a:path h="12192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143000"/>
                </a:lnTo>
                <a:cubicBezTo>
                  <a:pt x="11430000" y="1185056"/>
                  <a:pt x="11395856" y="1219200"/>
                  <a:pt x="11353800" y="1219200"/>
                </a:cubicBezTo>
                <a:lnTo>
                  <a:pt x="76200" y="1219200"/>
                </a:lnTo>
                <a:cubicBezTo>
                  <a:pt x="34144" y="1219200"/>
                  <a:pt x="0" y="1185056"/>
                  <a:pt x="0" y="11430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485691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将矩阵划分为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609529" y="1866572"/>
            <a:ext cx="11144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小块（Tile）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380956" y="2704674"/>
            <a:ext cx="5562600" cy="1638300"/>
          </a:xfrm>
          <a:custGeom>
            <a:avLst/>
            <a:gdLst/>
            <a:ahLst/>
            <a:cxnLst/>
            <a:rect r="r" b="b" t="t" l="l"/>
            <a:pathLst>
              <a:path h="16383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529" y="2933247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矩阵 A 的分块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19007" y="3361813"/>
            <a:ext cx="5086255" cy="742855"/>
          </a:xfrm>
          <a:custGeom>
            <a:avLst/>
            <a:gdLst/>
            <a:ahLst/>
            <a:cxnLst/>
            <a:rect r="r" b="b" t="t" l="l"/>
            <a:pathLst>
              <a:path h="742855" w="5086255">
                <a:moveTo>
                  <a:pt x="38101" y="0"/>
                </a:moveTo>
                <a:lnTo>
                  <a:pt x="5048153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704753"/>
                </a:lnTo>
                <a:cubicBezTo>
                  <a:pt x="5086255" y="725797"/>
                  <a:pt x="5069197" y="742855"/>
                  <a:pt x="50481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47487" y="3561731"/>
            <a:ext cx="4829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BLOCK_M × BLOCK_K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48338" y="2704674"/>
            <a:ext cx="5562600" cy="1638300"/>
          </a:xfrm>
          <a:custGeom>
            <a:avLst/>
            <a:gdLst/>
            <a:ahLst/>
            <a:cxnLst/>
            <a:rect r="r" b="b" t="t" l="l"/>
            <a:pathLst>
              <a:path h="16383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562103"/>
                </a:lnTo>
                <a:cubicBezTo>
                  <a:pt x="5562600" y="1604185"/>
                  <a:pt x="5528485" y="1638300"/>
                  <a:pt x="54864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6911" y="2933247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矩阵 B 的分块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486389" y="3361813"/>
            <a:ext cx="5086255" cy="742855"/>
          </a:xfrm>
          <a:custGeom>
            <a:avLst/>
            <a:gdLst/>
            <a:ahLst/>
            <a:cxnLst/>
            <a:rect r="r" b="b" t="t" l="l"/>
            <a:pathLst>
              <a:path h="742855" w="5086255">
                <a:moveTo>
                  <a:pt x="38101" y="0"/>
                </a:moveTo>
                <a:lnTo>
                  <a:pt x="5048153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704753"/>
                </a:lnTo>
                <a:cubicBezTo>
                  <a:pt x="5086255" y="725797"/>
                  <a:pt x="5069197" y="742855"/>
                  <a:pt x="50481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14869" y="3561731"/>
            <a:ext cx="48291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1A1A1A"/>
                </a:solidFill>
                <a:latin typeface="Noto Sans SC"/>
                <a:ea typeface="Noto Sans SC"/>
                <a:cs typeface="Noto Sans SC"/>
                <a:sym typeface="Noto Sans SC"/>
              </a:rPr>
              <a:t>BLOCK_K × BLOCK_N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380956" y="4571098"/>
            <a:ext cx="11430000" cy="1638300"/>
          </a:xfrm>
          <a:custGeom>
            <a:avLst/>
            <a:gdLst/>
            <a:ahLst/>
            <a:cxnLst/>
            <a:rect r="r" b="b" t="t" l="l"/>
            <a:pathLst>
              <a:path h="16383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57154" y="4828103"/>
            <a:ext cx="142875" cy="190500"/>
          </a:xfrm>
          <a:custGeom>
            <a:avLst/>
            <a:gdLst/>
            <a:ahLst/>
            <a:cxnLst/>
            <a:rect r="r" b="b" t="t" l="l"/>
            <a:pathLst>
              <a:path h="190500" w="142875">
                <a:moveTo>
                  <a:pt x="23812" y="0"/>
                </a:moveTo>
                <a:cubicBezTo>
                  <a:pt x="10678" y="0"/>
                  <a:pt x="0" y="10678"/>
                  <a:pt x="0" y="23813"/>
                </a:cubicBezTo>
                <a:lnTo>
                  <a:pt x="0" y="166687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2" y="190500"/>
                </a:lnTo>
                <a:cubicBezTo>
                  <a:pt x="132197" y="190500"/>
                  <a:pt x="142875" y="179822"/>
                  <a:pt x="142875" y="166687"/>
                </a:cubicBezTo>
                <a:lnTo>
                  <a:pt x="142875" y="23813"/>
                </a:lnTo>
                <a:cubicBezTo>
                  <a:pt x="142875" y="10678"/>
                  <a:pt x="132197" y="0"/>
                  <a:pt x="119062" y="0"/>
                </a:cubicBezTo>
                <a:lnTo>
                  <a:pt x="23812" y="0"/>
                </a:lnTo>
                <a:close/>
                <a:moveTo>
                  <a:pt x="35719" y="23813"/>
                </a:moveTo>
                <a:lnTo>
                  <a:pt x="107156" y="23813"/>
                </a:lnTo>
                <a:cubicBezTo>
                  <a:pt x="113742" y="23813"/>
                  <a:pt x="119062" y="29133"/>
                  <a:pt x="119062" y="35719"/>
                </a:cubicBezTo>
                <a:lnTo>
                  <a:pt x="119062" y="47625"/>
                </a:lnTo>
                <a:cubicBezTo>
                  <a:pt x="119062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3"/>
                  <a:pt x="35719" y="23813"/>
                </a:cubicBezTo>
                <a:close/>
                <a:moveTo>
                  <a:pt x="41673" y="86321"/>
                </a:moveTo>
                <a:cubicBezTo>
                  <a:pt x="41673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1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3" y="81392"/>
                  <a:pt x="41673" y="86321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1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1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2" y="86321"/>
                </a:moveTo>
                <a:cubicBezTo>
                  <a:pt x="119062" y="91249"/>
                  <a:pt x="115061" y="95250"/>
                  <a:pt x="110133" y="95250"/>
                </a:cubicBezTo>
                <a:cubicBezTo>
                  <a:pt x="105204" y="95250"/>
                  <a:pt x="101202" y="91249"/>
                  <a:pt x="101202" y="86321"/>
                </a:cubicBezTo>
                <a:cubicBezTo>
                  <a:pt x="101202" y="81392"/>
                  <a:pt x="105204" y="77391"/>
                  <a:pt x="110133" y="77391"/>
                </a:cubicBezTo>
                <a:cubicBezTo>
                  <a:pt x="115061" y="77391"/>
                  <a:pt x="119062" y="81392"/>
                  <a:pt x="119062" y="86321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3" y="117111"/>
                  <a:pt x="41673" y="122039"/>
                </a:cubicBezTo>
                <a:cubicBezTo>
                  <a:pt x="41673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2" y="126967"/>
                  <a:pt x="101202" y="122039"/>
                </a:cubicBezTo>
                <a:cubicBezTo>
                  <a:pt x="101202" y="117111"/>
                  <a:pt x="105204" y="113109"/>
                  <a:pt x="110133" y="113109"/>
                </a:cubicBezTo>
                <a:cubicBezTo>
                  <a:pt x="115061" y="113109"/>
                  <a:pt x="119062" y="117111"/>
                  <a:pt x="119062" y="122039"/>
                </a:cubicBezTo>
                <a:cubicBezTo>
                  <a:pt x="119062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7"/>
                  <a:pt x="32742" y="148827"/>
                </a:cubicBezTo>
                <a:lnTo>
                  <a:pt x="74414" y="148827"/>
                </a:lnTo>
                <a:cubicBezTo>
                  <a:pt x="79364" y="148827"/>
                  <a:pt x="83344" y="152809"/>
                  <a:pt x="83344" y="157758"/>
                </a:cubicBezTo>
                <a:cubicBezTo>
                  <a:pt x="83344" y="162706"/>
                  <a:pt x="79364" y="166687"/>
                  <a:pt x="74414" y="166687"/>
                </a:cubicBezTo>
                <a:lnTo>
                  <a:pt x="32742" y="166687"/>
                </a:lnTo>
                <a:cubicBezTo>
                  <a:pt x="27794" y="166687"/>
                  <a:pt x="23812" y="162706"/>
                  <a:pt x="23812" y="157758"/>
                </a:cubicBezTo>
                <a:close/>
                <a:moveTo>
                  <a:pt x="110133" y="148827"/>
                </a:moveTo>
                <a:cubicBezTo>
                  <a:pt x="115081" y="148827"/>
                  <a:pt x="119062" y="152809"/>
                  <a:pt x="119062" y="157758"/>
                </a:cubicBezTo>
                <a:cubicBezTo>
                  <a:pt x="119062" y="162706"/>
                  <a:pt x="115081" y="166687"/>
                  <a:pt x="110133" y="166687"/>
                </a:cubicBezTo>
                <a:cubicBezTo>
                  <a:pt x="105184" y="166687"/>
                  <a:pt x="101202" y="162706"/>
                  <a:pt x="101202" y="157758"/>
                </a:cubicBezTo>
                <a:cubicBezTo>
                  <a:pt x="101202" y="152809"/>
                  <a:pt x="105184" y="148827"/>
                  <a:pt x="110133" y="148827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04804" y="4799670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计算结果块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19007" y="5228236"/>
            <a:ext cx="10953655" cy="742855"/>
          </a:xfrm>
          <a:custGeom>
            <a:avLst/>
            <a:gdLst/>
            <a:ahLst/>
            <a:cxnLst/>
            <a:rect r="r" b="b" t="t" l="l"/>
            <a:pathLst>
              <a:path h="742855" w="10953655">
                <a:moveTo>
                  <a:pt x="38101" y="0"/>
                </a:moveTo>
                <a:lnTo>
                  <a:pt x="10915553" y="0"/>
                </a:lnTo>
                <a:cubicBezTo>
                  <a:pt x="10936597" y="0"/>
                  <a:pt x="10953655" y="17057"/>
                  <a:pt x="10953655" y="38101"/>
                </a:cubicBezTo>
                <a:lnTo>
                  <a:pt x="10953655" y="704753"/>
                </a:lnTo>
                <a:cubicBezTo>
                  <a:pt x="10953655" y="725797"/>
                  <a:pt x="10936597" y="742855"/>
                  <a:pt x="109155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7487" y="5428155"/>
            <a:ext cx="10696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BLOCK_M × BLOCK_N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0956" y="6361328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2033" y="647586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Tile 计算流程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380956" y="2057530"/>
            <a:ext cx="11430023" cy="1600200"/>
            <a:chOff x="380956" y="2057530"/>
            <a:chExt cx="11430023" cy="1600200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380956" y="2057530"/>
              <a:ext cx="2743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743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1485838" y="224797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6" id="6"/>
            <p:cNvSpPr/>
            <p:nvPr/>
          </p:nvSpPr>
          <p:spPr>
            <a:xfrm rot="0" flipH="false" flipV="false">
              <a:off x="1428688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528534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加载 Tile A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533296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从 Global Memory</a:t>
              </a:r>
              <a:endParaRPr lang="en-US" sz="1100"/>
            </a:p>
          </p:txBody>
        </p:sp>
        <p:sp>
          <p:nvSpPr>
            <p:cNvPr name="Freeform 9" id="9"/>
            <p:cNvSpPr/>
            <p:nvPr/>
          </p:nvSpPr>
          <p:spPr>
            <a:xfrm rot="0" flipH="false" flipV="false">
              <a:off x="3276514" y="2057530"/>
              <a:ext cx="2743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743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4381470" y="224797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1" id="11"/>
            <p:cNvSpPr/>
            <p:nvPr/>
          </p:nvSpPr>
          <p:spPr>
            <a:xfrm rot="0" flipH="false" flipV="false">
              <a:off x="4324320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3424092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加载 Tile B</a:t>
              </a:r>
              <a:endParaRPr lang="en-US" sz="1100"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3428855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从 Global Memory</a:t>
              </a:r>
              <a:endParaRPr lang="en-US" sz="1100"/>
            </a:p>
          </p:txBody>
        </p:sp>
        <p:sp>
          <p:nvSpPr>
            <p:cNvPr name="Freeform 14" id="14"/>
            <p:cNvSpPr/>
            <p:nvPr/>
          </p:nvSpPr>
          <p:spPr>
            <a:xfrm rot="0" flipH="false" flipV="false">
              <a:off x="6172147" y="2057530"/>
              <a:ext cx="2743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743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5" id="15"/>
            <p:cNvSpPr/>
            <p:nvPr/>
          </p:nvSpPr>
          <p:spPr>
            <a:xfrm rot="0" flipH="false" flipV="false">
              <a:off x="7277103" y="224797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7219953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3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319725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计算 Partial Sum</a:t>
              </a:r>
              <a:endParaRPr lang="en-US" sz="1100"/>
            </a:p>
          </p:txBody>
        </p:sp>
        <p:sp>
          <p:nvSpPr>
            <p:cNvPr name="AutoShape 18" id="18"/>
            <p:cNvSpPr/>
            <p:nvPr/>
          </p:nvSpPr>
          <p:spPr>
            <a:xfrm rot="0" flipH="false" flipV="false">
              <a:off x="6324487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局部矩阵乘法</a:t>
              </a:r>
              <a:endParaRPr lang="en-US" sz="1100"/>
            </a:p>
          </p:txBody>
        </p:sp>
        <p:sp>
          <p:nvSpPr>
            <p:cNvPr name="Freeform 19" id="19"/>
            <p:cNvSpPr/>
            <p:nvPr/>
          </p:nvSpPr>
          <p:spPr>
            <a:xfrm rot="0" flipH="false" flipV="false">
              <a:off x="9067779" y="2057530"/>
              <a:ext cx="2743200" cy="1600200"/>
            </a:xfrm>
            <a:custGeom>
              <a:avLst/>
              <a:gdLst/>
              <a:ahLst/>
              <a:cxnLst/>
              <a:rect r="r" b="b" t="t" l="l"/>
              <a:pathLst>
                <a:path h="1600200" w="2743200">
                  <a:moveTo>
                    <a:pt x="76203" y="0"/>
                  </a:moveTo>
                  <a:lnTo>
                    <a:pt x="2666997" y="0"/>
                  </a:lnTo>
                  <a:cubicBezTo>
                    <a:pt x="2709083" y="0"/>
                    <a:pt x="2743200" y="34117"/>
                    <a:pt x="2743200" y="76203"/>
                  </a:cubicBezTo>
                  <a:lnTo>
                    <a:pt x="2743200" y="1523997"/>
                  </a:lnTo>
                  <a:cubicBezTo>
                    <a:pt x="2743200" y="1566083"/>
                    <a:pt x="2709083" y="1600200"/>
                    <a:pt x="2666997" y="1600200"/>
                  </a:cubicBezTo>
                  <a:lnTo>
                    <a:pt x="76203" y="1600200"/>
                  </a:lnTo>
                  <a:cubicBezTo>
                    <a:pt x="34117" y="1600200"/>
                    <a:pt x="0" y="1566083"/>
                    <a:pt x="0" y="1523997"/>
                  </a:cubicBezTo>
                  <a:lnTo>
                    <a:pt x="0" y="76203"/>
                  </a:lnTo>
                  <a:cubicBezTo>
                    <a:pt x="0" y="34145"/>
                    <a:pt x="34145" y="0"/>
                    <a:pt x="76203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10172735" y="2247970"/>
              <a:ext cx="533400" cy="533400"/>
            </a:xfrm>
            <a:custGeom>
              <a:avLst/>
              <a:gdLst/>
              <a:ahLst/>
              <a:cxnLst/>
              <a:rect r="r" b="b" t="t" l="l"/>
              <a:pathLst>
                <a:path h="533400" w="533400">
                  <a:moveTo>
                    <a:pt x="266700" y="0"/>
                  </a:moveTo>
                  <a:lnTo>
                    <a:pt x="266700" y="0"/>
                  </a:lnTo>
                  <a:cubicBezTo>
                    <a:pt x="413896" y="0"/>
                    <a:pt x="533400" y="119504"/>
                    <a:pt x="533400" y="266700"/>
                  </a:cubicBezTo>
                  <a:lnTo>
                    <a:pt x="533400" y="266700"/>
                  </a:lnTo>
                  <a:cubicBezTo>
                    <a:pt x="533400" y="413896"/>
                    <a:pt x="413896" y="533400"/>
                    <a:pt x="266700" y="533400"/>
                  </a:cubicBezTo>
                  <a:lnTo>
                    <a:pt x="266700" y="533400"/>
                  </a:lnTo>
                  <a:cubicBezTo>
                    <a:pt x="119504" y="533400"/>
                    <a:pt x="0" y="413896"/>
                    <a:pt x="0" y="266700"/>
                  </a:cubicBezTo>
                  <a:lnTo>
                    <a:pt x="0" y="266700"/>
                  </a:lnTo>
                  <a:cubicBezTo>
                    <a:pt x="0" y="119504"/>
                    <a:pt x="119504" y="0"/>
                    <a:pt x="2667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0115585" y="2247970"/>
              <a:ext cx="647700" cy="5334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08333"/>
                </a:lnSpc>
                <a:defRPr/>
              </a:pPr>
              <a:r>
                <a:rPr lang="en-US" b="true" i="false" strike="noStrike" u="none" sz="18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4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9215357" y="2895558"/>
              <a:ext cx="24479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重复 K 维度</a:t>
              </a:r>
              <a:endParaRPr lang="en-US" sz="1100"/>
            </a:p>
          </p:txBody>
        </p:sp>
        <p:sp>
          <p:nvSpPr>
            <p:cNvPr name="AutoShape 23" id="23"/>
            <p:cNvSpPr/>
            <p:nvPr/>
          </p:nvSpPr>
          <p:spPr>
            <a:xfrm rot="0" flipH="false" flipV="false">
              <a:off x="9220120" y="3238453"/>
              <a:ext cx="24384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循环直至完成</a:t>
              </a:r>
              <a:endParaRPr lang="en-US" sz="1100"/>
            </a:p>
          </p:txBody>
        </p:sp>
      </p:grpSp>
      <p:sp>
        <p:nvSpPr>
          <p:cNvPr name="Freeform 24" id="24"/>
          <p:cNvSpPr/>
          <p:nvPr/>
        </p:nvSpPr>
        <p:spPr>
          <a:xfrm rot="0" flipH="false" flipV="false">
            <a:off x="380956" y="3886042"/>
            <a:ext cx="11430000" cy="1485900"/>
          </a:xfrm>
          <a:custGeom>
            <a:avLst/>
            <a:gdLst/>
            <a:ahLst/>
            <a:cxnLst/>
            <a:rect r="r" b="b" t="t" l="l"/>
            <a:pathLst>
              <a:path h="14859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2429" y="4114614"/>
            <a:ext cx="10744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优势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09529" y="4571688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4286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减少访存次数</a:t>
            </a:r>
            <a:endParaRPr lang="en-US" sz="1100"/>
          </a:p>
        </p:txBody>
      </p:sp>
      <p:sp>
        <p:nvSpPr>
          <p:cNvPr name="Freeform 28" id="28"/>
          <p:cNvSpPr/>
          <p:nvPr/>
        </p:nvSpPr>
        <p:spPr>
          <a:xfrm rot="0" flipH="false" flipV="false">
            <a:off x="4317941" y="4571688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422698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提高数据复用</a:t>
            </a:r>
            <a:endParaRPr lang="en-US" sz="1100"/>
          </a:p>
        </p:txBody>
      </p:sp>
      <p:sp>
        <p:nvSpPr>
          <p:cNvPr name="Freeform 30" id="30"/>
          <p:cNvSpPr/>
          <p:nvPr/>
        </p:nvSpPr>
        <p:spPr>
          <a:xfrm rot="0" flipH="false" flipV="false">
            <a:off x="8026353" y="4571688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131110" y="4724070"/>
            <a:ext cx="33432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提升 Cache 利用率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380956" y="6324600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3" id="3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6186" y="62042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数据复用原理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0433" y="1266596"/>
            <a:ext cx="5543455" cy="2952655"/>
          </a:xfrm>
          <a:custGeom>
            <a:avLst/>
            <a:gdLst/>
            <a:ahLst/>
            <a:cxnLst/>
            <a:rect r="r" b="b" t="t" l="l"/>
            <a:pathLst>
              <a:path h="2952655" w="5543455">
                <a:moveTo>
                  <a:pt x="76208" y="0"/>
                </a:moveTo>
                <a:lnTo>
                  <a:pt x="5467247" y="0"/>
                </a:lnTo>
                <a:cubicBezTo>
                  <a:pt x="5509336" y="0"/>
                  <a:pt x="5543455" y="34119"/>
                  <a:pt x="5543455" y="76208"/>
                </a:cubicBezTo>
                <a:lnTo>
                  <a:pt x="5543455" y="2876447"/>
                </a:lnTo>
                <a:cubicBezTo>
                  <a:pt x="5543455" y="2918536"/>
                  <a:pt x="5509336" y="2952655"/>
                  <a:pt x="5467247" y="2952655"/>
                </a:cubicBezTo>
                <a:lnTo>
                  <a:pt x="76208" y="2952655"/>
                </a:lnTo>
                <a:cubicBezTo>
                  <a:pt x="34119" y="2952655"/>
                  <a:pt x="0" y="2918536"/>
                  <a:pt x="0" y="2876447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3F4F6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28484" y="1504648"/>
            <a:ext cx="51816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Naive 方式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1961717"/>
            <a:ext cx="5067300" cy="571500"/>
          </a:xfrm>
          <a:custGeom>
            <a:avLst/>
            <a:gdLst/>
            <a:ahLst/>
            <a:cxnLst/>
            <a:rect r="r" b="b" t="t" l="l"/>
            <a:pathLst>
              <a:path h="571500" w="50673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80866" y="2114104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每次计算读取数据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628484" y="2685571"/>
            <a:ext cx="5067300" cy="571500"/>
          </a:xfrm>
          <a:custGeom>
            <a:avLst/>
            <a:gdLst/>
            <a:ahLst/>
            <a:cxnLst/>
            <a:rect r="r" b="b" t="t" l="l"/>
            <a:pathLst>
              <a:path h="571500" w="50673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0866" y="2837952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无数据复用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8484" y="3409424"/>
            <a:ext cx="5067300" cy="571500"/>
          </a:xfrm>
          <a:custGeom>
            <a:avLst/>
            <a:gdLst/>
            <a:ahLst/>
            <a:cxnLst/>
            <a:rect r="r" b="b" t="t" l="l"/>
            <a:pathLst>
              <a:path h="571500" w="5067300">
                <a:moveTo>
                  <a:pt x="38103" y="0"/>
                </a:moveTo>
                <a:lnTo>
                  <a:pt x="5029197" y="0"/>
                </a:lnTo>
                <a:cubicBezTo>
                  <a:pt x="5050241" y="0"/>
                  <a:pt x="5067300" y="17059"/>
                  <a:pt x="5067300" y="38103"/>
                </a:cubicBezTo>
                <a:lnTo>
                  <a:pt x="5067300" y="533397"/>
                </a:lnTo>
                <a:cubicBezTo>
                  <a:pt x="5067300" y="554441"/>
                  <a:pt x="5050241" y="571500"/>
                  <a:pt x="50291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80866" y="3561806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高内存带宽消耗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031564" y="4380807"/>
            <a:ext cx="261460" cy="344976"/>
          </a:xfrm>
          <a:custGeom>
            <a:avLst/>
            <a:gdLst/>
            <a:ahLst/>
            <a:cxnLst/>
            <a:rect r="r" b="b" t="t" l="l"/>
            <a:pathLst>
              <a:path h="344976" w="261460">
                <a:moveTo>
                  <a:pt x="115594" y="336605"/>
                </a:moveTo>
                <a:cubicBezTo>
                  <a:pt x="123965" y="344976"/>
                  <a:pt x="137561" y="344976"/>
                  <a:pt x="145931" y="336605"/>
                </a:cubicBezTo>
                <a:lnTo>
                  <a:pt x="253089" y="229448"/>
                </a:lnTo>
                <a:cubicBezTo>
                  <a:pt x="261459" y="221077"/>
                  <a:pt x="261459" y="207481"/>
                  <a:pt x="253089" y="199111"/>
                </a:cubicBezTo>
                <a:cubicBezTo>
                  <a:pt x="244717" y="190737"/>
                  <a:pt x="231122" y="190737"/>
                  <a:pt x="222750" y="199111"/>
                </a:cubicBezTo>
                <a:lnTo>
                  <a:pt x="152161" y="269698"/>
                </a:lnTo>
                <a:lnTo>
                  <a:pt x="152161" y="21431"/>
                </a:lnTo>
                <a:cubicBezTo>
                  <a:pt x="152161" y="9577"/>
                  <a:pt x="142584" y="0"/>
                  <a:pt x="130730" y="0"/>
                </a:cubicBezTo>
                <a:cubicBezTo>
                  <a:pt x="118875" y="0"/>
                  <a:pt x="109298" y="9577"/>
                  <a:pt x="109298" y="21431"/>
                </a:cubicBezTo>
                <a:lnTo>
                  <a:pt x="109298" y="269698"/>
                </a:lnTo>
                <a:lnTo>
                  <a:pt x="38709" y="199111"/>
                </a:lnTo>
                <a:cubicBezTo>
                  <a:pt x="30337" y="190737"/>
                  <a:pt x="16742" y="190737"/>
                  <a:pt x="8370" y="199111"/>
                </a:cubicBezTo>
                <a:cubicBezTo>
                  <a:pt x="0" y="207481"/>
                  <a:pt x="0" y="221077"/>
                  <a:pt x="8370" y="229448"/>
                </a:cubicBezTo>
                <a:lnTo>
                  <a:pt x="115528" y="336605"/>
                </a:lnTo>
                <a:close/>
              </a:path>
            </a:pathLst>
          </a:custGeom>
          <a:solidFill>
            <a:srgbClr val="99A1A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48338" y="1276076"/>
            <a:ext cx="5562600" cy="2933700"/>
          </a:xfrm>
          <a:custGeom>
            <a:avLst/>
            <a:gdLst/>
            <a:ahLst/>
            <a:cxnLst/>
            <a:rect r="r" b="b" t="t" l="l"/>
            <a:pathLst>
              <a:path h="2933700" w="5562600">
                <a:moveTo>
                  <a:pt x="76189" y="0"/>
                </a:moveTo>
                <a:lnTo>
                  <a:pt x="5486411" y="0"/>
                </a:lnTo>
                <a:cubicBezTo>
                  <a:pt x="5528489" y="0"/>
                  <a:pt x="5562600" y="34111"/>
                  <a:pt x="5562600" y="76189"/>
                </a:cubicBezTo>
                <a:lnTo>
                  <a:pt x="5562600" y="2857511"/>
                </a:lnTo>
                <a:cubicBezTo>
                  <a:pt x="5562600" y="2899589"/>
                  <a:pt x="5528489" y="2933700"/>
                  <a:pt x="5486411" y="2933700"/>
                </a:cubicBezTo>
                <a:lnTo>
                  <a:pt x="76189" y="2933700"/>
                </a:lnTo>
                <a:cubicBezTo>
                  <a:pt x="34111" y="2933700"/>
                  <a:pt x="0" y="2899589"/>
                  <a:pt x="0" y="2857511"/>
                </a:cubicBezTo>
                <a:lnTo>
                  <a:pt x="0" y="76189"/>
                </a:lnTo>
                <a:cubicBezTo>
                  <a:pt x="0" y="34139"/>
                  <a:pt x="34139" y="0"/>
                  <a:pt x="7618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6911" y="1504648"/>
            <a:ext cx="52197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Tiled 方式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76911" y="1961717"/>
            <a:ext cx="5105400" cy="571500"/>
          </a:xfrm>
          <a:custGeom>
            <a:avLst/>
            <a:gdLst/>
            <a:ahLst/>
            <a:cxnLst/>
            <a:rect r="r" b="b" t="t" l="l"/>
            <a:pathLst>
              <a:path h="571500" w="51054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29293" y="2114104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读取一次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476911" y="2685571"/>
            <a:ext cx="5105400" cy="571500"/>
          </a:xfrm>
          <a:custGeom>
            <a:avLst/>
            <a:gdLst/>
            <a:ahLst/>
            <a:cxnLst/>
            <a:rect r="r" b="b" t="t" l="l"/>
            <a:pathLst>
              <a:path h="571500" w="51054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629293" y="2837952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使用多次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76911" y="3409424"/>
            <a:ext cx="5105400" cy="571500"/>
          </a:xfrm>
          <a:custGeom>
            <a:avLst/>
            <a:gdLst/>
            <a:ahLst/>
            <a:cxnLst/>
            <a:rect r="r" b="b" t="t" l="l"/>
            <a:pathLst>
              <a:path h="571500" w="51054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533397"/>
                </a:lnTo>
                <a:cubicBezTo>
                  <a:pt x="5105400" y="554441"/>
                  <a:pt x="5088341" y="571500"/>
                  <a:pt x="50672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29293" y="3561806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高效数据复用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8898947" y="4365132"/>
            <a:ext cx="261460" cy="344976"/>
          </a:xfrm>
          <a:custGeom>
            <a:avLst/>
            <a:gdLst/>
            <a:ahLst/>
            <a:cxnLst/>
            <a:rect r="r" b="b" t="t" l="l"/>
            <a:pathLst>
              <a:path h="344976" w="261460">
                <a:moveTo>
                  <a:pt x="145865" y="8372"/>
                </a:moveTo>
                <a:cubicBezTo>
                  <a:pt x="137494" y="0"/>
                  <a:pt x="123898" y="0"/>
                  <a:pt x="115528" y="8372"/>
                </a:cubicBezTo>
                <a:lnTo>
                  <a:pt x="8370" y="115526"/>
                </a:lnTo>
                <a:cubicBezTo>
                  <a:pt x="0" y="123900"/>
                  <a:pt x="0" y="137495"/>
                  <a:pt x="8370" y="145866"/>
                </a:cubicBezTo>
                <a:cubicBezTo>
                  <a:pt x="16742" y="154237"/>
                  <a:pt x="30337" y="154237"/>
                  <a:pt x="38709" y="145866"/>
                </a:cubicBezTo>
                <a:lnTo>
                  <a:pt x="109298" y="75276"/>
                </a:lnTo>
                <a:lnTo>
                  <a:pt x="109298" y="323545"/>
                </a:lnTo>
                <a:cubicBezTo>
                  <a:pt x="109298" y="335399"/>
                  <a:pt x="118875" y="344976"/>
                  <a:pt x="130729" y="344976"/>
                </a:cubicBezTo>
                <a:cubicBezTo>
                  <a:pt x="142584" y="344976"/>
                  <a:pt x="152161" y="335399"/>
                  <a:pt x="152161" y="323545"/>
                </a:cubicBezTo>
                <a:lnTo>
                  <a:pt x="152161" y="75276"/>
                </a:lnTo>
                <a:lnTo>
                  <a:pt x="222750" y="145866"/>
                </a:lnTo>
                <a:cubicBezTo>
                  <a:pt x="231122" y="154237"/>
                  <a:pt x="244717" y="154237"/>
                  <a:pt x="253089" y="145866"/>
                </a:cubicBezTo>
                <a:cubicBezTo>
                  <a:pt x="261459" y="137495"/>
                  <a:pt x="261459" y="123900"/>
                  <a:pt x="253089" y="115526"/>
                </a:cubicBezTo>
                <a:lnTo>
                  <a:pt x="145931" y="837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380956" y="4908663"/>
            <a:ext cx="11430000" cy="1524000"/>
          </a:xfrm>
          <a:custGeom>
            <a:avLst/>
            <a:gdLst/>
            <a:ahLst/>
            <a:cxnLst/>
            <a:rect r="r" b="b" t="t" l="l"/>
            <a:pathLst>
              <a:path h="15240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09529" y="5137240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复用效果示例</a:t>
            </a:r>
            <a:endParaRPr lang="en-US" sz="1100"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28484" y="5556326"/>
            <a:ext cx="5352955" cy="647700"/>
          </a:xfrm>
          <a:custGeom>
            <a:avLst/>
            <a:gdLst/>
            <a:ahLst/>
            <a:cxnLst/>
            <a:rect r="r" b="b" t="t" l="l"/>
            <a:pathLst>
              <a:path h="647700" w="5352955">
                <a:moveTo>
                  <a:pt x="37910" y="0"/>
                </a:moveTo>
                <a:lnTo>
                  <a:pt x="5314859" y="0"/>
                </a:lnTo>
                <a:cubicBezTo>
                  <a:pt x="5335883" y="0"/>
                  <a:pt x="5352955" y="17071"/>
                  <a:pt x="5352955" y="38097"/>
                </a:cubicBezTo>
                <a:lnTo>
                  <a:pt x="5352955" y="609603"/>
                </a:lnTo>
                <a:cubicBezTo>
                  <a:pt x="5352955" y="630643"/>
                  <a:pt x="5335897" y="647700"/>
                  <a:pt x="53148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28484" y="5556326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99822" y="5708707"/>
            <a:ext cx="511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Tile 被复用 </a:t>
            </a:r>
            <a:r>
              <a:rPr lang="en-US" b="true" i="false" strike="noStrike" u="none" sz="23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32</a:t>
            </a: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 次</a:t>
            </a:r>
            <a:endParaRPr lang="en-US" sz="1100"/>
          </a:p>
        </p:txBody>
      </p:sp>
      <p:sp>
        <p:nvSpPr>
          <p:cNvPr name="Freeform 26" id="26"/>
          <p:cNvSpPr/>
          <p:nvPr/>
        </p:nvSpPr>
        <p:spPr>
          <a:xfrm rot="0" flipH="false" flipV="false">
            <a:off x="6229234" y="5556326"/>
            <a:ext cx="5352955" cy="647700"/>
          </a:xfrm>
          <a:custGeom>
            <a:avLst/>
            <a:gdLst/>
            <a:ahLst/>
            <a:cxnLst/>
            <a:rect r="r" b="b" t="t" l="l"/>
            <a:pathLst>
              <a:path h="647700" w="5352955">
                <a:moveTo>
                  <a:pt x="37910" y="0"/>
                </a:moveTo>
                <a:lnTo>
                  <a:pt x="5314859" y="0"/>
                </a:lnTo>
                <a:cubicBezTo>
                  <a:pt x="5335883" y="0"/>
                  <a:pt x="5352955" y="17071"/>
                  <a:pt x="5352955" y="38097"/>
                </a:cubicBezTo>
                <a:lnTo>
                  <a:pt x="5352955" y="609603"/>
                </a:lnTo>
                <a:cubicBezTo>
                  <a:pt x="5352955" y="630643"/>
                  <a:pt x="5335897" y="647700"/>
                  <a:pt x="53148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229234" y="5556326"/>
            <a:ext cx="37910" cy="647700"/>
          </a:xfrm>
          <a:custGeom>
            <a:avLst/>
            <a:gdLst/>
            <a:ahLst/>
            <a:cxnLst/>
            <a:rect r="r" b="b" t="t" l="l"/>
            <a:pathLst>
              <a:path h="647700" w="37910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00572" y="5708707"/>
            <a:ext cx="511492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减少访存 </a:t>
            </a:r>
            <a:r>
              <a:rPr lang="en-US" b="true" i="false" strike="noStrike" u="none" sz="23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32×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80956" y="658931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85664" y="61492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计算 vs 访存比例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9"/>
            <a:ext cx="5562600" cy="2095500"/>
          </a:xfrm>
          <a:custGeom>
            <a:avLst/>
            <a:gdLst/>
            <a:ahLst/>
            <a:cxnLst/>
            <a:rect r="r" b="b" t="t" l="l"/>
            <a:pathLst>
              <a:path h="2095500" w="55626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638104" y="1509382"/>
            <a:ext cx="228600" cy="228600"/>
          </a:xfrm>
          <a:custGeom>
            <a:avLst/>
            <a:gdLst/>
            <a:ahLst/>
            <a:cxnLst/>
            <a:rect r="r" b="b" t="t" l="l"/>
            <a:pathLst>
              <a:path h="228600" w="228600">
                <a:moveTo>
                  <a:pt x="78581" y="10716"/>
                </a:moveTo>
                <a:cubicBezTo>
                  <a:pt x="78581" y="4776"/>
                  <a:pt x="73804" y="0"/>
                  <a:pt x="67866" y="0"/>
                </a:cubicBezTo>
                <a:cubicBezTo>
                  <a:pt x="61926" y="0"/>
                  <a:pt x="57150" y="4776"/>
                  <a:pt x="57150" y="10716"/>
                </a:cubicBezTo>
                <a:lnTo>
                  <a:pt x="57150" y="28575"/>
                </a:lnTo>
                <a:cubicBezTo>
                  <a:pt x="41389" y="28575"/>
                  <a:pt x="28575" y="41389"/>
                  <a:pt x="28575" y="57150"/>
                </a:cubicBezTo>
                <a:lnTo>
                  <a:pt x="10716" y="57150"/>
                </a:lnTo>
                <a:cubicBezTo>
                  <a:pt x="4776" y="57150"/>
                  <a:pt x="0" y="61926"/>
                  <a:pt x="0" y="67866"/>
                </a:cubicBezTo>
                <a:cubicBezTo>
                  <a:pt x="0" y="73804"/>
                  <a:pt x="4776" y="78581"/>
                  <a:pt x="10716" y="78581"/>
                </a:cubicBezTo>
                <a:lnTo>
                  <a:pt x="28575" y="78581"/>
                </a:lnTo>
                <a:lnTo>
                  <a:pt x="28575" y="103584"/>
                </a:lnTo>
                <a:lnTo>
                  <a:pt x="10716" y="103584"/>
                </a:lnTo>
                <a:cubicBezTo>
                  <a:pt x="4776" y="103584"/>
                  <a:pt x="0" y="108361"/>
                  <a:pt x="0" y="114300"/>
                </a:cubicBezTo>
                <a:cubicBezTo>
                  <a:pt x="0" y="120239"/>
                  <a:pt x="4776" y="125016"/>
                  <a:pt x="10716" y="125016"/>
                </a:cubicBezTo>
                <a:lnTo>
                  <a:pt x="28575" y="125016"/>
                </a:lnTo>
                <a:lnTo>
                  <a:pt x="28575" y="150019"/>
                </a:lnTo>
                <a:lnTo>
                  <a:pt x="10716" y="150019"/>
                </a:lnTo>
                <a:cubicBezTo>
                  <a:pt x="4776" y="150019"/>
                  <a:pt x="0" y="154796"/>
                  <a:pt x="0" y="160734"/>
                </a:cubicBezTo>
                <a:cubicBezTo>
                  <a:pt x="0" y="166674"/>
                  <a:pt x="4776" y="171450"/>
                  <a:pt x="10716" y="171450"/>
                </a:cubicBezTo>
                <a:lnTo>
                  <a:pt x="28575" y="171450"/>
                </a:lnTo>
                <a:cubicBezTo>
                  <a:pt x="28575" y="187211"/>
                  <a:pt x="41389" y="200025"/>
                  <a:pt x="57150" y="200025"/>
                </a:cubicBezTo>
                <a:lnTo>
                  <a:pt x="57150" y="217884"/>
                </a:lnTo>
                <a:cubicBezTo>
                  <a:pt x="57150" y="223824"/>
                  <a:pt x="61926" y="228600"/>
                  <a:pt x="67866" y="228600"/>
                </a:cubicBezTo>
                <a:cubicBezTo>
                  <a:pt x="73804" y="228600"/>
                  <a:pt x="78581" y="223824"/>
                  <a:pt x="78581" y="217884"/>
                </a:cubicBezTo>
                <a:lnTo>
                  <a:pt x="78581" y="200025"/>
                </a:lnTo>
                <a:lnTo>
                  <a:pt x="103584" y="200025"/>
                </a:lnTo>
                <a:lnTo>
                  <a:pt x="103584" y="217884"/>
                </a:lnTo>
                <a:cubicBezTo>
                  <a:pt x="103584" y="223824"/>
                  <a:pt x="108361" y="228600"/>
                  <a:pt x="114300" y="228600"/>
                </a:cubicBezTo>
                <a:cubicBezTo>
                  <a:pt x="120239" y="228600"/>
                  <a:pt x="125016" y="223824"/>
                  <a:pt x="125016" y="217884"/>
                </a:cubicBezTo>
                <a:lnTo>
                  <a:pt x="125016" y="200025"/>
                </a:lnTo>
                <a:lnTo>
                  <a:pt x="150019" y="200025"/>
                </a:lnTo>
                <a:lnTo>
                  <a:pt x="150019" y="217884"/>
                </a:lnTo>
                <a:cubicBezTo>
                  <a:pt x="150019" y="223824"/>
                  <a:pt x="154796" y="228600"/>
                  <a:pt x="160734" y="228600"/>
                </a:cubicBezTo>
                <a:cubicBezTo>
                  <a:pt x="166674" y="228600"/>
                  <a:pt x="171450" y="223824"/>
                  <a:pt x="171450" y="217884"/>
                </a:cubicBezTo>
                <a:lnTo>
                  <a:pt x="171450" y="200025"/>
                </a:lnTo>
                <a:cubicBezTo>
                  <a:pt x="187211" y="200025"/>
                  <a:pt x="200025" y="187211"/>
                  <a:pt x="200025" y="171450"/>
                </a:cubicBezTo>
                <a:lnTo>
                  <a:pt x="217884" y="171450"/>
                </a:lnTo>
                <a:cubicBezTo>
                  <a:pt x="223824" y="171450"/>
                  <a:pt x="228600" y="166674"/>
                  <a:pt x="228600" y="160734"/>
                </a:cubicBezTo>
                <a:cubicBezTo>
                  <a:pt x="228600" y="154796"/>
                  <a:pt x="223824" y="150019"/>
                  <a:pt x="217884" y="150019"/>
                </a:cubicBezTo>
                <a:lnTo>
                  <a:pt x="200025" y="150019"/>
                </a:lnTo>
                <a:lnTo>
                  <a:pt x="200025" y="125016"/>
                </a:lnTo>
                <a:lnTo>
                  <a:pt x="217884" y="125016"/>
                </a:lnTo>
                <a:cubicBezTo>
                  <a:pt x="223824" y="125016"/>
                  <a:pt x="228600" y="120239"/>
                  <a:pt x="228600" y="114300"/>
                </a:cubicBezTo>
                <a:cubicBezTo>
                  <a:pt x="228600" y="108361"/>
                  <a:pt x="223824" y="103584"/>
                  <a:pt x="217884" y="103584"/>
                </a:cubicBezTo>
                <a:lnTo>
                  <a:pt x="200025" y="103584"/>
                </a:lnTo>
                <a:lnTo>
                  <a:pt x="200025" y="78581"/>
                </a:lnTo>
                <a:lnTo>
                  <a:pt x="217884" y="78581"/>
                </a:lnTo>
                <a:cubicBezTo>
                  <a:pt x="223824" y="78581"/>
                  <a:pt x="228600" y="73804"/>
                  <a:pt x="228600" y="67866"/>
                </a:cubicBezTo>
                <a:cubicBezTo>
                  <a:pt x="228600" y="61926"/>
                  <a:pt x="223824" y="57150"/>
                  <a:pt x="217884" y="57150"/>
                </a:cubicBezTo>
                <a:lnTo>
                  <a:pt x="200025" y="57150"/>
                </a:lnTo>
                <a:cubicBezTo>
                  <a:pt x="200025" y="41389"/>
                  <a:pt x="187211" y="28575"/>
                  <a:pt x="171450" y="28575"/>
                </a:cubicBezTo>
                <a:lnTo>
                  <a:pt x="171450" y="10716"/>
                </a:lnTo>
                <a:cubicBezTo>
                  <a:pt x="171450" y="4776"/>
                  <a:pt x="166674" y="0"/>
                  <a:pt x="160734" y="0"/>
                </a:cubicBezTo>
                <a:cubicBezTo>
                  <a:pt x="154796" y="0"/>
                  <a:pt x="150019" y="4776"/>
                  <a:pt x="150019" y="10716"/>
                </a:cubicBezTo>
                <a:lnTo>
                  <a:pt x="150019" y="28575"/>
                </a:lnTo>
                <a:lnTo>
                  <a:pt x="125016" y="28575"/>
                </a:lnTo>
                <a:lnTo>
                  <a:pt x="125016" y="10716"/>
                </a:lnTo>
                <a:cubicBezTo>
                  <a:pt x="125016" y="4776"/>
                  <a:pt x="120239" y="0"/>
                  <a:pt x="114300" y="0"/>
                </a:cubicBezTo>
                <a:cubicBezTo>
                  <a:pt x="108361" y="0"/>
                  <a:pt x="103584" y="4776"/>
                  <a:pt x="103584" y="10716"/>
                </a:cubicBezTo>
                <a:lnTo>
                  <a:pt x="103584" y="28575"/>
                </a:lnTo>
                <a:lnTo>
                  <a:pt x="78581" y="28575"/>
                </a:lnTo>
                <a:lnTo>
                  <a:pt x="78581" y="10716"/>
                </a:lnTo>
                <a:close/>
                <a:moveTo>
                  <a:pt x="71438" y="57150"/>
                </a:moveTo>
                <a:lnTo>
                  <a:pt x="157162" y="57150"/>
                </a:lnTo>
                <a:cubicBezTo>
                  <a:pt x="165064" y="57150"/>
                  <a:pt x="171450" y="63536"/>
                  <a:pt x="171450" y="71438"/>
                </a:cubicBezTo>
                <a:lnTo>
                  <a:pt x="171450" y="157162"/>
                </a:lnTo>
                <a:cubicBezTo>
                  <a:pt x="171450" y="165064"/>
                  <a:pt x="165064" y="171450"/>
                  <a:pt x="157162" y="171450"/>
                </a:cubicBezTo>
                <a:lnTo>
                  <a:pt x="71438" y="171450"/>
                </a:lnTo>
                <a:cubicBezTo>
                  <a:pt x="63536" y="171450"/>
                  <a:pt x="57150" y="165064"/>
                  <a:pt x="57150" y="157162"/>
                </a:cubicBezTo>
                <a:lnTo>
                  <a:pt x="57150" y="71438"/>
                </a:lnTo>
                <a:cubicBezTo>
                  <a:pt x="57150" y="63536"/>
                  <a:pt x="63536" y="57150"/>
                  <a:pt x="71438" y="57150"/>
                </a:cubicBezTo>
                <a:close/>
                <a:moveTo>
                  <a:pt x="78581" y="78581"/>
                </a:moveTo>
                <a:lnTo>
                  <a:pt x="78581" y="150019"/>
                </a:lnTo>
                <a:lnTo>
                  <a:pt x="150019" y="150019"/>
                </a:lnTo>
                <a:lnTo>
                  <a:pt x="150019" y="78581"/>
                </a:lnTo>
                <a:lnTo>
                  <a:pt x="78581" y="78581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429" y="1485691"/>
            <a:ext cx="4876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</a:t>
            </a:r>
            <a:endParaRPr lang="en-US" sz="1100"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19007" y="1952243"/>
            <a:ext cx="5086255" cy="1161955"/>
          </a:xfrm>
          <a:custGeom>
            <a:avLst/>
            <a:gdLst/>
            <a:ahLst/>
            <a:cxnLst/>
            <a:rect r="r" b="b" t="t" l="l"/>
            <a:pathLst>
              <a:path h="1161955" w="50862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7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71332" y="2190290"/>
            <a:ext cx="4781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FLOPs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8957" y="2647438"/>
            <a:ext cx="468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浮点运算次数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48338" y="1257119"/>
            <a:ext cx="5562600" cy="2095500"/>
          </a:xfrm>
          <a:custGeom>
            <a:avLst/>
            <a:gdLst/>
            <a:ahLst/>
            <a:cxnLst/>
            <a:rect r="r" b="b" t="t" l="l"/>
            <a:pathLst>
              <a:path h="2095500" w="5562600">
                <a:moveTo>
                  <a:pt x="76192" y="0"/>
                </a:moveTo>
                <a:lnTo>
                  <a:pt x="5486408" y="0"/>
                </a:lnTo>
                <a:cubicBezTo>
                  <a:pt x="5528488" y="0"/>
                  <a:pt x="5562600" y="34112"/>
                  <a:pt x="5562600" y="76192"/>
                </a:cubicBezTo>
                <a:lnTo>
                  <a:pt x="5562600" y="2019308"/>
                </a:lnTo>
                <a:cubicBezTo>
                  <a:pt x="5562600" y="2061388"/>
                  <a:pt x="5528488" y="2095500"/>
                  <a:pt x="5486408" y="2095500"/>
                </a:cubicBezTo>
                <a:lnTo>
                  <a:pt x="76192" y="2095500"/>
                </a:lnTo>
                <a:cubicBezTo>
                  <a:pt x="34112" y="2095500"/>
                  <a:pt x="0" y="2061388"/>
                  <a:pt x="0" y="2019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505486" y="1537957"/>
            <a:ext cx="228600" cy="171450"/>
          </a:xfrm>
          <a:custGeom>
            <a:avLst/>
            <a:gdLst/>
            <a:ahLst/>
            <a:cxnLst/>
            <a:rect r="r" b="b" t="t" l="l"/>
            <a:pathLst>
              <a:path h="171450" w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31880"/>
                </a:lnTo>
                <a:cubicBezTo>
                  <a:pt x="0" y="34915"/>
                  <a:pt x="1965" y="37504"/>
                  <a:pt x="4509" y="39157"/>
                </a:cubicBezTo>
                <a:cubicBezTo>
                  <a:pt x="10403" y="42996"/>
                  <a:pt x="14288" y="49604"/>
                  <a:pt x="14288" y="57150"/>
                </a:cubicBezTo>
                <a:cubicBezTo>
                  <a:pt x="14288" y="64696"/>
                  <a:pt x="10403" y="71304"/>
                  <a:pt x="4509" y="75143"/>
                </a:cubicBezTo>
                <a:cubicBezTo>
                  <a:pt x="1965" y="76796"/>
                  <a:pt x="0" y="79385"/>
                  <a:pt x="0" y="82420"/>
                </a:cubicBezTo>
                <a:lnTo>
                  <a:pt x="0" y="107156"/>
                </a:lnTo>
                <a:lnTo>
                  <a:pt x="228600" y="107156"/>
                </a:lnTo>
                <a:lnTo>
                  <a:pt x="228600" y="82420"/>
                </a:lnTo>
                <a:cubicBezTo>
                  <a:pt x="228600" y="79385"/>
                  <a:pt x="226635" y="76796"/>
                  <a:pt x="224092" y="75143"/>
                </a:cubicBezTo>
                <a:cubicBezTo>
                  <a:pt x="218197" y="71304"/>
                  <a:pt x="214313" y="64696"/>
                  <a:pt x="214313" y="57150"/>
                </a:cubicBezTo>
                <a:cubicBezTo>
                  <a:pt x="214313" y="49604"/>
                  <a:pt x="218197" y="42996"/>
                  <a:pt x="224092" y="39157"/>
                </a:cubicBezTo>
                <a:cubicBezTo>
                  <a:pt x="226635" y="37504"/>
                  <a:pt x="228600" y="34915"/>
                  <a:pt x="228600" y="31880"/>
                </a:cubicBezTo>
                <a:lnTo>
                  <a:pt x="228600" y="28575"/>
                </a:lnTo>
                <a:cubicBezTo>
                  <a:pt x="228600" y="12814"/>
                  <a:pt x="215786" y="0"/>
                  <a:pt x="200025" y="0"/>
                </a:cubicBezTo>
                <a:lnTo>
                  <a:pt x="28575" y="0"/>
                </a:lnTo>
                <a:close/>
                <a:moveTo>
                  <a:pt x="228600" y="157162"/>
                </a:moveTo>
                <a:lnTo>
                  <a:pt x="228600" y="128587"/>
                </a:lnTo>
                <a:lnTo>
                  <a:pt x="0" y="128587"/>
                </a:lnTo>
                <a:lnTo>
                  <a:pt x="0" y="157162"/>
                </a:lnTo>
                <a:cubicBezTo>
                  <a:pt x="0" y="165064"/>
                  <a:pt x="6386" y="171450"/>
                  <a:pt x="14288" y="171450"/>
                </a:cubicBezTo>
                <a:lnTo>
                  <a:pt x="42863" y="171450"/>
                </a:lnTo>
                <a:lnTo>
                  <a:pt x="42863" y="160734"/>
                </a:lnTo>
                <a:cubicBezTo>
                  <a:pt x="42863" y="154796"/>
                  <a:pt x="47640" y="150019"/>
                  <a:pt x="53577" y="150019"/>
                </a:cubicBezTo>
                <a:cubicBezTo>
                  <a:pt x="59516" y="150019"/>
                  <a:pt x="64294" y="154796"/>
                  <a:pt x="64294" y="160734"/>
                </a:cubicBezTo>
                <a:lnTo>
                  <a:pt x="64294" y="171450"/>
                </a:lnTo>
                <a:lnTo>
                  <a:pt x="103584" y="171450"/>
                </a:lnTo>
                <a:lnTo>
                  <a:pt x="103584" y="160734"/>
                </a:lnTo>
                <a:cubicBezTo>
                  <a:pt x="103584" y="154796"/>
                  <a:pt x="108361" y="150019"/>
                  <a:pt x="114300" y="150019"/>
                </a:cubicBezTo>
                <a:cubicBezTo>
                  <a:pt x="120239" y="150019"/>
                  <a:pt x="125016" y="154796"/>
                  <a:pt x="125016" y="160734"/>
                </a:cubicBezTo>
                <a:lnTo>
                  <a:pt x="125016" y="171450"/>
                </a:lnTo>
                <a:lnTo>
                  <a:pt x="164306" y="171450"/>
                </a:lnTo>
                <a:lnTo>
                  <a:pt x="164306" y="160734"/>
                </a:lnTo>
                <a:cubicBezTo>
                  <a:pt x="164306" y="154796"/>
                  <a:pt x="169084" y="150019"/>
                  <a:pt x="175023" y="150019"/>
                </a:cubicBezTo>
                <a:cubicBezTo>
                  <a:pt x="180960" y="150019"/>
                  <a:pt x="185738" y="154796"/>
                  <a:pt x="185738" y="160734"/>
                </a:cubicBezTo>
                <a:lnTo>
                  <a:pt x="185738" y="171450"/>
                </a:lnTo>
                <a:lnTo>
                  <a:pt x="214313" y="171450"/>
                </a:lnTo>
                <a:cubicBezTo>
                  <a:pt x="222214" y="171450"/>
                  <a:pt x="228600" y="165064"/>
                  <a:pt x="228600" y="157162"/>
                </a:cubicBezTo>
                <a:close/>
                <a:moveTo>
                  <a:pt x="71438" y="42863"/>
                </a:moveTo>
                <a:lnTo>
                  <a:pt x="71438" y="71437"/>
                </a:lnTo>
                <a:cubicBezTo>
                  <a:pt x="71438" y="79339"/>
                  <a:pt x="65053" y="85725"/>
                  <a:pt x="57150" y="85725"/>
                </a:cubicBezTo>
                <a:cubicBezTo>
                  <a:pt x="49247" y="85725"/>
                  <a:pt x="42863" y="79339"/>
                  <a:pt x="42863" y="71437"/>
                </a:cubicBezTo>
                <a:lnTo>
                  <a:pt x="42863" y="42863"/>
                </a:lnTo>
                <a:cubicBezTo>
                  <a:pt x="42863" y="34961"/>
                  <a:pt x="49247" y="28575"/>
                  <a:pt x="57150" y="28575"/>
                </a:cubicBezTo>
                <a:cubicBezTo>
                  <a:pt x="65053" y="28575"/>
                  <a:pt x="71438" y="34961"/>
                  <a:pt x="71438" y="42863"/>
                </a:cubicBezTo>
                <a:close/>
                <a:moveTo>
                  <a:pt x="128588" y="42863"/>
                </a:moveTo>
                <a:lnTo>
                  <a:pt x="128588" y="71437"/>
                </a:lnTo>
                <a:cubicBezTo>
                  <a:pt x="128588" y="79339"/>
                  <a:pt x="122203" y="85725"/>
                  <a:pt x="114300" y="85725"/>
                </a:cubicBezTo>
                <a:cubicBezTo>
                  <a:pt x="106397" y="85725"/>
                  <a:pt x="100013" y="79339"/>
                  <a:pt x="100013" y="71437"/>
                </a:cubicBezTo>
                <a:lnTo>
                  <a:pt x="100013" y="42863"/>
                </a:lnTo>
                <a:cubicBezTo>
                  <a:pt x="100013" y="34961"/>
                  <a:pt x="106397" y="28575"/>
                  <a:pt x="114300" y="28575"/>
                </a:cubicBezTo>
                <a:cubicBezTo>
                  <a:pt x="122203" y="28575"/>
                  <a:pt x="128588" y="34961"/>
                  <a:pt x="128588" y="42863"/>
                </a:cubicBezTo>
                <a:close/>
                <a:moveTo>
                  <a:pt x="185738" y="42863"/>
                </a:moveTo>
                <a:lnTo>
                  <a:pt x="185738" y="71437"/>
                </a:lnTo>
                <a:cubicBezTo>
                  <a:pt x="185738" y="79339"/>
                  <a:pt x="179353" y="85725"/>
                  <a:pt x="171450" y="85725"/>
                </a:cubicBezTo>
                <a:cubicBezTo>
                  <a:pt x="163547" y="85725"/>
                  <a:pt x="157163" y="79339"/>
                  <a:pt x="157163" y="71437"/>
                </a:cubicBezTo>
                <a:lnTo>
                  <a:pt x="157163" y="42863"/>
                </a:lnTo>
                <a:cubicBezTo>
                  <a:pt x="157163" y="34961"/>
                  <a:pt x="163547" y="28575"/>
                  <a:pt x="171450" y="28575"/>
                </a:cubicBezTo>
                <a:cubicBezTo>
                  <a:pt x="179353" y="28575"/>
                  <a:pt x="185738" y="34961"/>
                  <a:pt x="185738" y="42863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819811" y="1485691"/>
            <a:ext cx="48768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访存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486389" y="1952243"/>
            <a:ext cx="5086255" cy="1161955"/>
          </a:xfrm>
          <a:custGeom>
            <a:avLst/>
            <a:gdLst/>
            <a:ahLst/>
            <a:cxnLst/>
            <a:rect r="r" b="b" t="t" l="l"/>
            <a:pathLst>
              <a:path h="1161955" w="5086255">
                <a:moveTo>
                  <a:pt x="38101" y="0"/>
                </a:moveTo>
                <a:lnTo>
                  <a:pt x="5048155" y="0"/>
                </a:lnTo>
                <a:cubicBezTo>
                  <a:pt x="5069197" y="0"/>
                  <a:pt x="5086255" y="17057"/>
                  <a:pt x="5086255" y="38101"/>
                </a:cubicBezTo>
                <a:lnTo>
                  <a:pt x="5086255" y="1123855"/>
                </a:lnTo>
                <a:cubicBezTo>
                  <a:pt x="5086255" y="1144897"/>
                  <a:pt x="5069197" y="1161955"/>
                  <a:pt x="5048155" y="1161955"/>
                </a:cubicBezTo>
                <a:lnTo>
                  <a:pt x="38101" y="1161955"/>
                </a:lnTo>
                <a:cubicBezTo>
                  <a:pt x="17057" y="1161955"/>
                  <a:pt x="0" y="1144897"/>
                  <a:pt x="0" y="1123855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638715" y="2190290"/>
            <a:ext cx="47815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Bytes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686340" y="2647438"/>
            <a:ext cx="4686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内存访问字节数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380956" y="3580688"/>
            <a:ext cx="11430000" cy="2057400"/>
          </a:xfrm>
          <a:custGeom>
            <a:avLst/>
            <a:gdLst/>
            <a:ahLst/>
            <a:cxnLst/>
            <a:rect r="r" b="b" t="t" l="l"/>
            <a:pathLst>
              <a:path h="2057400" w="11430000">
                <a:moveTo>
                  <a:pt x="76206" y="0"/>
                </a:moveTo>
                <a:lnTo>
                  <a:pt x="11353794" y="0"/>
                </a:lnTo>
                <a:cubicBezTo>
                  <a:pt x="11395881" y="0"/>
                  <a:pt x="11430000" y="34119"/>
                  <a:pt x="11430000" y="76206"/>
                </a:cubicBezTo>
                <a:lnTo>
                  <a:pt x="11430000" y="1981194"/>
                </a:lnTo>
                <a:cubicBezTo>
                  <a:pt x="11430000" y="2023281"/>
                  <a:pt x="11395881" y="2057400"/>
                  <a:pt x="113537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6"/>
                  <a:pt x="34146" y="0"/>
                  <a:pt x="76206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529" y="3809261"/>
            <a:ext cx="11087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优化目标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09529" y="4266335"/>
            <a:ext cx="10972800" cy="1143000"/>
          </a:xfrm>
          <a:custGeom>
            <a:avLst/>
            <a:gdLst/>
            <a:ahLst/>
            <a:cxnLst/>
            <a:rect r="r" b="b" t="t" l="l"/>
            <a:pathLst>
              <a:path h="1143000" w="10972800">
                <a:moveTo>
                  <a:pt x="38096" y="0"/>
                </a:moveTo>
                <a:lnTo>
                  <a:pt x="10934704" y="0"/>
                </a:lnTo>
                <a:cubicBezTo>
                  <a:pt x="10955744" y="0"/>
                  <a:pt x="10972800" y="17056"/>
                  <a:pt x="10972800" y="38096"/>
                </a:cubicBezTo>
                <a:lnTo>
                  <a:pt x="10972800" y="1104904"/>
                </a:lnTo>
                <a:cubicBezTo>
                  <a:pt x="10972800" y="1125944"/>
                  <a:pt x="10955744" y="1143000"/>
                  <a:pt x="10934704" y="1143000"/>
                </a:cubicBezTo>
                <a:lnTo>
                  <a:pt x="38096" y="1143000"/>
                </a:lnTo>
                <a:cubicBezTo>
                  <a:pt x="17056" y="1143000"/>
                  <a:pt x="0" y="1125944"/>
                  <a:pt x="0" y="1104904"/>
                </a:cubicBezTo>
                <a:lnTo>
                  <a:pt x="0" y="38096"/>
                </a:lnTo>
                <a:cubicBezTo>
                  <a:pt x="0" y="17070"/>
                  <a:pt x="17070" y="0"/>
                  <a:pt x="3809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42820" y="4456774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Maximize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4245" y="4837654"/>
            <a:ext cx="10763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Compute / Memory ratio</a:t>
            </a:r>
            <a:endParaRPr lang="en-US" sz="1100"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380956" y="5866200"/>
            <a:ext cx="11430000" cy="685800"/>
          </a:xfrm>
          <a:custGeom>
            <a:avLst/>
            <a:gdLst/>
            <a:ahLst/>
            <a:cxnLst/>
            <a:rect r="r" b="b" t="t" l="l"/>
            <a:pathLst>
              <a:path h="685800" w="114300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609601"/>
                </a:lnTo>
                <a:cubicBezTo>
                  <a:pt x="11430000" y="651684"/>
                  <a:pt x="11395884" y="685800"/>
                  <a:pt x="113538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4221802" y="6130151"/>
            <a:ext cx="190500" cy="166688"/>
          </a:xfrm>
          <a:custGeom>
            <a:avLst/>
            <a:gdLst/>
            <a:ahLst/>
            <a:cxnLst/>
            <a:rect r="r" b="b" t="t" l="l"/>
            <a:pathLst>
              <a:path h="166688" w="190500">
                <a:moveTo>
                  <a:pt x="23812" y="11907"/>
                </a:moveTo>
                <a:cubicBezTo>
                  <a:pt x="23812" y="5322"/>
                  <a:pt x="18492" y="0"/>
                  <a:pt x="11906" y="0"/>
                </a:cubicBezTo>
                <a:cubicBezTo>
                  <a:pt x="5321" y="0"/>
                  <a:pt x="0" y="5322"/>
                  <a:pt x="0" y="11907"/>
                </a:cubicBezTo>
                <a:lnTo>
                  <a:pt x="0" y="136921"/>
                </a:lnTo>
                <a:cubicBezTo>
                  <a:pt x="0" y="153368"/>
                  <a:pt x="13320" y="166688"/>
                  <a:pt x="29766" y="166688"/>
                </a:cubicBezTo>
                <a:lnTo>
                  <a:pt x="178594" y="166688"/>
                </a:lnTo>
                <a:cubicBezTo>
                  <a:pt x="185179" y="166688"/>
                  <a:pt x="190500" y="161366"/>
                  <a:pt x="190500" y="154781"/>
                </a:cubicBezTo>
                <a:cubicBezTo>
                  <a:pt x="190500" y="148197"/>
                  <a:pt x="185179" y="142875"/>
                  <a:pt x="178594" y="142875"/>
                </a:cubicBezTo>
                <a:lnTo>
                  <a:pt x="29766" y="142875"/>
                </a:lnTo>
                <a:cubicBezTo>
                  <a:pt x="26491" y="142875"/>
                  <a:pt x="23812" y="140196"/>
                  <a:pt x="23812" y="136921"/>
                </a:cubicBezTo>
                <a:lnTo>
                  <a:pt x="23812" y="11907"/>
                </a:lnTo>
                <a:close/>
                <a:moveTo>
                  <a:pt x="175096" y="44128"/>
                </a:moveTo>
                <a:cubicBezTo>
                  <a:pt x="179747" y="39477"/>
                  <a:pt x="179747" y="31924"/>
                  <a:pt x="175096" y="27273"/>
                </a:cubicBezTo>
                <a:cubicBezTo>
                  <a:pt x="170445" y="22621"/>
                  <a:pt x="162891" y="22621"/>
                  <a:pt x="158242" y="27273"/>
                </a:cubicBezTo>
                <a:lnTo>
                  <a:pt x="119062" y="66489"/>
                </a:lnTo>
                <a:lnTo>
                  <a:pt x="97706" y="45170"/>
                </a:lnTo>
                <a:cubicBezTo>
                  <a:pt x="93055" y="40520"/>
                  <a:pt x="85501" y="40520"/>
                  <a:pt x="80851" y="45170"/>
                </a:cubicBezTo>
                <a:lnTo>
                  <a:pt x="45132" y="80888"/>
                </a:lnTo>
                <a:cubicBezTo>
                  <a:pt x="40481" y="85539"/>
                  <a:pt x="40481" y="93093"/>
                  <a:pt x="45132" y="97743"/>
                </a:cubicBezTo>
                <a:cubicBezTo>
                  <a:pt x="49783" y="102394"/>
                  <a:pt x="57335" y="102394"/>
                  <a:pt x="61987" y="97743"/>
                </a:cubicBezTo>
                <a:lnTo>
                  <a:pt x="89298" y="70433"/>
                </a:lnTo>
                <a:lnTo>
                  <a:pt x="110654" y="91789"/>
                </a:lnTo>
                <a:cubicBezTo>
                  <a:pt x="115305" y="96442"/>
                  <a:pt x="122859" y="96442"/>
                  <a:pt x="127508" y="91789"/>
                </a:cubicBezTo>
                <a:lnTo>
                  <a:pt x="175133" y="44165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9046" y="6056640"/>
            <a:ext cx="10848975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这个比例被称为 </a:t>
            </a:r>
            <a:r>
              <a:rPr lang="en-US" b="true" i="false" strike="noStrike" u="none" sz="18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Arithmetic Intensity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0956" y="670415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44023" y="598559"/>
            <a:ext cx="11629571" cy="36285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6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Arithmetic Intensity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62815" y="1197251"/>
            <a:ext cx="11466286" cy="1632857"/>
          </a:xfrm>
          <a:custGeom>
            <a:avLst/>
            <a:gdLst/>
            <a:ahLst/>
            <a:cxnLst/>
            <a:rect r="r" b="b" t="t" l="l"/>
            <a:pathLst>
              <a:path h="1632857" w="11466286">
                <a:moveTo>
                  <a:pt x="72564" y="0"/>
                </a:moveTo>
                <a:lnTo>
                  <a:pt x="11393722" y="0"/>
                </a:lnTo>
                <a:cubicBezTo>
                  <a:pt x="11433799" y="0"/>
                  <a:pt x="11466286" y="32488"/>
                  <a:pt x="11466286" y="72564"/>
                </a:cubicBezTo>
                <a:lnTo>
                  <a:pt x="11466286" y="1560293"/>
                </a:lnTo>
                <a:cubicBezTo>
                  <a:pt x="11466286" y="1600369"/>
                  <a:pt x="11433799" y="1632857"/>
                  <a:pt x="11393722" y="1632857"/>
                </a:cubicBezTo>
                <a:lnTo>
                  <a:pt x="72564" y="1632857"/>
                </a:lnTo>
                <a:cubicBezTo>
                  <a:pt x="32488" y="1632857"/>
                  <a:pt x="0" y="1600369"/>
                  <a:pt x="0" y="1560293"/>
                </a:cubicBezTo>
                <a:lnTo>
                  <a:pt x="0" y="72564"/>
                </a:lnTo>
                <a:cubicBezTo>
                  <a:pt x="0" y="32515"/>
                  <a:pt x="32515" y="0"/>
                  <a:pt x="72564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80504" y="1414944"/>
            <a:ext cx="11139714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定义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80504" y="1850248"/>
            <a:ext cx="11030857" cy="762000"/>
          </a:xfrm>
          <a:custGeom>
            <a:avLst/>
            <a:gdLst/>
            <a:ahLst/>
            <a:cxnLst/>
            <a:rect r="r" b="b" t="t" l="l"/>
            <a:pathLst>
              <a:path h="762000" w="11030857">
                <a:moveTo>
                  <a:pt x="36286" y="0"/>
                </a:moveTo>
                <a:lnTo>
                  <a:pt x="10994572" y="0"/>
                </a:lnTo>
                <a:cubicBezTo>
                  <a:pt x="11014611" y="0"/>
                  <a:pt x="11030857" y="16246"/>
                  <a:pt x="11030857" y="36286"/>
                </a:cubicBezTo>
                <a:lnTo>
                  <a:pt x="11030857" y="725714"/>
                </a:lnTo>
                <a:cubicBezTo>
                  <a:pt x="11030857" y="745754"/>
                  <a:pt x="11014611" y="762000"/>
                  <a:pt x="10994572" y="762000"/>
                </a:cubicBezTo>
                <a:lnTo>
                  <a:pt x="36286" y="762000"/>
                </a:lnTo>
                <a:cubicBezTo>
                  <a:pt x="16246" y="762000"/>
                  <a:pt x="0" y="745754"/>
                  <a:pt x="0" y="725714"/>
                </a:cubicBezTo>
                <a:lnTo>
                  <a:pt x="0" y="36286"/>
                </a:lnTo>
                <a:cubicBezTo>
                  <a:pt x="0" y="16259"/>
                  <a:pt x="16259" y="0"/>
                  <a:pt x="36286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30157" y="2067940"/>
            <a:ext cx="10731500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A6A6A6"/>
                </a:solidFill>
                <a:latin typeface="Noto Sans SC"/>
                <a:ea typeface="Noto Sans SC"/>
                <a:cs typeface="Noto Sans SC"/>
                <a:sym typeface="Noto Sans SC"/>
              </a:rPr>
              <a:t>Arithmetic Intensity = FLOPs / Bytes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71841" y="3056530"/>
            <a:ext cx="5569767" cy="1832338"/>
          </a:xfrm>
          <a:custGeom>
            <a:avLst/>
            <a:gdLst/>
            <a:ahLst/>
            <a:cxnLst/>
            <a:rect r="r" b="b" t="t" l="l"/>
            <a:pathLst>
              <a:path h="1832338" w="5569767">
                <a:moveTo>
                  <a:pt x="72579" y="0"/>
                </a:moveTo>
                <a:lnTo>
                  <a:pt x="5497187" y="0"/>
                </a:lnTo>
                <a:cubicBezTo>
                  <a:pt x="5537272" y="0"/>
                  <a:pt x="5569767" y="32495"/>
                  <a:pt x="5569767" y="72579"/>
                </a:cubicBezTo>
                <a:lnTo>
                  <a:pt x="5569767" y="1759759"/>
                </a:lnTo>
                <a:cubicBezTo>
                  <a:pt x="5569767" y="1799844"/>
                  <a:pt x="5537272" y="1832338"/>
                  <a:pt x="5497187" y="1832338"/>
                </a:cubicBezTo>
                <a:lnTo>
                  <a:pt x="72579" y="1832338"/>
                </a:lnTo>
                <a:cubicBezTo>
                  <a:pt x="32495" y="1832338"/>
                  <a:pt x="0" y="1799844"/>
                  <a:pt x="0" y="1759759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F3F4F6">
              <a:alpha val="100000"/>
            </a:srgbClr>
          </a:solidFill>
          <a:ln w="12700">
            <a:solidFill>
              <a:srgbClr val="D1D5DC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98556" y="3283246"/>
            <a:ext cx="5207000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Naive MatMul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598556" y="3682375"/>
            <a:ext cx="5116286" cy="979714"/>
          </a:xfrm>
          <a:custGeom>
            <a:avLst/>
            <a:gdLst/>
            <a:ahLst/>
            <a:cxnLst/>
            <a:rect r="r" b="b" t="t" l="l"/>
            <a:pathLst>
              <a:path h="979714" w="5116286">
                <a:moveTo>
                  <a:pt x="36289" y="0"/>
                </a:moveTo>
                <a:lnTo>
                  <a:pt x="5079997" y="0"/>
                </a:lnTo>
                <a:cubicBezTo>
                  <a:pt x="5100039" y="0"/>
                  <a:pt x="5116286" y="16247"/>
                  <a:pt x="5116286" y="36289"/>
                </a:cubicBezTo>
                <a:lnTo>
                  <a:pt x="5116286" y="943426"/>
                </a:lnTo>
                <a:cubicBezTo>
                  <a:pt x="5116286" y="963466"/>
                  <a:pt x="5100039" y="979714"/>
                  <a:pt x="5079997" y="979714"/>
                </a:cubicBezTo>
                <a:lnTo>
                  <a:pt x="36289" y="979714"/>
                </a:lnTo>
                <a:cubicBezTo>
                  <a:pt x="16247" y="979714"/>
                  <a:pt x="0" y="963466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11893" y="3863746"/>
            <a:ext cx="4889500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Low intensity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3643" y="4262810"/>
            <a:ext cx="4826000" cy="2177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低计算访存比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41120" y="3047504"/>
            <a:ext cx="5588000" cy="1850572"/>
          </a:xfrm>
          <a:custGeom>
            <a:avLst/>
            <a:gdLst/>
            <a:ahLst/>
            <a:cxnLst/>
            <a:rect r="r" b="b" t="t" l="l"/>
            <a:pathLst>
              <a:path h="1850572" w="5588000">
                <a:moveTo>
                  <a:pt x="72579" y="0"/>
                </a:moveTo>
                <a:lnTo>
                  <a:pt x="5515421" y="0"/>
                </a:lnTo>
                <a:cubicBezTo>
                  <a:pt x="5555505" y="0"/>
                  <a:pt x="5588000" y="32495"/>
                  <a:pt x="5588000" y="72579"/>
                </a:cubicBezTo>
                <a:lnTo>
                  <a:pt x="5588000" y="1777992"/>
                </a:lnTo>
                <a:cubicBezTo>
                  <a:pt x="5588000" y="1818077"/>
                  <a:pt x="5555505" y="1850572"/>
                  <a:pt x="5515421" y="1850572"/>
                </a:cubicBezTo>
                <a:lnTo>
                  <a:pt x="72579" y="1850572"/>
                </a:lnTo>
                <a:cubicBezTo>
                  <a:pt x="32522" y="1850572"/>
                  <a:pt x="0" y="1818049"/>
                  <a:pt x="0" y="1777992"/>
                </a:cubicBezTo>
                <a:lnTo>
                  <a:pt x="0" y="72579"/>
                </a:lnTo>
                <a:cubicBezTo>
                  <a:pt x="0" y="32522"/>
                  <a:pt x="32522" y="0"/>
                  <a:pt x="7257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58809" y="3265192"/>
            <a:ext cx="5243286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Tiled MatMul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58809" y="3664321"/>
            <a:ext cx="5152572" cy="979714"/>
          </a:xfrm>
          <a:custGeom>
            <a:avLst/>
            <a:gdLst/>
            <a:ahLst/>
            <a:cxnLst/>
            <a:rect r="r" b="b" t="t" l="l"/>
            <a:pathLst>
              <a:path h="979714" w="5152572">
                <a:moveTo>
                  <a:pt x="36289" y="0"/>
                </a:moveTo>
                <a:lnTo>
                  <a:pt x="5116283" y="0"/>
                </a:lnTo>
                <a:cubicBezTo>
                  <a:pt x="5136325" y="0"/>
                  <a:pt x="5152572" y="16247"/>
                  <a:pt x="5152572" y="36289"/>
                </a:cubicBezTo>
                <a:lnTo>
                  <a:pt x="5152572" y="943426"/>
                </a:lnTo>
                <a:cubicBezTo>
                  <a:pt x="5152572" y="963466"/>
                  <a:pt x="5136325" y="979714"/>
                  <a:pt x="5116283" y="979714"/>
                </a:cubicBezTo>
                <a:lnTo>
                  <a:pt x="36289" y="979714"/>
                </a:lnTo>
                <a:cubicBezTo>
                  <a:pt x="16247" y="979714"/>
                  <a:pt x="0" y="963466"/>
                  <a:pt x="0" y="943426"/>
                </a:cubicBezTo>
                <a:lnTo>
                  <a:pt x="0" y="36289"/>
                </a:lnTo>
                <a:cubicBezTo>
                  <a:pt x="0" y="16260"/>
                  <a:pt x="16260" y="0"/>
                  <a:pt x="3628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572145" y="3845697"/>
            <a:ext cx="4925786" cy="32657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1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High intensity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3895" y="4244755"/>
            <a:ext cx="4862286" cy="21771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高计算访存比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362815" y="5115302"/>
            <a:ext cx="11466286" cy="1451428"/>
          </a:xfrm>
          <a:custGeom>
            <a:avLst/>
            <a:gdLst/>
            <a:ahLst/>
            <a:cxnLst/>
            <a:rect r="r" b="b" t="t" l="l"/>
            <a:pathLst>
              <a:path h="1451428" w="11466286">
                <a:moveTo>
                  <a:pt x="72572" y="0"/>
                </a:moveTo>
                <a:lnTo>
                  <a:pt x="11393714" y="0"/>
                </a:lnTo>
                <a:cubicBezTo>
                  <a:pt x="11433793" y="0"/>
                  <a:pt x="11466286" y="32490"/>
                  <a:pt x="11466286" y="72572"/>
                </a:cubicBezTo>
                <a:lnTo>
                  <a:pt x="11466286" y="1378857"/>
                </a:lnTo>
                <a:cubicBezTo>
                  <a:pt x="11466286" y="1418937"/>
                  <a:pt x="11433793" y="1451428"/>
                  <a:pt x="11393714" y="1451428"/>
                </a:cubicBezTo>
                <a:lnTo>
                  <a:pt x="72572" y="1451428"/>
                </a:lnTo>
                <a:cubicBezTo>
                  <a:pt x="32490" y="1451428"/>
                  <a:pt x="0" y="1418937"/>
                  <a:pt x="0" y="1378857"/>
                </a:cubicBezTo>
                <a:lnTo>
                  <a:pt x="0" y="72572"/>
                </a:lnTo>
                <a:cubicBezTo>
                  <a:pt x="0" y="32518"/>
                  <a:pt x="32518" y="0"/>
                  <a:pt x="7257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59126" y="5332990"/>
            <a:ext cx="10842949" cy="254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598556" y="5695803"/>
            <a:ext cx="11012623" cy="653143"/>
          </a:xfrm>
          <a:custGeom>
            <a:avLst/>
            <a:gdLst/>
            <a:ahLst/>
            <a:cxnLst/>
            <a:rect r="r" b="b" t="t" l="l"/>
            <a:pathLst>
              <a:path h="653143" w="11012623">
                <a:moveTo>
                  <a:pt x="36105" y="0"/>
                </a:moveTo>
                <a:lnTo>
                  <a:pt x="10976334" y="0"/>
                </a:lnTo>
                <a:cubicBezTo>
                  <a:pt x="10996378" y="0"/>
                  <a:pt x="11012623" y="16247"/>
                  <a:pt x="11012623" y="36289"/>
                </a:cubicBezTo>
                <a:lnTo>
                  <a:pt x="11012623" y="616854"/>
                </a:lnTo>
                <a:cubicBezTo>
                  <a:pt x="11012623" y="636896"/>
                  <a:pt x="10996378" y="653143"/>
                  <a:pt x="10976334" y="653143"/>
                </a:cubicBezTo>
                <a:lnTo>
                  <a:pt x="36105" y="653143"/>
                </a:lnTo>
                <a:cubicBezTo>
                  <a:pt x="16165" y="653143"/>
                  <a:pt x="0" y="636977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598556" y="5695803"/>
            <a:ext cx="36105" cy="653143"/>
          </a:xfrm>
          <a:custGeom>
            <a:avLst/>
            <a:gdLst/>
            <a:ahLst/>
            <a:cxnLst/>
            <a:rect r="r" b="b" t="t" l="l"/>
            <a:pathLst>
              <a:path h="653143" w="36105">
                <a:moveTo>
                  <a:pt x="36105" y="0"/>
                </a:moveTo>
                <a:lnTo>
                  <a:pt x="36105" y="0"/>
                </a:lnTo>
                <a:lnTo>
                  <a:pt x="36105" y="653143"/>
                </a:lnTo>
                <a:lnTo>
                  <a:pt x="36105" y="653143"/>
                </a:lnTo>
                <a:cubicBezTo>
                  <a:pt x="16165" y="653143"/>
                  <a:pt x="0" y="636977"/>
                  <a:pt x="0" y="617038"/>
                </a:cubicBezTo>
                <a:lnTo>
                  <a:pt x="0" y="36105"/>
                </a:lnTo>
                <a:cubicBezTo>
                  <a:pt x="0" y="16165"/>
                  <a:pt x="16165" y="0"/>
                  <a:pt x="36105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3552" y="5877178"/>
            <a:ext cx="10740571" cy="290286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更高的 Arithmetic Intensity = 更高的性能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2815" y="6711546"/>
            <a:ext cx="11520714" cy="14514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3" id="23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1034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Roofline Model 简介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4"/>
            <a:ext cx="11430000" cy="1562100"/>
          </a:xfrm>
          <a:custGeom>
            <a:avLst/>
            <a:gdLst/>
            <a:ahLst/>
            <a:cxnLst/>
            <a:rect r="r" b="b" t="t" l="l"/>
            <a:pathLst>
              <a:path h="1562100" w="114300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485691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Roofline Model 描述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09529" y="1904777"/>
            <a:ext cx="10972800" cy="685800"/>
          </a:xfrm>
          <a:custGeom>
            <a:avLst/>
            <a:gdLst/>
            <a:ahLst/>
            <a:cxnLst/>
            <a:rect r="r" b="b" t="t" l="l"/>
            <a:pathLst>
              <a:path h="685800" w="10972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2820" y="2095216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性能上限受限于 Compute 或 Memory</a:t>
            </a:r>
            <a:endParaRPr lang="en-US" sz="1100"/>
          </a:p>
        </p:txBody>
      </p:sp>
      <p:grpSp>
        <p:nvGrpSpPr>
          <p:cNvPr name="Group 7" id="7"/>
          <p:cNvGrpSpPr/>
          <p:nvPr/>
        </p:nvGrpSpPr>
        <p:grpSpPr>
          <a:xfrm>
            <a:off x="380956" y="3047498"/>
            <a:ext cx="11430000" cy="2324100"/>
            <a:chOff x="380956" y="3047498"/>
            <a:chExt cx="11430000" cy="2324100"/>
          </a:xfrm>
        </p:grpSpPr>
        <p:sp>
          <p:nvSpPr>
            <p:cNvPr name="Freeform 8" id="8"/>
            <p:cNvSpPr/>
            <p:nvPr/>
          </p:nvSpPr>
          <p:spPr>
            <a:xfrm rot="0" flipH="false" flipV="false">
              <a:off x="380956" y="3047498"/>
              <a:ext cx="11430000" cy="2324100"/>
            </a:xfrm>
            <a:custGeom>
              <a:avLst/>
              <a:gdLst/>
              <a:ahLst/>
              <a:cxnLst/>
              <a:rect r="r" b="b" t="t" l="l"/>
              <a:pathLst>
                <a:path h="2324100" w="11430000">
                  <a:moveTo>
                    <a:pt x="76208" y="0"/>
                  </a:moveTo>
                  <a:lnTo>
                    <a:pt x="11353792" y="0"/>
                  </a:lnTo>
                  <a:cubicBezTo>
                    <a:pt x="11395881" y="0"/>
                    <a:pt x="11430000" y="34119"/>
                    <a:pt x="11430000" y="76208"/>
                  </a:cubicBezTo>
                  <a:lnTo>
                    <a:pt x="11430000" y="2247892"/>
                  </a:lnTo>
                  <a:cubicBezTo>
                    <a:pt x="11430000" y="2289981"/>
                    <a:pt x="11395881" y="2324100"/>
                    <a:pt x="11353792" y="2324100"/>
                  </a:cubicBezTo>
                  <a:lnTo>
                    <a:pt x="76208" y="2324100"/>
                  </a:lnTo>
                  <a:cubicBezTo>
                    <a:pt x="34119" y="2324100"/>
                    <a:pt x="0" y="2289981"/>
                    <a:pt x="0" y="2247892"/>
                  </a:cubicBezTo>
                  <a:lnTo>
                    <a:pt x="0" y="76208"/>
                  </a:lnTo>
                  <a:cubicBezTo>
                    <a:pt x="0" y="34119"/>
                    <a:pt x="34119" y="0"/>
                    <a:pt x="76208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904804" y="3276070"/>
              <a:ext cx="107727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16666"/>
                </a:lnSpc>
                <a:defRPr/>
              </a:pPr>
              <a:r>
                <a:rPr lang="en-US" b="true" i="false" strike="noStrike" u="none" sz="15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公式</a:t>
              </a: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628484" y="3695156"/>
              <a:ext cx="10953655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953655">
                  <a:moveTo>
                    <a:pt x="37910" y="0"/>
                  </a:moveTo>
                  <a:lnTo>
                    <a:pt x="10915548" y="0"/>
                  </a:lnTo>
                  <a:cubicBezTo>
                    <a:pt x="10936595" y="0"/>
                    <a:pt x="10953655" y="17061"/>
                    <a:pt x="10953655" y="38106"/>
                  </a:cubicBezTo>
                  <a:lnTo>
                    <a:pt x="10953655" y="1409694"/>
                  </a:lnTo>
                  <a:cubicBezTo>
                    <a:pt x="10953655" y="1430739"/>
                    <a:pt x="10936595" y="1447800"/>
                    <a:pt x="10915548" y="1447800"/>
                  </a:cubicBezTo>
                  <a:lnTo>
                    <a:pt x="37910" y="1447800"/>
                  </a:lnTo>
                  <a:cubicBezTo>
                    <a:pt x="16974" y="1447800"/>
                    <a:pt x="0" y="1430826"/>
                    <a:pt x="0" y="14098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5F5F5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28484" y="3695156"/>
              <a:ext cx="37909" cy="1447800"/>
            </a:xfrm>
            <a:custGeom>
              <a:avLst/>
              <a:gdLst/>
              <a:ahLst/>
              <a:cxnLst/>
              <a:rect r="r" b="b" t="t" l="l"/>
              <a:pathLst>
                <a:path h="1447800" w="37909">
                  <a:moveTo>
                    <a:pt x="37910" y="0"/>
                  </a:moveTo>
                  <a:lnTo>
                    <a:pt x="37910" y="0"/>
                  </a:lnTo>
                  <a:lnTo>
                    <a:pt x="37910" y="1447800"/>
                  </a:lnTo>
                  <a:lnTo>
                    <a:pt x="37910" y="1447800"/>
                  </a:lnTo>
                  <a:cubicBezTo>
                    <a:pt x="16974" y="1447800"/>
                    <a:pt x="0" y="1430826"/>
                    <a:pt x="0" y="14098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2" id="12"/>
            <p:cNvSpPr/>
            <p:nvPr/>
          </p:nvSpPr>
          <p:spPr>
            <a:xfrm rot="0" flipH="false" flipV="false">
              <a:off x="609529" y="3695156"/>
              <a:ext cx="11020425" cy="14478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190500" rIns="190500" tIns="190500" bIns="19050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Performance = min(</a:t>
              </a:r>
              <a:endParaRPr lang="en-US" sz="1100"/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Compute Peak,</a:t>
              </a:r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Bandwidth × Arithmetic Intensity</a:t>
              </a:r>
            </a:p>
            <a:p>
              <a:pPr algn="l" indent="0">
                <a:lnSpc>
                  <a:spcPct val="133333"/>
                </a:lnSpc>
              </a:pPr>
              <a:r>
                <a:rPr lang="en-US" b="fals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)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rot="0" flipH="false" flipV="false">
            <a:off x="399911" y="5600012"/>
            <a:ext cx="5581555" cy="952500"/>
          </a:xfrm>
          <a:custGeom>
            <a:avLst/>
            <a:gdLst/>
            <a:ahLst/>
            <a:cxnLst/>
            <a:rect r="r" b="b" t="t" l="l"/>
            <a:pathLst>
              <a:path h="952500" w="5581555">
                <a:moveTo>
                  <a:pt x="37909" y="0"/>
                </a:moveTo>
                <a:lnTo>
                  <a:pt x="5543455" y="0"/>
                </a:lnTo>
                <a:cubicBezTo>
                  <a:pt x="5564483" y="0"/>
                  <a:pt x="5581555" y="17073"/>
                  <a:pt x="5581555" y="38100"/>
                </a:cubicBezTo>
                <a:lnTo>
                  <a:pt x="5581555" y="914400"/>
                </a:lnTo>
                <a:cubicBezTo>
                  <a:pt x="5581555" y="935427"/>
                  <a:pt x="5564483" y="952500"/>
                  <a:pt x="5543455" y="952500"/>
                </a:cubicBezTo>
                <a:lnTo>
                  <a:pt x="37909" y="952500"/>
                </a:lnTo>
                <a:cubicBezTo>
                  <a:pt x="16974" y="952500"/>
                  <a:pt x="0" y="935526"/>
                  <a:pt x="0" y="914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grpSp>
        <p:nvGrpSpPr>
          <p:cNvPr name="Group 14" id="14"/>
          <p:cNvGrpSpPr/>
          <p:nvPr/>
        </p:nvGrpSpPr>
        <p:grpSpPr>
          <a:xfrm>
            <a:off x="399911" y="5600012"/>
            <a:ext cx="5476721" cy="952500"/>
            <a:chOff x="399911" y="5600012"/>
            <a:chExt cx="5476721" cy="952500"/>
          </a:xfrm>
        </p:grpSpPr>
        <p:sp>
          <p:nvSpPr>
            <p:cNvPr name="Freeform 15" id="15"/>
            <p:cNvSpPr/>
            <p:nvPr/>
          </p:nvSpPr>
          <p:spPr>
            <a:xfrm rot="0" flipH="false" flipV="false">
              <a:off x="399911" y="5600012"/>
              <a:ext cx="37909" cy="952500"/>
            </a:xfrm>
            <a:custGeom>
              <a:avLst/>
              <a:gdLst/>
              <a:ahLst/>
              <a:cxnLst/>
              <a:rect r="r" b="b" t="t" l="l"/>
              <a:pathLst>
                <a:path h="9525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952500"/>
                  </a:lnTo>
                  <a:lnTo>
                    <a:pt x="37909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6" id="16"/>
            <p:cNvSpPr/>
            <p:nvPr/>
          </p:nvSpPr>
          <p:spPr>
            <a:xfrm rot="0" flipH="false" flipV="false">
              <a:off x="609307" y="5790451"/>
              <a:ext cx="5267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Memory-Bound</a:t>
              </a:r>
              <a:endParaRPr lang="en-US" sz="1100"/>
            </a:p>
          </p:txBody>
        </p:sp>
        <p:sp>
          <p:nvSpPr>
            <p:cNvPr name="AutoShape 17" id="17"/>
            <p:cNvSpPr/>
            <p:nvPr/>
          </p:nvSpPr>
          <p:spPr>
            <a:xfrm rot="0" flipH="false" flipV="false">
              <a:off x="609307" y="6133347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低 Arithmetic Intensity 区域</a:t>
              </a:r>
              <a:endParaRPr lang="en-US" sz="1100"/>
            </a:p>
          </p:txBody>
        </p:sp>
      </p:grpSp>
      <p:grpSp>
        <p:nvGrpSpPr>
          <p:cNvPr name="Group 18" id="18"/>
          <p:cNvGrpSpPr/>
          <p:nvPr/>
        </p:nvGrpSpPr>
        <p:grpSpPr>
          <a:xfrm>
            <a:off x="6229234" y="5600012"/>
            <a:ext cx="5581555" cy="952500"/>
            <a:chOff x="6229234" y="5600012"/>
            <a:chExt cx="5581555" cy="952500"/>
          </a:xfrm>
        </p:grpSpPr>
        <p:sp>
          <p:nvSpPr>
            <p:cNvPr name="Freeform 19" id="19"/>
            <p:cNvSpPr/>
            <p:nvPr/>
          </p:nvSpPr>
          <p:spPr>
            <a:xfrm rot="0" flipH="false" flipV="false">
              <a:off x="6229234" y="5600012"/>
              <a:ext cx="5581555" cy="952500"/>
            </a:xfrm>
            <a:custGeom>
              <a:avLst/>
              <a:gdLst/>
              <a:ahLst/>
              <a:cxnLst/>
              <a:rect r="r" b="b" t="t" l="l"/>
              <a:pathLst>
                <a:path h="952500" w="5581555">
                  <a:moveTo>
                    <a:pt x="37910" y="0"/>
                  </a:moveTo>
                  <a:lnTo>
                    <a:pt x="5543455" y="0"/>
                  </a:lnTo>
                  <a:cubicBezTo>
                    <a:pt x="5564483" y="0"/>
                    <a:pt x="5581555" y="17073"/>
                    <a:pt x="5581555" y="38100"/>
                  </a:cubicBezTo>
                  <a:lnTo>
                    <a:pt x="5581555" y="914400"/>
                  </a:lnTo>
                  <a:cubicBezTo>
                    <a:pt x="5581555" y="935427"/>
                    <a:pt x="5564483" y="952500"/>
                    <a:pt x="5543455" y="952500"/>
                  </a:cubicBezTo>
                  <a:lnTo>
                    <a:pt x="37910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0" id="20"/>
            <p:cNvSpPr/>
            <p:nvPr/>
          </p:nvSpPr>
          <p:spPr>
            <a:xfrm rot="0" flipH="false" flipV="false">
              <a:off x="6229234" y="5600012"/>
              <a:ext cx="37910" cy="952500"/>
            </a:xfrm>
            <a:custGeom>
              <a:avLst/>
              <a:gdLst/>
              <a:ahLst/>
              <a:cxnLst/>
              <a:rect r="r" b="b" t="t" l="l"/>
              <a:pathLst>
                <a:path h="952500" w="37910">
                  <a:moveTo>
                    <a:pt x="37910" y="0"/>
                  </a:moveTo>
                  <a:lnTo>
                    <a:pt x="37910" y="0"/>
                  </a:lnTo>
                  <a:lnTo>
                    <a:pt x="37910" y="952500"/>
                  </a:lnTo>
                  <a:lnTo>
                    <a:pt x="37910" y="952500"/>
                  </a:lnTo>
                  <a:cubicBezTo>
                    <a:pt x="16974" y="952500"/>
                    <a:pt x="0" y="935526"/>
                    <a:pt x="0" y="914591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6438630" y="5790451"/>
              <a:ext cx="52673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Compute-Bound</a:t>
              </a:r>
              <a:endParaRPr lang="en-US" sz="1100"/>
            </a:p>
          </p:txBody>
        </p:sp>
        <p:sp>
          <p:nvSpPr>
            <p:cNvPr name="AutoShape 22" id="22"/>
            <p:cNvSpPr/>
            <p:nvPr/>
          </p:nvSpPr>
          <p:spPr>
            <a:xfrm rot="0" flipH="false" flipV="false">
              <a:off x="6438630" y="6133347"/>
              <a:ext cx="5257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高 Arithmetic Intensity 区域</a:t>
              </a:r>
              <a:endParaRPr lang="en-US" sz="1100"/>
            </a:p>
          </p:txBody>
        </p:sp>
      </p:grpSp>
      <p:sp>
        <p:nvSpPr>
          <p:cNvPr name="AutoShape 23" id="23"/>
          <p:cNvSpPr/>
          <p:nvPr/>
        </p:nvSpPr>
        <p:spPr>
          <a:xfrm rot="0" flipH="false" flipV="false">
            <a:off x="380956" y="6704744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12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3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52341" y="60997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Tiling 如何提高性能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95767"/>
            <a:ext cx="11430000" cy="1447800"/>
          </a:xfrm>
          <a:custGeom>
            <a:avLst/>
            <a:gdLst/>
            <a:ahLst/>
            <a:cxnLst/>
            <a:rect r="r" b="b" t="t" l="l"/>
            <a:pathLst>
              <a:path h="1447800" w="114300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71396" y="1486207"/>
            <a:ext cx="111442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Tiling 提高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571396" y="1905293"/>
            <a:ext cx="11049000" cy="647700"/>
          </a:xfrm>
          <a:custGeom>
            <a:avLst/>
            <a:gdLst/>
            <a:ahLst/>
            <a:cxnLst/>
            <a:rect r="r" b="b" t="t" l="l"/>
            <a:pathLst>
              <a:path h="647700" w="11049000">
                <a:moveTo>
                  <a:pt x="76203" y="0"/>
                </a:moveTo>
                <a:lnTo>
                  <a:pt x="10972797" y="0"/>
                </a:lnTo>
                <a:cubicBezTo>
                  <a:pt x="11014883" y="0"/>
                  <a:pt x="11049000" y="34117"/>
                  <a:pt x="11049000" y="76203"/>
                </a:cubicBezTo>
                <a:lnTo>
                  <a:pt x="11049000" y="571497"/>
                </a:lnTo>
                <a:cubicBezTo>
                  <a:pt x="11049000" y="613583"/>
                  <a:pt x="11014883" y="647700"/>
                  <a:pt x="109727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52341" y="2057674"/>
            <a:ext cx="108870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Arithmetic Intensity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2933765"/>
            <a:ext cx="5600700" cy="1333500"/>
          </a:xfrm>
          <a:custGeom>
            <a:avLst/>
            <a:gdLst/>
            <a:ahLst/>
            <a:cxnLst/>
            <a:rect r="r" b="b" t="t" l="l"/>
            <a:pathLst>
              <a:path h="1333500" w="5600700">
                <a:moveTo>
                  <a:pt x="76196" y="0"/>
                </a:moveTo>
                <a:lnTo>
                  <a:pt x="5524504" y="0"/>
                </a:lnTo>
                <a:cubicBezTo>
                  <a:pt x="5566587" y="0"/>
                  <a:pt x="5600700" y="34113"/>
                  <a:pt x="5600700" y="76196"/>
                </a:cubicBezTo>
                <a:lnTo>
                  <a:pt x="5600700" y="1257304"/>
                </a:lnTo>
                <a:cubicBezTo>
                  <a:pt x="5600700" y="1299387"/>
                  <a:pt x="5566587" y="1333500"/>
                  <a:pt x="55245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10806" y="3162114"/>
            <a:ext cx="130731" cy="172488"/>
          </a:xfrm>
          <a:custGeom>
            <a:avLst/>
            <a:gdLst/>
            <a:ahLst/>
            <a:cxnLst/>
            <a:rect r="r" b="b" t="t" l="l"/>
            <a:pathLst>
              <a:path h="172488" w="130731">
                <a:moveTo>
                  <a:pt x="57798" y="168302"/>
                </a:moveTo>
                <a:cubicBezTo>
                  <a:pt x="61984" y="172488"/>
                  <a:pt x="68781" y="172488"/>
                  <a:pt x="72967" y="168302"/>
                </a:cubicBezTo>
                <a:lnTo>
                  <a:pt x="126545" y="114724"/>
                </a:lnTo>
                <a:cubicBezTo>
                  <a:pt x="130731" y="110538"/>
                  <a:pt x="130731" y="103741"/>
                  <a:pt x="126545" y="99555"/>
                </a:cubicBezTo>
                <a:cubicBezTo>
                  <a:pt x="122360" y="95369"/>
                  <a:pt x="115562" y="95369"/>
                  <a:pt x="111377" y="99555"/>
                </a:cubicBezTo>
                <a:lnTo>
                  <a:pt x="76081" y="134849"/>
                </a:lnTo>
                <a:lnTo>
                  <a:pt x="76081" y="10716"/>
                </a:lnTo>
                <a:cubicBezTo>
                  <a:pt x="76081" y="4789"/>
                  <a:pt x="71293" y="0"/>
                  <a:pt x="65366" y="0"/>
                </a:cubicBezTo>
                <a:cubicBezTo>
                  <a:pt x="59439" y="0"/>
                  <a:pt x="54649" y="4789"/>
                  <a:pt x="54649" y="10716"/>
                </a:cubicBezTo>
                <a:lnTo>
                  <a:pt x="54649" y="134849"/>
                </a:lnTo>
                <a:lnTo>
                  <a:pt x="19356" y="99555"/>
                </a:lnTo>
                <a:cubicBezTo>
                  <a:pt x="15170" y="95369"/>
                  <a:pt x="8372" y="95369"/>
                  <a:pt x="4186" y="99555"/>
                </a:cubicBezTo>
                <a:cubicBezTo>
                  <a:pt x="0" y="103741"/>
                  <a:pt x="0" y="110538"/>
                  <a:pt x="4186" y="114724"/>
                </a:cubicBezTo>
                <a:lnTo>
                  <a:pt x="57764" y="168302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38096" y="3124205"/>
            <a:ext cx="5038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减少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590352" y="3505158"/>
            <a:ext cx="5200555" cy="571500"/>
          </a:xfrm>
          <a:custGeom>
            <a:avLst/>
            <a:gdLst/>
            <a:ahLst/>
            <a:cxnLst/>
            <a:rect r="r" b="b" t="t" l="l"/>
            <a:pathLst>
              <a:path h="571500" w="5200555">
                <a:moveTo>
                  <a:pt x="37910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3"/>
                </a:cubicBezTo>
                <a:lnTo>
                  <a:pt x="5200555" y="533397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590352" y="3505158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1689" y="3657540"/>
            <a:ext cx="4972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Memory bandwidth pressure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210279" y="2933765"/>
            <a:ext cx="5600700" cy="1333500"/>
          </a:xfrm>
          <a:custGeom>
            <a:avLst/>
            <a:gdLst/>
            <a:ahLst/>
            <a:cxnLst/>
            <a:rect r="r" b="b" t="t" l="l"/>
            <a:pathLst>
              <a:path h="1333500" w="5600700">
                <a:moveTo>
                  <a:pt x="76196" y="0"/>
                </a:moveTo>
                <a:lnTo>
                  <a:pt x="5524504" y="0"/>
                </a:lnTo>
                <a:cubicBezTo>
                  <a:pt x="5566587" y="0"/>
                  <a:pt x="5600700" y="34113"/>
                  <a:pt x="5600700" y="76196"/>
                </a:cubicBezTo>
                <a:lnTo>
                  <a:pt x="5600700" y="1257304"/>
                </a:lnTo>
                <a:cubicBezTo>
                  <a:pt x="5600700" y="1299387"/>
                  <a:pt x="5566587" y="1333500"/>
                  <a:pt x="5524504" y="1333500"/>
                </a:cubicBezTo>
                <a:lnTo>
                  <a:pt x="76196" y="1333500"/>
                </a:lnTo>
                <a:cubicBezTo>
                  <a:pt x="34113" y="1333500"/>
                  <a:pt x="0" y="1299387"/>
                  <a:pt x="0" y="1257304"/>
                </a:cubicBezTo>
                <a:lnTo>
                  <a:pt x="0" y="76196"/>
                </a:lnTo>
                <a:cubicBezTo>
                  <a:pt x="0" y="34141"/>
                  <a:pt x="34141" y="0"/>
                  <a:pt x="76196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440129" y="3163755"/>
            <a:ext cx="130731" cy="172488"/>
          </a:xfrm>
          <a:custGeom>
            <a:avLst/>
            <a:gdLst/>
            <a:ahLst/>
            <a:cxnLst/>
            <a:rect r="r" b="b" t="t" l="l"/>
            <a:pathLst>
              <a:path h="172488" w="130731">
                <a:moveTo>
                  <a:pt x="72934" y="4186"/>
                </a:moveTo>
                <a:cubicBezTo>
                  <a:pt x="68748" y="0"/>
                  <a:pt x="61949" y="0"/>
                  <a:pt x="57764" y="4186"/>
                </a:cubicBezTo>
                <a:lnTo>
                  <a:pt x="4186" y="57765"/>
                </a:lnTo>
                <a:cubicBezTo>
                  <a:pt x="0" y="61950"/>
                  <a:pt x="0" y="68747"/>
                  <a:pt x="4186" y="72933"/>
                </a:cubicBezTo>
                <a:cubicBezTo>
                  <a:pt x="8372" y="77119"/>
                  <a:pt x="15170" y="77119"/>
                  <a:pt x="19356" y="72933"/>
                </a:cubicBezTo>
                <a:lnTo>
                  <a:pt x="54649" y="37638"/>
                </a:lnTo>
                <a:lnTo>
                  <a:pt x="54649" y="161772"/>
                </a:lnTo>
                <a:cubicBezTo>
                  <a:pt x="54649" y="167700"/>
                  <a:pt x="59439" y="172487"/>
                  <a:pt x="65366" y="172487"/>
                </a:cubicBezTo>
                <a:cubicBezTo>
                  <a:pt x="71293" y="172487"/>
                  <a:pt x="76081" y="167700"/>
                  <a:pt x="76081" y="161772"/>
                </a:cubicBezTo>
                <a:lnTo>
                  <a:pt x="76081" y="37638"/>
                </a:lnTo>
                <a:lnTo>
                  <a:pt x="111377" y="72933"/>
                </a:lnTo>
                <a:cubicBezTo>
                  <a:pt x="115563" y="77119"/>
                  <a:pt x="122360" y="77119"/>
                  <a:pt x="126545" y="72933"/>
                </a:cubicBezTo>
                <a:cubicBezTo>
                  <a:pt x="130731" y="68747"/>
                  <a:pt x="130731" y="61950"/>
                  <a:pt x="126545" y="57765"/>
                </a:cubicBezTo>
                <a:lnTo>
                  <a:pt x="72967" y="4186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67420" y="3124205"/>
            <a:ext cx="50387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增加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419675" y="3505158"/>
            <a:ext cx="5200555" cy="571500"/>
          </a:xfrm>
          <a:custGeom>
            <a:avLst/>
            <a:gdLst/>
            <a:ahLst/>
            <a:cxnLst/>
            <a:rect r="r" b="b" t="t" l="l"/>
            <a:pathLst>
              <a:path h="571500" w="5200555">
                <a:moveTo>
                  <a:pt x="37909" y="0"/>
                </a:moveTo>
                <a:lnTo>
                  <a:pt x="5162453" y="0"/>
                </a:lnTo>
                <a:cubicBezTo>
                  <a:pt x="5183496" y="0"/>
                  <a:pt x="5200555" y="17059"/>
                  <a:pt x="5200555" y="38103"/>
                </a:cubicBezTo>
                <a:lnTo>
                  <a:pt x="5200555" y="533397"/>
                </a:lnTo>
                <a:cubicBezTo>
                  <a:pt x="5200555" y="554441"/>
                  <a:pt x="5183496" y="571500"/>
                  <a:pt x="51624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419675" y="3505158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91013" y="3657540"/>
            <a:ext cx="4972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Cache utilization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380956" y="4457509"/>
            <a:ext cx="11430000" cy="1676400"/>
          </a:xfrm>
          <a:custGeom>
            <a:avLst/>
            <a:gdLst/>
            <a:ahLst/>
            <a:cxnLst/>
            <a:rect r="r" b="b" t="t" l="l"/>
            <a:pathLst>
              <a:path h="1676400" w="114300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00208"/>
                </a:lnTo>
                <a:cubicBezTo>
                  <a:pt x="11430000" y="1642288"/>
                  <a:pt x="11395888" y="1676400"/>
                  <a:pt x="11353808" y="1676400"/>
                </a:cubicBezTo>
                <a:lnTo>
                  <a:pt x="76192" y="1676400"/>
                </a:lnTo>
                <a:cubicBezTo>
                  <a:pt x="34112" y="1676400"/>
                  <a:pt x="0" y="1642288"/>
                  <a:pt x="0" y="16002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279" y="4686086"/>
            <a:ext cx="107442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最终结果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09529" y="5143160"/>
            <a:ext cx="10972800" cy="762000"/>
          </a:xfrm>
          <a:custGeom>
            <a:avLst/>
            <a:gdLst/>
            <a:ahLst/>
            <a:cxnLst/>
            <a:rect r="r" b="b" t="t" l="l"/>
            <a:pathLst>
              <a:path h="762000" w="10972800">
                <a:moveTo>
                  <a:pt x="38100" y="0"/>
                </a:moveTo>
                <a:lnTo>
                  <a:pt x="10934700" y="0"/>
                </a:lnTo>
                <a:cubicBezTo>
                  <a:pt x="10955727" y="0"/>
                  <a:pt x="10972800" y="17073"/>
                  <a:pt x="10972800" y="38100"/>
                </a:cubicBezTo>
                <a:lnTo>
                  <a:pt x="10972800" y="723900"/>
                </a:lnTo>
                <a:cubicBezTo>
                  <a:pt x="10972800" y="744927"/>
                  <a:pt x="10955727" y="762000"/>
                  <a:pt x="10934700" y="762000"/>
                </a:cubicBezTo>
                <a:lnTo>
                  <a:pt x="38100" y="762000"/>
                </a:lnTo>
                <a:cubicBezTo>
                  <a:pt x="17073" y="762000"/>
                  <a:pt x="0" y="744927"/>
                  <a:pt x="0" y="7239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4245" y="5333595"/>
            <a:ext cx="107632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性能提升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0956" y="6324605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4" id="2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13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4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0468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微软雅黑"/>
                <a:ea typeface="微软雅黑"/>
                <a:cs typeface="微软雅黑"/>
                <a:sym typeface="微软雅黑"/>
              </a:rPr>
              <a:t>Triton 中的 Tiling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4"/>
            <a:ext cx="11430000" cy="1600200"/>
          </a:xfrm>
          <a:custGeom>
            <a:avLst/>
            <a:gdLst/>
            <a:ahLst/>
            <a:cxnLst/>
            <a:rect r="r" b="b" t="t" l="l"/>
            <a:pathLst>
              <a:path h="1600200" w="11430000">
                <a:moveTo>
                  <a:pt x="76203" y="0"/>
                </a:moveTo>
                <a:lnTo>
                  <a:pt x="11353797" y="0"/>
                </a:lnTo>
                <a:cubicBezTo>
                  <a:pt x="11395883" y="0"/>
                  <a:pt x="11430000" y="34117"/>
                  <a:pt x="11430000" y="76203"/>
                </a:cubicBezTo>
                <a:lnTo>
                  <a:pt x="11430000" y="1523997"/>
                </a:lnTo>
                <a:cubicBezTo>
                  <a:pt x="11430000" y="1566083"/>
                  <a:pt x="11395883" y="1600200"/>
                  <a:pt x="11353797" y="1600200"/>
                </a:cubicBezTo>
                <a:lnTo>
                  <a:pt x="76203" y="1600200"/>
                </a:lnTo>
                <a:cubicBezTo>
                  <a:pt x="34117" y="1600200"/>
                  <a:pt x="0" y="1566083"/>
                  <a:pt x="0" y="15239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485695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Triton 使用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09529" y="1904777"/>
            <a:ext cx="10972800" cy="723900"/>
          </a:xfrm>
          <a:custGeom>
            <a:avLst/>
            <a:gdLst/>
            <a:ahLst/>
            <a:cxnLst/>
            <a:rect r="r" b="b" t="t" l="l"/>
            <a:pathLst>
              <a:path h="723900" w="10972800">
                <a:moveTo>
                  <a:pt x="76197" y="0"/>
                </a:moveTo>
                <a:lnTo>
                  <a:pt x="10896603" y="0"/>
                </a:lnTo>
                <a:cubicBezTo>
                  <a:pt x="10938657" y="0"/>
                  <a:pt x="10972800" y="34143"/>
                  <a:pt x="10972800" y="76197"/>
                </a:cubicBezTo>
                <a:lnTo>
                  <a:pt x="10972800" y="647703"/>
                </a:lnTo>
                <a:cubicBezTo>
                  <a:pt x="10972800" y="689757"/>
                  <a:pt x="10938657" y="723900"/>
                  <a:pt x="10896603" y="723900"/>
                </a:cubicBezTo>
                <a:lnTo>
                  <a:pt x="76197" y="723900"/>
                </a:lnTo>
                <a:cubicBezTo>
                  <a:pt x="34143" y="723900"/>
                  <a:pt x="0" y="689757"/>
                  <a:pt x="0" y="647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28532" y="2095221"/>
            <a:ext cx="107346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Block-based 编程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3085635"/>
            <a:ext cx="11430000" cy="1638300"/>
          </a:xfrm>
          <a:custGeom>
            <a:avLst/>
            <a:gdLst/>
            <a:ahLst/>
            <a:cxnLst/>
            <a:rect r="r" b="b" t="t" l="l"/>
            <a:pathLst>
              <a:path h="16383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562103"/>
                </a:lnTo>
                <a:cubicBezTo>
                  <a:pt x="11430000" y="1604185"/>
                  <a:pt x="11395885" y="1638300"/>
                  <a:pt x="11353803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529" y="331420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每个 program 计算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19007" y="3742766"/>
            <a:ext cx="10953655" cy="742855"/>
          </a:xfrm>
          <a:custGeom>
            <a:avLst/>
            <a:gdLst/>
            <a:ahLst/>
            <a:cxnLst/>
            <a:rect r="r" b="b" t="t" l="l"/>
            <a:pathLst>
              <a:path h="742855" w="10953655">
                <a:moveTo>
                  <a:pt x="38101" y="0"/>
                </a:moveTo>
                <a:lnTo>
                  <a:pt x="10915553" y="0"/>
                </a:lnTo>
                <a:cubicBezTo>
                  <a:pt x="10936597" y="0"/>
                  <a:pt x="10953655" y="17057"/>
                  <a:pt x="10953655" y="38101"/>
                </a:cubicBezTo>
                <a:lnTo>
                  <a:pt x="10953655" y="704753"/>
                </a:lnTo>
                <a:cubicBezTo>
                  <a:pt x="10953655" y="725797"/>
                  <a:pt x="10936597" y="742855"/>
                  <a:pt x="10915553" y="742855"/>
                </a:cubicBezTo>
                <a:lnTo>
                  <a:pt x="38101" y="742855"/>
                </a:lnTo>
                <a:cubicBezTo>
                  <a:pt x="17057" y="742855"/>
                  <a:pt x="0" y="725797"/>
                  <a:pt x="0" y="704753"/>
                </a:cubicBezTo>
                <a:lnTo>
                  <a:pt x="0" y="38101"/>
                </a:lnTo>
                <a:cubicBezTo>
                  <a:pt x="0" y="17073"/>
                  <a:pt x="17073" y="0"/>
                  <a:pt x="38101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solidFill>
              <a:srgbClr val="8B0000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47487" y="3942690"/>
            <a:ext cx="10696575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3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BLOCK_M × BLOCK_N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4952051"/>
            <a:ext cx="11430000" cy="1447800"/>
          </a:xfrm>
          <a:custGeom>
            <a:avLst/>
            <a:gdLst/>
            <a:ahLst/>
            <a:cxnLst/>
            <a:rect r="r" b="b" t="t" l="l"/>
            <a:pathLst>
              <a:path h="1447800" w="114300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620282" y="5207682"/>
            <a:ext cx="216656" cy="193253"/>
          </a:xfrm>
          <a:custGeom>
            <a:avLst/>
            <a:gdLst/>
            <a:ahLst/>
            <a:cxnLst/>
            <a:rect r="r" b="b" t="t" l="l"/>
            <a:pathLst>
              <a:path h="193253" w="216656">
                <a:moveTo>
                  <a:pt x="135396" y="1823"/>
                </a:moveTo>
                <a:cubicBezTo>
                  <a:pt x="129071" y="0"/>
                  <a:pt x="122485" y="3685"/>
                  <a:pt x="120663" y="10009"/>
                </a:cubicBezTo>
                <a:lnTo>
                  <a:pt x="73038" y="176697"/>
                </a:lnTo>
                <a:cubicBezTo>
                  <a:pt x="71214" y="183023"/>
                  <a:pt x="74897" y="189608"/>
                  <a:pt x="81223" y="191431"/>
                </a:cubicBezTo>
                <a:cubicBezTo>
                  <a:pt x="87549" y="193254"/>
                  <a:pt x="94134" y="189569"/>
                  <a:pt x="95957" y="183245"/>
                </a:cubicBezTo>
                <a:lnTo>
                  <a:pt x="143582" y="16557"/>
                </a:lnTo>
                <a:cubicBezTo>
                  <a:pt x="145405" y="10231"/>
                  <a:pt x="141720" y="3646"/>
                  <a:pt x="135396" y="1823"/>
                </a:cubicBezTo>
                <a:close/>
                <a:moveTo>
                  <a:pt x="159432" y="52461"/>
                </a:moveTo>
                <a:cubicBezTo>
                  <a:pt x="154781" y="57113"/>
                  <a:pt x="154781" y="64666"/>
                  <a:pt x="159432" y="69317"/>
                </a:cubicBezTo>
                <a:lnTo>
                  <a:pt x="186742" y="96627"/>
                </a:lnTo>
                <a:lnTo>
                  <a:pt x="159432" y="123937"/>
                </a:lnTo>
                <a:cubicBezTo>
                  <a:pt x="154781" y="128588"/>
                  <a:pt x="154781" y="136141"/>
                  <a:pt x="159432" y="140793"/>
                </a:cubicBezTo>
                <a:cubicBezTo>
                  <a:pt x="164083" y="145443"/>
                  <a:pt x="171637" y="145443"/>
                  <a:pt x="176286" y="140793"/>
                </a:cubicBezTo>
                <a:lnTo>
                  <a:pt x="212005" y="105073"/>
                </a:lnTo>
                <a:cubicBezTo>
                  <a:pt x="216655" y="100422"/>
                  <a:pt x="216655" y="92869"/>
                  <a:pt x="212005" y="88218"/>
                </a:cubicBezTo>
                <a:lnTo>
                  <a:pt x="176286" y="52500"/>
                </a:lnTo>
                <a:cubicBezTo>
                  <a:pt x="171637" y="47849"/>
                  <a:pt x="164083" y="47849"/>
                  <a:pt x="159432" y="52500"/>
                </a:cubicBezTo>
                <a:close/>
                <a:moveTo>
                  <a:pt x="57224" y="52461"/>
                </a:moveTo>
                <a:cubicBezTo>
                  <a:pt x="52573" y="47811"/>
                  <a:pt x="45020" y="47811"/>
                  <a:pt x="40369" y="52461"/>
                </a:cubicBezTo>
                <a:lnTo>
                  <a:pt x="4651" y="88182"/>
                </a:lnTo>
                <a:cubicBezTo>
                  <a:pt x="0" y="92832"/>
                  <a:pt x="0" y="100385"/>
                  <a:pt x="4651" y="105036"/>
                </a:cubicBezTo>
                <a:lnTo>
                  <a:pt x="40369" y="140754"/>
                </a:lnTo>
                <a:cubicBezTo>
                  <a:pt x="45020" y="145405"/>
                  <a:pt x="52573" y="145405"/>
                  <a:pt x="57224" y="140754"/>
                </a:cubicBezTo>
                <a:cubicBezTo>
                  <a:pt x="61876" y="136104"/>
                  <a:pt x="61876" y="128551"/>
                  <a:pt x="57224" y="123900"/>
                </a:cubicBezTo>
                <a:lnTo>
                  <a:pt x="29913" y="96627"/>
                </a:lnTo>
                <a:lnTo>
                  <a:pt x="57187" y="69317"/>
                </a:lnTo>
                <a:cubicBezTo>
                  <a:pt x="61837" y="64666"/>
                  <a:pt x="61837" y="57113"/>
                  <a:pt x="57187" y="52461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4804" y="5180623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示例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28484" y="5599714"/>
            <a:ext cx="5391055" cy="571500"/>
          </a:xfrm>
          <a:custGeom>
            <a:avLst/>
            <a:gdLst/>
            <a:ahLst/>
            <a:cxnLst/>
            <a:rect r="r" b="b" t="t" l="l"/>
            <a:pathLst>
              <a:path h="571500" w="5391055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8484" y="5599714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99822" y="5752095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BLOCK_M = 128</a:t>
            </a:r>
            <a:endParaRPr lang="en-US" sz="1100"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191102" y="5599714"/>
            <a:ext cx="5391055" cy="571500"/>
          </a:xfrm>
          <a:custGeom>
            <a:avLst/>
            <a:gdLst/>
            <a:ahLst/>
            <a:cxnLst/>
            <a:rect r="r" b="b" t="t" l="l"/>
            <a:pathLst>
              <a:path h="571500" w="5391055">
                <a:moveTo>
                  <a:pt x="37910" y="0"/>
                </a:moveTo>
                <a:lnTo>
                  <a:pt x="5352953" y="0"/>
                </a:lnTo>
                <a:cubicBezTo>
                  <a:pt x="5373996" y="0"/>
                  <a:pt x="5391055" y="17059"/>
                  <a:pt x="5391055" y="38103"/>
                </a:cubicBezTo>
                <a:lnTo>
                  <a:pt x="5391055" y="533397"/>
                </a:lnTo>
                <a:cubicBezTo>
                  <a:pt x="5391055" y="554441"/>
                  <a:pt x="5373996" y="571500"/>
                  <a:pt x="53529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191102" y="5599714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62440" y="5752095"/>
            <a:ext cx="51530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BLOCK_N = 128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80956" y="6552140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1" id="21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14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5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09330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多维 program_id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4"/>
            <a:ext cx="11430000" cy="1714500"/>
          </a:xfrm>
          <a:custGeom>
            <a:avLst/>
            <a:gdLst/>
            <a:ahLst/>
            <a:cxnLst/>
            <a:rect r="r" b="b" t="t" l="l"/>
            <a:pathLst>
              <a:path h="1714500" w="114300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1638308"/>
                </a:lnTo>
                <a:cubicBezTo>
                  <a:pt x="11430000" y="1680388"/>
                  <a:pt x="11395888" y="1714500"/>
                  <a:pt x="11353808" y="1714500"/>
                </a:cubicBezTo>
                <a:lnTo>
                  <a:pt x="76192" y="1714500"/>
                </a:lnTo>
                <a:cubicBezTo>
                  <a:pt x="34112" y="1714500"/>
                  <a:pt x="0" y="1680388"/>
                  <a:pt x="0" y="16383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48568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获取 program id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1904777"/>
            <a:ext cx="10953655" cy="838200"/>
          </a:xfrm>
          <a:custGeom>
            <a:avLst/>
            <a:gdLst/>
            <a:ahLst/>
            <a:cxnLst/>
            <a:rect r="r" b="b" t="t" l="l"/>
            <a:pathLst>
              <a:path h="838200" w="10953655">
                <a:moveTo>
                  <a:pt x="37910" y="0"/>
                </a:moveTo>
                <a:lnTo>
                  <a:pt x="10915559" y="0"/>
                </a:lnTo>
                <a:cubicBezTo>
                  <a:pt x="10936599" y="0"/>
                  <a:pt x="10953655" y="17056"/>
                  <a:pt x="10953655" y="38096"/>
                </a:cubicBezTo>
                <a:lnTo>
                  <a:pt x="10953655" y="800104"/>
                </a:lnTo>
                <a:cubicBezTo>
                  <a:pt x="10953655" y="821144"/>
                  <a:pt x="10936599" y="838200"/>
                  <a:pt x="10915559" y="838200"/>
                </a:cubicBezTo>
                <a:lnTo>
                  <a:pt x="37910" y="838200"/>
                </a:lnTo>
                <a:cubicBezTo>
                  <a:pt x="16974" y="838200"/>
                  <a:pt x="0" y="821226"/>
                  <a:pt x="0" y="800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1904777"/>
            <a:ext cx="37909" cy="838200"/>
          </a:xfrm>
          <a:custGeom>
            <a:avLst/>
            <a:gdLst/>
            <a:ahLst/>
            <a:cxnLst/>
            <a:rect r="r" b="b" t="t" l="l"/>
            <a:pathLst>
              <a:path h="838200" w="37909">
                <a:moveTo>
                  <a:pt x="37910" y="0"/>
                </a:moveTo>
                <a:lnTo>
                  <a:pt x="37910" y="0"/>
                </a:lnTo>
                <a:lnTo>
                  <a:pt x="37910" y="838200"/>
                </a:lnTo>
                <a:lnTo>
                  <a:pt x="37910" y="838200"/>
                </a:lnTo>
                <a:cubicBezTo>
                  <a:pt x="16974" y="838200"/>
                  <a:pt x="0" y="821226"/>
                  <a:pt x="0" y="8002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529" y="1904777"/>
            <a:ext cx="11010900" cy="838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pid_m = tl.program_id(0)</a:t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pid_n = tl.program_id(1)</a:t>
            </a:r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199954"/>
            <a:ext cx="11430000" cy="1905000"/>
          </a:xfrm>
          <a:custGeom>
            <a:avLst/>
            <a:gdLst/>
            <a:ahLst/>
            <a:cxnLst/>
            <a:rect r="r" b="b" t="t" l="l"/>
            <a:pathLst>
              <a:path h="19050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529" y="342852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作用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9529" y="3847616"/>
            <a:ext cx="10972800" cy="1028700"/>
          </a:xfrm>
          <a:custGeom>
            <a:avLst/>
            <a:gdLst/>
            <a:ahLst/>
            <a:cxnLst/>
            <a:rect r="r" b="b" t="t" l="l"/>
            <a:pathLst>
              <a:path h="1028700" w="109728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2820" y="4038051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确定 tile 位置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52345" y="4418940"/>
            <a:ext cx="10687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C block index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5333228"/>
            <a:ext cx="5600700" cy="952500"/>
          </a:xfrm>
          <a:custGeom>
            <a:avLst/>
            <a:gdLst/>
            <a:ahLst/>
            <a:cxnLst/>
            <a:rect r="r" b="b" t="t" l="l"/>
            <a:pathLst>
              <a:path h="952500" w="56007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396" y="55236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pid_m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71396" y="5866563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M 维度的 program ID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210279" y="5333228"/>
            <a:ext cx="5600700" cy="952500"/>
          </a:xfrm>
          <a:custGeom>
            <a:avLst/>
            <a:gdLst/>
            <a:ahLst/>
            <a:cxnLst/>
            <a:rect r="r" b="b" t="t" l="l"/>
            <a:pathLst>
              <a:path h="952500" w="56007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720" y="55236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pid_n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400720" y="5866563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N 维度的 program ID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0956" y="6437961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20" id="2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15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6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4758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 Tile 索引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409942"/>
            <a:ext cx="11430000" cy="1943100"/>
          </a:xfrm>
          <a:custGeom>
            <a:avLst/>
            <a:gdLst/>
            <a:ahLst/>
            <a:cxnLst/>
            <a:rect r="r" b="b" t="t" l="l"/>
            <a:pathLst>
              <a:path h="1943100" w="11430000">
                <a:moveTo>
                  <a:pt x="76208" y="0"/>
                </a:moveTo>
                <a:lnTo>
                  <a:pt x="11353792" y="0"/>
                </a:lnTo>
                <a:cubicBezTo>
                  <a:pt x="11395880" y="0"/>
                  <a:pt x="11430000" y="34120"/>
                  <a:pt x="11430000" y="76208"/>
                </a:cubicBezTo>
                <a:lnTo>
                  <a:pt x="11430000" y="1866892"/>
                </a:lnTo>
                <a:cubicBezTo>
                  <a:pt x="11430000" y="1908980"/>
                  <a:pt x="11395880" y="1943100"/>
                  <a:pt x="11353792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638514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 offset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2057605"/>
            <a:ext cx="10953655" cy="1066800"/>
          </a:xfrm>
          <a:custGeom>
            <a:avLst/>
            <a:gdLst/>
            <a:ahLst/>
            <a:cxnLst/>
            <a:rect r="r" b="b" t="t" l="l"/>
            <a:pathLst>
              <a:path h="1066800" w="10953655">
                <a:moveTo>
                  <a:pt x="37910" y="0"/>
                </a:moveTo>
                <a:lnTo>
                  <a:pt x="10915560" y="0"/>
                </a:lnTo>
                <a:cubicBezTo>
                  <a:pt x="10936585" y="0"/>
                  <a:pt x="10953655" y="17070"/>
                  <a:pt x="10953655" y="38095"/>
                </a:cubicBezTo>
                <a:lnTo>
                  <a:pt x="10953655" y="1028705"/>
                </a:lnTo>
                <a:cubicBezTo>
                  <a:pt x="10953655" y="1049730"/>
                  <a:pt x="10936585" y="1066800"/>
                  <a:pt x="10915560" y="1066800"/>
                </a:cubicBezTo>
                <a:lnTo>
                  <a:pt x="37910" y="1066800"/>
                </a:lnTo>
                <a:cubicBezTo>
                  <a:pt x="16974" y="1066800"/>
                  <a:pt x="0" y="1049826"/>
                  <a:pt x="0" y="10288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2057605"/>
            <a:ext cx="37909" cy="1066800"/>
          </a:xfrm>
          <a:custGeom>
            <a:avLst/>
            <a:gdLst/>
            <a:ahLst/>
            <a:cxnLst/>
            <a:rect r="r" b="b" t="t" l="l"/>
            <a:pathLst>
              <a:path h="1066800" w="37909">
                <a:moveTo>
                  <a:pt x="37910" y="0"/>
                </a:moveTo>
                <a:lnTo>
                  <a:pt x="37910" y="0"/>
                </a:lnTo>
                <a:lnTo>
                  <a:pt x="37910" y="1066800"/>
                </a:lnTo>
                <a:lnTo>
                  <a:pt x="37910" y="1066800"/>
                </a:lnTo>
                <a:cubicBezTo>
                  <a:pt x="16974" y="1066800"/>
                  <a:pt x="0" y="1049826"/>
                  <a:pt x="0" y="10288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529" y="2057605"/>
            <a:ext cx="11010900" cy="1066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offs_m = pid_m * BLOCK_M + tl.arange(0, BLOCK_M)</a:t>
            </a:r>
            <a:endParaRPr lang="en-US" sz="1100"/>
          </a:p>
          <a:p>
            <a:pPr algn="l" indent="0">
              <a:lnSpc>
                <a:spcPct val="133333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offs_n = pid_n * BLOCK_N + tl.arange(0, BLOCK_N)</a:t>
            </a:r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581353"/>
            <a:ext cx="11430000" cy="1562100"/>
          </a:xfrm>
          <a:custGeom>
            <a:avLst/>
            <a:gdLst/>
            <a:ahLst/>
            <a:cxnLst/>
            <a:rect r="r" b="b" t="t" l="l"/>
            <a:pathLst>
              <a:path h="1562100" w="114300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529" y="380992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表示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9529" y="4229016"/>
            <a:ext cx="10972800" cy="685800"/>
          </a:xfrm>
          <a:custGeom>
            <a:avLst/>
            <a:gdLst/>
            <a:ahLst/>
            <a:cxnLst/>
            <a:rect r="r" b="b" t="t" l="l"/>
            <a:pathLst>
              <a:path h="685800" w="109728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647697"/>
                </a:lnTo>
                <a:cubicBezTo>
                  <a:pt x="10972800" y="668741"/>
                  <a:pt x="10955741" y="685800"/>
                  <a:pt x="10934697" y="685800"/>
                </a:cubicBezTo>
                <a:lnTo>
                  <a:pt x="38103" y="685800"/>
                </a:lnTo>
                <a:cubicBezTo>
                  <a:pt x="17059" y="685800"/>
                  <a:pt x="0" y="668741"/>
                  <a:pt x="0" y="6476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42820" y="4419451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当前 tile 行列位置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0956" y="5371728"/>
            <a:ext cx="5600700" cy="952500"/>
          </a:xfrm>
          <a:custGeom>
            <a:avLst/>
            <a:gdLst/>
            <a:ahLst/>
            <a:cxnLst/>
            <a:rect r="r" b="b" t="t" l="l"/>
            <a:pathLst>
              <a:path h="952500" w="56007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71396" y="55621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offs_m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71396" y="5905072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M 维度的偏移数组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10279" y="5371728"/>
            <a:ext cx="5600700" cy="952500"/>
          </a:xfrm>
          <a:custGeom>
            <a:avLst/>
            <a:gdLst/>
            <a:ahLst/>
            <a:cxnLst/>
            <a:rect r="r" b="b" t="t" l="l"/>
            <a:pathLst>
              <a:path h="952500" w="5600700">
                <a:moveTo>
                  <a:pt x="76200" y="0"/>
                </a:moveTo>
                <a:lnTo>
                  <a:pt x="5524500" y="0"/>
                </a:lnTo>
                <a:cubicBezTo>
                  <a:pt x="5566556" y="0"/>
                  <a:pt x="5600700" y="34144"/>
                  <a:pt x="5600700" y="76200"/>
                </a:cubicBezTo>
                <a:lnTo>
                  <a:pt x="5600700" y="876300"/>
                </a:lnTo>
                <a:cubicBezTo>
                  <a:pt x="5600700" y="918356"/>
                  <a:pt x="5566556" y="952500"/>
                  <a:pt x="5524500" y="952500"/>
                </a:cubicBezTo>
                <a:lnTo>
                  <a:pt x="76200" y="952500"/>
                </a:lnTo>
                <a:cubicBezTo>
                  <a:pt x="34144" y="952500"/>
                  <a:pt x="0" y="918356"/>
                  <a:pt x="0" y="8763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00720" y="5562172"/>
            <a:ext cx="53054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offs_n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00720" y="5905072"/>
            <a:ext cx="5295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N 维度的偏移数组</a:t>
            </a:r>
            <a:endParaRPr lang="en-US" sz="1100"/>
          </a:p>
        </p:txBody>
      </p:sp>
      <p:sp>
        <p:nvSpPr>
          <p:cNvPr name="AutoShape 18" id="1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16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7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09842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K 维度循环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447921"/>
            <a:ext cx="11430000" cy="1524000"/>
          </a:xfrm>
          <a:custGeom>
            <a:avLst/>
            <a:gdLst/>
            <a:ahLst/>
            <a:cxnLst/>
            <a:rect r="r" b="b" t="t" l="l"/>
            <a:pathLst>
              <a:path h="15240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447800"/>
                </a:lnTo>
                <a:cubicBezTo>
                  <a:pt x="11430000" y="1489856"/>
                  <a:pt x="11395856" y="1524000"/>
                  <a:pt x="11353800" y="1524000"/>
                </a:cubicBezTo>
                <a:lnTo>
                  <a:pt x="76200" y="1524000"/>
                </a:lnTo>
                <a:cubicBezTo>
                  <a:pt x="34144" y="1524000"/>
                  <a:pt x="0" y="1489856"/>
                  <a:pt x="0" y="1447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676493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核心循环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2095584"/>
            <a:ext cx="10953655" cy="647700"/>
          </a:xfrm>
          <a:custGeom>
            <a:avLst/>
            <a:gdLst/>
            <a:ahLst/>
            <a:cxnLst/>
            <a:rect r="r" b="b" t="t" l="l"/>
            <a:pathLst>
              <a:path h="647700" w="10953655">
                <a:moveTo>
                  <a:pt x="37910" y="0"/>
                </a:moveTo>
                <a:lnTo>
                  <a:pt x="10915559" y="0"/>
                </a:lnTo>
                <a:cubicBezTo>
                  <a:pt x="10936583" y="0"/>
                  <a:pt x="10953655" y="17071"/>
                  <a:pt x="10953655" y="38097"/>
                </a:cubicBezTo>
                <a:lnTo>
                  <a:pt x="10953655" y="609603"/>
                </a:lnTo>
                <a:cubicBezTo>
                  <a:pt x="10953655" y="630643"/>
                  <a:pt x="10936597" y="647700"/>
                  <a:pt x="10915559" y="647700"/>
                </a:cubicBez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2095584"/>
            <a:ext cx="37909" cy="647700"/>
          </a:xfrm>
          <a:custGeom>
            <a:avLst/>
            <a:gdLst/>
            <a:ahLst/>
            <a:cxnLst/>
            <a:rect r="r" b="b" t="t" l="l"/>
            <a:pathLst>
              <a:path h="647700" w="37909">
                <a:moveTo>
                  <a:pt x="37910" y="0"/>
                </a:moveTo>
                <a:lnTo>
                  <a:pt x="37910" y="0"/>
                </a:lnTo>
                <a:lnTo>
                  <a:pt x="37910" y="647700"/>
                </a:lnTo>
                <a:lnTo>
                  <a:pt x="37910" y="647700"/>
                </a:lnTo>
                <a:cubicBezTo>
                  <a:pt x="16974" y="647700"/>
                  <a:pt x="0" y="630726"/>
                  <a:pt x="0" y="6097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529" y="2095584"/>
            <a:ext cx="11020425" cy="647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for k in range(0, K, BLOCK_K):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3200316"/>
            <a:ext cx="11430000" cy="1447800"/>
          </a:xfrm>
          <a:custGeom>
            <a:avLst/>
            <a:gdLst/>
            <a:ahLst/>
            <a:cxnLst/>
            <a:rect r="r" b="b" t="t" l="l"/>
            <a:pathLst>
              <a:path h="1447800" w="114300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529" y="3428898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每次循环执行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09529" y="3847979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9049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加载 Tile A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4317941" y="3847979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27461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加载 Tile B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8026353" y="3847979"/>
            <a:ext cx="3552825" cy="571500"/>
          </a:xfrm>
          <a:custGeom>
            <a:avLst/>
            <a:gdLst/>
            <a:ahLst/>
            <a:cxnLst/>
            <a:rect r="r" b="b" t="t" l="l"/>
            <a:pathLst>
              <a:path h="571500" w="3552825">
                <a:moveTo>
                  <a:pt x="38103" y="0"/>
                </a:moveTo>
                <a:lnTo>
                  <a:pt x="3514722" y="0"/>
                </a:lnTo>
                <a:cubicBezTo>
                  <a:pt x="3535766" y="0"/>
                  <a:pt x="3552825" y="17059"/>
                  <a:pt x="3552825" y="38103"/>
                </a:cubicBezTo>
                <a:lnTo>
                  <a:pt x="3552825" y="533397"/>
                </a:lnTo>
                <a:cubicBezTo>
                  <a:pt x="3552825" y="554441"/>
                  <a:pt x="3535766" y="571500"/>
                  <a:pt x="3514722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35872" y="4000360"/>
            <a:ext cx="33337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A6A6A6"/>
                </a:solidFill>
                <a:latin typeface="微软雅黑"/>
                <a:ea typeface="微软雅黑"/>
                <a:cs typeface="微软雅黑"/>
                <a:sym typeface="微软雅黑"/>
              </a:rPr>
              <a:t>累加结果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380956" y="4876595"/>
            <a:ext cx="11430000" cy="1409700"/>
          </a:xfrm>
          <a:custGeom>
            <a:avLst/>
            <a:gdLst/>
            <a:ahLst/>
            <a:cxnLst/>
            <a:rect r="r" b="b" t="t" l="l"/>
            <a:pathLst>
              <a:path h="1409700" w="11430000">
                <a:moveTo>
                  <a:pt x="76194" y="0"/>
                </a:moveTo>
                <a:lnTo>
                  <a:pt x="11353806" y="0"/>
                </a:lnTo>
                <a:cubicBezTo>
                  <a:pt x="11395859" y="0"/>
                  <a:pt x="11430000" y="34141"/>
                  <a:pt x="11430000" y="76194"/>
                </a:cubicBezTo>
                <a:lnTo>
                  <a:pt x="11430000" y="1333506"/>
                </a:lnTo>
                <a:cubicBezTo>
                  <a:pt x="11430000" y="1375587"/>
                  <a:pt x="11395887" y="1409700"/>
                  <a:pt x="11353806" y="1409700"/>
                </a:cubicBezTo>
                <a:lnTo>
                  <a:pt x="76194" y="1409700"/>
                </a:lnTo>
                <a:cubicBezTo>
                  <a:pt x="34141" y="1409700"/>
                  <a:pt x="0" y="1375559"/>
                  <a:pt x="0" y="1333506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7" id="17"/>
          <p:cNvSpPr/>
          <p:nvPr/>
        </p:nvSpPr>
        <p:spPr>
          <a:xfrm rot="0" flipH="false" flipV="false">
            <a:off x="633341" y="5132896"/>
            <a:ext cx="190500" cy="191915"/>
          </a:xfrm>
          <a:custGeom>
            <a:avLst/>
            <a:gdLst/>
            <a:ahLst/>
            <a:cxnLst/>
            <a:rect r="r" b="b" t="t" l="l"/>
            <a:pathLst>
              <a:path h="191915" w="190500">
                <a:moveTo>
                  <a:pt x="178631" y="72144"/>
                </a:moveTo>
                <a:lnTo>
                  <a:pt x="181571" y="72144"/>
                </a:lnTo>
                <a:cubicBezTo>
                  <a:pt x="186519" y="72144"/>
                  <a:pt x="190500" y="68163"/>
                  <a:pt x="190500" y="63215"/>
                </a:cubicBezTo>
                <a:lnTo>
                  <a:pt x="190500" y="9636"/>
                </a:lnTo>
                <a:cubicBezTo>
                  <a:pt x="190500" y="6028"/>
                  <a:pt x="188342" y="2753"/>
                  <a:pt x="184993" y="1378"/>
                </a:cubicBezTo>
                <a:cubicBezTo>
                  <a:pt x="181646" y="0"/>
                  <a:pt x="177811" y="781"/>
                  <a:pt x="175245" y="3310"/>
                </a:cubicBezTo>
                <a:lnTo>
                  <a:pt x="156009" y="22585"/>
                </a:lnTo>
                <a:cubicBezTo>
                  <a:pt x="139526" y="8930"/>
                  <a:pt x="118318" y="707"/>
                  <a:pt x="95250" y="707"/>
                </a:cubicBezTo>
                <a:cubicBezTo>
                  <a:pt x="47253" y="707"/>
                  <a:pt x="7553" y="36204"/>
                  <a:pt x="966" y="82376"/>
                </a:cubicBezTo>
                <a:cubicBezTo>
                  <a:pt x="37" y="88888"/>
                  <a:pt x="4539" y="94916"/>
                  <a:pt x="11050" y="95845"/>
                </a:cubicBezTo>
                <a:cubicBezTo>
                  <a:pt x="17562" y="96776"/>
                  <a:pt x="23589" y="92236"/>
                  <a:pt x="24519" y="85761"/>
                </a:cubicBezTo>
                <a:cubicBezTo>
                  <a:pt x="29468" y="51123"/>
                  <a:pt x="59271" y="24520"/>
                  <a:pt x="95250" y="24520"/>
                </a:cubicBezTo>
                <a:cubicBezTo>
                  <a:pt x="111770" y="24520"/>
                  <a:pt x="126950" y="30101"/>
                  <a:pt x="139043" y="39514"/>
                </a:cubicBezTo>
                <a:lnTo>
                  <a:pt x="121667" y="56891"/>
                </a:lnTo>
                <a:cubicBezTo>
                  <a:pt x="119101" y="59457"/>
                  <a:pt x="118356" y="63289"/>
                  <a:pt x="119732" y="66638"/>
                </a:cubicBezTo>
                <a:cubicBezTo>
                  <a:pt x="121108" y="69986"/>
                  <a:pt x="124383" y="72144"/>
                  <a:pt x="127992" y="72144"/>
                </a:cubicBezTo>
                <a:lnTo>
                  <a:pt x="178631" y="72144"/>
                </a:lnTo>
                <a:close/>
                <a:moveTo>
                  <a:pt x="189570" y="109538"/>
                </a:moveTo>
                <a:cubicBezTo>
                  <a:pt x="190500" y="103026"/>
                  <a:pt x="185961" y="96998"/>
                  <a:pt x="179487" y="96069"/>
                </a:cubicBezTo>
                <a:cubicBezTo>
                  <a:pt x="173013" y="95138"/>
                  <a:pt x="166948" y="99678"/>
                  <a:pt x="166018" y="106153"/>
                </a:cubicBezTo>
                <a:cubicBezTo>
                  <a:pt x="161069" y="140754"/>
                  <a:pt x="131266" y="167356"/>
                  <a:pt x="95287" y="167356"/>
                </a:cubicBezTo>
                <a:cubicBezTo>
                  <a:pt x="78767" y="167356"/>
                  <a:pt x="63588" y="161776"/>
                  <a:pt x="51495" y="152363"/>
                </a:cubicBezTo>
                <a:lnTo>
                  <a:pt x="68833" y="135023"/>
                </a:lnTo>
                <a:cubicBezTo>
                  <a:pt x="71399" y="132457"/>
                  <a:pt x="72144" y="128625"/>
                  <a:pt x="70768" y="125276"/>
                </a:cubicBezTo>
                <a:cubicBezTo>
                  <a:pt x="69392" y="121929"/>
                  <a:pt x="66117" y="119770"/>
                  <a:pt x="62508" y="119770"/>
                </a:cubicBezTo>
                <a:lnTo>
                  <a:pt x="8929" y="119770"/>
                </a:lnTo>
                <a:cubicBezTo>
                  <a:pt x="3981" y="119770"/>
                  <a:pt x="0" y="123751"/>
                  <a:pt x="0" y="128699"/>
                </a:cubicBezTo>
                <a:lnTo>
                  <a:pt x="0" y="182278"/>
                </a:lnTo>
                <a:cubicBezTo>
                  <a:pt x="0" y="185886"/>
                  <a:pt x="2158" y="189161"/>
                  <a:pt x="5507" y="190536"/>
                </a:cubicBezTo>
                <a:cubicBezTo>
                  <a:pt x="8854" y="191914"/>
                  <a:pt x="12689" y="191133"/>
                  <a:pt x="15255" y="188604"/>
                </a:cubicBezTo>
                <a:lnTo>
                  <a:pt x="34527" y="169329"/>
                </a:lnTo>
                <a:cubicBezTo>
                  <a:pt x="50974" y="182984"/>
                  <a:pt x="72182" y="191207"/>
                  <a:pt x="95250" y="191207"/>
                </a:cubicBezTo>
                <a:cubicBezTo>
                  <a:pt x="143247" y="191207"/>
                  <a:pt x="182947" y="155710"/>
                  <a:pt x="189534" y="10953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04804" y="5105167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循环特点</a:t>
            </a:r>
            <a:endParaRPr lang="en-US" sz="1100"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28484" y="5524258"/>
            <a:ext cx="5391055" cy="533400"/>
          </a:xfrm>
          <a:custGeom>
            <a:avLst/>
            <a:gdLst/>
            <a:ahLst/>
            <a:cxnLst/>
            <a:rect r="r" b="b" t="t" l="l"/>
            <a:pathLst>
              <a:path h="533400" w="5391055">
                <a:moveTo>
                  <a:pt x="37910" y="0"/>
                </a:moveTo>
                <a:lnTo>
                  <a:pt x="5352953" y="0"/>
                </a:lnTo>
                <a:cubicBezTo>
                  <a:pt x="5373997" y="0"/>
                  <a:pt x="5391055" y="17057"/>
                  <a:pt x="5391055" y="38101"/>
                </a:cubicBezTo>
                <a:lnTo>
                  <a:pt x="5391055" y="495299"/>
                </a:lnTo>
                <a:cubicBezTo>
                  <a:pt x="5391055" y="516343"/>
                  <a:pt x="5373997" y="533400"/>
                  <a:pt x="5352953" y="533400"/>
                </a:cubicBez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0" id="20"/>
          <p:cNvSpPr/>
          <p:nvPr/>
        </p:nvSpPr>
        <p:spPr>
          <a:xfrm rot="0" flipH="false" flipV="false">
            <a:off x="628484" y="5524258"/>
            <a:ext cx="37909" cy="533400"/>
          </a:xfrm>
          <a:custGeom>
            <a:avLst/>
            <a:gdLst/>
            <a:ahLst/>
            <a:cxnLst/>
            <a:rect r="r" b="b" t="t" l="l"/>
            <a:pathLst>
              <a:path h="533400" w="37909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9822" y="5676640"/>
            <a:ext cx="5143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步长为 BLOCK_K</a:t>
            </a:r>
            <a:endParaRPr lang="en-US" sz="1100"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191102" y="5524258"/>
            <a:ext cx="5391055" cy="533400"/>
          </a:xfrm>
          <a:custGeom>
            <a:avLst/>
            <a:gdLst/>
            <a:ahLst/>
            <a:cxnLst/>
            <a:rect r="r" b="b" t="t" l="l"/>
            <a:pathLst>
              <a:path h="533400" w="5391055">
                <a:moveTo>
                  <a:pt x="37910" y="0"/>
                </a:moveTo>
                <a:lnTo>
                  <a:pt x="5352953" y="0"/>
                </a:lnTo>
                <a:cubicBezTo>
                  <a:pt x="5373997" y="0"/>
                  <a:pt x="5391055" y="17057"/>
                  <a:pt x="5391055" y="38101"/>
                </a:cubicBezTo>
                <a:lnTo>
                  <a:pt x="5391055" y="495299"/>
                </a:lnTo>
                <a:cubicBezTo>
                  <a:pt x="5391055" y="516343"/>
                  <a:pt x="5373997" y="533400"/>
                  <a:pt x="5352953" y="533400"/>
                </a:cubicBez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3" id="23"/>
          <p:cNvSpPr/>
          <p:nvPr/>
        </p:nvSpPr>
        <p:spPr>
          <a:xfrm rot="0" flipH="false" flipV="false">
            <a:off x="6191102" y="5524258"/>
            <a:ext cx="37910" cy="533400"/>
          </a:xfrm>
          <a:custGeom>
            <a:avLst/>
            <a:gdLst/>
            <a:ahLst/>
            <a:cxnLst/>
            <a:rect r="r" b="b" t="t" l="l"/>
            <a:pathLst>
              <a:path h="533400" w="37910">
                <a:moveTo>
                  <a:pt x="37910" y="0"/>
                </a:moveTo>
                <a:lnTo>
                  <a:pt x="37910" y="0"/>
                </a:lnTo>
                <a:lnTo>
                  <a:pt x="37910" y="533400"/>
                </a:lnTo>
                <a:lnTo>
                  <a:pt x="37910" y="533400"/>
                </a:lnTo>
                <a:cubicBezTo>
                  <a:pt x="16974" y="533400"/>
                  <a:pt x="0" y="516426"/>
                  <a:pt x="0" y="4954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62440" y="5676640"/>
            <a:ext cx="5143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覆盖整个 K 维度</a:t>
            </a:r>
            <a:endParaRPr lang="en-US" sz="1100"/>
          </a:p>
        </p:txBody>
      </p:sp>
      <p:sp>
        <p:nvSpPr>
          <p:cNvPr name="AutoShape 25" id="25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17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8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59035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局部累加（Accumulator）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257114"/>
            <a:ext cx="11430000" cy="1485900"/>
          </a:xfrm>
          <a:custGeom>
            <a:avLst/>
            <a:gdLst/>
            <a:ahLst/>
            <a:cxnLst/>
            <a:rect r="r" b="b" t="t" l="l"/>
            <a:pathLst>
              <a:path h="14859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485686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使用 accumulator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1904777"/>
            <a:ext cx="10953655" cy="609600"/>
          </a:xfrm>
          <a:custGeom>
            <a:avLst/>
            <a:gdLst/>
            <a:ahLst/>
            <a:cxnLst/>
            <a:rect r="r" b="b" t="t" l="l"/>
            <a:pathLst>
              <a:path h="609600" w="10953655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1904777"/>
            <a:ext cx="37909" cy="609600"/>
          </a:xfrm>
          <a:custGeom>
            <a:avLst/>
            <a:gdLst/>
            <a:ahLst/>
            <a:cxnLst/>
            <a:rect r="r" b="b" t="t" l="l"/>
            <a:pathLst>
              <a:path h="609600" w="37909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1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09529" y="1904777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acc = tl.zeros((BLOCK_M, BLOCK_N))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380956" y="2971372"/>
            <a:ext cx="11430000" cy="1485900"/>
          </a:xfrm>
          <a:custGeom>
            <a:avLst/>
            <a:gdLst/>
            <a:ahLst/>
            <a:cxnLst/>
            <a:rect r="r" b="b" t="t" l="l"/>
            <a:pathLst>
              <a:path h="14859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529" y="3199944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更新</a:t>
            </a:r>
            <a:endParaRPr lang="en-US" sz="1100"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8484" y="3619035"/>
            <a:ext cx="10953655" cy="609600"/>
          </a:xfrm>
          <a:custGeom>
            <a:avLst/>
            <a:gdLst/>
            <a:ahLst/>
            <a:cxnLst/>
            <a:rect r="r" b="b" t="t" l="l"/>
            <a:pathLst>
              <a:path h="609600" w="10953655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628484" y="3619035"/>
            <a:ext cx="37909" cy="609600"/>
          </a:xfrm>
          <a:custGeom>
            <a:avLst/>
            <a:gdLst/>
            <a:ahLst/>
            <a:cxnLst/>
            <a:rect r="r" b="b" t="t" l="l"/>
            <a:pathLst>
              <a:path h="609600" w="37909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529" y="3619035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acc += tl.dot(a, b)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380956" y="4685640"/>
            <a:ext cx="11430000" cy="1905000"/>
          </a:xfrm>
          <a:custGeom>
            <a:avLst/>
            <a:gdLst/>
            <a:ahLst/>
            <a:cxnLst/>
            <a:rect r="r" b="b" t="t" l="l"/>
            <a:pathLst>
              <a:path h="1905000" w="11430000">
                <a:moveTo>
                  <a:pt x="76200" y="0"/>
                </a:moveTo>
                <a:lnTo>
                  <a:pt x="11353800" y="0"/>
                </a:lnTo>
                <a:cubicBezTo>
                  <a:pt x="11395856" y="0"/>
                  <a:pt x="11430000" y="34144"/>
                  <a:pt x="11430000" y="76200"/>
                </a:cubicBezTo>
                <a:lnTo>
                  <a:pt x="11430000" y="1828800"/>
                </a:lnTo>
                <a:cubicBezTo>
                  <a:pt x="11430000" y="1870856"/>
                  <a:pt x="11395856" y="1905000"/>
                  <a:pt x="11353800" y="1905000"/>
                </a:cubicBezTo>
                <a:lnTo>
                  <a:pt x="76200" y="1905000"/>
                </a:lnTo>
                <a:cubicBezTo>
                  <a:pt x="34144" y="1905000"/>
                  <a:pt x="0" y="1870856"/>
                  <a:pt x="0" y="1828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04804" y="4914212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优势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09529" y="5333302"/>
            <a:ext cx="10972800" cy="1028700"/>
          </a:xfrm>
          <a:custGeom>
            <a:avLst/>
            <a:gdLst/>
            <a:ahLst/>
            <a:cxnLst/>
            <a:rect r="r" b="b" t="t" l="l"/>
            <a:pathLst>
              <a:path h="1028700" w="10972800">
                <a:moveTo>
                  <a:pt x="38103" y="0"/>
                </a:moveTo>
                <a:lnTo>
                  <a:pt x="10934697" y="0"/>
                </a:lnTo>
                <a:cubicBezTo>
                  <a:pt x="10955741" y="0"/>
                  <a:pt x="10972800" y="17059"/>
                  <a:pt x="10972800" y="38103"/>
                </a:cubicBezTo>
                <a:lnTo>
                  <a:pt x="10972800" y="990597"/>
                </a:lnTo>
                <a:cubicBezTo>
                  <a:pt x="10972800" y="1011641"/>
                  <a:pt x="10955741" y="1028700"/>
                  <a:pt x="109346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42820" y="5523737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避免频繁写 Global Memory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57107" y="5904626"/>
            <a:ext cx="106775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减少内存访问次数</a:t>
            </a:r>
            <a:endParaRPr lang="en-US" sz="1100"/>
          </a:p>
        </p:txBody>
      </p:sp>
      <p:sp>
        <p:nvSpPr>
          <p:cNvPr name="AutoShape 18" id="1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18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19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6394" y="638138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写回 Global Memory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390845"/>
            <a:ext cx="11430000" cy="1562100"/>
          </a:xfrm>
          <a:custGeom>
            <a:avLst/>
            <a:gdLst/>
            <a:ahLst/>
            <a:cxnLst/>
            <a:rect r="r" b="b" t="t" l="l"/>
            <a:pathLst>
              <a:path h="1562100" w="11430000">
                <a:moveTo>
                  <a:pt x="76199" y="0"/>
                </a:moveTo>
                <a:lnTo>
                  <a:pt x="11353801" y="0"/>
                </a:lnTo>
                <a:cubicBezTo>
                  <a:pt x="11395884" y="0"/>
                  <a:pt x="11430000" y="34116"/>
                  <a:pt x="11430000" y="76199"/>
                </a:cubicBezTo>
                <a:lnTo>
                  <a:pt x="11430000" y="1485901"/>
                </a:lnTo>
                <a:cubicBezTo>
                  <a:pt x="11430000" y="1527984"/>
                  <a:pt x="11395884" y="1562100"/>
                  <a:pt x="11353801" y="1562100"/>
                </a:cubicBezTo>
                <a:lnTo>
                  <a:pt x="76199" y="1562100"/>
                </a:lnTo>
                <a:cubicBezTo>
                  <a:pt x="34116" y="1562100"/>
                  <a:pt x="0" y="1527984"/>
                  <a:pt x="0" y="14859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619417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计算完成后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09529" y="2038508"/>
            <a:ext cx="10972800" cy="685800"/>
          </a:xfrm>
          <a:custGeom>
            <a:avLst/>
            <a:gdLst/>
            <a:ahLst/>
            <a:cxnLst/>
            <a:rect r="r" b="b" t="t" l="l"/>
            <a:pathLst>
              <a:path h="685800" w="10972800">
                <a:moveTo>
                  <a:pt x="76199" y="0"/>
                </a:moveTo>
                <a:lnTo>
                  <a:pt x="10896601" y="0"/>
                </a:lnTo>
                <a:cubicBezTo>
                  <a:pt x="10938684" y="0"/>
                  <a:pt x="10972800" y="34116"/>
                  <a:pt x="10972800" y="76199"/>
                </a:cubicBezTo>
                <a:lnTo>
                  <a:pt x="10972800" y="609601"/>
                </a:lnTo>
                <a:cubicBezTo>
                  <a:pt x="10972800" y="651684"/>
                  <a:pt x="10938684" y="685800"/>
                  <a:pt x="10896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42820" y="2228943"/>
            <a:ext cx="107061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写回结果</a:t>
            </a:r>
            <a:endParaRPr lang="en-US" sz="1100"/>
          </a:p>
        </p:txBody>
      </p:sp>
      <p:sp>
        <p:nvSpPr>
          <p:cNvPr name="Freeform 7" id="7"/>
          <p:cNvSpPr/>
          <p:nvPr/>
        </p:nvSpPr>
        <p:spPr>
          <a:xfrm rot="0" flipH="false" flipV="false">
            <a:off x="380956" y="3181220"/>
            <a:ext cx="11430000" cy="1485900"/>
          </a:xfrm>
          <a:custGeom>
            <a:avLst/>
            <a:gdLst/>
            <a:ahLst/>
            <a:cxnLst/>
            <a:rect r="r" b="b" t="t" l="l"/>
            <a:pathLst>
              <a:path h="1485900" w="11430000">
                <a:moveTo>
                  <a:pt x="76197" y="0"/>
                </a:moveTo>
                <a:lnTo>
                  <a:pt x="11353803" y="0"/>
                </a:lnTo>
                <a:cubicBezTo>
                  <a:pt x="11395885" y="0"/>
                  <a:pt x="11430000" y="34115"/>
                  <a:pt x="11430000" y="76197"/>
                </a:cubicBezTo>
                <a:lnTo>
                  <a:pt x="11430000" y="1409703"/>
                </a:lnTo>
                <a:cubicBezTo>
                  <a:pt x="11430000" y="1451785"/>
                  <a:pt x="11395885" y="1485900"/>
                  <a:pt x="113538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529" y="3409792"/>
            <a:ext cx="110680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代码</a:t>
            </a:r>
            <a:endParaRPr lang="en-US" sz="1100"/>
          </a:p>
        </p:txBody>
      </p:sp>
      <p:sp>
        <p:nvSpPr>
          <p:cNvPr name="Freeform 9" id="9"/>
          <p:cNvSpPr/>
          <p:nvPr/>
        </p:nvSpPr>
        <p:spPr>
          <a:xfrm rot="0" flipH="false" flipV="false">
            <a:off x="628484" y="3828883"/>
            <a:ext cx="10953655" cy="609600"/>
          </a:xfrm>
          <a:custGeom>
            <a:avLst/>
            <a:gdLst/>
            <a:ahLst/>
            <a:cxnLst/>
            <a:rect r="r" b="b" t="t" l="l"/>
            <a:pathLst>
              <a:path h="609600" w="10953655">
                <a:moveTo>
                  <a:pt x="37910" y="0"/>
                </a:moveTo>
                <a:lnTo>
                  <a:pt x="10915555" y="0"/>
                </a:lnTo>
                <a:cubicBezTo>
                  <a:pt x="10936583" y="0"/>
                  <a:pt x="10953655" y="17073"/>
                  <a:pt x="10953655" y="38100"/>
                </a:cubicBezTo>
                <a:lnTo>
                  <a:pt x="10953655" y="571500"/>
                </a:lnTo>
                <a:cubicBezTo>
                  <a:pt x="10953655" y="592527"/>
                  <a:pt x="10936583" y="609600"/>
                  <a:pt x="10915555" y="609600"/>
                </a:cubicBez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0" id="10"/>
          <p:cNvSpPr/>
          <p:nvPr/>
        </p:nvSpPr>
        <p:spPr>
          <a:xfrm rot="0" flipH="false" flipV="false">
            <a:off x="628484" y="3828883"/>
            <a:ext cx="37909" cy="609600"/>
          </a:xfrm>
          <a:custGeom>
            <a:avLst/>
            <a:gdLst/>
            <a:ahLst/>
            <a:cxnLst/>
            <a:rect r="r" b="b" t="t" l="l"/>
            <a:pathLst>
              <a:path h="609600" w="37909">
                <a:moveTo>
                  <a:pt x="37910" y="0"/>
                </a:moveTo>
                <a:lnTo>
                  <a:pt x="37910" y="0"/>
                </a:lnTo>
                <a:lnTo>
                  <a:pt x="37910" y="609600"/>
                </a:lnTo>
                <a:lnTo>
                  <a:pt x="37910" y="609600"/>
                </a:lnTo>
                <a:cubicBezTo>
                  <a:pt x="16974" y="609600"/>
                  <a:pt x="0" y="592626"/>
                  <a:pt x="0" y="571690"/>
                </a:cubicBezTo>
                <a:lnTo>
                  <a:pt x="0" y="37909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09529" y="3828883"/>
            <a:ext cx="11010900" cy="609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90500" rIns="190500" tIns="190500" bIns="19050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tl.store(C_ptr, acc)</a:t>
            </a:r>
            <a:endParaRPr lang="en-US" sz="1100"/>
          </a:p>
        </p:txBody>
      </p:sp>
      <p:sp>
        <p:nvSpPr>
          <p:cNvPr name="Freeform 12" id="12"/>
          <p:cNvSpPr/>
          <p:nvPr/>
        </p:nvSpPr>
        <p:spPr>
          <a:xfrm rot="0" flipH="false" flipV="false">
            <a:off x="380956" y="4895487"/>
            <a:ext cx="11430000" cy="1447800"/>
          </a:xfrm>
          <a:custGeom>
            <a:avLst/>
            <a:gdLst/>
            <a:ahLst/>
            <a:cxnLst/>
            <a:rect r="r" b="b" t="t" l="l"/>
            <a:pathLst>
              <a:path h="1447800" w="11430000">
                <a:moveTo>
                  <a:pt x="76197" y="0"/>
                </a:moveTo>
                <a:lnTo>
                  <a:pt x="11353803" y="0"/>
                </a:lnTo>
                <a:cubicBezTo>
                  <a:pt x="11395857" y="0"/>
                  <a:pt x="11430000" y="34143"/>
                  <a:pt x="11430000" y="76197"/>
                </a:cubicBezTo>
                <a:lnTo>
                  <a:pt x="11430000" y="1371603"/>
                </a:lnTo>
                <a:cubicBezTo>
                  <a:pt x="11430000" y="1413657"/>
                  <a:pt x="11395857" y="1447800"/>
                  <a:pt x="11353803" y="1447800"/>
                </a:cubicBezTo>
                <a:lnTo>
                  <a:pt x="76197" y="1447800"/>
                </a:lnTo>
                <a:cubicBezTo>
                  <a:pt x="34143" y="1447800"/>
                  <a:pt x="0" y="1413657"/>
                  <a:pt x="0" y="13716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04804" y="5124059"/>
            <a:ext cx="107727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特点</a:t>
            </a:r>
            <a:endParaRPr lang="en-US" sz="1100"/>
          </a:p>
        </p:txBody>
      </p:sp>
      <p:sp>
        <p:nvSpPr>
          <p:cNvPr name="Freeform 14" id="14"/>
          <p:cNvSpPr/>
          <p:nvPr/>
        </p:nvSpPr>
        <p:spPr>
          <a:xfrm rot="0" flipH="false" flipV="false">
            <a:off x="609529" y="5543150"/>
            <a:ext cx="5410200" cy="571500"/>
          </a:xfrm>
          <a:custGeom>
            <a:avLst/>
            <a:gdLst/>
            <a:ahLst/>
            <a:cxnLst/>
            <a:rect r="r" b="b" t="t" l="l"/>
            <a:pathLst>
              <a:path h="571500" w="5410200">
                <a:moveTo>
                  <a:pt x="38103" y="0"/>
                </a:moveTo>
                <a:lnTo>
                  <a:pt x="5372097" y="0"/>
                </a:lnTo>
                <a:cubicBezTo>
                  <a:pt x="5393141" y="0"/>
                  <a:pt x="5410200" y="17059"/>
                  <a:pt x="5410200" y="38103"/>
                </a:cubicBezTo>
                <a:lnTo>
                  <a:pt x="5410200" y="533397"/>
                </a:lnTo>
                <a:cubicBezTo>
                  <a:pt x="5410200" y="554441"/>
                  <a:pt x="5393141" y="571500"/>
                  <a:pt x="53720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14286" y="569553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只写一次</a:t>
            </a:r>
            <a:endParaRPr lang="en-US" sz="1100"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172147" y="5543150"/>
            <a:ext cx="5410200" cy="571500"/>
          </a:xfrm>
          <a:custGeom>
            <a:avLst/>
            <a:gdLst/>
            <a:ahLst/>
            <a:cxnLst/>
            <a:rect r="r" b="b" t="t" l="l"/>
            <a:pathLst>
              <a:path h="571500" w="5410200">
                <a:moveTo>
                  <a:pt x="38103" y="0"/>
                </a:moveTo>
                <a:lnTo>
                  <a:pt x="5372097" y="0"/>
                </a:lnTo>
                <a:cubicBezTo>
                  <a:pt x="5393141" y="0"/>
                  <a:pt x="5410200" y="17059"/>
                  <a:pt x="5410200" y="38103"/>
                </a:cubicBezTo>
                <a:lnTo>
                  <a:pt x="5410200" y="533397"/>
                </a:lnTo>
                <a:cubicBezTo>
                  <a:pt x="5410200" y="554441"/>
                  <a:pt x="5393141" y="571500"/>
                  <a:pt x="5372097" y="571500"/>
                </a:cubicBezTo>
                <a:lnTo>
                  <a:pt x="38103" y="571500"/>
                </a:lnTo>
                <a:cubicBezTo>
                  <a:pt x="17059" y="571500"/>
                  <a:pt x="0" y="554441"/>
                  <a:pt x="0" y="5333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276904" y="5695531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减少访存</a:t>
            </a:r>
            <a:endParaRPr lang="en-US" sz="1100"/>
          </a:p>
        </p:txBody>
      </p:sp>
      <p:sp>
        <p:nvSpPr>
          <p:cNvPr name="AutoShape 18" id="18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19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0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95141" y="619265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显存容量限制与 Streaming 计算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80956" y="1657471"/>
            <a:ext cx="5562600" cy="2438400"/>
          </a:xfrm>
          <a:custGeom>
            <a:avLst/>
            <a:gdLst/>
            <a:ahLst/>
            <a:cxnLst/>
            <a:rect r="r" b="b" t="t" l="l"/>
            <a:pathLst>
              <a:path h="2438400" w="5562600">
                <a:moveTo>
                  <a:pt x="76200" y="0"/>
                </a:moveTo>
                <a:lnTo>
                  <a:pt x="5486400" y="0"/>
                </a:lnTo>
                <a:cubicBezTo>
                  <a:pt x="5528456" y="0"/>
                  <a:pt x="5562600" y="34144"/>
                  <a:pt x="5562600" y="76200"/>
                </a:cubicBezTo>
                <a:lnTo>
                  <a:pt x="5562600" y="2362200"/>
                </a:lnTo>
                <a:cubicBezTo>
                  <a:pt x="5562600" y="2404256"/>
                  <a:pt x="5528456" y="2438400"/>
                  <a:pt x="5486400" y="2438400"/>
                </a:cubicBezTo>
                <a:lnTo>
                  <a:pt x="76200" y="2438400"/>
                </a:lnTo>
                <a:cubicBezTo>
                  <a:pt x="34144" y="2438400"/>
                  <a:pt x="0" y="2404256"/>
                  <a:pt x="0" y="2362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609529" y="1895480"/>
            <a:ext cx="4905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问题</a:t>
            </a:r>
            <a:endParaRPr lang="en-US" sz="1100"/>
          </a:p>
        </p:txBody>
      </p:sp>
      <p:sp>
        <p:nvSpPr>
          <p:cNvPr name="Freeform 5" id="5"/>
          <p:cNvSpPr/>
          <p:nvPr/>
        </p:nvSpPr>
        <p:spPr>
          <a:xfrm rot="0" flipH="false" flipV="false">
            <a:off x="628484" y="2305134"/>
            <a:ext cx="5086255" cy="571500"/>
          </a:xfrm>
          <a:custGeom>
            <a:avLst/>
            <a:gdLst/>
            <a:ahLst/>
            <a:cxnLst/>
            <a:rect r="r" b="b" t="t" l="l"/>
            <a:pathLst>
              <a:path h="571500" w="5086255">
                <a:moveTo>
                  <a:pt x="37910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6" id="6"/>
          <p:cNvSpPr/>
          <p:nvPr/>
        </p:nvSpPr>
        <p:spPr>
          <a:xfrm rot="0" flipH="false" flipV="false">
            <a:off x="628484" y="2305134"/>
            <a:ext cx="37909" cy="571500"/>
          </a:xfrm>
          <a:custGeom>
            <a:avLst/>
            <a:gdLst/>
            <a:ahLst/>
            <a:cxnLst/>
            <a:rect r="r" b="b" t="t" l="l"/>
            <a:pathLst>
              <a:path h="571500" w="37909">
                <a:moveTo>
                  <a:pt x="37910" y="0"/>
                </a:moveTo>
                <a:lnTo>
                  <a:pt x="37910" y="0"/>
                </a:lnTo>
                <a:lnTo>
                  <a:pt x="37910" y="571500"/>
                </a:lnTo>
                <a:lnTo>
                  <a:pt x="37910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10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9822" y="2457515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大矩阵无法全部加载</a:t>
            </a:r>
            <a:endParaRPr lang="en-US" sz="1100"/>
          </a:p>
        </p:txBody>
      </p:sp>
      <p:sp>
        <p:nvSpPr>
          <p:cNvPr name="Freeform 8" id="8"/>
          <p:cNvSpPr/>
          <p:nvPr/>
        </p:nvSpPr>
        <p:spPr>
          <a:xfrm rot="0" flipH="false" flipV="false">
            <a:off x="609529" y="2990859"/>
            <a:ext cx="5105400" cy="876300"/>
          </a:xfrm>
          <a:custGeom>
            <a:avLst/>
            <a:gdLst/>
            <a:ahLst/>
            <a:cxnLst/>
            <a:rect r="r" b="b" t="t" l="l"/>
            <a:pathLst>
              <a:path h="876300" w="5105400">
                <a:moveTo>
                  <a:pt x="38103" y="0"/>
                </a:moveTo>
                <a:lnTo>
                  <a:pt x="5067297" y="0"/>
                </a:lnTo>
                <a:cubicBezTo>
                  <a:pt x="5088341" y="0"/>
                  <a:pt x="5105400" y="17059"/>
                  <a:pt x="5105400" y="38103"/>
                </a:cubicBezTo>
                <a:lnTo>
                  <a:pt x="5105400" y="838197"/>
                </a:lnTo>
                <a:cubicBezTo>
                  <a:pt x="5105400" y="859241"/>
                  <a:pt x="5088341" y="876300"/>
                  <a:pt x="5067297" y="876300"/>
                </a:cubicBezTo>
                <a:lnTo>
                  <a:pt x="38103" y="876300"/>
                </a:lnTo>
                <a:cubicBezTo>
                  <a:pt x="17059" y="876300"/>
                  <a:pt x="0" y="859241"/>
                  <a:pt x="0" y="8381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1911" y="3143241"/>
            <a:ext cx="48768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5565"/>
                </a:solidFill>
                <a:latin typeface="MiSans"/>
                <a:ea typeface="MiSans"/>
                <a:cs typeface="MiSans"/>
                <a:sym typeface="MiSans"/>
              </a:rPr>
              <a:t>示例：4096 × 4096 matrix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1911" y="3448003"/>
            <a:ext cx="4886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8B0000"/>
                </a:solidFill>
                <a:latin typeface="MiSans"/>
                <a:ea typeface="MiSans"/>
                <a:cs typeface="MiSans"/>
                <a:sym typeface="MiSans"/>
              </a:rPr>
              <a:t>需要 64MB+</a:t>
            </a:r>
            <a:endParaRPr lang="en-US" sz="1100"/>
          </a:p>
        </p:txBody>
      </p:sp>
      <p:sp>
        <p:nvSpPr>
          <p:cNvPr name="Freeform 11" id="11"/>
          <p:cNvSpPr/>
          <p:nvPr/>
        </p:nvSpPr>
        <p:spPr>
          <a:xfrm rot="0" flipH="false" flipV="false">
            <a:off x="380956" y="4286101"/>
            <a:ext cx="5562600" cy="1485900"/>
          </a:xfrm>
          <a:custGeom>
            <a:avLst/>
            <a:gdLst/>
            <a:ahLst/>
            <a:cxnLst/>
            <a:rect r="r" b="b" t="t" l="l"/>
            <a:pathLst>
              <a:path h="1485900" w="5562600">
                <a:moveTo>
                  <a:pt x="76197" y="0"/>
                </a:moveTo>
                <a:lnTo>
                  <a:pt x="5486403" y="0"/>
                </a:lnTo>
                <a:cubicBezTo>
                  <a:pt x="5528485" y="0"/>
                  <a:pt x="5562600" y="34115"/>
                  <a:pt x="5562600" y="76197"/>
                </a:cubicBezTo>
                <a:lnTo>
                  <a:pt x="5562600" y="1409703"/>
                </a:lnTo>
                <a:cubicBezTo>
                  <a:pt x="5562600" y="1451785"/>
                  <a:pt x="5528485" y="1485900"/>
                  <a:pt x="5486403" y="1485900"/>
                </a:cubicBezTo>
                <a:lnTo>
                  <a:pt x="76197" y="1485900"/>
                </a:lnTo>
                <a:cubicBezTo>
                  <a:pt x="34115" y="1485900"/>
                  <a:pt x="0" y="1451785"/>
                  <a:pt x="0" y="14097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09529" y="4514673"/>
            <a:ext cx="520065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解决方案</a:t>
            </a:r>
            <a:endParaRPr lang="en-US" sz="1100"/>
          </a:p>
        </p:txBody>
      </p:sp>
      <p:sp>
        <p:nvSpPr>
          <p:cNvPr name="Freeform 13" id="13"/>
          <p:cNvSpPr/>
          <p:nvPr/>
        </p:nvSpPr>
        <p:spPr>
          <a:xfrm rot="0" flipH="false" flipV="false">
            <a:off x="609529" y="4933764"/>
            <a:ext cx="5105400" cy="609600"/>
          </a:xfrm>
          <a:custGeom>
            <a:avLst/>
            <a:gdLst/>
            <a:ahLst/>
            <a:cxnLst/>
            <a:rect r="r" b="b" t="t" l="l"/>
            <a:pathLst>
              <a:path h="609600" w="5105400">
                <a:moveTo>
                  <a:pt x="38100" y="0"/>
                </a:moveTo>
                <a:lnTo>
                  <a:pt x="5067300" y="0"/>
                </a:lnTo>
                <a:cubicBezTo>
                  <a:pt x="5088327" y="0"/>
                  <a:pt x="5105400" y="17073"/>
                  <a:pt x="5105400" y="38100"/>
                </a:cubicBezTo>
                <a:lnTo>
                  <a:pt x="5105400" y="571500"/>
                </a:lnTo>
                <a:cubicBezTo>
                  <a:pt x="5105400" y="592527"/>
                  <a:pt x="5088327" y="609600"/>
                  <a:pt x="5067300" y="609600"/>
                </a:cubicBezTo>
                <a:lnTo>
                  <a:pt x="38100" y="609600"/>
                </a:lnTo>
                <a:cubicBezTo>
                  <a:pt x="17073" y="609600"/>
                  <a:pt x="0" y="592527"/>
                  <a:pt x="0" y="571500"/>
                </a:cubicBezTo>
                <a:lnTo>
                  <a:pt x="0" y="38100"/>
                </a:lnTo>
                <a:cubicBezTo>
                  <a:pt x="0" y="17073"/>
                  <a:pt x="17073" y="0"/>
                  <a:pt x="38100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04761" y="5086145"/>
            <a:ext cx="4914900" cy="3048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Chunk</a:t>
            </a:r>
            <a:r>
              <a:rPr lang="en-US" b="true" i="false" strike="noStrike" u="none" sz="1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rPr>
              <a:t> </a:t>
            </a:r>
            <a:r>
              <a:rPr lang="en-US" b="true" i="false" strike="noStrike" u="none" sz="1800">
                <a:solidFill>
                  <a:srgbClr val="A6A6A6"/>
                </a:solidFill>
                <a:latin typeface="MiSans"/>
                <a:ea typeface="MiSans"/>
                <a:cs typeface="MiSans"/>
                <a:sym typeface="MiSans"/>
              </a:rPr>
              <a:t>processing</a:t>
            </a:r>
            <a:endParaRPr lang="en-US" sz="1100"/>
          </a:p>
        </p:txBody>
      </p:sp>
      <p:sp>
        <p:nvSpPr>
          <p:cNvPr name="Freeform 15" id="15"/>
          <p:cNvSpPr/>
          <p:nvPr/>
        </p:nvSpPr>
        <p:spPr>
          <a:xfrm rot="0" flipH="false" flipV="false">
            <a:off x="6248338" y="1886043"/>
            <a:ext cx="5562600" cy="2819400"/>
          </a:xfrm>
          <a:custGeom>
            <a:avLst/>
            <a:gdLst/>
            <a:ahLst/>
            <a:cxnLst/>
            <a:rect r="r" b="b" t="t" l="l"/>
            <a:pathLst>
              <a:path h="2819400" w="5562600">
                <a:moveTo>
                  <a:pt x="76208" y="0"/>
                </a:moveTo>
                <a:lnTo>
                  <a:pt x="5486392" y="0"/>
                </a:lnTo>
                <a:cubicBezTo>
                  <a:pt x="5528480" y="0"/>
                  <a:pt x="5562600" y="34120"/>
                  <a:pt x="5562600" y="76208"/>
                </a:cubicBezTo>
                <a:lnTo>
                  <a:pt x="5562600" y="2743192"/>
                </a:lnTo>
                <a:cubicBezTo>
                  <a:pt x="5562600" y="2785280"/>
                  <a:pt x="5528480" y="2819400"/>
                  <a:pt x="5486392" y="2819400"/>
                </a:cubicBezTo>
                <a:lnTo>
                  <a:pt x="76208" y="2819400"/>
                </a:lnTo>
                <a:cubicBezTo>
                  <a:pt x="34120" y="2819400"/>
                  <a:pt x="0" y="2785280"/>
                  <a:pt x="0" y="27431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6" id="16"/>
          <p:cNvSpPr/>
          <p:nvPr/>
        </p:nvSpPr>
        <p:spPr>
          <a:xfrm rot="0" flipH="false" flipV="false">
            <a:off x="6500724" y="2166864"/>
            <a:ext cx="190500" cy="142875"/>
          </a:xfrm>
          <a:custGeom>
            <a:avLst/>
            <a:gdLst/>
            <a:ahLst/>
            <a:cxnLst/>
            <a:rect r="r" b="b" t="t" l="l"/>
            <a:pathLst>
              <a:path h="142875" w="190500">
                <a:moveTo>
                  <a:pt x="0" y="11906"/>
                </a:moveTo>
                <a:cubicBezTo>
                  <a:pt x="0" y="5320"/>
                  <a:pt x="5321" y="0"/>
                  <a:pt x="11906" y="0"/>
                </a:cubicBezTo>
                <a:lnTo>
                  <a:pt x="154781" y="0"/>
                </a:lnTo>
                <a:cubicBezTo>
                  <a:pt x="161367" y="0"/>
                  <a:pt x="166687" y="5320"/>
                  <a:pt x="166687" y="11906"/>
                </a:cubicBezTo>
                <a:cubicBezTo>
                  <a:pt x="166687" y="18491"/>
                  <a:pt x="161367" y="23812"/>
                  <a:pt x="154781" y="23812"/>
                </a:cubicBezTo>
                <a:lnTo>
                  <a:pt x="11906" y="23812"/>
                </a:lnTo>
                <a:cubicBezTo>
                  <a:pt x="5321" y="23812"/>
                  <a:pt x="0" y="18491"/>
                  <a:pt x="0" y="11906"/>
                </a:cubicBezTo>
                <a:close/>
                <a:moveTo>
                  <a:pt x="23812" y="71437"/>
                </a:moveTo>
                <a:cubicBezTo>
                  <a:pt x="23812" y="64851"/>
                  <a:pt x="29133" y="59531"/>
                  <a:pt x="35719" y="59531"/>
                </a:cubicBezTo>
                <a:lnTo>
                  <a:pt x="178594" y="59531"/>
                </a:lnTo>
                <a:cubicBezTo>
                  <a:pt x="185179" y="59531"/>
                  <a:pt x="190500" y="64851"/>
                  <a:pt x="190500" y="71437"/>
                </a:cubicBezTo>
                <a:cubicBezTo>
                  <a:pt x="190500" y="78023"/>
                  <a:pt x="185179" y="83343"/>
                  <a:pt x="178594" y="83343"/>
                </a:cubicBezTo>
                <a:lnTo>
                  <a:pt x="35719" y="83343"/>
                </a:lnTo>
                <a:cubicBezTo>
                  <a:pt x="29133" y="83343"/>
                  <a:pt x="23812" y="78023"/>
                  <a:pt x="23812" y="71437"/>
                </a:cubicBezTo>
                <a:close/>
                <a:moveTo>
                  <a:pt x="166687" y="130968"/>
                </a:moveTo>
                <a:cubicBezTo>
                  <a:pt x="166687" y="137554"/>
                  <a:pt x="161367" y="142874"/>
                  <a:pt x="154781" y="142874"/>
                </a:cubicBezTo>
                <a:lnTo>
                  <a:pt x="11906" y="142874"/>
                </a:lnTo>
                <a:cubicBezTo>
                  <a:pt x="5321" y="142874"/>
                  <a:pt x="0" y="137554"/>
                  <a:pt x="0" y="130968"/>
                </a:cubicBezTo>
                <a:cubicBezTo>
                  <a:pt x="0" y="124383"/>
                  <a:pt x="5321" y="119062"/>
                  <a:pt x="11906" y="119062"/>
                </a:cubicBezTo>
                <a:lnTo>
                  <a:pt x="154781" y="119062"/>
                </a:lnTo>
                <a:cubicBezTo>
                  <a:pt x="161367" y="119062"/>
                  <a:pt x="166687" y="124383"/>
                  <a:pt x="166687" y="130968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772186" y="2114624"/>
            <a:ext cx="490537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5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Streaming 计算</a:t>
            </a:r>
            <a:endParaRPr lang="en-US" sz="1100"/>
          </a:p>
        </p:txBody>
      </p:sp>
      <p:sp>
        <p:nvSpPr>
          <p:cNvPr name="Freeform 18" id="18"/>
          <p:cNvSpPr/>
          <p:nvPr/>
        </p:nvSpPr>
        <p:spPr>
          <a:xfrm rot="0" flipH="false" flipV="false">
            <a:off x="6495866" y="2533706"/>
            <a:ext cx="5086255" cy="571500"/>
          </a:xfrm>
          <a:custGeom>
            <a:avLst/>
            <a:gdLst/>
            <a:ahLst/>
            <a:cxnLst/>
            <a:rect r="r" b="b" t="t" l="l"/>
            <a:pathLst>
              <a:path h="571500" w="5086255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19" id="19"/>
          <p:cNvSpPr/>
          <p:nvPr/>
        </p:nvSpPr>
        <p:spPr>
          <a:xfrm rot="0" flipH="false" flipV="false">
            <a:off x="6495866" y="2533706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1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667204" y="2686087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逐块加载</a:t>
            </a:r>
            <a:endParaRPr lang="en-US" sz="1100"/>
          </a:p>
        </p:txBody>
      </p:sp>
      <p:sp>
        <p:nvSpPr>
          <p:cNvPr name="Freeform 21" id="21"/>
          <p:cNvSpPr/>
          <p:nvPr/>
        </p:nvSpPr>
        <p:spPr>
          <a:xfrm rot="0" flipH="false" flipV="false">
            <a:off x="6495866" y="3219431"/>
            <a:ext cx="5086255" cy="571500"/>
          </a:xfrm>
          <a:custGeom>
            <a:avLst/>
            <a:gdLst/>
            <a:ahLst/>
            <a:cxnLst/>
            <a:rect r="r" b="b" t="t" l="l"/>
            <a:pathLst>
              <a:path h="571500" w="5086255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2" id="22"/>
          <p:cNvSpPr/>
          <p:nvPr/>
        </p:nvSpPr>
        <p:spPr>
          <a:xfrm rot="0" flipH="false" flipV="false">
            <a:off x="6495866" y="3219431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667204" y="3371813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逐块计算</a:t>
            </a:r>
            <a:endParaRPr lang="en-US" sz="1100"/>
          </a:p>
        </p:txBody>
      </p:sp>
      <p:sp>
        <p:nvSpPr>
          <p:cNvPr name="Freeform 24" id="24"/>
          <p:cNvSpPr/>
          <p:nvPr/>
        </p:nvSpPr>
        <p:spPr>
          <a:xfrm rot="0" flipH="false" flipV="false">
            <a:off x="6495866" y="3905148"/>
            <a:ext cx="5086255" cy="571500"/>
          </a:xfrm>
          <a:custGeom>
            <a:avLst/>
            <a:gdLst/>
            <a:ahLst/>
            <a:cxnLst/>
            <a:rect r="r" b="b" t="t" l="l"/>
            <a:pathLst>
              <a:path h="571500" w="5086255">
                <a:moveTo>
                  <a:pt x="37909" y="0"/>
                </a:moveTo>
                <a:lnTo>
                  <a:pt x="5048153" y="0"/>
                </a:lnTo>
                <a:cubicBezTo>
                  <a:pt x="5069196" y="0"/>
                  <a:pt x="5086255" y="17059"/>
                  <a:pt x="5086255" y="38103"/>
                </a:cubicBezTo>
                <a:lnTo>
                  <a:pt x="5086255" y="533397"/>
                </a:lnTo>
                <a:cubicBezTo>
                  <a:pt x="5086255" y="554441"/>
                  <a:pt x="5069196" y="571500"/>
                  <a:pt x="5048153" y="571500"/>
                </a:cubicBez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25" id="25"/>
          <p:cNvSpPr/>
          <p:nvPr/>
        </p:nvSpPr>
        <p:spPr>
          <a:xfrm rot="0" flipH="false" flipV="false">
            <a:off x="6495866" y="3905148"/>
            <a:ext cx="37910" cy="571500"/>
          </a:xfrm>
          <a:custGeom>
            <a:avLst/>
            <a:gdLst/>
            <a:ahLst/>
            <a:cxnLst/>
            <a:rect r="r" b="b" t="t" l="l"/>
            <a:pathLst>
              <a:path h="571500" w="37910">
                <a:moveTo>
                  <a:pt x="37909" y="0"/>
                </a:moveTo>
                <a:lnTo>
                  <a:pt x="37909" y="0"/>
                </a:lnTo>
                <a:lnTo>
                  <a:pt x="37909" y="571500"/>
                </a:lnTo>
                <a:lnTo>
                  <a:pt x="37909" y="571500"/>
                </a:lnTo>
                <a:cubicBezTo>
                  <a:pt x="16974" y="571500"/>
                  <a:pt x="0" y="554526"/>
                  <a:pt x="0" y="533590"/>
                </a:cubicBezTo>
                <a:lnTo>
                  <a:pt x="0" y="37910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667204" y="4057529"/>
            <a:ext cx="48482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逐块写回</a:t>
            </a:r>
            <a:endParaRPr lang="en-US" sz="1100"/>
          </a:p>
        </p:txBody>
      </p:sp>
      <p:sp>
        <p:nvSpPr>
          <p:cNvPr name="Freeform 27" id="27"/>
          <p:cNvSpPr/>
          <p:nvPr/>
        </p:nvSpPr>
        <p:spPr>
          <a:xfrm rot="0" flipH="false" flipV="false">
            <a:off x="6248338" y="4895636"/>
            <a:ext cx="5562600" cy="647700"/>
          </a:xfrm>
          <a:custGeom>
            <a:avLst/>
            <a:gdLst/>
            <a:ahLst/>
            <a:cxnLst/>
            <a:rect r="r" b="b" t="t" l="l"/>
            <a:pathLst>
              <a:path h="647700" w="5562600">
                <a:moveTo>
                  <a:pt x="76203" y="0"/>
                </a:moveTo>
                <a:lnTo>
                  <a:pt x="5486397" y="0"/>
                </a:lnTo>
                <a:cubicBezTo>
                  <a:pt x="5528483" y="0"/>
                  <a:pt x="5562600" y="34117"/>
                  <a:pt x="5562600" y="76203"/>
                </a:cubicBezTo>
                <a:lnTo>
                  <a:pt x="5562600" y="571497"/>
                </a:lnTo>
                <a:cubicBezTo>
                  <a:pt x="5562600" y="613583"/>
                  <a:pt x="5528483" y="647700"/>
                  <a:pt x="5486397" y="647700"/>
                </a:cubicBezTo>
                <a:lnTo>
                  <a:pt x="76203" y="647700"/>
                </a:lnTo>
                <a:cubicBezTo>
                  <a:pt x="34117" y="647700"/>
                  <a:pt x="0" y="613583"/>
                  <a:pt x="0" y="571497"/>
                </a:cubicBezTo>
                <a:lnTo>
                  <a:pt x="0" y="76203"/>
                </a:lnTo>
                <a:cubicBezTo>
                  <a:pt x="0" y="34117"/>
                  <a:pt x="34117" y="0"/>
                  <a:pt x="76203" y="0"/>
                </a:cubicBezTo>
                <a:close/>
              </a:path>
            </a:pathLst>
          </a:custGeom>
          <a:solidFill>
            <a:srgbClr val="F9FAFB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95916" y="5086071"/>
            <a:ext cx="5267325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indent="0">
              <a:lnSpc>
                <a:spcPct val="133333"/>
              </a:lnSpc>
              <a:defRPr/>
            </a:pPr>
            <a:r>
              <a:rPr lang="en-US" b="true" i="false" strike="noStrike" u="none" sz="14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称为：Streaming computation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380956" y="6324609"/>
            <a:ext cx="11487150" cy="152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0" id="30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20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1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69391" y="580969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Triton MatMul Kernel 示例</a:t>
            </a:r>
            <a:endParaRPr lang="en-US" sz="1100"/>
          </a:p>
        </p:txBody>
      </p:sp>
      <p:sp>
        <p:nvSpPr>
          <p:cNvPr name="Freeform 3" id="3"/>
          <p:cNvSpPr/>
          <p:nvPr/>
        </p:nvSpPr>
        <p:spPr>
          <a:xfrm rot="0" flipH="false" flipV="false">
            <a:off x="399911" y="1352485"/>
            <a:ext cx="11267980" cy="4953000"/>
          </a:xfrm>
          <a:custGeom>
            <a:avLst/>
            <a:gdLst/>
            <a:ahLst/>
            <a:cxnLst/>
            <a:rect r="r" b="b" t="t" l="l"/>
            <a:pathLst>
              <a:path h="4953000" w="11267980">
                <a:moveTo>
                  <a:pt x="37909" y="0"/>
                </a:moveTo>
                <a:lnTo>
                  <a:pt x="11229892" y="0"/>
                </a:lnTo>
                <a:cubicBezTo>
                  <a:pt x="11250927" y="0"/>
                  <a:pt x="11267980" y="17054"/>
                  <a:pt x="11267980" y="38089"/>
                </a:cubicBezTo>
                <a:lnTo>
                  <a:pt x="11267980" y="4914911"/>
                </a:lnTo>
                <a:cubicBezTo>
                  <a:pt x="11267980" y="4935946"/>
                  <a:pt x="11250927" y="4953000"/>
                  <a:pt x="11229892" y="4953000"/>
                </a:cubicBez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F5F5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Freeform 4" id="4"/>
          <p:cNvSpPr/>
          <p:nvPr/>
        </p:nvSpPr>
        <p:spPr>
          <a:xfrm rot="0" flipH="false" flipV="false">
            <a:off x="399911" y="1352485"/>
            <a:ext cx="37909" cy="4953000"/>
          </a:xfrm>
          <a:custGeom>
            <a:avLst/>
            <a:gdLst/>
            <a:ahLst/>
            <a:cxnLst/>
            <a:rect r="r" b="b" t="t" l="l"/>
            <a:pathLst>
              <a:path h="4953000" w="37909">
                <a:moveTo>
                  <a:pt x="37909" y="0"/>
                </a:moveTo>
                <a:lnTo>
                  <a:pt x="37909" y="0"/>
                </a:lnTo>
                <a:lnTo>
                  <a:pt x="37909" y="4953000"/>
                </a:lnTo>
                <a:lnTo>
                  <a:pt x="37909" y="4953000"/>
                </a:lnTo>
                <a:cubicBezTo>
                  <a:pt x="16974" y="4953000"/>
                  <a:pt x="0" y="4936026"/>
                  <a:pt x="0" y="4915090"/>
                </a:cubicBezTo>
                <a:lnTo>
                  <a:pt x="0" y="37909"/>
                </a:lnTo>
                <a:cubicBezTo>
                  <a:pt x="0" y="16988"/>
                  <a:pt x="16988" y="0"/>
                  <a:pt x="37909" y="0"/>
                </a:cubicBezTo>
                <a:close/>
              </a:path>
            </a:pathLst>
          </a:custGeom>
          <a:solidFill>
            <a:srgbClr val="8B0000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380956" y="1352485"/>
            <a:ext cx="11325225" cy="4953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152400" rIns="152400" tIns="152400" bIns="152400">
            <a:noAutofit/>
          </a:bodyPr>
          <a:lstStyle/>
          <a:p>
            <a:pPr algn="l" indent="0">
              <a:lnSpc>
                <a:spcPct val="141666"/>
              </a:lnSpc>
              <a:defRPr/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@triton.jit</a:t>
            </a:r>
            <a:endParaRPr lang="en-US" sz="1100"/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def matmul_kernel(A, B, C,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M, N, K,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BLOCK_M: tl.constexpr,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BLOCK_N: tl.constexpr,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BLOCK_K: tl.constexpr):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pid_m = tl.program_id(0)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pid_n = tl.program_id(1)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acc = tl.zeros((BLOCK_M, BLOCK_N))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for k in range(0, K, BLOCK_K):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 = tl.load(...)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b = tl.load(...)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acc += tl.dot(a, b)</a:t>
            </a:r>
          </a:p>
          <a:p>
            <a:pPr algn="l" indent="0">
              <a:lnSpc>
                <a:spcPct val="141666"/>
              </a:lnSpc>
            </a:pPr>
            <a:r>
              <a:rPr lang="en-US" b="false" i="false" strike="noStrike" u="none" sz="12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tl.store(C, acc)</a:t>
            </a:r>
          </a:p>
        </p:txBody>
      </p:sp>
      <p:sp>
        <p:nvSpPr>
          <p:cNvPr name="AutoShape 6" id="6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21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2.xml><?xml version="1.0" encoding="utf-8"?>
<p:sld xmlns:p="http://schemas.openxmlformats.org/presentationml/2006/main" xmlns:a="http://schemas.openxmlformats.org/drawingml/2006/main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675528" y="628557"/>
            <a:ext cx="1160145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indent="0">
              <a:lnSpc>
                <a:spcPct val="91666"/>
              </a:lnSpc>
              <a:defRPr/>
            </a:pPr>
            <a:r>
              <a:rPr lang="en-US" b="true" i="false" strike="noStrike" u="none" sz="2700">
                <a:solidFill>
                  <a:srgbClr val="1A1A1A"/>
                </a:solidFill>
                <a:latin typeface="MiSans"/>
                <a:ea typeface="MiSans"/>
                <a:cs typeface="MiSans"/>
                <a:sym typeface="MiSans"/>
              </a:rPr>
              <a:t>本部分总结</a:t>
            </a:r>
            <a:endParaRPr lang="en-US" sz="1100"/>
          </a:p>
        </p:txBody>
      </p:sp>
      <p:grpSp>
        <p:nvGrpSpPr>
          <p:cNvPr name="Group 3" id="3"/>
          <p:cNvGrpSpPr/>
          <p:nvPr/>
        </p:nvGrpSpPr>
        <p:grpSpPr>
          <a:xfrm>
            <a:off x="437821" y="1466663"/>
            <a:ext cx="11410855" cy="3695105"/>
            <a:chOff x="437821" y="1466663"/>
            <a:chExt cx="11410855" cy="3695105"/>
          </a:xfrm>
        </p:grpSpPr>
        <p:sp>
          <p:nvSpPr>
            <p:cNvPr name="Freeform 4" id="4"/>
            <p:cNvSpPr/>
            <p:nvPr/>
          </p:nvSpPr>
          <p:spPr>
            <a:xfrm rot="0" flipH="false" flipV="false">
              <a:off x="437821" y="1466663"/>
              <a:ext cx="5600605" cy="1104900"/>
            </a:xfrm>
            <a:custGeom>
              <a:avLst/>
              <a:gdLst/>
              <a:ahLst/>
              <a:cxnLst/>
              <a:rect r="r" b="b" t="t" l="l"/>
              <a:pathLst>
                <a:path h="1104900" w="5600605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5" id="5"/>
            <p:cNvSpPr/>
            <p:nvPr/>
          </p:nvSpPr>
          <p:spPr>
            <a:xfrm rot="0" flipH="false" flipV="false">
              <a:off x="437821" y="1466663"/>
              <a:ext cx="37909" cy="1104900"/>
            </a:xfrm>
            <a:custGeom>
              <a:avLst/>
              <a:gdLst/>
              <a:ahLst/>
              <a:cxnLst/>
              <a:rect r="r" b="b" t="t" l="l"/>
              <a:pathLst>
                <a:path h="11049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6" id="6"/>
            <p:cNvSpPr/>
            <p:nvPr/>
          </p:nvSpPr>
          <p:spPr>
            <a:xfrm rot="0" flipH="false" flipV="false">
              <a:off x="647217" y="1657107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7" id="7"/>
            <p:cNvSpPr/>
            <p:nvPr/>
          </p:nvSpPr>
          <p:spPr>
            <a:xfrm rot="0" flipH="false" flipV="false">
              <a:off x="604354" y="1657107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1</a:t>
              </a:r>
              <a:endParaRPr lang="en-US" sz="1100"/>
            </a:p>
          </p:txBody>
        </p:sp>
        <p:sp>
          <p:nvSpPr>
            <p:cNvPr name="AutoShape 8" id="8"/>
            <p:cNvSpPr/>
            <p:nvPr/>
          </p:nvSpPr>
          <p:spPr>
            <a:xfrm rot="0" flipH="false" flipV="false">
              <a:off x="1142422" y="1714192"/>
              <a:ext cx="19526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为什么 Naive MatMul 慢</a:t>
              </a:r>
              <a:endParaRPr lang="en-US" sz="1100"/>
            </a:p>
          </p:txBody>
        </p:sp>
        <p:sp>
          <p:nvSpPr>
            <p:cNvPr name="AutoShape 9" id="9"/>
            <p:cNvSpPr/>
            <p:nvPr/>
          </p:nvSpPr>
          <p:spPr>
            <a:xfrm rot="0" flipH="false" flipV="false">
              <a:off x="1142496" y="2152314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重复读取 Global Memory，内存带宽瓶颈</a:t>
              </a:r>
              <a:endParaRPr lang="en-US" sz="1100"/>
            </a:p>
          </p:txBody>
        </p:sp>
        <p:sp>
          <p:nvSpPr>
            <p:cNvPr name="Freeform 10" id="10"/>
            <p:cNvSpPr/>
            <p:nvPr/>
          </p:nvSpPr>
          <p:spPr>
            <a:xfrm rot="0" flipH="false" flipV="false">
              <a:off x="6248041" y="1466663"/>
              <a:ext cx="5600605" cy="1104900"/>
            </a:xfrm>
            <a:custGeom>
              <a:avLst/>
              <a:gdLst/>
              <a:ahLst/>
              <a:cxnLst/>
              <a:rect r="r" b="b" t="t" l="l"/>
              <a:pathLst>
                <a:path h="1104900" w="5600605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1" id="11"/>
            <p:cNvSpPr/>
            <p:nvPr/>
          </p:nvSpPr>
          <p:spPr>
            <a:xfrm rot="0" flipH="false" flipV="false">
              <a:off x="6248041" y="1466663"/>
              <a:ext cx="3791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791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09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2" id="12"/>
            <p:cNvSpPr/>
            <p:nvPr/>
          </p:nvSpPr>
          <p:spPr>
            <a:xfrm rot="0" flipH="false" flipV="false">
              <a:off x="6457437" y="1657107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3" id="13"/>
            <p:cNvSpPr/>
            <p:nvPr/>
          </p:nvSpPr>
          <p:spPr>
            <a:xfrm rot="0" flipH="false" flipV="false">
              <a:off x="6414575" y="1657107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2</a:t>
              </a:r>
              <a:endParaRPr lang="en-US" sz="1100"/>
            </a:p>
          </p:txBody>
        </p:sp>
        <p:sp>
          <p:nvSpPr>
            <p:cNvPr name="AutoShape 14" id="14"/>
            <p:cNvSpPr/>
            <p:nvPr/>
          </p:nvSpPr>
          <p:spPr>
            <a:xfrm rot="0" flipH="false" flipV="false">
              <a:off x="6952642" y="1714192"/>
              <a:ext cx="90487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Tiling 原理</a:t>
              </a:r>
              <a:endParaRPr lang="en-US" sz="1100"/>
            </a:p>
          </p:txBody>
        </p:sp>
        <p:sp>
          <p:nvSpPr>
            <p:cNvPr name="AutoShape 15" id="15"/>
            <p:cNvSpPr/>
            <p:nvPr/>
          </p:nvSpPr>
          <p:spPr>
            <a:xfrm rot="0" flipH="false" flipV="false">
              <a:off x="6952716" y="2152314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数据复用，分块计算，减少访存</a:t>
              </a:r>
              <a:endParaRPr lang="en-US" sz="1100"/>
            </a:p>
          </p:txBody>
        </p:sp>
        <p:sp>
          <p:nvSpPr>
            <p:cNvPr name="Freeform 16" id="16"/>
            <p:cNvSpPr/>
            <p:nvPr/>
          </p:nvSpPr>
          <p:spPr>
            <a:xfrm rot="0" flipH="false" flipV="false">
              <a:off x="437821" y="2761766"/>
              <a:ext cx="5600605" cy="1104900"/>
            </a:xfrm>
            <a:custGeom>
              <a:avLst/>
              <a:gdLst/>
              <a:ahLst/>
              <a:cxnLst/>
              <a:rect r="r" b="b" t="t" l="l"/>
              <a:pathLst>
                <a:path h="1104900" w="5600605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7" id="17"/>
            <p:cNvSpPr/>
            <p:nvPr/>
          </p:nvSpPr>
          <p:spPr>
            <a:xfrm rot="0" flipH="false" flipV="false">
              <a:off x="437821" y="2761766"/>
              <a:ext cx="37909" cy="1104900"/>
            </a:xfrm>
            <a:custGeom>
              <a:avLst/>
              <a:gdLst/>
              <a:ahLst/>
              <a:cxnLst/>
              <a:rect r="r" b="b" t="t" l="l"/>
              <a:pathLst>
                <a:path h="11049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18" id="18"/>
            <p:cNvSpPr/>
            <p:nvPr/>
          </p:nvSpPr>
          <p:spPr>
            <a:xfrm rot="0" flipH="false" flipV="false">
              <a:off x="647217" y="295221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19" id="19"/>
            <p:cNvSpPr/>
            <p:nvPr/>
          </p:nvSpPr>
          <p:spPr>
            <a:xfrm rot="0" flipH="false" flipV="false">
              <a:off x="604354" y="2952210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3</a:t>
              </a:r>
              <a:endParaRPr lang="en-US" sz="1100"/>
            </a:p>
          </p:txBody>
        </p:sp>
        <p:sp>
          <p:nvSpPr>
            <p:cNvPr name="AutoShape 20" id="20"/>
            <p:cNvSpPr/>
            <p:nvPr/>
          </p:nvSpPr>
          <p:spPr>
            <a:xfrm rot="0" flipH="false" flipV="false">
              <a:off x="1142422" y="3009295"/>
              <a:ext cx="16097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Arithmetic Intensity</a:t>
              </a:r>
              <a:endParaRPr lang="en-US" sz="1100"/>
            </a:p>
          </p:txBody>
        </p:sp>
        <p:sp>
          <p:nvSpPr>
            <p:cNvPr name="AutoShape 21" id="21"/>
            <p:cNvSpPr/>
            <p:nvPr/>
          </p:nvSpPr>
          <p:spPr>
            <a:xfrm rot="0" flipH="false" flipV="false">
              <a:off x="1142496" y="3447417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计算访存比，性能关键指标</a:t>
              </a:r>
              <a:endParaRPr lang="en-US" sz="1100"/>
            </a:p>
          </p:txBody>
        </p:sp>
        <p:sp>
          <p:nvSpPr>
            <p:cNvPr name="Freeform 22" id="22"/>
            <p:cNvSpPr/>
            <p:nvPr/>
          </p:nvSpPr>
          <p:spPr>
            <a:xfrm rot="0" flipH="false" flipV="false">
              <a:off x="6248041" y="2761766"/>
              <a:ext cx="5600605" cy="1104900"/>
            </a:xfrm>
            <a:custGeom>
              <a:avLst/>
              <a:gdLst/>
              <a:ahLst/>
              <a:cxnLst/>
              <a:rect r="r" b="b" t="t" l="l"/>
              <a:pathLst>
                <a:path h="1104900" w="5600605">
                  <a:moveTo>
                    <a:pt x="37909" y="0"/>
                  </a:moveTo>
                  <a:lnTo>
                    <a:pt x="5524400" y="0"/>
                  </a:lnTo>
                  <a:cubicBezTo>
                    <a:pt x="5566487" y="0"/>
                    <a:pt x="5600605" y="34119"/>
                    <a:pt x="5600605" y="76205"/>
                  </a:cubicBezTo>
                  <a:lnTo>
                    <a:pt x="5600605" y="1028695"/>
                  </a:lnTo>
                  <a:cubicBezTo>
                    <a:pt x="5600605" y="1070781"/>
                    <a:pt x="5566487" y="1104900"/>
                    <a:pt x="5524400" y="1104900"/>
                  </a:cubicBez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3" id="23"/>
            <p:cNvSpPr/>
            <p:nvPr/>
          </p:nvSpPr>
          <p:spPr>
            <a:xfrm rot="0" flipH="false" flipV="false">
              <a:off x="6248041" y="2761766"/>
              <a:ext cx="3791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7910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4" id="24"/>
            <p:cNvSpPr/>
            <p:nvPr/>
          </p:nvSpPr>
          <p:spPr>
            <a:xfrm rot="0" flipH="false" flipV="false">
              <a:off x="6457437" y="295221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25" id="25"/>
            <p:cNvSpPr/>
            <p:nvPr/>
          </p:nvSpPr>
          <p:spPr>
            <a:xfrm rot="0" flipH="false" flipV="false">
              <a:off x="6414575" y="2952210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4</a:t>
              </a:r>
              <a:endParaRPr lang="en-US" sz="1100"/>
            </a:p>
          </p:txBody>
        </p:sp>
        <p:sp>
          <p:nvSpPr>
            <p:cNvPr name="AutoShape 26" id="26"/>
            <p:cNvSpPr/>
            <p:nvPr/>
          </p:nvSpPr>
          <p:spPr>
            <a:xfrm rot="0" flipH="false" flipV="false">
              <a:off x="6952642" y="3009295"/>
              <a:ext cx="1266825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Roofline Model</a:t>
              </a:r>
              <a:endParaRPr lang="en-US" sz="1100"/>
            </a:p>
          </p:txBody>
        </p:sp>
        <p:sp>
          <p:nvSpPr>
            <p:cNvPr name="AutoShape 27" id="27"/>
            <p:cNvSpPr/>
            <p:nvPr/>
          </p:nvSpPr>
          <p:spPr>
            <a:xfrm rot="0" flipH="false" flipV="false">
              <a:off x="6952716" y="3447417"/>
              <a:ext cx="478155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性能上限分析模型</a:t>
              </a:r>
              <a:endParaRPr lang="en-US" sz="1100"/>
            </a:p>
          </p:txBody>
        </p:sp>
        <p:sp>
          <p:nvSpPr>
            <p:cNvPr name="Freeform 28" id="28"/>
            <p:cNvSpPr/>
            <p:nvPr/>
          </p:nvSpPr>
          <p:spPr>
            <a:xfrm rot="0" flipH="false" flipV="false">
              <a:off x="437821" y="4056868"/>
              <a:ext cx="11410855" cy="1104900"/>
            </a:xfrm>
            <a:custGeom>
              <a:avLst/>
              <a:gdLst/>
              <a:ahLst/>
              <a:cxnLst/>
              <a:rect r="r" b="b" t="t" l="l"/>
              <a:pathLst>
                <a:path h="1104900" w="11410855">
                  <a:moveTo>
                    <a:pt x="37910" y="0"/>
                  </a:moveTo>
                  <a:lnTo>
                    <a:pt x="11334650" y="0"/>
                  </a:lnTo>
                  <a:cubicBezTo>
                    <a:pt x="11376737" y="0"/>
                    <a:pt x="11410855" y="34119"/>
                    <a:pt x="11410855" y="76205"/>
                  </a:cubicBezTo>
                  <a:lnTo>
                    <a:pt x="11410855" y="1028695"/>
                  </a:lnTo>
                  <a:cubicBezTo>
                    <a:pt x="11410855" y="1070781"/>
                    <a:pt x="11376737" y="1104900"/>
                    <a:pt x="11334650" y="1104900"/>
                  </a:cubicBezTo>
                  <a:lnTo>
                    <a:pt x="37910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10" y="0"/>
                  </a:cubicBezTo>
                  <a:close/>
                </a:path>
              </a:pathLst>
            </a:custGeom>
            <a:solidFill>
              <a:srgbClr val="F9FAFB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29" id="29"/>
            <p:cNvSpPr/>
            <p:nvPr/>
          </p:nvSpPr>
          <p:spPr>
            <a:xfrm rot="0" flipH="false" flipV="false">
              <a:off x="437821" y="4056868"/>
              <a:ext cx="37909" cy="1104900"/>
            </a:xfrm>
            <a:custGeom>
              <a:avLst/>
              <a:gdLst/>
              <a:ahLst/>
              <a:cxnLst/>
              <a:rect r="r" b="b" t="t" l="l"/>
              <a:pathLst>
                <a:path h="1104900" w="37909">
                  <a:moveTo>
                    <a:pt x="37909" y="0"/>
                  </a:moveTo>
                  <a:lnTo>
                    <a:pt x="37909" y="0"/>
                  </a:lnTo>
                  <a:lnTo>
                    <a:pt x="37909" y="1104900"/>
                  </a:lnTo>
                  <a:lnTo>
                    <a:pt x="37909" y="1104900"/>
                  </a:lnTo>
                  <a:cubicBezTo>
                    <a:pt x="16974" y="1104900"/>
                    <a:pt x="0" y="1087926"/>
                    <a:pt x="0" y="1066990"/>
                  </a:cubicBezTo>
                  <a:lnTo>
                    <a:pt x="0" y="37910"/>
                  </a:lnTo>
                  <a:cubicBezTo>
                    <a:pt x="0" y="16988"/>
                    <a:pt x="16988" y="0"/>
                    <a:pt x="37909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Freeform 30" id="30"/>
            <p:cNvSpPr/>
            <p:nvPr/>
          </p:nvSpPr>
          <p:spPr>
            <a:xfrm rot="0" flipH="false" flipV="false">
              <a:off x="647217" y="4247312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0"/>
                  </a:moveTo>
                  <a:lnTo>
                    <a:pt x="190500" y="0"/>
                  </a:lnTo>
                  <a:cubicBezTo>
                    <a:pt x="295639" y="0"/>
                    <a:pt x="381000" y="85361"/>
                    <a:pt x="381000" y="190500"/>
                  </a:cubicBezTo>
                  <a:lnTo>
                    <a:pt x="381000" y="190500"/>
                  </a:lnTo>
                  <a:cubicBezTo>
                    <a:pt x="381000" y="295639"/>
                    <a:pt x="295639" y="381000"/>
                    <a:pt x="190500" y="381000"/>
                  </a:cubicBezTo>
                  <a:lnTo>
                    <a:pt x="190500" y="381000"/>
                  </a:lnTo>
                  <a:cubicBezTo>
                    <a:pt x="85361" y="381000"/>
                    <a:pt x="0" y="295639"/>
                    <a:pt x="0" y="190500"/>
                  </a:cubicBezTo>
                  <a:lnTo>
                    <a:pt x="0" y="190500"/>
                  </a:lnTo>
                  <a:cubicBezTo>
                    <a:pt x="0" y="85361"/>
                    <a:pt x="85361" y="0"/>
                    <a:pt x="190500" y="0"/>
                  </a:cubicBez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  <a:ln w="12700">
              <a:noFill/>
              <a:prstDash val="solid"/>
            </a:ln>
          </p:spPr>
          <p:txBody>
            <a:bodyPr anchor="t" rtlCol="false" wrap="square" lIns="91440" rIns="91440" tIns="45720" bIns="45720">
              <a:noAutofit/>
            </a:bodyPr>
            <a:lstStyle/>
            <a:p>
              <a:pPr algn="ctr">
                <a:defRPr/>
              </a:pPr>
              <a:endParaRPr/>
            </a:p>
          </p:txBody>
        </p:sp>
        <p:sp>
          <p:nvSpPr>
            <p:cNvPr name="AutoShape 31" id="31"/>
            <p:cNvSpPr/>
            <p:nvPr/>
          </p:nvSpPr>
          <p:spPr>
            <a:xfrm rot="0" flipH="false" flipV="false">
              <a:off x="604354" y="4247312"/>
              <a:ext cx="466725" cy="3810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ctr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rPr>
                <a:t>5</a:t>
              </a:r>
              <a:endParaRPr lang="en-US" sz="1100"/>
            </a:p>
          </p:txBody>
        </p:sp>
        <p:sp>
          <p:nvSpPr>
            <p:cNvPr name="AutoShape 32" id="32"/>
            <p:cNvSpPr/>
            <p:nvPr/>
          </p:nvSpPr>
          <p:spPr>
            <a:xfrm rot="0" flipH="false" flipV="false">
              <a:off x="1142422" y="4304397"/>
              <a:ext cx="2019300" cy="2667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true" i="false" strike="noStrike" u="none" sz="1400">
                  <a:solidFill>
                    <a:srgbClr val="1A1A1A"/>
                  </a:solidFill>
                  <a:latin typeface="MiSans"/>
                  <a:ea typeface="MiSans"/>
                  <a:cs typeface="MiSans"/>
                  <a:sym typeface="MiSans"/>
                </a:rPr>
                <a:t>Triton Tiled MatMul 实现</a:t>
              </a:r>
              <a:endParaRPr lang="en-US" sz="1100"/>
            </a:p>
          </p:txBody>
        </p:sp>
        <p:sp>
          <p:nvSpPr>
            <p:cNvPr name="AutoShape 33" id="33"/>
            <p:cNvSpPr/>
            <p:nvPr/>
          </p:nvSpPr>
          <p:spPr>
            <a:xfrm rot="0" flipH="false" flipV="false">
              <a:off x="1142496" y="4742510"/>
              <a:ext cx="10591800" cy="228600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anchor="ctr" rtlCol="false" wrap="square" lIns="0" rIns="0" tIns="0" bIns="0">
              <a:noAutofit/>
            </a:bodyPr>
            <a:lstStyle/>
            <a:p>
              <a:pPr algn="l" indent="0">
                <a:lnSpc>
                  <a:spcPct val="133333"/>
                </a:lnSpc>
                <a:defRPr/>
              </a:pPr>
              <a:r>
                <a:rPr lang="en-US" b="false" i="false" strike="noStrike" u="none" sz="1200">
                  <a:solidFill>
                    <a:srgbClr val="4A5565"/>
                  </a:solidFill>
                  <a:latin typeface="MiSans"/>
                  <a:ea typeface="MiSans"/>
                  <a:cs typeface="MiSans"/>
                  <a:sym typeface="MiSans"/>
                </a:rPr>
                <a:t>Block-based 编程，program_id，accumulator，Streaming</a:t>
              </a:r>
              <a:endParaRPr lang="en-US" sz="1100"/>
            </a:p>
          </p:txBody>
        </p:sp>
      </p:grpSp>
      <p:sp>
        <p:nvSpPr>
          <p:cNvPr name="AutoShape 34" id="34"/>
          <p:cNvSpPr/>
          <p:nvPr>
            <p:ph idx="4294967295" type="body" sz="quarter" hasCustomPrompt="true"/>
          </p:nvPr>
        </p:nvSpPr>
        <p:spPr>
          <a:xfrm rot="0" flipH="false" flipV="false">
            <a:off x="0" y="593725"/>
            <a:ext cx="419100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wrap="square" lIns="91440" rIns="91440" tIns="45720" bIns="45720">
            <a:noAutofit/>
          </a:bodyPr>
          <a:lstStyle>
            <a:lvl1pPr algn="r">
              <a:lnSpc>
                <a:spcPct val="100000"/>
              </a:lnSpc>
              <a:defRPr sz="1600" b="false" i="false" u="none" strike="noStrike" spc="0">
                <a:solidFill>
                  <a:srgbClr val="FFFFFF">
                    <a:alpha val="100000"/>
                  </a:srgbClr>
                </a:solidFill>
                <a:latin typeface="Garamond"/>
              </a:defRPr>
            </a:lvl1pPr>
          </a:lstStyle>
          <a:p>
            <a:pPr algn="r" indent="0">
              <a:lnSpc>
                <a:spcPct val="100000"/>
              </a:lnSpc>
            </a:pPr>
            <a:r>
              <a:rPr lang="en-US" b="false" i="false" strike="noStrike" u="none" sz="1600">
                <a:solidFill>
                  <a:srgbClr val="FFFFFF"/>
                </a:solidFill>
                <a:latin typeface="Garamond"/>
                <a:ea typeface="Garamond"/>
                <a:cs typeface="Garamond"/>
                <a:sym typeface="Garamond"/>
              </a:rPr>
              <a:t>22</a:t>
            </a:r>
          </a:p>
        </p:txBody>
      </p:sp>
    </p:spTree>
  </p:cSld>
  <p:clrMapOvr>
    <a:masterClrMapping/>
  </p:clrMapOvr>
  <p:transition main:dur="1000">
    <p:fade thruBlk="false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>
            <p:ph idx="6" type="body" sz="quarter" hasCustomPrompt="true"/>
          </p:nvPr>
        </p:nvSpPr>
        <p:spPr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3600" b="false" i="false" u="none" strike="noStrike" spc="0">
                <a:solidFill>
                  <a:srgbClr val="262626">
                    <a:alpha val="100000"/>
                  </a:srgbClr>
                </a:solidFill>
                <a:latin typeface="微软雅黑"/>
              </a:defRPr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FlagOS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，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统一</a:t>
            </a:r>
            <a:r>
              <a:rPr lang="en-US" b="false" i="false" strike="noStrike" u="none" sz="3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r>
              <a:rPr lang="en-US" b="false" i="false" strike="noStrike" u="none" sz="3600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系统软件栈</a:t>
            </a:r>
          </a:p>
        </p:txBody>
      </p:sp>
      <p:sp>
        <p:nvSpPr>
          <p:cNvPr name="AutoShape 3" id="3"/>
          <p:cNvSpPr/>
          <p:nvPr>
            <p:ph idx="7" type="body" sz="quarter"/>
          </p:nvPr>
        </p:nvSpPr>
        <p:spPr>
          <a:xfrm rot="0" flipH="false" flipV="false">
            <a:off x="724535" y="6356350"/>
            <a:ext cx="11076940" cy="365125"/>
          </a:xfrm>
          <a:prstGeom prst="rect">
            <a:avLst/>
          </a:prstGeom>
        </p:spPr>
        <p:txBody>
          <a:bodyPr anchor="ctr" vert="horz" wrap="square" lIns="91440" rIns="91440" tIns="45720" bIns="45720">
            <a:noAutofit/>
          </a:bodyPr>
          <a:lstStyle>
            <a:lvl1pPr algn="l">
              <a:lnSpc>
                <a:spcPct val="100000"/>
              </a:lnSpc>
              <a:defRPr sz="1400" b="false" i="false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l"/>
            <a:endParaRPr/>
          </a:p>
        </p:txBody>
      </p:sp>
      <p:pic>
        <p:nvPicPr>
          <p:cNvPr name="Picture 4" id="4"/>
          <p:cNvPicPr>
            <a:picLocks noChangeAspect="true"/>
          </p:cNvPicPr>
          <p:nvPr>
            <p:ph idx="9" type="body" sz="quarter"/>
          </p:nvPr>
        </p:nvPicPr>
        <p:blipFill>
          <a:blip r:embed="rId2"/>
          <a:srcRect l="3" r="3" t="0" b="0"/>
          <a:stretch>
            <a:fillRect/>
          </a:stretch>
        </p:blipFill>
        <p:spPr>
          <a:xfrm rot="0" flipH="false" flipV="false">
            <a:off x="741493" y="1256030"/>
            <a:ext cx="9408534" cy="4852988"/>
          </a:xfrm>
          <a:prstGeom prst="rect">
            <a:avLst/>
          </a:prstGeom>
        </p:spPr>
      </p:pic>
    </p:spTree>
  </p:cSld>
  <p:clrMapOvr>
    <a:masterClrMapping/>
  </p:clrMapOvr>
  <p:transition main:dur="1000">
    <p:fade thruBlk="false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 xmlns:main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dir="2700000" dist="63500" blurRad="190500" algn="tl" rotWithShape="false">
              <a:srgbClr val="4472C4">
                <a:alpha val="20000"/>
              </a:srgbClr>
            </a:outerShdw>
          </a:effectLst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98364" y="1689569"/>
            <a:ext cx="356915" cy="356915"/>
          </a:xfrm>
          <a:prstGeom prst="ellipse">
            <a:avLst/>
          </a:prstGeom>
          <a:blipFill rotWithShape="true">
            <a:blip r:embed="rId2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803244" y="1689569"/>
            <a:ext cx="356915" cy="356915"/>
          </a:xfrm>
          <a:prstGeom prst="ellipse">
            <a:avLst/>
          </a:prstGeom>
          <a:blipFill rotWithShape="true">
            <a:blip r:embed="rId3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308124" y="1689569"/>
            <a:ext cx="356915" cy="356915"/>
          </a:xfrm>
          <a:prstGeom prst="ellipse">
            <a:avLst/>
          </a:prstGeom>
          <a:blipFill rotWithShape="true">
            <a:blip r:embed="rId4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98364" y="3577269"/>
            <a:ext cx="356915" cy="356915"/>
          </a:xfrm>
          <a:prstGeom prst="ellipse">
            <a:avLst/>
          </a:prstGeom>
          <a:blipFill rotWithShape="true">
            <a:blip r:embed="rId5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803244" y="3577269"/>
            <a:ext cx="356915" cy="356915"/>
          </a:xfrm>
          <a:prstGeom prst="ellipse">
            <a:avLst/>
          </a:prstGeom>
          <a:blipFill rotWithShape="true">
            <a:blip r:embed="rId6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308124" y="3577269"/>
            <a:ext cx="356915" cy="356915"/>
          </a:xfrm>
          <a:prstGeom prst="ellipse">
            <a:avLst/>
          </a:prstGeom>
          <a:blipFill rotWithShape="true">
            <a:blip r:embed="rId7"/>
            <a:stretch>
              <a:fillRect l="0" r="0" t="0" b="0"/>
            </a:stretch>
          </a:blipFill>
          <a:ln w="12700" cap="flat">
            <a:noFill/>
            <a:prstDash val="solid"/>
          </a:ln>
        </p:spPr>
        <p:txBody>
          <a:bodyPr anchor="ctr" rtlCol="false" wrap="square" lIns="91440" rIns="91440" tIns="45720" bIns="45720">
            <a:noAutofit/>
          </a:bodyPr>
          <a:lstStyle/>
          <a:p>
            <a:pPr algn="ctr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8" tooltip="https://github.com/flagos-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https://github.com/flagos-ai</a:t>
            </a:r>
            <a:endParaRPr lang="en-US" sz="1100"/>
          </a:p>
          <a:p>
            <a:pPr algn="l" indent="0">
              <a:lnSpc>
                <a:spcPct val="150000"/>
              </a:lnSpc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9" tooltip="https://space.bilibili.com/354679183429084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https://space.bilibili.com/3546791834290849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0" tooltip="https://www.zhihu.com/people/95-22-20-18/pos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https://www.zhihu.com/people/95-22-20-18/posts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vert="horz" wrap="square" lIns="0" rIns="0" tIns="14400" bIns="14400">
            <a:spAutoFit/>
          </a:bodyPr>
          <a:lstStyle/>
          <a:p>
            <a:pPr algn="l" indent="0">
              <a:lnSpc>
                <a:spcPct val="150000"/>
              </a:lnSpc>
              <a:defRPr/>
            </a:pPr>
            <a:r>
              <a:rPr lang="en-US" b="false" i="false" strike="noStrike" u="none" sz="1600">
                <a:solidFill>
                  <a:srgbClr val="767171"/>
                </a:solidFill>
                <a:latin typeface="Arial"/>
                <a:ea typeface="Arial"/>
                <a:cs typeface="Arial"/>
                <a:sym typeface="Arial"/>
                <a:hlinkClick r:id="rId11" tooltip="https://flagos.io/Hom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https://flagos.io/Home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2"/>
          <a:srcRect l="0" r="0" t="0" b="0"/>
          <a:stretch>
            <a:fillRect/>
          </a:stretch>
        </p:blipFill>
        <p:spPr>
          <a:xfrm rot="0" flipH="false" flipV="false"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rcRect l="0" r="0" t="0" b="0"/>
          <a:stretch>
            <a:fillRect/>
          </a:stretch>
        </p:blipFill>
        <p:spPr>
          <a:xfrm rot="0" flipH="false" flipV="false"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 main:dur="1000">
    <p:fade thruBlk="false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>
            <p:ph idx="27" type="pic" sz="quarter"/>
          </p:nvPr>
        </p:nvPicPr>
        <p:blipFill>
          <a:blip r:embed="rId2"/>
          <a:srcRect l="2306" r="2305" t="0" b="0"/>
          <a:stretch>
            <a:fillRect/>
          </a:stretch>
        </p:blipFill>
        <p:spPr>
          <a:xfrm rot="0" flipH="false" flipV="false">
            <a:off x="0" y="1"/>
            <a:ext cx="12192000" cy="6858000"/>
          </a:xfrm>
          <a:prstGeom prst="rect">
            <a:avLst/>
          </a:prstGeom>
        </p:spPr>
      </p:pic>
      <p:sp>
        <p:nvSpPr>
          <p:cNvPr name="AutoShape 3" id="3"/>
          <p:cNvSpPr/>
          <p:nvPr>
            <p:ph idx="28" type="body" sz="quarter" hasCustomPrompt="true"/>
          </p:nvPr>
        </p:nvSpPr>
        <p:spPr>
          <a:xfrm rot="0" flipH="false" flipV="false">
            <a:off x="6069661" y="2424583"/>
            <a:ext cx="4670511" cy="2664541"/>
          </a:xfrm>
          <a:prstGeom prst="rect">
            <a:avLst/>
          </a:prstGeom>
        </p:spPr>
        <p:txBody>
          <a:bodyPr anchor="ctr" wrap="square" lIns="91440" rIns="91440" tIns="45720" bIns="45720">
            <a:noAutofit/>
          </a:bodyPr>
          <a:lstStyle>
            <a:lvl1pPr algn="ctr">
              <a:lnSpc>
                <a:spcPct val="91666"/>
              </a:lnSpc>
              <a:defRPr sz="4400" b="false" i="false" u="none" strike="noStrike" spc="0">
                <a:solidFill>
                  <a:srgbClr val="44546A">
                    <a:alpha val="100000"/>
                  </a:srgbClr>
                </a:solidFill>
                <a:latin typeface="微软雅黑"/>
              </a:defRPr>
            </a:lvl1pPr>
          </a:lstStyle>
          <a:p>
            <a:pPr algn="ctr" indent="0">
              <a:lnSpc>
                <a:spcPct val="91666"/>
              </a:lnSpc>
            </a:pPr>
            <a:r>
              <a:rPr lang="en-US" b="false" i="false" strike="noStrike" u="none" sz="4400">
                <a:solidFill>
                  <a:srgbClr val="44546A"/>
                </a:solidFill>
                <a:latin typeface="微软雅黑"/>
                <a:ea typeface="微软雅黑"/>
                <a:cs typeface="微软雅黑"/>
                <a:sym typeface="微软雅黑"/>
              </a:rPr>
              <a:t>感谢观看！</a:t>
            </a:r>
          </a:p>
        </p:txBody>
      </p:sp>
      <p:grpSp>
        <p:nvGrpSpPr>
          <p:cNvPr name="Group 4" id="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r="0" t="0" b="0"/>
            <a:stretch>
              <a:fillRect/>
            </a:stretch>
          </p:blipFill>
          <p:spPr>
            <a:xfrm rot="0" flipH="false" flipV="false"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name="Picture 6" id="6"/>
            <p:cNvPicPr>
              <a:picLocks noChangeAspect="true"/>
            </p:cNvPicPr>
            <p:nvPr/>
          </p:nvPicPr>
          <p:blipFill>
            <a:blip r:embed="rId4"/>
            <a:srcRect l="13229" r="10431" t="29811" b="29796"/>
            <a:stretch>
              <a:fillRect/>
            </a:stretch>
          </p:blipFill>
          <p:spPr>
            <a:xfrm rot="0" flipH="false" flipV="false"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