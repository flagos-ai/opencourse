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presentationml.slideLayout+xml" PartName="/ppt/slideLayouts/slideLayout14.xml"/>
  <Override ContentType="application/vnd.openxmlformats-officedocument.presentationml.slideLayout+xml" PartName="/ppt/slideLayouts/slideLayout15.xml"/>
  <Override ContentType="application/vnd.openxmlformats-officedocument.presentationml.slideLayout+xml" PartName="/ppt/slideLayouts/slideLayout16.xml"/>
  <Override ContentType="application/vnd.openxmlformats-officedocument.presentationml.slideLayout+xml" PartName="/ppt/slideLayouts/slideLayout17.xml"/>
  <Override ContentType="application/vnd.openxmlformats-officedocument.presentationml.slideLayout+xml" PartName="/ppt/slideLayouts/slideLayout18.xml"/>
  <Override ContentType="application/vnd.openxmlformats-officedocument.presentationml.slideLayout+xml" PartName="/ppt/slideLayouts/slideLayout19.xml"/>
  <Override ContentType="application/vnd.openxmlformats-officedocument.presentationml.slideLayout+xml" PartName="/ppt/slideLayouts/slideLayout20.xml"/>
  <Override ContentType="application/vnd.openxmlformats-officedocument.presentationml.slideLayout+xml" PartName="/ppt/slideLayouts/slideLayout21.xml"/>
  <Override ContentType="application/vnd.openxmlformats-officedocument.presentationml.slideLayout+xml" PartName="/ppt/slideLayouts/slideLayout2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slides/slide20.xml" Type="http://schemas.openxmlformats.org/officeDocument/2006/relationships/slide"/><Relationship Id="rId29" Target="slides/slide21.xml" Type="http://schemas.openxmlformats.org/officeDocument/2006/relationships/slide"/><Relationship Id="rId3" Target="presProps.xml" Type="http://schemas.openxmlformats.org/officeDocument/2006/relationships/presProps"/><Relationship Id="rId30" Target="slides/slide22.xml" Type="http://schemas.openxmlformats.org/officeDocument/2006/relationships/slide"/><Relationship Id="rId31" Target="slides/slide23.xml" Type="http://schemas.openxmlformats.org/officeDocument/2006/relationships/slide"/><Relationship Id="rId32" Target="slides/slide24.xml" Type="http://schemas.openxmlformats.org/officeDocument/2006/relationships/slide"/><Relationship Id="rId33" Target="slides/slide25.xml" Type="http://schemas.openxmlformats.org/officeDocument/2006/relationships/slide"/><Relationship Id="rId34" Target="slides/slide26.xml" Type="http://schemas.openxmlformats.org/officeDocument/2006/relationships/slide"/><Relationship Id="rId35" Target="slides/slide27.xml" Type="http://schemas.openxmlformats.org/officeDocument/2006/relationships/slide"/><Relationship Id="rId36" Target="slides/slide28.xml" Type="http://schemas.openxmlformats.org/officeDocument/2006/relationships/slide"/><Relationship Id="rId37" Target="slides/slide29.xml" Type="http://schemas.openxmlformats.org/officeDocument/2006/relationships/slide"/><Relationship Id="rId38" Target="slides/slide30.xml" Type="http://schemas.openxmlformats.org/officeDocument/2006/relationships/slide"/><Relationship Id="rId39" Target="notesSlides/notesSlide1.xml" Type="http://schemas.openxmlformats.org/officeDocument/2006/relationships/notesSlide"/><Relationship Id="rId4" Target="slideMasters/slideMaster1.xml" Type="http://schemas.openxmlformats.org/officeDocument/2006/relationships/slideMaster"/><Relationship Id="rId40" Target="notesSlides/notesSlide2.xml" Type="http://schemas.openxmlformats.org/officeDocument/2006/relationships/notesSlide"/><Relationship Id="rId41" Target="notesSlides/notesSlide3.xml" Type="http://schemas.openxmlformats.org/officeDocument/2006/relationships/notesSlide"/><Relationship Id="rId42" Target="notesSlides/notesSlide4.xml" Type="http://schemas.openxmlformats.org/officeDocument/2006/relationships/notesSlide"/><Relationship Id="rId43" Target="notesSlides/notesSlide5.xml" Type="http://schemas.openxmlformats.org/officeDocument/2006/relationships/notesSlide"/><Relationship Id="rId44" Target="notesSlides/notesSlide6.xml" Type="http://schemas.openxmlformats.org/officeDocument/2006/relationships/notesSlide"/><Relationship Id="rId45" Target="notesSlides/notesSlide7.xml" Type="http://schemas.openxmlformats.org/officeDocument/2006/relationships/notesSlide"/><Relationship Id="rId46" Target="notesSlides/notesSlide8.xml" Type="http://schemas.openxmlformats.org/officeDocument/2006/relationships/notesSlide"/><Relationship Id="rId47" Target="notesSlides/notesSlide9.xml" Type="http://schemas.openxmlformats.org/officeDocument/2006/relationships/notesSlide"/><Relationship Id="rId48" Target="notesSlides/notesSlide10.xml" Type="http://schemas.openxmlformats.org/officeDocument/2006/relationships/notesSlide"/><Relationship Id="rId49" Target="notesSlides/notesSlide11.xml" Type="http://schemas.openxmlformats.org/officeDocument/2006/relationships/notesSlide"/><Relationship Id="rId50" Target="notesSlides/notesSlide12.xml" Type="http://schemas.openxmlformats.org/officeDocument/2006/relationships/notesSlide"/><Relationship Id="rId51" Target="notesSlides/notesSlide13.xml" Type="http://schemas.openxmlformats.org/officeDocument/2006/relationships/notesSlide"/><Relationship Id="rId52" Target="notesSlides/notesSlide14.xml" Type="http://schemas.openxmlformats.org/officeDocument/2006/relationships/notesSlide"/><Relationship Id="rId53" Target="notesSlides/notesSlide15.xml" Type="http://schemas.openxmlformats.org/officeDocument/2006/relationships/notesSlide"/><Relationship Id="rId54" Target="notesSlides/notesSlide16.xml" Type="http://schemas.openxmlformats.org/officeDocument/2006/relationships/notesSlide"/><Relationship Id="rId55" Target="notesSlides/notesSlide17.xml" Type="http://schemas.openxmlformats.org/officeDocument/2006/relationships/notesSlide"/><Relationship Id="rId56" Target="notesSlides/notesSlide18.xml" Type="http://schemas.openxmlformats.org/officeDocument/2006/relationships/notesSlide"/><Relationship Id="rId57" Target="notesSlides/notesSlide19.xml" Type="http://schemas.openxmlformats.org/officeDocument/2006/relationships/notesSlide"/><Relationship Id="rId58" Target="notesSlides/notesSlide20.xml" Type="http://schemas.openxmlformats.org/officeDocument/2006/relationships/notesSlide"/><Relationship Id="rId59" Target="notesSlides/notesSlide21.xml" Type="http://schemas.openxmlformats.org/officeDocument/2006/relationships/notesSlide"/><Relationship Id="rId6" Target="notesMasters/notesMaster1.xml" Type="http://schemas.openxmlformats.org/officeDocument/2006/relationships/notesMaster"/><Relationship Id="rId60" Target="notesSlides/notesSlide22.xml" Type="http://schemas.openxmlformats.org/officeDocument/2006/relationships/notesSlide"/><Relationship Id="rId61" Target="notesSlides/notesSlide23.xml" Type="http://schemas.openxmlformats.org/officeDocument/2006/relationships/notesSlide"/><Relationship Id="rId62" Target="notesSlides/notesSlide24.xml" Type="http://schemas.openxmlformats.org/officeDocument/2006/relationships/notesSlide"/><Relationship Id="rId63" Target="notesSlides/notesSlide25.xml" Type="http://schemas.openxmlformats.org/officeDocument/2006/relationships/notesSlide"/><Relationship Id="rId64" Target="notesSlides/notesSlide26.xml" Type="http://schemas.openxmlformats.org/officeDocument/2006/relationships/notesSlide"/><Relationship Id="rId65" Target="notesSlides/notesSlide27.xml" Type="http://schemas.openxmlformats.org/officeDocument/2006/relationships/notesSlide"/><Relationship Id="rId66" Target="notesSlides/notesSlide28.xml" Type="http://schemas.openxmlformats.org/officeDocument/2006/relationships/notesSlide"/><Relationship Id="rId67" Target="notesSlides/notesSlide29.xml" Type="http://schemas.openxmlformats.org/officeDocument/2006/relationships/notesSlide"/><Relationship Id="rId68" Target="notesSlides/notesSlide30.xml" Type="http://schemas.openxmlformats.org/officeDocument/2006/relationships/notesSlide"/><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欢迎来到智能计算系统软硬件基础课程。今天我们将开启一段全新的底层技术探索旅程，深入剖析大模型时代的算力核心抽象机制。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本次课程是本学期的第四讲，主题是Triton语言入门。我们将重点学习如何跨越框架底层的鸿沟，以Python风格编写出具备极致硬件性能的GPU核函数。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首先来看本节课的宏观概述。当前AI系统领域存在一个痛点，那就是Python的高端生产率与CUDA C++的底层高性能之间存在着巨大的鸿沟。Triton的诞生正是为了弥合这一断层，它本质上是一种用于编写高效自定义深度学习算子的嵌入式领域特定语言与专用编译器。它的核心设计目标是使开发者能够利用高级语法，编写出性能可媲美资深工程师手动调优CUDA的算法。值得系统结构研究者注意的是，Triton采用的是基于块的算法理念，这与传统CUDA中基于SIMT线程的模型完全相对，在学术界也被称为以分块为中心的编程范式。本节课将涵盖四个核心板块，首先探讨Triton的设计理念以及为何不直接使用原生CUDA框架；接着深度解析其底层执行模型，理解网格与程序的核心概念；然后进入基础构件的学习，掌握基于块的计算逻辑与指针算术操作；最后通过代码实践，带大家定义并启动属于你的第一个Triton核函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lvl1pPr>
          </a:lstStyle>
          <a:p>
            <a:pPr algn="l" indent="0">
              <a:lnSpc>
                <a:spcPct val="100000"/>
              </a:lnSpc>
            </a:pPr>
            <a:r>
              <a:rPr lang="en-US" b="false" i="false" strike="noStrike" u="none" sz="1200">
                <a:solidFill>
                  <a:srgbClr val="000000"/>
                </a:solidFill>
                <a:latin typeface="Calibri"/>
                <a:ea typeface="Calibri"/>
                <a:cs typeface="Calibri"/>
                <a:sym typeface="Calibri"/>
              </a:rPr>
              <a:t>我们先对Triton做一个宏观维度的概述。Triton是一门专为大规模并行编程而诞生的语言，同时它自身也是一个深度的计算图编译器。它的核心愿景是提供一个原生以Python为基础的编程环境，帮助体系结构研究者和系统工程师高效编写自定义的深度神经网络底层算子，并确保这些算子编译后能够在现代GPU等张量加速硬件上以最大的吞吐量满载运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lvl1pPr>
          </a:lstStyle>
          <a:p>
            <a:pPr algn="l" indent="0">
              <a:lnSpc>
                <a:spcPct val="100000"/>
              </a:lnSpc>
            </a:pPr>
            <a:r>
              <a:rPr lang="en-US" b="false" i="false" strike="noStrike" u="none" sz="1200">
                <a:solidFill>
                  <a:srgbClr val="000000"/>
                </a:solidFill>
              </a:rPr>
              <a:t>接下来我们将Triton与业内主流的其他开源编程模型进行横向对比，帮助大家理清技术演进的脉络。我们主要基于五个核心评估标准来衡量，包括底层架构的先进性、算子实现的高效性、基础设施的实现质量、面向开发者的易编程性以及对上层AI生态的适配度。通过对比MLIR、OpenXLA、Mojo以及原生PyTorch框架等解决方案，我们可以清晰地看到Triton的独特优势。Triton在核函数编程模型层面领先业界一代，其极简的易编程特性显著优于传统的CUDA编程模型，同时在复杂算子的实现高效性上依然保持着业界顶尖水平。此外，极其重要的一点是，Triton目前得到了PyTorch框架的底层原生支持，这极大地拓展了它的产业适用广度。相比之下，OpenXLA虽然整体系统架构设计十分先进，但在极其底层的核函数编程抽象层面存在断层，且在GPU上的峰值性能有时会略低于深度优化的Triton算子。而Mojo作为一门备受瞩目的全新语言，其架构理念极其超前，但受限于生态发展，目前仍侧重于CPU端的优化，且尚未实现核心技术栈的全面开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latin typeface="Calibri"/>
              </a:defRPr>
            </a:lvl1pPr>
          </a:lstStyle>
          <a:p>
            <a:pPr algn="l" indent="0">
              <a:lnSpc>
                <a:spcPct val="100000"/>
              </a:lnSpc>
            </a:pPr>
            <a:r>
              <a:rPr lang="en-US" b="false" i="false" strike="noStrike" u="none" sz="1200">
                <a:solidFill>
                  <a:srgbClr val="000000"/>
                </a:solidFill>
                <a:latin typeface="Calibri"/>
                <a:ea typeface="Calibri"/>
                <a:cs typeface="Calibri"/>
                <a:sym typeface="Calibri"/>
              </a:rPr>
              <a:t>进一步剖析Triton的系统组成，它由语言和编译器两大部分协同工作。作为一门专用于并行编程的DSL语言，Triton目前主要面向GPU等高性能硬件加速器，其语法设计极其贴合神经网络前向与反向传播算子的编写逻辑。而Triton编译器的职责，则是通过一系列复杂的中间表示分析与图级优化，将Triton语言高效地降级并转化为底层的机器语言指令。我强烈建议各位同学课后访问Triton的GitHub开源项目仓库，以及查阅其官方说明文档，深入探究其编译后端的实现细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lvl1pPr>
          </a:lstStyle>
          <a:p>
            <a:pPr algn="l" indent="0">
              <a:lnSpc>
                <a:spcPct val="100000"/>
              </a:lnSpc>
            </a:pPr>
            <a:r>
              <a:rPr lang="en-US" b="false" i="false" strike="noStrike" u="none" sz="1200">
                <a:solidFill>
                  <a:srgbClr val="000000"/>
                </a:solidFill>
              </a:rPr>
              <a:t>了解了基本定位后，我们来看看Triton作为编程语言是如何应对系统架构级别的硬件挑战的。在编写底层CUDA代码时，开发者必须具备极强的硬件拓扑意识，全盘考虑片外的大容量DRAM、片上的高速SRAM以及核心内部的ALU计算单元，才能榨干硬件性能。例如，全局DRAM的内存访问指令必须进行空间上的合并对齐，才能充分利用显存的极限带宽；数据在经历计算复用之前，必须由开发者手动存储到SRAM中，并精心规划内存布局以尽量减少存储体读写冲突；此外，所有的计算逻辑都必须经过极其严密的划分和调度，无论是跨越流式多处理器之间，还是在SM内部，都需要开发者亲力亲为去挖掘指令级和线程级并行度，并手动调用Tensor Core等专用运算矩阵单元。Triton语言的革命性优势在于，它将内存融合访问、复杂的共享内存管理以及SM内部的精细化调度统统交给了编译器自动完成。开发者只需站在宏观层面对SM外部进行块级调度即可，这极大地降低了系统编程的心智负担。</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Triton在当前的AI生态底座中占据着极其关键的战略地位。从整个计算框架演进的时间线来看，自发布以来，Triton正逐步且深度地融入主流深度学习框架的底层执行器中。特别是在参数量爆炸的大语言模型时代，面对海量的计算需求，Triton几乎成为了开发高吞吐量定制化算子的不二之选。无论是学术界广泛使用的FlashAttention技术，还是工业界针对大语言模型推理加速的各类引擎架构，我们都能在其技术栈的底层看到Triton作为核心驱动力，支撑着极速的注意力机制和矩阵计算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latin typeface="Calibri"/>
              </a:defRPr>
            </a:lvl1pPr>
          </a:lstStyle>
          <a:p>
            <a:pPr algn="l" indent="0">
              <a:lnSpc>
                <a:spcPct val="100000"/>
              </a:lnSpc>
            </a:pPr>
            <a:r>
              <a:rPr lang="en-US" b="false" i="false" strike="noStrike" u="none" sz="1200">
                <a:solidFill>
                  <a:srgbClr val="000000"/>
                </a:solidFill>
                <a:latin typeface="Calibri"/>
                <a:ea typeface="Calibri"/>
                <a:cs typeface="Calibri"/>
                <a:sym typeface="Calibri"/>
              </a:rPr>
              <a:t>探讨了生态地位，那么作为研究者，我们为何要坚定地选择Triton呢？其核心逻辑在于它极其完美地化解了生产率与性能的两难困境。以往，像PyTorch这样的高级框架虽然具备极高的上层模型迭代生产率，但一旦涉及到需要自定义“融合”算子来打破显存带宽瓶颈时，开发者往往只能回退到极其晦涩的CUDA C++层面去编写底层逻辑，以避免Python前端带来的额外开销。而CUDA虽然能够充分甚至极限利用硬件资源，但它的编写、调试与长期维护难度极大，对开发者的硬件素养要求极高。这导致了一个普遍的鸿沟，那就是绝大多数AI算法研究人员，根本无法耗费数周的时间去死磕并优化一个单点CUDA核函数。Triton能打破这一僵局的秘密武器，就在于它提出了全新的块级抽象机制。开发者从此无需再去微观管理成千上万的单个轻量级线程，而是将视角拉高，只需管理宏观的数据块。同时，它强大的编译器接管了自动并行化工作，全自动处理极其棘手的内存合并访问、片上共享内存分配和硬件级别的指令调度。加上OpenAI的强势背书与持续迭代，可以说Triton是专门为了使下一代巨型AI模型的底层GPU编程变得普及和易用而开发的利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现在我们正式剥开语法的外衣，进入Triton底层的执行模型解析。从并行计算的思维范式上，我们需要完成从线程到块的深刻认知转变。传统的CUDA并行模型是以单个线程以及硬件调度的最小单元线程束为中心的，这种极其细粒度的控制意味着开发者必须手动干预并管理底层同步原语与共享内存的生命周期。而Triton的执行模型提升了抽象维度，它完全以宏观的程序和块为中心，所有的高级代码逻辑均以粗粒度的分块作为基本执行单元对数据进行张量级别的操作。这一模型由三个核心组件构成。首先是网格也就是坐标空间，它是一个由一维、二维或三维组成的庞大执行实例空间，每次从主机侧启动核函数时，我们都必须明确定义网格的拓扑大小。在网格拓扑中的每一个独立节点，被称为一个程序实例。程序是核函数的一个完全独立的并行执行体，在GPU的各个流式计算单元上高并发运行，每个程序通过调用Triton提供的程序标识符接口来确定自身在空间中的绝对位置。最后则是最关键的块，也就是数据处理单元。块是由单个程序实例全权负责处理的连续数据片段。在设计算法时需要特别注意一个极其严苛的系统级约束，为了充分契合底层编译器的内存对齐和硬件级别的访存优化逻辑，块的大小必须严格设定为2的幂次，例如128或者1024等常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我们深入底层代码逻辑，剖析Triton核函数的定义规范与核心的指针算术操作。首先在Python层面，我们需要引入triton框架内部的jit即时编译装饰器，它负责拦截并将标准的Python函数标记、转换并编译为可以在GPU设备上直接执行的底层核函数。在函数的签名定义中，主要包含三类参数。第一类是指针型参数，用于接收显存中大容量输入或输出张量的硬件绝对内存地址。第二类是元数据参数，通常用来传递张量的全局规模大小或内存访问步幅。第三类则是被特殊修饰词constexpr标记的变量，它代表了必须在编译器进行静态分析和代码生成阶段就绝对确定的常量参数。深入到核函数的运算核心逻辑，极其重要的一环便是精密的指针算术推导。执行步骤通常如下，首先通过获取当前并行程序的绝对标识序号，再乘以静态配置的块大小，从而精确计算出当前实例所需处理的数据起始内存偏移量。接着，利用arange接口生成一个连续递增的局部偏移量范围向量。最后，将初始的基指针与这个偏移向量进行广播相加，从而在寄存器层面一次性构建出一组指向庞大数据块的绝对内存地址指针向量。大家可以通过地址映射可视化来加深理解，比如基于零到三的偏移范围，加上基地址后，就生成了一个包含四个硬件内存绝对地址的向量结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掌握了物理地址向量的构建机制，下一步则是理解数据的搬移指令，也就是内存操作中的加载、存储原语，以及极其关键的安全掩码机制。我们需要建立全局内存也就是DRAM，与片上高速SRAM及寄存器之间的数据交互桥梁。在Triton中，我们统一调用内部的load函数，并传入刚刚构建的指针向量，即可命令硬件从显存中批量读取对应区块的数据。这里体现了Triton在编译期的巨大威力，它会在指令降级时自动确保生成合并内存访问的汇编指令，强制硬件内存控制器以极其高效的总线突发方式连续读取数据块，彻底榨干显存带宽。当底层寄存器中的并行计算全部完成后，我们再调用对应的store函数，将最终结果安全且高效地一次性写回至全局内存中。在此过程中，必须向大家强调掩码机制的绝对必要性。正如前面提到的硬性约束，Triton为了匹配硬件特性，要求分块大小必须严格对齐为2的幂次。然而在实际的深度学习模型推理或训练任务中，张量的数据量极少能完美凑整，必然存在无法填满最后一个分块的情况。为了彻底杜绝非法访问未知内存区域而引发致命的段错误崩溃，我们必须在代码逻辑中创建一个精确的布尔掩码向量，通过逻辑判断确保所有的处理偏移量均严格小于真实的数据总长度。在实际编程语法中，我们在生成掩码后，必须将其显式地作为可选参数传入加载和存储函数中。这样做的好处显而易见，当硬件执行到掩码标记为假的数据位时，对应的内存读写操作会被底层的预测执行单元静默且安全地丢弃，从而在维持高并发吞吐的同时确保了系统级别的绝对内存安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理论讲授完毕，让我们直接深入一个经典的案例分析，通过实现一个工业级的向量加法核函数来串联前面的知识点。首先导入底层的triton库及其语言核心模块。使用jit装饰器标识这是一个将被即时编译到GPU执行的函数体。仔细观察函数签名，它接收三个指针，分别指向位于全局显存的两个输入向量和用于存放结果的输出向量区域。同时传入一个表示元素绝对总数的标量，以及一个被constexpr标记的编译时常量块大小。在函数内部执行逻辑中，第一步，精确获取当前线程块的绝对空间标识，以确定本程序需要接管哪一块张量数据。第二步，通过标识符与常量的乘法，推导出局部内存区块的起始位置，并立即生成连续的偏移量范围向量。第三步极其关键，为了严防内存越界访问引发显存崩溃，通过比较当前偏移与张量实际边界长度，生成一个并行的布尔安全掩码。第四步，利用算术叠加生成的硬件指针向量，结合安全掩码，向显存控制器下发批量加载指令，将数据直接拉取至计算单元的极速寄存器堆中。最后第五步，在寄存器层面利用现代GPU的SIMD能力并发执行加法运算，并再次套用掩码约束，将合法的数据结果全速写回到DRAM指定的输出空间中。</a:t>
            </a:r>
          </a:p>
          <a:p>
            <a:pPr algn="l" indent="0">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完成了核函数在设备端的指令定义后，我们需要了解如何从宿主机侧的Python环境中正确触发并启动这段逻辑。这一步骤涉及主机CPU与加速设备GPU之间的复杂交互抽象。最核心的先决条件是精确计算并配置执行网格的空间规模。在此阶段有两个支撑Triton高性能表现的关键底层机制必须理解。首先是惰性编译机制，Triton在扫描到Python函数时并不会立刻动作，而是严格推迟到核函数在代码流中被首次真正调用时，才会触发极其昂贵的PTX指令编译与优化过程，这种设计使得后续的千万次重复调用几乎感受不到任何系统延迟。其次是极具创新的自动调优预览特性，Triton框架具备在实际运算前，自动生成并快速测试不同常量维度参数的能力，从而根据当前宿主的特定GPU架构，智能匹配并锁定理论最优的执行参数。在编写宿主调用代码时，我们通常采用预置的向上取整除法接口来动态推算需要派发多少个并行网格，以确保尾部未对齐的数据也能被完整分配计算单元。随后，通过独特的方括号语法强行挂载网格拓扑配置，并通过圆括号传入所有张量指针和编译时常量，即可一键将高负载计算任务下发至硬件队列执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深入编译器优化原理层面，我们拆解常量修饰符的巨大威力。强制声明编译时常量能极大释放底层优化空间。比如迭代上限确定为常数时，可以实施彻底消除分支开销的循环展开。同时还能为流式多处理器在核函数启动前确切预留片上空间，并执行高效的死代码剪枝。由此引出了Triton极具特色的核函数特化机制，它会为每种唯一的常量维度参数组合，专门生成一个零分支判断的极致性能版本。</a:t>
            </a:r>
          </a:p>
          <a:p>
            <a:pPr algn="l" indent="0">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超越一维向量，我们探讨二维分块运算。作为AI基础运算核心的矩阵乘法，可以调用底层提供的点乘硬件加速原语。使用点乘原语必须满足各维度输入分块符合最低的体系结构对齐要求。在二维内存体系中高效导航，我们必须引入步幅概念。步幅告知核函数在物理内存中需跳过多少元素，才能精准无误地移动至逻辑矩阵的下一行或下一列。</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系统架构人员必须深刻理解硬件的内存层级。全局显存容量庞大但延迟极高，负责存放宏观的输入输出张量。片上的高速静态随机存取内存位于多处理器内部。以往开发者需写极度复杂的底层逻辑去调度它，但在Triton中编译器会自动介入，高效分配存储体以缓冲点乘运算的海量数据。最顶层是寄存器堆，算术运算均在此发生。Triton利用生命周期分析算法智能分配寄存器，严防触发性能雪崩的寄存器溢出现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Triton语言为系统开发者提供了贴合计算需求的丰富内置函数库。它囊括了逐元素的基础算术逻辑、指数等超越函数以及条件选择指令。为了处理沿张量轴的信息压缩，Triton实现了高效的归约原语，支持快速求和或求取极值。而在解决分布式高并发数据竞态问题上，Triton亦暴露了硬件级别的原子操作接口，确保了显存数据在乱序并行写入时的绝对一致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页展示了Softmax操作的底层特化代码。第一步我们将指针跃迁到当前处理行的绝对物理起点。在加载整行数据入高速寄存器后，为了防止自然指数运算时发生灾难性的浮点数溢出，代码先巧妙运用最大值归约操作寻出当前行极值，通过减法平移数值区间后，再执行求和归约获取概率分母。最后通过除法指令得到标准化的概率张量，并利用掩码向量安全刷写回全局动态显存中。</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面对异构硬件，传统的图形处理器调试链路极为坎坷。因为指令集经过即时编译且高度并发，传统的打印探测几乎失效。为了突破此技术瓶颈，Triton创新性地内置了基于中央处理器的指令解释器。它在软件层面通过类似数组广播的逻辑来逐行推演高级抽象语义，完全绕过了晦涩的底层汇编生成流程。这使得算法工程师能够零成本地复用原生的断点追踪机制，大幅缩短了系统级错误排查的生命周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榨干算力的征途上，我们必须面对不同代际微架构间的性能鸿沟。NVIDIA历代架构对并行粒度和缓存深度的偏好大相径庭。Triton提供了功能强大的自动调优装饰器，免除了暴力的硬编码探测。系统会在预热阶段静默执行多组配置的性能基准探测，从而动态锚定吞吐量极值点。我们关注的核心调优旋钮包括决定并发硬件上下文数量的线程束参数，以及决定底层数据预取深度的软件流水线级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对于高维张量处理而言，对步幅原语的精准控制是性能调优的分水岭。步幅不仅使得核函数能以极其优雅的零内存拷贝方式处理转置或局部切片视图，更决定了访存指令的生成质量。只有当步幅设置精准契合底层内存控制器的突发传输粒度时，才能真正触发大面积的连续内存合并读取。我们在计算核心中，将行向与列向的逻辑偏移量分别乘以对应的步幅长度再行累加，即可精确构建出完整的二维物理指针网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为了冲破算力发展过程中的内存墙阻碍，Triton深度引入了软件流水线技术。相较于低效的串行加载再计算模式，流水线技术允许编译器利用底层架构提供的异步拷贝指令集，在算术逻辑单元满载执行当前周期的矩阵乘加时，并行的内存搬运引擎已经开始向片上缓存预取下一批次的数据区块。调整流水线级数需要极其精妙的权衡，级数过高会透支宝贵的静态缓存引发寄存器溢出，而级数过低则无法掩盖漫长的总线延迟，导致算力闲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lvl1pPr>
          </a:lstStyle>
          <a:p>
            <a:pPr algn="l" indent="0">
              <a:lnSpc>
                <a:spcPct val="100000"/>
              </a:lnSpc>
            </a:pPr>
            <a:r>
              <a:rPr lang="en-US" b="false" i="false" strike="noStrike" u="none" sz="1200">
                <a:solidFill>
                  <a:srgbClr val="000000"/>
                </a:solidFill>
              </a:rPr>
              <a:t>课程尾声，我们系统性复盘两种异构计算编程范式的核心思维壁垒。底层原生语言固守微观线程视角，强迫系统程序员充当硬件调度器，去微操显存同步与通信原语。而Triton通过巧妙的抽象降维，提升至宏观的区块视角，由高度智能的中间表示编译器接管底层的通讯与优化调度。面对前沿的复杂算子研发挑战，Triton能让开发者以极低的心智负担，逼近乃至持平理论物理极限的硬件算力峰值。</a:t>
            </a:r>
          </a:p>
          <a:p>
            <a:pPr algn="l" indent="0">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作为一门年轻的技术标准，Triton现阶段仍受限于某些系统性约束。由于编译器内部高度依赖基于二的幂次进行启发式访存分块拆解，因此张量的处理规模必须满足该硬性边界。同时为了保障超标量流水线的执行连贯性，它极度排斥包含非结构化跳转的复杂控制流，且目前在架构层面完全屏蔽了递归计算图。在多平台泛化能力上，目前其主要编译后端的优化重心依然高度倾斜于特定厂商的主流加速架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对于致力于深耕系统结构领域的同学，这里规划了一条通向底层的专业阶梯。初级阶段聚焦一维内存体系，掌握区块思维与严密的越界防范逻辑。进阶阶段需吃透片上通信与高性能归约原语的组合。高级阶段重点攻克多维步幅映射与矩阵加速引擎。最终的专家级挑战，则是驾驭多级软件流水线与自动调优机制，手搓出足以支撑顶级大模型运转的工业级注意力机制核函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综上所述，Triton是体系结构演进史上的重要里程碑。它极大削减了研究人员跨界底层硬件开发的摩擦成本，实现了算法创新表达与底层极致执行效率的完美解耦。课堂的理论只是起点，希望同学们课下深入钻研其编译后端的源码，紧跟开源前沿的迭代步伐，切实将这一利器应用于未来的智能计算系统架构创新之中。</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defRPr>
            </a:lvl1pPr>
          </a:lstStyle>
          <a:p>
            <a:pPr algn="l" indent="0">
              <a:lnSpc>
                <a:spcPct val="100000"/>
              </a:lnSpc>
            </a:pPr>
            <a:r>
              <a:rPr lang="en-US" b="false" i="false" strike="noStrike" u="none" sz="1200">
                <a:solidFill>
                  <a:srgbClr val="000000"/>
                </a:solidFill>
              </a:rPr>
              <a:t>当我们把视线从微观的单点算子优化拉升至宏观的大集群调度，智源研究院打造的FlagOS统一人工智能系统软件栈展示了更为庞大的系统级全景图。该技术底座向下屏蔽了极其碎片化的多元异构底层硬件差异，向上无缝桥接并赋能了各类前沿多模态大模型的研发。它集成并贯通了底层通用的算子库、分布式的训练推理并行框架以及跨节点通信网络层，构筑了极具生命力的自主生态基石。</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本页展示了开源社区的相关接入信息。建议大家扫码关注智源研究院的开源代码仓库和技术发布渠道，实时获取最新的统一软件栈发版动态，共同参与到下一代智能系统基础设施的开源建设中。</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我们今天关于智能系统底层算力抽象的课程讲授就到此结束了，感谢大家的专注聆听，我们下节课再见。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Layouts/_rels/slideLayout13.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4.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5.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6.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7.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18.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19.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20.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21.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_rels/slideLayout22.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
        <p:nvSpPr>
          <p:cNvPr name="AutoShape 2" id="2"/>
          <p:cNvSpPr/>
          <p:nvPr>
            <p:ph idx="5" type="body" sz="quarter" hasCustomPrompt="true"/>
          </p:nvPr>
        </p:nvSpPr>
        <p:spPr>
          <a:xfrm rot="0" flipH="false" flipV="false">
            <a:off x="1260390" y="1895447"/>
            <a:ext cx="10392032" cy="2387600"/>
          </a:xfrm>
          <a:prstGeom prst="rect">
            <a:avLst/>
          </a:prstGeom>
          <a:noFill/>
          <a:ln w="12700">
            <a:noFill/>
            <a:prstDash val="solid"/>
          </a:ln>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5100">
                <a:solidFill>
                  <a:srgbClr val="262626"/>
                </a:solidFill>
                <a:latin typeface="微软雅黑"/>
                <a:ea typeface="微软雅黑"/>
                <a:cs typeface="微软雅黑"/>
                <a:sym typeface="微软雅黑"/>
              </a:rPr>
              <a:t>单击此处编辑母版标题样式</a:t>
            </a:r>
          </a:p>
        </p:txBody>
      </p:sp>
      <p:grpSp>
        <p:nvGrpSpPr>
          <p:cNvPr name="Group 3" id="3"/>
          <p:cNvGrpSpPr/>
          <p:nvPr/>
        </p:nvGrpSpPr>
        <p:grpSpPr>
          <a:xfrm>
            <a:off x="9221415" y="158476"/>
            <a:ext cx="2580450" cy="547850"/>
            <a:chOff x="9221415" y="158476"/>
            <a:chExt cx="2580450" cy="547850"/>
          </a:xfrm>
        </p:grpSpPr>
        <p:pic>
          <p:nvPicPr>
            <p:cNvPr name="Picture 4" id="4"/>
            <p:cNvPicPr>
              <a:picLocks noChangeAspect="true"/>
            </p:cNvPicPr>
            <p:nvPr/>
          </p:nvPicPr>
          <p:blipFill>
            <a:blip r:embed="rId3"/>
            <a:srcRect l="0" r="0" t="0" b="0"/>
            <a:stretch>
              <a:fillRect/>
            </a:stretch>
          </p:blipFill>
          <p:spPr>
            <a:xfrm rot="0" flipH="false" flipV="false">
              <a:off x="9221415" y="260529"/>
              <a:ext cx="1096400" cy="336123"/>
            </a:xfrm>
            <a:prstGeom prst="rect">
              <a:avLst/>
            </a:prstGeom>
            <a:ln w="12700">
              <a:noFill/>
              <a:prstDash val="solid"/>
            </a:ln>
          </p:spPr>
        </p:pic>
        <p:pic>
          <p:nvPicPr>
            <p:cNvPr name="Picture 5" id="5"/>
            <p:cNvPicPr>
              <a:picLocks noChangeAspect="true"/>
            </p:cNvPicPr>
            <p:nvPr/>
          </p:nvPicPr>
          <p:blipFill>
            <a:blip r:embed="rId4"/>
            <a:srcRect l="13229" r="10430" t="29812" b="29795"/>
            <a:stretch>
              <a:fillRect/>
            </a:stretch>
          </p:blipFill>
          <p:spPr>
            <a:xfrm rot="0" flipH="false" flipV="false">
              <a:off x="10527164" y="158476"/>
              <a:ext cx="1274701" cy="547850"/>
            </a:xfrm>
            <a:prstGeom prst="rect">
              <a:avLst/>
            </a:prstGeom>
            <a:ln w="12700">
              <a:noFill/>
              <a:prstDash val="solid"/>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上下">
    <p:spTree>
      <p:nvGrpSpPr>
        <p:cNvPr id="1" name=""/>
        <p:cNvGrpSpPr/>
        <p:nvPr/>
      </p:nvGrpSpPr>
      <p:grpSpPr>
        <a:xfrm>
          <a:off x="0" y="0"/>
          <a:ext cx="0" cy="0"/>
          <a:chOff x="0" y="0"/>
          <a:chExt cx="0" cy="0"/>
        </a:xfrm>
      </p:grpSpPr>
      <p:sp>
        <p:nvSpPr>
          <p:cNvPr name="AutoShape 2" id="2"/>
          <p:cNvSpPr/>
          <p:nvPr>
            <p:ph idx="6" type="body" sz="quarter" hasCustomPrompt="true"/>
          </p:nvPr>
        </p:nvSpPr>
        <p:spPr>
          <a:xfrm rot="0" flipH="false" flipV="false">
            <a:off x="741404" y="431629"/>
            <a:ext cx="9987507" cy="700925"/>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7"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4" id="4"/>
          <p:cNvSpPr/>
          <p:nvPr>
            <p:ph idx="8"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5" id="5"/>
          <p:cNvSpPr/>
          <p:nvPr>
            <p:ph idx="9" type="body" sz="quarter" hasCustomPrompt="true"/>
          </p:nvPr>
        </p:nvSpPr>
        <p:spPr>
          <a:xfrm rot="0" flipH="false" flipV="false">
            <a:off x="523874" y="1323975"/>
            <a:ext cx="11277601" cy="4852988"/>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两栏内容">
    <p:spTree>
      <p:nvGrpSpPr>
        <p:cNvPr id="1" name=""/>
        <p:cNvGrpSpPr/>
        <p:nvPr/>
      </p:nvGrpSpPr>
      <p:grpSpPr>
        <a:xfrm>
          <a:off x="0" y="0"/>
          <a:ext cx="0" cy="0"/>
          <a:chOff x="0" y="0"/>
          <a:chExt cx="0" cy="0"/>
        </a:xfrm>
      </p:grpSpPr>
      <p:sp>
        <p:nvSpPr>
          <p:cNvPr name="AutoShape 2" id="2"/>
          <p:cNvSpPr/>
          <p:nvPr>
            <p:ph idx="10" type="body" sz="quarter" hasCustomPrompt="true"/>
          </p:nvPr>
        </p:nvSpPr>
        <p:spPr>
          <a:xfrm rot="0" flipH="false" flipV="false">
            <a:off x="741404" y="431629"/>
            <a:ext cx="9987507" cy="700925"/>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11"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4" id="4"/>
          <p:cNvSpPr/>
          <p:nvPr>
            <p:ph idx="12" type="body" sz="quarter" hasCustomPrompt="true"/>
          </p:nvPr>
        </p:nvSpPr>
        <p:spPr>
          <a:xfrm rot="0" flipH="false" flipV="false">
            <a:off x="523873" y="1323976"/>
            <a:ext cx="5591177" cy="4852988"/>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
        <p:nvSpPr>
          <p:cNvPr name="AutoShape 5" id="5"/>
          <p:cNvSpPr/>
          <p:nvPr>
            <p:ph idx="13"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6" id="6"/>
          <p:cNvSpPr/>
          <p:nvPr>
            <p:ph idx="14" type="body" sz="quarter" hasCustomPrompt="true"/>
          </p:nvPr>
        </p:nvSpPr>
        <p:spPr>
          <a:xfrm rot="0" flipH="false" flipV="false">
            <a:off x="6210297" y="1323977"/>
            <a:ext cx="5591177" cy="4856162"/>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左右">
    <p:spTree>
      <p:nvGrpSpPr>
        <p:cNvPr id="1" name=""/>
        <p:cNvGrpSpPr/>
        <p:nvPr/>
      </p:nvGrpSpPr>
      <p:grpSpPr>
        <a:xfrm>
          <a:off x="0" y="0"/>
          <a:ext cx="0" cy="0"/>
          <a:chOff x="0" y="0"/>
          <a:chExt cx="0" cy="0"/>
        </a:xfrm>
      </p:grpSpPr>
      <p:sp>
        <p:nvSpPr>
          <p:cNvPr name="AutoShape 2" id="2"/>
          <p:cNvSpPr/>
          <p:nvPr>
            <p:ph idx="15" type="body" sz="quarter" hasCustomPrompt="true"/>
          </p:nvPr>
        </p:nvSpPr>
        <p:spPr>
          <a:xfrm rot="0" flipH="false" flipV="false">
            <a:off x="666749" y="457201"/>
            <a:ext cx="2771775" cy="5719762"/>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16"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4" id="4"/>
          <p:cNvSpPr/>
          <p:nvPr>
            <p:ph idx="17" type="body" sz="quarter" hasCustomPrompt="true"/>
          </p:nvPr>
        </p:nvSpPr>
        <p:spPr>
          <a:xfrm rot="0" flipH="false" flipV="false">
            <a:off x="3657600" y="457201"/>
            <a:ext cx="8001000" cy="5719763"/>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
        <p:nvSpPr>
          <p:cNvPr name="AutoShape 5" id="5"/>
          <p:cNvSpPr/>
          <p:nvPr>
            <p:ph idx="18"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大纲">
    <p:spTree>
      <p:nvGrpSpPr>
        <p:cNvPr id="1" name=""/>
        <p:cNvGrpSpPr/>
        <p:nvPr/>
      </p:nvGrpSpPr>
      <p:grpSpPr>
        <a:xfrm>
          <a:off x="0" y="0"/>
          <a:ext cx="0" cy="0"/>
          <a:chOff x="0" y="0"/>
          <a:chExt cx="0" cy="0"/>
        </a:xfrm>
      </p:grpSpPr>
      <p:sp>
        <p:nvSpPr>
          <p:cNvPr name="AutoShape 2" id="2"/>
          <p:cNvSpPr/>
          <p:nvPr>
            <p:ph idx="19" type="body" sz="quarter" hasCustomPrompt="true"/>
          </p:nvPr>
        </p:nvSpPr>
        <p:spPr>
          <a:xfrm rot="0" flipH="false" flipV="false">
            <a:off x="5452216" y="0"/>
            <a:ext cx="6110447" cy="6858000"/>
          </a:xfrm>
          <a:prstGeom prst="rect">
            <a:avLst/>
          </a:prstGeom>
          <a:noFill/>
          <a:ln w="12700">
            <a:noFill/>
            <a:prstDash val="solid"/>
          </a:ln>
        </p:spPr>
        <p:txBody>
          <a:bodyPr anchor="ctr" wrap="square" lIns="91440" rIns="91440" tIns="45720" bIns="45720">
            <a:noAutofit/>
          </a:bodyPr>
          <a:lstStyle>
            <a:lvl1pPr algn="l">
              <a:lnSpc>
                <a:spcPct val="100000"/>
              </a:lnSpc>
              <a:defRPr sz="2800" b="false" i="false" u="none" strike="noStrike" spc="0">
                <a:solidFill>
                  <a:srgbClr val="404040">
                    <a:alpha val="100000"/>
                  </a:srgbClr>
                </a:solidFill>
                <a:latin typeface="微软雅黑"/>
              </a:defRPr>
            </a:lvl1pPr>
          </a:lstStyle>
          <a:p>
            <a:pPr algn="l" indent="-355600" marL="355600">
              <a:lnSpc>
                <a:spcPct val="100000"/>
              </a:lnSpc>
              <a:spcBef>
                <a:spcPts val="3000"/>
              </a:spcBef>
              <a:buClr>
                <a:srgbClr val="404040"/>
              </a:buClr>
              <a:buChar char="•"/>
            </a:pPr>
            <a:r>
              <a:rPr lang="en-US" b="false" i="false" strike="noStrike" u="none" sz="2800">
                <a:solidFill>
                  <a:srgbClr val="404040"/>
                </a:solidFill>
                <a:latin typeface="微软雅黑"/>
                <a:ea typeface="微软雅黑"/>
                <a:cs typeface="微软雅黑"/>
                <a:sym typeface="微软雅黑"/>
              </a:rPr>
              <a:t>编辑母版文本样式</a:t>
            </a:r>
          </a:p>
          <a:p>
            <a:pPr algn="l" indent="-304800" lvl="1" marL="647700">
              <a:lnSpc>
                <a:spcPct val="100000"/>
              </a:lnSpc>
              <a:spcBef>
                <a:spcPts val="750"/>
              </a:spcBef>
              <a:buClr>
                <a:srgbClr val="404040"/>
              </a:buClr>
              <a:buChar char="•"/>
            </a:pPr>
            <a:r>
              <a:rPr lang="en-US" b="false" i="false" strike="noStrike" u="none" sz="2400">
                <a:solidFill>
                  <a:srgbClr val="404040"/>
                </a:solidFill>
                <a:latin typeface="微软雅黑"/>
                <a:ea typeface="微软雅黑"/>
                <a:cs typeface="微软雅黑"/>
                <a:sym typeface="微软雅黑"/>
              </a:rPr>
              <a:t>第二级</a:t>
            </a:r>
          </a:p>
          <a:p>
            <a:pPr algn="l" indent="-254000" lvl="2" marL="9398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第三级</a:t>
            </a:r>
          </a:p>
          <a:p>
            <a:pPr algn="l" indent="-203200" lvl="3" marL="12319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第四级</a:t>
            </a:r>
          </a:p>
        </p:txBody>
      </p:sp>
      <p:grpSp>
        <p:nvGrpSpPr>
          <p:cNvPr name="Group 3" id="3"/>
          <p:cNvGrpSpPr/>
          <p:nvPr/>
        </p:nvGrpSpPr>
        <p:grpSpPr>
          <a:xfrm>
            <a:off x="3057633" y="31667"/>
            <a:ext cx="9134367" cy="6838951"/>
            <a:chOff x="3057633" y="31667"/>
            <a:chExt cx="9134367" cy="6838951"/>
          </a:xfrm>
        </p:grpSpPr>
        <p:cxnSp>
          <p:nvCxnSpPr>
            <p:cNvPr name="Connector 4" id="4"/>
            <p:cNvCxnSpPr/>
            <p:nvPr/>
          </p:nvCxnSpPr>
          <p:spPr>
            <a:xfrm rot="0" flipH="false" flipV="false">
              <a:off x="3057633" y="31667"/>
              <a:ext cx="0" cy="0"/>
            </a:xfrm>
            <a:prstGeom prst="line">
              <a:avLst/>
            </a:prstGeom>
            <a:solidFill>
              <a:srgbClr val="549E39">
                <a:alpha val="100000"/>
              </a:srgbClr>
            </a:solidFill>
            <a:ln w="12700" cap="flat">
              <a:solidFill>
                <a:srgbClr val="FFFFFF">
                  <a:alpha val="100000"/>
                </a:srgbClr>
              </a:solidFill>
              <a:prstDash val="solid"/>
              <a:miter lim="8000000"/>
              <a:headEnd type="none" w="med" len="med"/>
              <a:tailEnd type="none" w="med" len="med"/>
            </a:ln>
          </p:spPr>
        </p:cxnSp>
        <p:grpSp>
          <p:nvGrpSpPr>
            <p:cNvPr name="Group 5" id="5"/>
            <p:cNvGrpSpPr/>
            <p:nvPr/>
          </p:nvGrpSpPr>
          <p:grpSpPr>
            <a:xfrm>
              <a:off x="11586746" y="4889417"/>
              <a:ext cx="605254" cy="1981201"/>
              <a:chOff x="11586746" y="4889417"/>
              <a:chExt cx="605254" cy="1981201"/>
            </a:xfrm>
          </p:grpSpPr>
          <p:sp>
            <p:nvSpPr>
              <p:cNvPr name="Freeform 6" id="6"/>
              <p:cNvSpPr/>
              <p:nvPr/>
            </p:nvSpPr>
            <p:spPr>
              <a:xfrm rot="0" flipH="false" flipV="false">
                <a:off x="11678257" y="5716505"/>
                <a:ext cx="301824" cy="1154112"/>
              </a:xfrm>
              <a:custGeom>
                <a:avLst/>
                <a:gdLst/>
                <a:ahLst/>
                <a:cxnLst/>
                <a:rect r="r" b="b" t="t" l="l"/>
                <a:pathLst>
                  <a:path h="1154112" w="301824">
                    <a:moveTo>
                      <a:pt x="24082" y="1154113"/>
                    </a:moveTo>
                    <a:lnTo>
                      <a:pt x="0" y="1154113"/>
                    </a:lnTo>
                    <a:lnTo>
                      <a:pt x="0" y="646113"/>
                    </a:lnTo>
                    <a:lnTo>
                      <a:pt x="0" y="646113"/>
                    </a:lnTo>
                    <a:lnTo>
                      <a:pt x="282558" y="0"/>
                    </a:lnTo>
                    <a:lnTo>
                      <a:pt x="301824" y="9525"/>
                    </a:lnTo>
                    <a:lnTo>
                      <a:pt x="24082" y="650875"/>
                    </a:lnTo>
                    <a:lnTo>
                      <a:pt x="24082" y="1154113"/>
                    </a:ln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7" id="7"/>
              <p:cNvSpPr/>
              <p:nvPr/>
            </p:nvSpPr>
            <p:spPr>
              <a:xfrm rot="0" flipH="false" flipV="false">
                <a:off x="11922285" y="5573630"/>
                <a:ext cx="158940" cy="155575"/>
              </a:xfrm>
              <a:custGeom>
                <a:avLst/>
                <a:gdLst/>
                <a:ahLst/>
                <a:cxnLst/>
                <a:rect r="r" b="b" t="t" l="l"/>
                <a:pathLst>
                  <a:path h="155575" w="158940">
                    <a:moveTo>
                      <a:pt x="81878" y="155575"/>
                    </a:moveTo>
                    <a:cubicBezTo>
                      <a:pt x="38531" y="155575"/>
                      <a:pt x="0" y="117860"/>
                      <a:pt x="0" y="75430"/>
                    </a:cubicBezTo>
                    <a:cubicBezTo>
                      <a:pt x="0" y="33001"/>
                      <a:pt x="38531" y="0"/>
                      <a:pt x="81878" y="0"/>
                    </a:cubicBezTo>
                    <a:cubicBezTo>
                      <a:pt x="125226" y="0"/>
                      <a:pt x="158941" y="33001"/>
                      <a:pt x="158941" y="75430"/>
                    </a:cubicBezTo>
                    <a:cubicBezTo>
                      <a:pt x="158941" y="117860"/>
                      <a:pt x="125226" y="155575"/>
                      <a:pt x="81878" y="155575"/>
                    </a:cubicBezTo>
                    <a:close/>
                    <a:moveTo>
                      <a:pt x="81878" y="18857"/>
                    </a:moveTo>
                    <a:cubicBezTo>
                      <a:pt x="48163" y="18857"/>
                      <a:pt x="19266" y="42429"/>
                      <a:pt x="19266" y="75430"/>
                    </a:cubicBezTo>
                    <a:cubicBezTo>
                      <a:pt x="19266" y="108431"/>
                      <a:pt x="48163" y="136718"/>
                      <a:pt x="81878" y="136718"/>
                    </a:cubicBezTo>
                    <a:cubicBezTo>
                      <a:pt x="110776" y="136718"/>
                      <a:pt x="139675" y="108431"/>
                      <a:pt x="139675" y="75430"/>
                    </a:cubicBezTo>
                    <a:cubicBezTo>
                      <a:pt x="139675" y="42429"/>
                      <a:pt x="110776" y="18857"/>
                      <a:pt x="81878" y="18857"/>
                    </a:cubicBez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8" id="8"/>
              <p:cNvSpPr/>
              <p:nvPr/>
            </p:nvSpPr>
            <p:spPr>
              <a:xfrm rot="0" flipH="false" flipV="false">
                <a:off x="11784216" y="4889417"/>
                <a:ext cx="191049" cy="188912"/>
              </a:xfrm>
              <a:custGeom>
                <a:avLst/>
                <a:gdLst/>
                <a:ahLst/>
                <a:cxnLst/>
                <a:rect r="r" b="b" t="t" l="l"/>
                <a:pathLst>
                  <a:path h="188912" w="191049">
                    <a:moveTo>
                      <a:pt x="95524" y="188913"/>
                    </a:moveTo>
                    <a:cubicBezTo>
                      <a:pt x="42986" y="188913"/>
                      <a:pt x="0" y="146408"/>
                      <a:pt x="0" y="94456"/>
                    </a:cubicBezTo>
                    <a:cubicBezTo>
                      <a:pt x="0" y="42506"/>
                      <a:pt x="42986" y="0"/>
                      <a:pt x="95524" y="0"/>
                    </a:cubicBezTo>
                    <a:cubicBezTo>
                      <a:pt x="148063" y="0"/>
                      <a:pt x="191049" y="42506"/>
                      <a:pt x="191049" y="94456"/>
                    </a:cubicBezTo>
                    <a:cubicBezTo>
                      <a:pt x="191049" y="146408"/>
                      <a:pt x="148063" y="188913"/>
                      <a:pt x="95524" y="188913"/>
                    </a:cubicBezTo>
                    <a:close/>
                    <a:moveTo>
                      <a:pt x="95524" y="18891"/>
                    </a:moveTo>
                    <a:cubicBezTo>
                      <a:pt x="52539" y="18891"/>
                      <a:pt x="19105" y="51951"/>
                      <a:pt x="19105" y="94456"/>
                    </a:cubicBezTo>
                    <a:cubicBezTo>
                      <a:pt x="19105" y="136962"/>
                      <a:pt x="52539" y="170021"/>
                      <a:pt x="95524" y="170021"/>
                    </a:cubicBezTo>
                    <a:cubicBezTo>
                      <a:pt x="138510" y="170021"/>
                      <a:pt x="171944" y="136962"/>
                      <a:pt x="171944" y="94456"/>
                    </a:cubicBezTo>
                    <a:cubicBezTo>
                      <a:pt x="171944" y="51951"/>
                      <a:pt x="138510" y="18891"/>
                      <a:pt x="95524" y="18891"/>
                    </a:cubicBez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9" id="9"/>
              <p:cNvSpPr/>
              <p:nvPr/>
            </p:nvSpPr>
            <p:spPr>
              <a:xfrm rot="0" flipH="false" flipV="false">
                <a:off x="11586746" y="5068805"/>
                <a:ext cx="311457" cy="1801812"/>
              </a:xfrm>
              <a:custGeom>
                <a:avLst/>
                <a:gdLst/>
                <a:ahLst/>
                <a:cxnLst/>
                <a:rect r="r" b="b" t="t" l="l"/>
                <a:pathLst>
                  <a:path h="1801812" w="311457">
                    <a:moveTo>
                      <a:pt x="28898" y="1801813"/>
                    </a:moveTo>
                    <a:lnTo>
                      <a:pt x="0" y="1801813"/>
                    </a:lnTo>
                    <a:lnTo>
                      <a:pt x="0" y="561975"/>
                    </a:lnTo>
                    <a:lnTo>
                      <a:pt x="282558" y="280987"/>
                    </a:lnTo>
                    <a:lnTo>
                      <a:pt x="282558" y="0"/>
                    </a:lnTo>
                    <a:lnTo>
                      <a:pt x="311457" y="0"/>
                    </a:lnTo>
                    <a:lnTo>
                      <a:pt x="311457" y="290513"/>
                    </a:lnTo>
                    <a:lnTo>
                      <a:pt x="28898" y="571500"/>
                    </a:lnTo>
                    <a:lnTo>
                      <a:pt x="28898" y="1801813"/>
                    </a:ln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10" id="10"/>
              <p:cNvSpPr/>
              <p:nvPr/>
            </p:nvSpPr>
            <p:spPr>
              <a:xfrm rot="0" flipH="false" flipV="false">
                <a:off x="11999346" y="6438817"/>
                <a:ext cx="192654" cy="188913"/>
              </a:xfrm>
              <a:custGeom>
                <a:avLst/>
                <a:gdLst/>
                <a:ahLst/>
                <a:cxnLst/>
                <a:rect r="r" b="b" t="t" l="l"/>
                <a:pathLst>
                  <a:path h="188913" w="192654">
                    <a:moveTo>
                      <a:pt x="96327" y="188913"/>
                    </a:moveTo>
                    <a:cubicBezTo>
                      <a:pt x="43348" y="188913"/>
                      <a:pt x="0" y="146408"/>
                      <a:pt x="0" y="94456"/>
                    </a:cubicBezTo>
                    <a:cubicBezTo>
                      <a:pt x="0" y="42506"/>
                      <a:pt x="43348" y="0"/>
                      <a:pt x="96327" y="0"/>
                    </a:cubicBezTo>
                    <a:cubicBezTo>
                      <a:pt x="149306" y="0"/>
                      <a:pt x="192654" y="42506"/>
                      <a:pt x="192654" y="94456"/>
                    </a:cubicBezTo>
                    <a:cubicBezTo>
                      <a:pt x="192654" y="146408"/>
                      <a:pt x="149306" y="188913"/>
                      <a:pt x="96327" y="188913"/>
                    </a:cubicBezTo>
                    <a:close/>
                    <a:moveTo>
                      <a:pt x="96327" y="18891"/>
                    </a:moveTo>
                    <a:cubicBezTo>
                      <a:pt x="57796" y="18891"/>
                      <a:pt x="19266" y="51951"/>
                      <a:pt x="19266" y="94456"/>
                    </a:cubicBezTo>
                    <a:cubicBezTo>
                      <a:pt x="19266" y="136962"/>
                      <a:pt x="57796" y="170021"/>
                      <a:pt x="96327" y="170021"/>
                    </a:cubicBezTo>
                    <a:cubicBezTo>
                      <a:pt x="139675" y="170021"/>
                      <a:pt x="173388" y="136962"/>
                      <a:pt x="173388" y="94456"/>
                    </a:cubicBezTo>
                    <a:cubicBezTo>
                      <a:pt x="173388" y="51951"/>
                      <a:pt x="139675" y="18891"/>
                      <a:pt x="96327" y="18891"/>
                    </a:cubicBez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AutoShape 11" id="11"/>
              <p:cNvSpPr/>
              <p:nvPr/>
            </p:nvSpPr>
            <p:spPr>
              <a:xfrm rot="0" flipH="false" flipV="false">
                <a:off x="12090856" y="6618205"/>
                <a:ext cx="24082" cy="252413"/>
              </a:xfrm>
              <a:prstGeom prst="rect">
                <a:avLst/>
              </a:pr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grpSp>
      </p:grpSp>
      <p:sp>
        <p:nvSpPr>
          <p:cNvPr name="AutoShape 12" id="12"/>
          <p:cNvSpPr/>
          <p:nvPr>
            <p:ph idx="20" type="body" sz="quarter" hasCustomPrompt="true"/>
          </p:nvPr>
        </p:nvSpPr>
        <p:spPr>
          <a:xfrm rot="0" flipH="false" flipV="false">
            <a:off x="0" y="0"/>
            <a:ext cx="4659313" cy="6858000"/>
          </a:xfrm>
          <a:prstGeom prst="rect">
            <a:avLst/>
          </a:prstGeom>
          <a:solidFill>
            <a:srgbClr val="8B0012">
              <a:alpha val="100000"/>
            </a:srgbClr>
          </a:solidFill>
          <a:ln w="12700">
            <a:noFill/>
            <a:prstDash val="solid"/>
          </a:ln>
        </p:spPr>
        <p:txBody>
          <a:bodyPr anchor="ctr" wrap="square" lIns="91440" rIns="91440" tIns="45720" bIns="45720">
            <a:normAutofit lnSpcReduction="0"/>
          </a:bodyPr>
          <a:lstStyle>
            <a:lvl1pPr algn="ctr">
              <a:lnSpc>
                <a:spcPct val="100000"/>
              </a:lnSpc>
              <a:defRPr sz="3200" b="true" i="false" u="none" strike="noStrike" spc="0">
                <a:solidFill>
                  <a:srgbClr val="FFFFFF">
                    <a:alpha val="100000"/>
                  </a:srgbClr>
                </a:solidFill>
                <a:latin typeface="Calibri"/>
              </a:defRPr>
            </a:lvl1pPr>
          </a:lstStyle>
          <a:p>
            <a:pPr algn="ctr" indent="0">
              <a:lnSpc>
                <a:spcPct val="100000"/>
              </a:lnSpc>
              <a:spcBef>
                <a:spcPts val="1500"/>
              </a:spcBef>
            </a:pPr>
            <a:r>
              <a:rPr lang="en-US" b="true" i="false" strike="noStrike" u="none" sz="3200">
                <a:solidFill>
                  <a:srgbClr val="FFFFFF"/>
                </a:solidFill>
                <a:latin typeface="Calibri"/>
                <a:ea typeface="Calibri"/>
                <a:cs typeface="Calibri"/>
                <a:sym typeface="Calibri"/>
              </a:rPr>
              <a:t>Outline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DEFAULT">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自定义版式">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Unnamed Layout">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name="AutoShape 2" id="2"/>
          <p:cNvSpPr/>
          <p:nvPr>
            <p:ph idx="21" type="body" sz="quarter" hasCustomPrompt="true"/>
          </p:nvPr>
        </p:nvSpPr>
        <p:spPr>
          <a:xfrm rot="0" flipH="false" flipV="false">
            <a:off x="1256418" y="5448300"/>
            <a:ext cx="10396122" cy="447675"/>
          </a:xfrm>
          <a:prstGeom prst="rect">
            <a:avLst/>
          </a:prstGeom>
          <a:noFill/>
          <a:ln w="12700">
            <a:noFill/>
            <a:prstDash val="solid"/>
          </a:ln>
        </p:spPr>
        <p:txBody>
          <a:bodyPr anchor="t" wrap="square" lIns="91440" rIns="91440" tIns="45720" bIns="45720">
            <a:noAutofit/>
          </a:bodyPr>
          <a:lstStyle>
            <a:lvl1pPr algn="ctr">
              <a:lnSpc>
                <a:spcPct val="100000"/>
              </a:lnSpc>
              <a:defRPr sz="2400" b="false" i="false" u="none" strike="noStrike" spc="0">
                <a:solidFill>
                  <a:srgbClr val="1F2329">
                    <a:alpha val="100000"/>
                  </a:srgbClr>
                </a:solidFill>
                <a:latin typeface="Noto Sans SC"/>
              </a:defRPr>
            </a:lvl1pPr>
          </a:lstStyle>
          <a:p>
            <a:pPr algn="ctr" indent="0">
              <a:lnSpc>
                <a:spcPct val="100000"/>
              </a:lnSpc>
            </a:pPr>
            <a:r>
              <a:rPr lang="en-US" b="false" i="false" strike="noStrike" u="none" sz="2400">
                <a:solidFill>
                  <a:srgbClr val="262626"/>
                </a:solidFill>
                <a:latin typeface="Calibri Light"/>
                <a:ea typeface="Calibri Light"/>
                <a:cs typeface="Calibri Light"/>
                <a:sym typeface="Calibri Light"/>
              </a:rPr>
              <a:t>日期</a:t>
            </a:r>
          </a:p>
        </p:txBody>
      </p:sp>
      <p:sp>
        <p:nvSpPr>
          <p:cNvPr name="AutoShape 3" id="3"/>
          <p:cNvSpPr/>
          <p:nvPr>
            <p:ph idx="22" type="body" sz="quarter" hasCustomPrompt="true"/>
          </p:nvPr>
        </p:nvSpPr>
        <p:spPr>
          <a:xfrm rot="0" flipH="false" flipV="false">
            <a:off x="1256418" y="6356351"/>
            <a:ext cx="10396122"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4" id="4"/>
          <p:cNvSpPr/>
          <p:nvPr>
            <p:ph idx="23" type="body" sz="quarter" hasCustomPrompt="true"/>
          </p:nvPr>
        </p:nvSpPr>
        <p:spPr>
          <a:xfrm rot="0" flipH="false" flipV="false">
            <a:off x="1260390" y="1895447"/>
            <a:ext cx="10392032" cy="2387600"/>
          </a:xfrm>
          <a:prstGeom prst="rect">
            <a:avLst/>
          </a:prstGeom>
          <a:noFill/>
          <a:ln w="12700">
            <a:noFill/>
            <a:prstDash val="solid"/>
          </a:ln>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5100">
                <a:solidFill>
                  <a:srgbClr val="262626"/>
                </a:solidFill>
                <a:latin typeface="微软雅黑"/>
                <a:ea typeface="微软雅黑"/>
                <a:cs typeface="微软雅黑"/>
                <a:sym typeface="微软雅黑"/>
              </a:rPr>
              <a:t>单击此处编辑母版标题样式</a:t>
            </a:r>
          </a:p>
        </p:txBody>
      </p:sp>
      <p:sp>
        <p:nvSpPr>
          <p:cNvPr name="AutoShape 5" id="5"/>
          <p:cNvSpPr/>
          <p:nvPr>
            <p:ph idx="24" type="body" sz="quarter" hasCustomPrompt="true"/>
          </p:nvPr>
        </p:nvSpPr>
        <p:spPr>
          <a:xfrm rot="0" flipH="false" flipV="false">
            <a:off x="1260390" y="4846320"/>
            <a:ext cx="10392032" cy="474980"/>
          </a:xfrm>
          <a:prstGeom prst="rect">
            <a:avLst/>
          </a:prstGeom>
          <a:noFill/>
          <a:ln w="12700">
            <a:noFill/>
            <a:prstDash val="solid"/>
          </a:ln>
        </p:spPr>
        <p:txBody>
          <a:bodyPr anchor="ctr" wrap="square" lIns="91440" rIns="91440" tIns="45720" bIns="45720">
            <a:noAutofit/>
          </a:bodyPr>
          <a:lstStyle>
            <a:lvl1pPr algn="ctr">
              <a:lnSpc>
                <a:spcPct val="100000"/>
              </a:lnSpc>
              <a:defRPr sz="24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2400">
                <a:solidFill>
                  <a:srgbClr val="262626"/>
                </a:solidFill>
                <a:latin typeface="微软雅黑"/>
                <a:ea typeface="微软雅黑"/>
                <a:cs typeface="微软雅黑"/>
                <a:sym typeface="微软雅黑"/>
              </a:rPr>
              <a:t>单击此处编辑母版副标题样式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7_제목 슬라이드">
    <p:spTree>
      <p:nvGrpSpPr>
        <p:cNvPr id="1" name=""/>
        <p:cNvGrpSpPr/>
        <p:nvPr/>
      </p:nvGrpSpPr>
      <p:grpSpPr>
        <a:xfrm>
          <a:off x="0" y="0"/>
          <a:ext cx="0" cy="0"/>
          <a:chOff x="0" y="0"/>
          <a:chExt cx="0" cy="0"/>
        </a:xfrm>
      </p:grpSpPr>
      <p:sp>
        <p:nvSpPr>
          <p:cNvPr name="AutoShape 2" id="2"/>
          <p:cNvSpPr/>
          <p:nvPr>
            <p:ph idx="25" type="pic" sz="quarter"/>
          </p:nvPr>
        </p:nvSpPr>
        <p:spPr>
          <a:xfrm rot="0" flipH="false" flipV="false">
            <a:off x="0" y="1"/>
            <a:ext cx="12192000" cy="6858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3" id="3"/>
          <p:cNvSpPr/>
          <p:nvPr>
            <p:ph idx="26" type="body" sz="quarter" hasCustomPrompt="true"/>
          </p:nvPr>
        </p:nvSpPr>
        <p:spPr>
          <a:xfrm rot="0" flipH="false" flipV="false">
            <a:off x="727587" y="1622323"/>
            <a:ext cx="10943800" cy="3028335"/>
          </a:xfrm>
          <a:prstGeom prst="rect">
            <a:avLst/>
          </a:prstGeom>
          <a:noFill/>
          <a:ln w="12700">
            <a:noFill/>
            <a:prstDash val="solid"/>
          </a:ln>
        </p:spPr>
        <p:txBody>
          <a:bodyPr anchor="ctr" wrap="square" lIns="91440" rIns="91440" tIns="45720" bIns="45720">
            <a:noAutofit/>
          </a:bodyPr>
          <a:lstStyle>
            <a:lvl1pPr algn="l">
              <a:lnSpc>
                <a:spcPct val="91666"/>
              </a:lnSpc>
              <a:defRPr sz="4400" b="false" i="false" u="none" strike="noStrike" spc="0">
                <a:solidFill>
                  <a:srgbClr val="44546A">
                    <a:alpha val="100000"/>
                  </a:srgbClr>
                </a:solidFill>
                <a:latin typeface="Pretendard"/>
              </a:defRPr>
            </a:lvl1pPr>
          </a:lstStyle>
          <a:p>
            <a:pPr algn="l" indent="0">
              <a:lnSpc>
                <a:spcPct val="91666"/>
              </a:lnSpc>
            </a:pPr>
            <a:r>
              <a:rPr lang="en-US" b="false" i="false" strike="noStrike" u="none" sz="4400">
                <a:solidFill>
                  <a:srgbClr val="44546A"/>
                </a:solidFill>
                <a:latin typeface="Pretendard"/>
                <a:ea typeface="Pretendard"/>
                <a:cs typeface="Pretendard"/>
                <a:sym typeface="Pretendard"/>
              </a:rPr>
              <a:t>마스터</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제목</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스타일</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편집</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2"/>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3"/>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8_제목 슬라이드">
    <p:spTree>
      <p:nvGrpSpPr>
        <p:cNvPr id="1" name=""/>
        <p:cNvGrpSpPr/>
        <p:nvPr/>
      </p:nvGrpSpPr>
      <p:grpSpPr>
        <a:xfrm>
          <a:off x="0" y="0"/>
          <a:ext cx="0" cy="0"/>
          <a:chOff x="0" y="0"/>
          <a:chExt cx="0" cy="0"/>
        </a:xfrm>
      </p:grpSpPr>
      <p:sp>
        <p:nvSpPr>
          <p:cNvPr name="AutoShape 2" id="2"/>
          <p:cNvSpPr/>
          <p:nvPr>
            <p:ph idx="27" type="pic" sz="quarter"/>
          </p:nvPr>
        </p:nvSpPr>
        <p:spPr>
          <a:xfrm rot="0" flipH="false" flipV="false">
            <a:off x="0" y="1"/>
            <a:ext cx="12192000" cy="6858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3" id="3"/>
          <p:cNvSpPr/>
          <p:nvPr>
            <p:ph idx="28" type="body" sz="quarter" hasCustomPrompt="true"/>
          </p:nvPr>
        </p:nvSpPr>
        <p:spPr>
          <a:xfrm rot="0" flipH="false" flipV="false">
            <a:off x="3136489" y="3716594"/>
            <a:ext cx="8534897" cy="2664541"/>
          </a:xfrm>
          <a:prstGeom prst="rect">
            <a:avLst/>
          </a:prstGeom>
          <a:noFill/>
          <a:ln w="12700">
            <a:noFill/>
            <a:prstDash val="solid"/>
          </a:ln>
        </p:spPr>
        <p:txBody>
          <a:bodyPr anchor="ctr" wrap="square" lIns="91440" rIns="91440" tIns="45720" bIns="45720">
            <a:noAutofit/>
          </a:bodyPr>
          <a:lstStyle>
            <a:lvl1pPr algn="r">
              <a:lnSpc>
                <a:spcPct val="91666"/>
              </a:lnSpc>
              <a:defRPr sz="4400" b="false" i="false" u="none" strike="noStrike" spc="0">
                <a:solidFill>
                  <a:srgbClr val="44546A">
                    <a:alpha val="100000"/>
                  </a:srgbClr>
                </a:solidFill>
                <a:latin typeface="Pretendard"/>
              </a:defRPr>
            </a:lvl1pPr>
          </a:lstStyle>
          <a:p>
            <a:pPr algn="r" indent="0">
              <a:lnSpc>
                <a:spcPct val="91666"/>
              </a:lnSpc>
            </a:pPr>
            <a:r>
              <a:rPr lang="en-US" b="false" i="false" strike="noStrike" u="none" sz="4400">
                <a:solidFill>
                  <a:srgbClr val="44546A"/>
                </a:solidFill>
                <a:latin typeface="Pretendard"/>
                <a:ea typeface="Pretendard"/>
                <a:cs typeface="Pretendard"/>
                <a:sym typeface="Pretendard"/>
              </a:rPr>
              <a:t>마스터</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제목</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스타일</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편집</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2"/>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3"/>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13" Target="../media/image21.png" Type="http://schemas.openxmlformats.org/officeDocument/2006/relationships/imag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10" Target="../slideLayouts/slideLayout17.xml" Type="http://schemas.openxmlformats.org/officeDocument/2006/relationships/slideLayout"/><Relationship Id="rId11" Target="../slideLayouts/slideLayout18.xml" Type="http://schemas.openxmlformats.org/officeDocument/2006/relationships/slideLayout"/><Relationship Id="rId12" Target="../slideLayouts/slideLayout19.xml" Type="http://schemas.openxmlformats.org/officeDocument/2006/relationships/slideLayout"/><Relationship Id="rId13" Target="../slideLayouts/slideLayout20.xml" Type="http://schemas.openxmlformats.org/officeDocument/2006/relationships/slideLayout"/><Relationship Id="rId14" Target="../slideLayouts/slideLayout21.xml" Type="http://schemas.openxmlformats.org/officeDocument/2006/relationships/slideLayout"/><Relationship Id="rId15" Target="../slideLayouts/slideLayout22.xml" Type="http://schemas.openxmlformats.org/officeDocument/2006/relationships/slideLayout"/><Relationship Id="rId16" Target="../media/image21.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slideLayouts/slideLayout12.xml" Type="http://schemas.openxmlformats.org/officeDocument/2006/relationships/slideLayout"/><Relationship Id="rId6" Target="../slideLayouts/slideLayout13.xml" Type="http://schemas.openxmlformats.org/officeDocument/2006/relationships/slideLayout"/><Relationship Id="rId7" Target="../slideLayouts/slideLayout14.xml" Type="http://schemas.openxmlformats.org/officeDocument/2006/relationships/slideLayout"/><Relationship Id="rId8" Target="../slideLayouts/slideLayout15.xml" Type="http://schemas.openxmlformats.org/officeDocument/2006/relationships/slideLayout"/><Relationship Id="rId9" Target="../slideLayouts/slideLayout16.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pic>
        <p:nvPicPr>
          <p:cNvPr name="Picture 1" id="1"/>
          <p:cNvPicPr>
            <a:picLocks noChangeAspect="true"/>
          </p:cNvPicPr>
          <p:nvPr/>
        </p:nvPicPr>
        <p:blipFill>
          <a:blip r:embed="rId13"/>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母版">
    <p:bg>
      <p:bgPr>
        <a:blipFill dpi="0" rotWithShape="true">
          <a:blip r:embed="rId2">
            <a:lum/>
          </a:blip>
          <a:srcRect/>
          <a:stretch>
            <a:fillRect l="0" r="0" t="0" b="0"/>
          </a:stretch>
        </a:blipFill>
        <a:effectLst/>
      </p:bgPr>
    </p:bg>
    <p:spTree>
      <p:nvGrpSpPr>
        <p:cNvPr id="5" name="Shape 5"/>
        <p:cNvGrpSpPr/>
        <p:nvPr/>
      </p:nvGrpSpPr>
      <p:grpSpPr>
        <a:xfrm>
          <a:off x="0" y="0"/>
          <a:ext cx="0" cy="0"/>
          <a:chOff x="0" y="0"/>
          <a:chExt cx="0" cy="0"/>
        </a:xfrm>
      </p:grpSpPr>
      <p:sp>
        <p:nvSpPr>
          <p:cNvPr name="Freeform 1" id="1"/>
          <p:cNvSpPr/>
          <p:nvPr/>
        </p:nvSpPr>
        <p:spPr>
          <a:xfrm rot="0" flipH="false" flipV="true">
            <a:off x="-4185" y="529393"/>
            <a:ext cx="567982" cy="507999"/>
          </a:xfrm>
          <a:custGeom>
            <a:avLst/>
            <a:gdLst/>
            <a:ahLst/>
            <a:cxnLst/>
            <a:rect r="r" b="b" t="t" l="l"/>
            <a:pathLst>
              <a:path h="507999" w="567982">
                <a:moveTo>
                  <a:pt x="564624" y="238811"/>
                </a:moveTo>
                <a:lnTo>
                  <a:pt x="483240" y="9550"/>
                </a:lnTo>
                <a:cubicBezTo>
                  <a:pt x="482690" y="7925"/>
                  <a:pt x="482018" y="6401"/>
                  <a:pt x="481468" y="4775"/>
                </a:cubicBezTo>
                <a:cubicBezTo>
                  <a:pt x="479820" y="0"/>
                  <a:pt x="478111" y="0"/>
                  <a:pt x="476401" y="0"/>
                </a:cubicBezTo>
                <a:lnTo>
                  <a:pt x="444165" y="0"/>
                </a:lnTo>
                <a:lnTo>
                  <a:pt x="0" y="3556"/>
                </a:lnTo>
                <a:cubicBezTo>
                  <a:pt x="489" y="171704"/>
                  <a:pt x="1038" y="339851"/>
                  <a:pt x="1527" y="507999"/>
                </a:cubicBezTo>
                <a:lnTo>
                  <a:pt x="444165" y="506272"/>
                </a:lnTo>
                <a:lnTo>
                  <a:pt x="476401" y="506272"/>
                </a:lnTo>
                <a:cubicBezTo>
                  <a:pt x="478111" y="506272"/>
                  <a:pt x="479820" y="501496"/>
                  <a:pt x="481468" y="501496"/>
                </a:cubicBezTo>
                <a:cubicBezTo>
                  <a:pt x="481468" y="496721"/>
                  <a:pt x="483240" y="496721"/>
                  <a:pt x="483240" y="496721"/>
                </a:cubicBezTo>
                <a:lnTo>
                  <a:pt x="564624" y="267462"/>
                </a:lnTo>
                <a:cubicBezTo>
                  <a:pt x="567982" y="257912"/>
                  <a:pt x="567982" y="248361"/>
                  <a:pt x="564624" y="238811"/>
                </a:cubicBezTo>
                <a:close/>
              </a:path>
            </a:pathLst>
          </a:custGeom>
          <a:solidFill>
            <a:srgbClr val="8B0012">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400">
                <a:solidFill>
                  <a:srgbClr val="000000"/>
                </a:solidFill>
                <a:latin typeface="Arial"/>
                <a:ea typeface="Arial"/>
                <a:cs typeface="Arial"/>
                <a:sym typeface="Arial"/>
              </a:rPr>
              <a:t> </a:t>
            </a:r>
            <a:endParaRPr lang="en-US" sz="1100"/>
          </a:p>
        </p:txBody>
      </p:sp>
      <p:grpSp>
        <p:nvGrpSpPr>
          <p:cNvPr name="Group 2" id="2"/>
          <p:cNvGrpSpPr/>
          <p:nvPr/>
        </p:nvGrpSpPr>
        <p:grpSpPr>
          <a:xfrm>
            <a:off x="9221415" y="158476"/>
            <a:ext cx="2580450" cy="547850"/>
            <a:chOff x="9221415" y="158476"/>
            <a:chExt cx="2580450" cy="547850"/>
          </a:xfrm>
        </p:grpSpPr>
        <p:pic>
          <p:nvPicPr>
            <p:cNvPr name="Picture 3" id="3"/>
            <p:cNvPicPr>
              <a:picLocks noChangeAspect="true"/>
            </p:cNvPicPr>
            <p:nvPr/>
          </p:nvPicPr>
          <p:blipFill>
            <a:blip r:embed="rId3"/>
            <a:srcRect l="0" r="0" t="0" b="0"/>
            <a:stretch>
              <a:fillRect/>
            </a:stretch>
          </p:blipFill>
          <p:spPr>
            <a:xfrm rot="0" flipH="false" flipV="false">
              <a:off x="9221415" y="260529"/>
              <a:ext cx="1096400" cy="336123"/>
            </a:xfrm>
            <a:prstGeom prst="rect">
              <a:avLst/>
            </a:prstGeom>
            <a:ln w="12700">
              <a:noFill/>
              <a:prstDash val="solid"/>
            </a:ln>
          </p:spPr>
        </p:pic>
        <p:pic>
          <p:nvPicPr>
            <p:cNvPr name="Picture 4" id="4"/>
            <p:cNvPicPr>
              <a:picLocks noChangeAspect="true"/>
            </p:cNvPicPr>
            <p:nvPr/>
          </p:nvPicPr>
          <p:blipFill>
            <a:blip r:embed="rId4"/>
            <a:srcRect l="13229" r="10430" t="29812" b="29795"/>
            <a:stretch>
              <a:fillRect/>
            </a:stretch>
          </p:blipFill>
          <p:spPr>
            <a:xfrm rot="0" flipH="false" flipV="false">
              <a:off x="10527164" y="158476"/>
              <a:ext cx="1274701" cy="547850"/>
            </a:xfrm>
            <a:prstGeom prst="rect">
              <a:avLst/>
            </a:prstGeom>
            <a:ln w="12700">
              <a:noFill/>
              <a:prstDash val="solid"/>
            </a:ln>
          </p:spPr>
        </p:pic>
      </p:grpSp>
      <p:pic>
        <p:nvPicPr>
          <p:cNvPr name="Picture 6" id="6"/>
          <p:cNvPicPr>
            <a:picLocks noChangeAspect="true"/>
          </p:cNvPicPr>
          <p:nvPr/>
        </p:nvPicPr>
        <p:blipFill>
          <a:blip r:embed="rId16"/>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57483699" r:id="rId5"/>
    <p:sldLayoutId id="2157483700" r:id="rId6"/>
    <p:sldLayoutId id="2157483701" r:id="rId7"/>
    <p:sldLayoutId id="2157483702" r:id="rId8"/>
    <p:sldLayoutId id="2157483703" r:id="rId9"/>
    <p:sldLayoutId id="2157483704" r:id="rId10"/>
    <p:sldLayoutId id="2157483705" r:id="rId11"/>
    <p:sldLayoutId id="2157483706" r:id="rId12"/>
    <p:sldLayoutId id="2157483707" r:id="rId13"/>
    <p:sldLayoutId id="2157483708" r:id="rId14"/>
    <p:sldLayoutId id="2157483709"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21.xml" Type="http://schemas.openxmlformats.org/officeDocument/2006/relationships/slideLayout"/><Relationship Id="rId2" Target="../media/image4.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 Id="rId4"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3.xml" Type="http://schemas.openxmlformats.org/officeDocument/2006/relationships/slideLayout"/><Relationship Id="rId10" Target="../media/image9.png" Type="http://schemas.openxmlformats.org/officeDocument/2006/relationships/image"/><Relationship Id="rId11" Target="../notesSlides/notesSlide6.xml" Type="http://schemas.openxmlformats.org/officeDocument/2006/relationships/notesSlide"/><Relationship Id="rId2" Target="https://github.com/triton-lang/triton" TargetMode="External" Type="http://schemas.openxmlformats.org/officeDocument/2006/relationships/hyperlink"/><Relationship Id="rId3" Target="https://github.com/triton-lang/triton" TargetMode="External" Type="http://schemas.openxmlformats.org/officeDocument/2006/relationships/hyperlink"/><Relationship Id="rId4" Target="https://github.com/triton-lang/triton" TargetMode="External" Type="http://schemas.openxmlformats.org/officeDocument/2006/relationships/hyperlink"/><Relationship Id="rId5" Target="https://triton-lang.org/" TargetMode="External" Type="http://schemas.openxmlformats.org/officeDocument/2006/relationships/hyperlink"/><Relationship Id="rId6" Target="https://triton-lang.org/" TargetMode="External" Type="http://schemas.openxmlformats.org/officeDocument/2006/relationships/hyperlink"/><Relationship Id="rId7" Target="../media/image6.pn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0.png" Type="http://schemas.openxmlformats.org/officeDocument/2006/relationships/image"/><Relationship Id="rId3"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4.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14.xml" Type="http://schemas.openxmlformats.org/officeDocument/2006/relationships/slideLayout"/><Relationship Id="rId2"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18.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19.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20.xml" Type="http://schemas.openxmlformats.org/officeDocument/2006/relationships/notesSlide"/></Relationships>
</file>

<file path=ppt/slides/_rels/slide21.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21.xml" Type="http://schemas.openxmlformats.org/officeDocument/2006/relationships/notesSlide"/></Relationships>
</file>

<file path=ppt/slides/_rels/slide22.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22.xml" Type="http://schemas.openxmlformats.org/officeDocument/2006/relationships/notesSlide"/></Relationships>
</file>

<file path=ppt/slides/_rels/slide23.xml.rels><?xml version="1.0" encoding="UTF-8" standalone="yes"?><Relationships xmlns="http://schemas.openxmlformats.org/package/2006/relationships"><Relationship Id="rId1" Target="../slideLayouts/slideLayout14.xml" Type="http://schemas.openxmlformats.org/officeDocument/2006/relationships/slideLayout"/><Relationship Id="rId2" Target="../notesSlides/notesSlide23.xml" Type="http://schemas.openxmlformats.org/officeDocument/2006/relationships/notesSlide"/></Relationships>
</file>

<file path=ppt/slides/_rels/slide24.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24.xml" Type="http://schemas.openxmlformats.org/officeDocument/2006/relationships/notesSlide"/></Relationships>
</file>

<file path=ppt/slides/_rels/slide25.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25.xml" Type="http://schemas.openxmlformats.org/officeDocument/2006/relationships/notesSlide"/></Relationships>
</file>

<file path=ppt/slides/_rels/slide26.xml.rels><?xml version="1.0" encoding="UTF-8" standalone="yes"?><Relationships xmlns="http://schemas.openxmlformats.org/package/2006/relationships"><Relationship Id="rId1" Target="../slideLayouts/slideLayout14.xml" Type="http://schemas.openxmlformats.org/officeDocument/2006/relationships/slideLayout"/><Relationship Id="rId2" Target="../notesSlides/notesSlide26.xml" Type="http://schemas.openxmlformats.org/officeDocument/2006/relationships/notesSlide"/></Relationships>
</file>

<file path=ppt/slides/_rels/slide27.xml.rels><?xml version="1.0" encoding="UTF-8" standalone="yes"?><Relationships xmlns="http://schemas.openxmlformats.org/package/2006/relationships"><Relationship Id="rId1" Target="../slideLayouts/slideLayout13.xml" Type="http://schemas.openxmlformats.org/officeDocument/2006/relationships/slideLayout"/><Relationship Id="rId2" Target="https://triton-lang.org/main/index.html" TargetMode="External" Type="http://schemas.openxmlformats.org/officeDocument/2006/relationships/hyperlink"/><Relationship Id="rId3" Target="https://github.com/triton-lang/triton/tree/main/docs/meetups" TargetMode="External" Type="http://schemas.openxmlformats.org/officeDocument/2006/relationships/hyperlink"/><Relationship Id="rId4" Target="https://github.com/dao-ailab/flash-attention/blob/main/flash_attn/flash_attn_triton.py" TargetMode="External" Type="http://schemas.openxmlformats.org/officeDocument/2006/relationships/hyperlink"/><Relationship Id="rId5" Target="../notesSlides/notesSlide27.xml" Type="http://schemas.openxmlformats.org/officeDocument/2006/relationships/notesSlide"/></Relationships>
</file>

<file path=ppt/slides/_rels/slide28.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1.png" Type="http://schemas.openxmlformats.org/officeDocument/2006/relationships/image"/><Relationship Id="rId3" Target="../notesSlides/notesSlide28.xml" Type="http://schemas.openxmlformats.org/officeDocument/2006/relationships/notesSlide"/></Relationships>
</file>

<file path=ppt/slides/_rels/slide29.xml.rels><?xml version="1.0" encoding="UTF-8" standalone="yes"?><Relationships xmlns="http://schemas.openxmlformats.org/package/2006/relationships"><Relationship Id="rId1" Target="../slideLayouts/slideLayout17.xml" Type="http://schemas.openxmlformats.org/officeDocument/2006/relationships/slideLayout"/><Relationship Id="rId10" Target="https://www.zhihu.com/people/95-22-20-18/posts" TargetMode="External" Type="http://schemas.openxmlformats.org/officeDocument/2006/relationships/hyperlink"/><Relationship Id="rId11" Target="https://flagos.io/Home" TargetMode="External" Type="http://schemas.openxmlformats.org/officeDocument/2006/relationships/hyperlink"/><Relationship Id="rId12" Target="../media/image18.jpeg" Type="http://schemas.openxmlformats.org/officeDocument/2006/relationships/image"/><Relationship Id="rId13" Target="../media/image19.png" Type="http://schemas.openxmlformats.org/officeDocument/2006/relationships/image"/><Relationship Id="rId14" Target="../notesSlides/notesSlide29.xml" Type="http://schemas.openxmlformats.org/officeDocument/2006/relationships/notesSlide"/><Relationship Id="rId2" Target="../media/image12.png" Type="http://schemas.openxmlformats.org/officeDocument/2006/relationships/image"/><Relationship Id="rId3" Target="../media/image13.pn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 Id="rId6" Target="../media/image16.png" Type="http://schemas.openxmlformats.org/officeDocument/2006/relationships/image"/><Relationship Id="rId7" Target="../media/image17.png" Type="http://schemas.openxmlformats.org/officeDocument/2006/relationships/image"/><Relationship Id="rId8" Target="https://github.com/flagos-ai" TargetMode="External" Type="http://schemas.openxmlformats.org/officeDocument/2006/relationships/hyperlink"/><Relationship Id="rId9" Target="https://space.bilibili.com/3546791834290849" TargetMode="External" Type="http://schemas.openxmlformats.org/officeDocument/2006/relationships/hyperlink"/></Relationships>
</file>

<file path=ppt/slides/_rels/slide30.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20.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notesSlides/notesSlide30.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ph idx="25" type="pic" sz="quarter"/>
          </p:nvPr>
        </p:nvPicPr>
        <p:blipFill>
          <a:blip r:embed="rId2"/>
          <a:srcRect l="0" r="0" t="349" b="349"/>
          <a:stretch>
            <a:fillRect/>
          </a:stretch>
        </p:blipFill>
        <p:spPr>
          <a:xfrm rot="0" flipH="false" flipV="false">
            <a:off x="0" y="1"/>
            <a:ext cx="12192000" cy="6858000"/>
          </a:xfrm>
          <a:prstGeom prst="rect">
            <a:avLst/>
          </a:prstGeom>
        </p:spPr>
      </p:pic>
      <p:sp>
        <p:nvSpPr>
          <p:cNvPr name="AutoShape 3" id="3"/>
          <p:cNvSpPr/>
          <p:nvPr>
            <p:ph idx="26" type="body" sz="quarter" hasCustomPrompt="true"/>
          </p:nvPr>
        </p:nvSpPr>
        <p:spPr>
          <a:prstGeom prst="rect">
            <a:avLst/>
          </a:prstGeom>
        </p:spPr>
        <p:txBody>
          <a:bodyPr anchor="ctr" wrap="square" lIns="91440" rIns="91440" tIns="45720" bIns="45720">
            <a:noAutofit/>
          </a:bodyPr>
          <a:lstStyle>
            <a:lvl1pPr algn="l">
              <a:lnSpc>
                <a:spcPct val="91666"/>
              </a:lnSpc>
              <a:defRPr sz="4400" b="true" i="false" u="none" strike="noStrike" spc="0">
                <a:solidFill>
                  <a:srgbClr val="44546A">
                    <a:alpha val="100000"/>
                  </a:srgbClr>
                </a:solidFill>
                <a:latin typeface="微软雅黑"/>
              </a:defRPr>
            </a:lvl1pPr>
          </a:lstStyle>
          <a:p>
            <a:pPr algn="l" indent="0">
              <a:lnSpc>
                <a:spcPct val="91666"/>
              </a:lnSpc>
            </a:pPr>
            <a:r>
              <a:rPr lang="en-US" b="true" i="false" strike="noStrike" u="none" sz="4400">
                <a:solidFill>
                  <a:srgbClr val="44546A"/>
                </a:solidFill>
                <a:latin typeface="微软雅黑"/>
                <a:ea typeface="微软雅黑"/>
                <a:cs typeface="微软雅黑"/>
                <a:sym typeface="微软雅黑"/>
              </a:rPr>
              <a:t>智能计算系统</a:t>
            </a:r>
            <a:br>
              <a:rPr lang="en-US" b="true" i="false" strike="noStrike" u="none" sz="4400">
                <a:solidFill>
                  <a:srgbClr val="44546A"/>
                </a:solidFill>
                <a:latin typeface="微软雅黑"/>
                <a:ea typeface="微软雅黑"/>
                <a:cs typeface="微软雅黑"/>
                <a:sym typeface="微软雅黑"/>
              </a:rPr>
            </a:br>
            <a:r>
              <a:rPr lang="en-US" b="true" i="false" strike="noStrike" u="none" sz="4400">
                <a:solidFill>
                  <a:srgbClr val="44546A"/>
                </a:solidFill>
                <a:latin typeface="微软雅黑"/>
                <a:ea typeface="微软雅黑"/>
                <a:cs typeface="微软雅黑"/>
                <a:sym typeface="微软雅黑"/>
              </a:rPr>
              <a:t>软硬件基础</a:t>
            </a:r>
          </a:p>
        </p:txBody>
      </p:sp>
      <p:grpSp>
        <p:nvGrpSpPr>
          <p:cNvPr name="Group 4" id="4"/>
          <p:cNvGrpSpPr/>
          <p:nvPr/>
        </p:nvGrpSpPr>
        <p:grpSpPr>
          <a:xfrm>
            <a:off x="364100" y="6255612"/>
            <a:ext cx="409904" cy="409904"/>
            <a:chOff x="364100" y="6255612"/>
            <a:chExt cx="409904" cy="409904"/>
          </a:xfrm>
        </p:grpSpPr>
        <p:sp>
          <p:nvSpPr>
            <p:cNvPr name="AutoShape 5" id="5"/>
            <p:cNvSpPr/>
            <p:nvPr/>
          </p:nvSpPr>
          <p:spPr>
            <a:xfrm rot="0" flipH="false" flipV="false">
              <a:off x="364100" y="6255612"/>
              <a:ext cx="409904" cy="409904"/>
            </a:xfrm>
            <a:prstGeom prst="ellipse">
              <a:avLst/>
            </a:prstGeom>
            <a:solidFill>
              <a:srgbClr val="ED7D31">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6" id="6"/>
            <p:cNvSpPr/>
            <p:nvPr/>
          </p:nvSpPr>
          <p:spPr>
            <a:xfrm rot="0" flipH="false" flipV="false">
              <a:off x="505546" y="6397058"/>
              <a:ext cx="127012" cy="127012"/>
            </a:xfrm>
            <a:prstGeom prst="chevron">
              <a:avLst>
                <a:gd name="adj" fmla="val 50000"/>
              </a:avLst>
            </a:prstGeom>
            <a:solidFill>
              <a:srgbClr val="DAE3F3">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grpSp>
      <p:grpSp>
        <p:nvGrpSpPr>
          <p:cNvPr name="Group 7" id="7"/>
          <p:cNvGrpSpPr/>
          <p:nvPr/>
        </p:nvGrpSpPr>
        <p:grpSpPr>
          <a:xfrm>
            <a:off x="9247450" y="217531"/>
            <a:ext cx="2580450" cy="547850"/>
            <a:chOff x="9247450" y="217531"/>
            <a:chExt cx="2580450" cy="547850"/>
          </a:xfrm>
        </p:grpSpPr>
        <p:pic>
          <p:nvPicPr>
            <p:cNvPr name="Picture 8" id="8"/>
            <p:cNvPicPr>
              <a:picLocks noChangeAspect="true"/>
            </p:cNvPicPr>
            <p:nvPr/>
          </p:nvPicPr>
          <p:blipFill>
            <a:blip r:embed="rId3"/>
            <a:srcRect l="0" r="0" t="0" b="0"/>
            <a:stretch>
              <a:fillRect/>
            </a:stretch>
          </p:blipFill>
          <p:spPr>
            <a:xfrm rot="0" flipH="false" flipV="false">
              <a:off x="9247450" y="319584"/>
              <a:ext cx="1096400" cy="336123"/>
            </a:xfrm>
            <a:prstGeom prst="rect">
              <a:avLst/>
            </a:prstGeom>
            <a:ln w="12700">
              <a:noFill/>
              <a:prstDash val="solid"/>
            </a:ln>
          </p:spPr>
        </p:pic>
        <p:pic>
          <p:nvPicPr>
            <p:cNvPr name="Picture 9" id="9"/>
            <p:cNvPicPr>
              <a:picLocks noChangeAspect="true"/>
            </p:cNvPicPr>
            <p:nvPr/>
          </p:nvPicPr>
          <p:blipFill>
            <a:blip r:embed="rId4"/>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
</file>

<file path=ppt/slides/slide2.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5" type="body" sz="quarter" hasCustomPrompt="true"/>
          </p:nvPr>
        </p:nvSpPr>
        <p:spPr>
          <a:prstGeom prst="rect">
            <a:avLst/>
          </a:prstGeom>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Calibri"/>
              </a:defRPr>
            </a:lvl1pPr>
          </a:lstStyle>
          <a:p>
            <a:pPr algn="ctr" indent="0">
              <a:lnSpc>
                <a:spcPct val="100000"/>
              </a:lnSpc>
              <a:spcBef>
                <a:spcPts val="1500"/>
              </a:spcBef>
            </a:pPr>
            <a:r>
              <a:rPr lang="en-US" b="false" i="false" strike="noStrike" u="none" sz="5100">
                <a:solidFill>
                  <a:srgbClr val="262626"/>
                </a:solidFill>
                <a:latin typeface="Calibri"/>
                <a:ea typeface="Calibri"/>
                <a:cs typeface="Calibri"/>
                <a:sym typeface="Calibri"/>
              </a:rPr>
              <a:t>Lecture 4</a:t>
            </a:r>
            <a:r>
              <a:rPr lang="en-US" b="false" i="false" strike="noStrike" u="none" sz="5100">
                <a:solidFill>
                  <a:srgbClr val="262626"/>
                </a:solidFill>
                <a:latin typeface="微软雅黑"/>
                <a:ea typeface="微软雅黑"/>
                <a:cs typeface="微软雅黑"/>
                <a:sym typeface="微软雅黑"/>
              </a:rPr>
              <a:t>：</a:t>
            </a:r>
            <a:r>
              <a:rPr lang="en-US" b="false" i="false" strike="noStrike" u="none" sz="5100">
                <a:solidFill>
                  <a:srgbClr val="262626"/>
                </a:solidFill>
                <a:latin typeface="Calibri"/>
                <a:ea typeface="Calibri"/>
                <a:cs typeface="Calibri"/>
                <a:sym typeface="Calibri"/>
              </a:rPr>
              <a:t>Triton </a:t>
            </a:r>
            <a:r>
              <a:rPr lang="en-US" b="false" i="false" strike="noStrike" u="none" sz="5100">
                <a:solidFill>
                  <a:srgbClr val="262626"/>
                </a:solidFill>
                <a:latin typeface="微软雅黑"/>
                <a:ea typeface="微软雅黑"/>
                <a:cs typeface="微软雅黑"/>
                <a:sym typeface="微软雅黑"/>
              </a:rPr>
              <a:t>语言入门</a:t>
            </a:r>
          </a:p>
        </p:txBody>
      </p:sp>
    </p:spTree>
  </p:cSld>
  <p:clrMapOvr>
    <a:masterClrMapping/>
  </p:clrMapOvr>
  <p:transition main:dur="1000">
    <p:fade thruBlk="false"/>
  </p:transition>
</p:sld>
</file>

<file path=ppt/slides/slide3.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Triton </a:t>
            </a:r>
            <a:r>
              <a:rPr lang="en-US" b="false" i="false" strike="noStrike" u="none" sz="3600">
                <a:solidFill>
                  <a:srgbClr val="262626"/>
                </a:solidFill>
                <a:latin typeface="微软雅黑"/>
                <a:ea typeface="微软雅黑"/>
                <a:cs typeface="微软雅黑"/>
                <a:sym typeface="微软雅黑"/>
              </a:rPr>
              <a:t>编程：</a:t>
            </a:r>
            <a:r>
              <a:rPr lang="en-US" b="false" i="false" strike="noStrike" u="none" sz="2000">
                <a:solidFill>
                  <a:srgbClr val="262626"/>
                </a:solidFill>
                <a:latin typeface="微软雅黑"/>
                <a:ea typeface="微软雅黑"/>
                <a:cs typeface="微软雅黑"/>
                <a:sym typeface="微软雅黑"/>
              </a:rPr>
              <a:t>以</a:t>
            </a:r>
            <a:r>
              <a:rPr lang="en-US" b="false" i="false" strike="noStrike" u="none" sz="2000">
                <a:solidFill>
                  <a:srgbClr val="262626"/>
                </a:solidFill>
                <a:latin typeface="Calibri"/>
                <a:ea typeface="Calibri"/>
                <a:cs typeface="Calibri"/>
                <a:sym typeface="Calibri"/>
              </a:rPr>
              <a:t> Python </a:t>
            </a:r>
            <a:r>
              <a:rPr lang="en-US" b="false" i="false" strike="noStrike" u="none" sz="2000">
                <a:solidFill>
                  <a:srgbClr val="262626"/>
                </a:solidFill>
                <a:latin typeface="微软雅黑"/>
                <a:ea typeface="微软雅黑"/>
                <a:cs typeface="微软雅黑"/>
                <a:sym typeface="微软雅黑"/>
              </a:rPr>
              <a:t>风格编写高性能</a:t>
            </a:r>
            <a:r>
              <a:rPr lang="en-US" b="false" i="false" strike="noStrike" u="none" sz="2000">
                <a:solidFill>
                  <a:srgbClr val="262626"/>
                </a:solidFill>
                <a:latin typeface="Calibri"/>
                <a:ea typeface="Calibri"/>
                <a:cs typeface="Calibri"/>
                <a:sym typeface="Calibri"/>
              </a:rPr>
              <a:t> GPU </a:t>
            </a:r>
            <a:r>
              <a:rPr lang="en-US" b="false" i="false" strike="noStrike" u="none" sz="2000">
                <a:solidFill>
                  <a:srgbClr val="262626"/>
                </a:solidFill>
                <a:latin typeface="微软雅黑"/>
                <a:ea typeface="微软雅黑"/>
                <a:cs typeface="微软雅黑"/>
                <a:sym typeface="微软雅黑"/>
              </a:rPr>
              <a:t>核函数</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3</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概述</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问题：</a:t>
            </a:r>
            <a:r>
              <a:rPr lang="en-US" b="false" i="false" strike="noStrike" u="none" sz="2000">
                <a:solidFill>
                  <a:srgbClr val="404040"/>
                </a:solidFill>
                <a:latin typeface="Calibri"/>
                <a:ea typeface="Calibri"/>
                <a:cs typeface="Calibri"/>
                <a:sym typeface="Calibri"/>
              </a:rPr>
              <a:t>Python </a:t>
            </a:r>
            <a:r>
              <a:rPr lang="en-US" b="false" i="false" strike="noStrike" u="none" sz="2000">
                <a:solidFill>
                  <a:srgbClr val="404040"/>
                </a:solidFill>
                <a:latin typeface="微软雅黑"/>
                <a:ea typeface="微软雅黑"/>
                <a:cs typeface="微软雅黑"/>
                <a:sym typeface="微软雅黑"/>
              </a:rPr>
              <a:t>高生产率与</a:t>
            </a:r>
            <a:r>
              <a:rPr lang="en-US" b="false" i="false" strike="noStrike" u="none" sz="2000">
                <a:solidFill>
                  <a:srgbClr val="404040"/>
                </a:solidFill>
                <a:latin typeface="Calibri"/>
                <a:ea typeface="Calibri"/>
                <a:cs typeface="Calibri"/>
                <a:sym typeface="Calibri"/>
              </a:rPr>
              <a:t> CUDA C++ </a:t>
            </a:r>
            <a:r>
              <a:rPr lang="en-US" b="false" i="false" strike="noStrike" u="none" sz="2000">
                <a:solidFill>
                  <a:srgbClr val="404040"/>
                </a:solidFill>
                <a:latin typeface="微软雅黑"/>
                <a:ea typeface="微软雅黑"/>
                <a:cs typeface="微软雅黑"/>
                <a:sym typeface="微软雅黑"/>
              </a:rPr>
              <a:t>高性能之间的鸿沟</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解决方案：一种用于编写高效自定义深度学习算子的嵌入式</a:t>
            </a:r>
            <a:r>
              <a:rPr lang="en-US" b="false" i="false" strike="noStrike" u="none" sz="2000">
                <a:solidFill>
                  <a:srgbClr val="404040"/>
                </a:solidFill>
                <a:latin typeface="Calibri"/>
                <a:ea typeface="Calibri"/>
                <a:cs typeface="Calibri"/>
                <a:sym typeface="Calibri"/>
              </a:rPr>
              <a:t> DSL </a:t>
            </a:r>
            <a:r>
              <a:rPr lang="en-US" b="false" i="false" strike="noStrike" u="none" sz="2000">
                <a:solidFill>
                  <a:srgbClr val="404040"/>
                </a:solidFill>
                <a:latin typeface="微软雅黑"/>
                <a:ea typeface="微软雅黑"/>
                <a:cs typeface="微软雅黑"/>
                <a:sym typeface="微软雅黑"/>
              </a:rPr>
              <a:t>与编译器</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目标：使开发者能够编写可媲美手动调优</a:t>
            </a:r>
            <a:r>
              <a:rPr lang="en-US" b="false" i="false" strike="noStrike" u="none" sz="2000">
                <a:solidFill>
                  <a:srgbClr val="404040"/>
                </a:solidFill>
                <a:latin typeface="Calibri"/>
                <a:ea typeface="Calibri"/>
                <a:cs typeface="Calibri"/>
                <a:sym typeface="Calibri"/>
              </a:rPr>
              <a:t> CUDA </a:t>
            </a:r>
            <a:r>
              <a:rPr lang="en-US" b="false" i="false" strike="noStrike" u="none" sz="2000">
                <a:solidFill>
                  <a:srgbClr val="404040"/>
                </a:solidFill>
                <a:latin typeface="微软雅黑"/>
                <a:ea typeface="微软雅黑"/>
                <a:cs typeface="微软雅黑"/>
                <a:sym typeface="微软雅黑"/>
              </a:rPr>
              <a:t>的</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基于块</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算法。</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与</a:t>
            </a:r>
            <a:r>
              <a:rPr lang="en-US" b="false" i="false" strike="noStrike" u="none" sz="1600">
                <a:solidFill>
                  <a:srgbClr val="404040"/>
                </a:solidFill>
                <a:latin typeface="Calibri"/>
                <a:ea typeface="Calibri"/>
                <a:cs typeface="Calibri"/>
                <a:sym typeface="Calibri"/>
              </a:rPr>
              <a:t>“</a:t>
            </a:r>
            <a:r>
              <a:rPr lang="en-US" b="false" i="false" strike="noStrike" u="none" sz="1600">
                <a:solidFill>
                  <a:srgbClr val="404040"/>
                </a:solidFill>
                <a:latin typeface="微软雅黑"/>
                <a:ea typeface="微软雅黑"/>
                <a:cs typeface="微软雅黑"/>
                <a:sym typeface="微软雅黑"/>
              </a:rPr>
              <a:t>基于线程</a:t>
            </a:r>
            <a:r>
              <a:rPr lang="en-US" b="false" i="false" strike="noStrike" u="none" sz="1600">
                <a:solidFill>
                  <a:srgbClr val="404040"/>
                </a:solidFill>
                <a:latin typeface="Calibri"/>
                <a:ea typeface="Calibri"/>
                <a:cs typeface="Calibri"/>
                <a:sym typeface="Calibri"/>
              </a:rPr>
              <a:t>”</a:t>
            </a:r>
            <a:r>
              <a:rPr lang="en-US" b="false" i="false" strike="noStrike" u="none" sz="1600">
                <a:solidFill>
                  <a:srgbClr val="404040"/>
                </a:solidFill>
                <a:latin typeface="微软雅黑"/>
                <a:ea typeface="微软雅黑"/>
                <a:cs typeface="微软雅黑"/>
                <a:sym typeface="微软雅黑"/>
              </a:rPr>
              <a:t>相对；也称为</a:t>
            </a:r>
            <a:r>
              <a:rPr lang="en-US" b="false" i="false" strike="noStrike" u="none" sz="1600">
                <a:solidFill>
                  <a:srgbClr val="404040"/>
                </a:solidFill>
                <a:latin typeface="Calibri"/>
                <a:ea typeface="Calibri"/>
                <a:cs typeface="Calibri"/>
                <a:sym typeface="Calibri"/>
              </a:rPr>
              <a:t>“</a:t>
            </a:r>
            <a:r>
              <a:rPr lang="en-US" b="false" i="false" strike="noStrike" u="none" sz="1600">
                <a:solidFill>
                  <a:srgbClr val="404040"/>
                </a:solidFill>
                <a:latin typeface="微软雅黑"/>
                <a:ea typeface="微软雅黑"/>
                <a:cs typeface="微软雅黑"/>
                <a:sym typeface="微软雅黑"/>
              </a:rPr>
              <a:t>以分块为中心</a:t>
            </a:r>
            <a:r>
              <a:rPr lang="en-US" b="false" i="false" strike="noStrike" u="none" sz="1600">
                <a:solidFill>
                  <a:srgbClr val="404040"/>
                </a:solidFill>
                <a:latin typeface="Calibri"/>
                <a:ea typeface="Calibri"/>
                <a:cs typeface="Calibri"/>
                <a:sym typeface="Calibri"/>
              </a:rPr>
              <a:t>”</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本课内容：</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Triton </a:t>
            </a:r>
            <a:r>
              <a:rPr lang="en-US" b="false" i="false" strike="noStrike" u="none" sz="2000">
                <a:solidFill>
                  <a:srgbClr val="404040"/>
                </a:solidFill>
                <a:latin typeface="微软雅黑"/>
                <a:ea typeface="微软雅黑"/>
                <a:cs typeface="微软雅黑"/>
                <a:sym typeface="微软雅黑"/>
              </a:rPr>
              <a:t>设计理念：为何不直接使用</a:t>
            </a:r>
            <a:r>
              <a:rPr lang="en-US" b="false" i="false" strike="noStrike" u="none" sz="2000">
                <a:solidFill>
                  <a:srgbClr val="404040"/>
                </a:solidFill>
                <a:latin typeface="Calibri"/>
                <a:ea typeface="Calibri"/>
                <a:cs typeface="Calibri"/>
                <a:sym typeface="Calibri"/>
              </a:rPr>
              <a:t> CUDA</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执行模型：理解网格（</a:t>
            </a:r>
            <a:r>
              <a:rPr lang="en-US" b="false" i="false" strike="noStrike" u="none" sz="2000">
                <a:solidFill>
                  <a:srgbClr val="404040"/>
                </a:solidFill>
                <a:latin typeface="Calibri"/>
                <a:ea typeface="Calibri"/>
                <a:cs typeface="Calibri"/>
                <a:sym typeface="Calibri"/>
              </a:rPr>
              <a:t>Grid</a:t>
            </a:r>
            <a:r>
              <a:rPr lang="en-US" b="false" i="false" strike="noStrike" u="none" sz="2000">
                <a:solidFill>
                  <a:srgbClr val="404040"/>
                </a:solidFill>
                <a:latin typeface="微软雅黑"/>
                <a:ea typeface="微软雅黑"/>
                <a:cs typeface="微软雅黑"/>
                <a:sym typeface="微软雅黑"/>
              </a:rPr>
              <a:t>）与程序（</a:t>
            </a:r>
            <a:r>
              <a:rPr lang="en-US" b="false" i="false" strike="noStrike" u="none" sz="2000">
                <a:solidFill>
                  <a:srgbClr val="404040"/>
                </a:solidFill>
                <a:latin typeface="Calibri"/>
                <a:ea typeface="Calibri"/>
                <a:cs typeface="Calibri"/>
                <a:sym typeface="Calibri"/>
              </a:rPr>
              <a:t>Program</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基础构件：掌握基于块的编程与指针算术。</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动手实践：定义并启动你的第一个</a:t>
            </a:r>
            <a:r>
              <a:rPr lang="en-US" b="false" i="false" strike="noStrike" u="none" sz="2000">
                <a:solidFill>
                  <a:srgbClr val="404040"/>
                </a:solidFill>
                <a:latin typeface="Calibri"/>
                <a:ea typeface="Calibri"/>
                <a:cs typeface="Calibri"/>
                <a:sym typeface="Calibri"/>
              </a:rPr>
              <a:t> @triton.jit </a:t>
            </a:r>
            <a:r>
              <a:rPr lang="en-US" b="false" i="false" strike="noStrike" u="none" sz="2000">
                <a:solidFill>
                  <a:srgbClr val="404040"/>
                </a:solidFill>
                <a:latin typeface="微软雅黑"/>
                <a:ea typeface="微软雅黑"/>
                <a:cs typeface="微软雅黑"/>
                <a:sym typeface="微软雅黑"/>
              </a:rPr>
              <a:t>核函数。</a:t>
            </a:r>
          </a:p>
        </p:txBody>
      </p:sp>
    </p:spTree>
  </p:cSld>
  <p:clrMapOvr>
    <a:masterClrMapping/>
  </p:clrMapOvr>
  <p:transition main:dur="1000">
    <p:fade thruBlk="false"/>
  </p:transition>
</p:sld>
</file>

<file path=ppt/slides/slide4.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Triton </a:t>
            </a:r>
            <a:r>
              <a:rPr lang="en-US" b="false" i="false" strike="noStrike" u="none" sz="3600">
                <a:solidFill>
                  <a:srgbClr val="262626"/>
                </a:solidFill>
                <a:latin typeface="微软雅黑"/>
                <a:ea typeface="微软雅黑"/>
                <a:cs typeface="微软雅黑"/>
                <a:sym typeface="微软雅黑"/>
              </a:rPr>
              <a:t>概述</a:t>
            </a:r>
          </a:p>
        </p:txBody>
      </p:sp>
      <p:sp>
        <p:nvSpPr>
          <p:cNvPr name="AutoShape 3" id="3"/>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4</a:t>
            </a:r>
          </a:p>
        </p:txBody>
      </p:sp>
      <p:sp>
        <p:nvSpPr>
          <p:cNvPr name="AutoShape 4" id="4"/>
          <p:cNvSpPr/>
          <p:nvPr>
            <p:ph idx="9" type="body" sz="quarter"/>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a:endParaRPr/>
          </a:p>
        </p:txBody>
      </p:sp>
      <p:sp>
        <p:nvSpPr>
          <p:cNvPr name="AutoShape 5" id="5"/>
          <p:cNvSpPr/>
          <p:nvPr/>
        </p:nvSpPr>
        <p:spPr>
          <a:xfrm rot="0" flipH="false" flipV="false">
            <a:off x="3849408" y="1365267"/>
            <a:ext cx="6634442" cy="1476375"/>
          </a:xfrm>
          <a:prstGeom prst="rect">
            <a:avLst/>
          </a:prstGeom>
          <a:noFill/>
          <a:ln w="12700">
            <a:noFill/>
            <a:prstDash val="solid"/>
          </a:ln>
        </p:spPr>
        <p:txBody>
          <a:bodyPr anchor="t" rtlCol="false" wrap="square" lIns="91440" rIns="91440" tIns="45720" bIns="45720">
            <a:spAutoFit/>
          </a:bodyPr>
          <a:lstStyle/>
          <a:p>
            <a:pPr algn="l" indent="0">
              <a:lnSpc>
                <a:spcPct val="100000"/>
              </a:lnSpc>
              <a:defRPr/>
            </a:pPr>
            <a:r>
              <a:rPr lang="en-US" b="false" i="false" strike="noStrike" u="none" sz="1800">
                <a:solidFill>
                  <a:srgbClr val="20B5C2"/>
                </a:solidFill>
                <a:highlight>
                  <a:srgbClr val="FCFCFC">
                    <a:alpha val="100000"/>
                  </a:srgbClr>
                </a:highlight>
                <a:latin typeface="微软雅黑"/>
                <a:ea typeface="微软雅黑"/>
                <a:cs typeface="微软雅黑"/>
                <a:sym typeface="微软雅黑"/>
              </a:rPr>
              <a:t>Triton</a:t>
            </a:r>
            <a:r>
              <a:rPr lang="en-US" b="false" i="false" strike="noStrike" u="none" sz="1800">
                <a:solidFill>
                  <a:srgbClr val="2980B9"/>
                </a:solidFill>
                <a:highlight>
                  <a:srgbClr val="FCFCFC">
                    <a:alpha val="100000"/>
                  </a:srgbClr>
                </a:highlight>
                <a:latin typeface="微软雅黑"/>
                <a:ea typeface="微软雅黑"/>
                <a:cs typeface="微软雅黑"/>
                <a:sym typeface="微软雅黑"/>
              </a:rPr>
              <a:t> </a:t>
            </a:r>
            <a:r>
              <a:rPr lang="en-US" b="false" i="false" strike="noStrike" u="none" sz="1800">
                <a:solidFill>
                  <a:srgbClr val="404040"/>
                </a:solidFill>
                <a:highlight>
                  <a:srgbClr val="FCFCFC">
                    <a:alpha val="100000"/>
                  </a:srgbClr>
                </a:highlight>
                <a:latin typeface="微软雅黑"/>
                <a:ea typeface="微软雅黑"/>
                <a:cs typeface="微软雅黑"/>
                <a:sym typeface="微软雅黑"/>
              </a:rPr>
              <a:t>是一门为并行编程而诞生的</a:t>
            </a:r>
            <a:r>
              <a:rPr lang="en-US" b="true" i="false" strike="noStrike" u="none" sz="1800">
                <a:solidFill>
                  <a:srgbClr val="C00000"/>
                </a:solidFill>
                <a:highlight>
                  <a:srgbClr val="FCFCFC">
                    <a:alpha val="100000"/>
                  </a:srgbClr>
                </a:highlight>
                <a:latin typeface="微软雅黑"/>
                <a:ea typeface="微软雅黑"/>
                <a:cs typeface="微软雅黑"/>
                <a:sym typeface="微软雅黑"/>
              </a:rPr>
              <a:t>语言</a:t>
            </a:r>
            <a:r>
              <a:rPr lang="en-US" b="false" i="false" strike="noStrike" u="none" sz="1800">
                <a:solidFill>
                  <a:srgbClr val="404040"/>
                </a:solidFill>
                <a:highlight>
                  <a:srgbClr val="FCFCFC">
                    <a:alpha val="100000"/>
                  </a:srgbClr>
                </a:highlight>
                <a:latin typeface="微软雅黑"/>
                <a:ea typeface="微软雅黑"/>
                <a:cs typeface="微软雅黑"/>
                <a:sym typeface="微软雅黑"/>
              </a:rPr>
              <a:t>，同时也是一个</a:t>
            </a:r>
            <a:r>
              <a:rPr lang="en-US" b="true" i="false" strike="noStrike" u="none" sz="1800">
                <a:solidFill>
                  <a:srgbClr val="C00000"/>
                </a:solidFill>
                <a:highlight>
                  <a:srgbClr val="FCFCFC">
                    <a:alpha val="100000"/>
                  </a:srgbClr>
                </a:highlight>
                <a:latin typeface="微软雅黑"/>
                <a:ea typeface="微软雅黑"/>
                <a:cs typeface="微软雅黑"/>
                <a:sym typeface="微软雅黑"/>
              </a:rPr>
              <a:t>编译器</a:t>
            </a:r>
            <a:r>
              <a:rPr lang="en-US" b="false" i="false" strike="noStrike" u="none" sz="1800">
                <a:solidFill>
                  <a:srgbClr val="404040"/>
                </a:solidFill>
                <a:highlight>
                  <a:srgbClr val="FCFCFC">
                    <a:alpha val="100000"/>
                  </a:srgbClr>
                </a:highlight>
                <a:latin typeface="微软雅黑"/>
                <a:ea typeface="微软雅黑"/>
                <a:cs typeface="微软雅黑"/>
                <a:sym typeface="微软雅黑"/>
              </a:rPr>
              <a:t>，triton 旨在提供以 python 为基础的编程环境，以高效编写自定义的 DNN 计算 kernel ，使其能在现代 GPU 硬件上以最大的吞吐运行</a:t>
            </a:r>
            <a:endParaRPr lang="en-US" sz="1100"/>
          </a:p>
          <a:p>
            <a:pPr algn="l" indent="0">
              <a:lnSpc>
                <a:spcPct val="100000"/>
              </a:lnSpc>
            </a:pPr>
            <a:r>
              <a:rPr lang="en-US" b="false" i="false" strike="noStrike" u="none" sz="1800">
                <a:solidFill>
                  <a:srgbClr val="000000"/>
                </a:solidFill>
                <a:latin typeface="Arial"/>
                <a:ea typeface="Arial"/>
                <a:cs typeface="Arial"/>
                <a:sym typeface="Arial"/>
              </a:rPr>
              <a:t> </a:t>
            </a:r>
          </a:p>
        </p:txBody>
      </p:sp>
      <p:pic>
        <p:nvPicPr>
          <p:cNvPr name="Picture 6" id="6"/>
          <p:cNvPicPr>
            <a:picLocks noChangeAspect="true"/>
          </p:cNvPicPr>
          <p:nvPr/>
        </p:nvPicPr>
        <p:blipFill>
          <a:blip r:embed="rId2"/>
          <a:srcRect l="0" r="831" t="0" b="10333"/>
          <a:stretch>
            <a:fillRect/>
          </a:stretch>
        </p:blipFill>
        <p:spPr>
          <a:xfrm rot="0" flipH="false" flipV="false">
            <a:off x="1510167" y="2703943"/>
            <a:ext cx="9646868" cy="3703006"/>
          </a:xfrm>
          <a:prstGeom prst="rect">
            <a:avLst/>
          </a:prstGeom>
          <a:ln w="12700">
            <a:noFill/>
            <a:prstDash val="solid"/>
          </a:ln>
        </p:spPr>
      </p:pic>
      <p:pic>
        <p:nvPicPr>
          <p:cNvPr name="Picture 7" id="7"/>
          <p:cNvPicPr>
            <a:picLocks noChangeAspect="true"/>
          </p:cNvPicPr>
          <p:nvPr/>
        </p:nvPicPr>
        <p:blipFill>
          <a:blip r:embed="rId3"/>
          <a:srcRect l="0" r="0" t="0" b="0"/>
          <a:stretch>
            <a:fillRect/>
          </a:stretch>
        </p:blipFill>
        <p:spPr>
          <a:xfrm rot="0" flipH="false" flipV="false">
            <a:off x="1127125" y="1063625"/>
            <a:ext cx="1670050" cy="1899285"/>
          </a:xfrm>
          <a:prstGeom prst="rect">
            <a:avLst/>
          </a:prstGeom>
          <a:ln w="12700">
            <a:noFill/>
            <a:prstDash val="solid"/>
          </a:ln>
        </p:spPr>
      </p:pic>
    </p:spTree>
  </p:cSld>
  <p:clrMapOvr>
    <a:masterClrMapping/>
  </p:clrMapOvr>
  <p:transition main:dur="1000">
    <p:fade thruBlk="false"/>
  </p:transition>
</p:sld>
</file>

<file path=ppt/slides/slide5.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Triton vs </a:t>
            </a:r>
            <a:r>
              <a:rPr lang="en-US" b="false" i="false" strike="noStrike" u="none" sz="3600">
                <a:solidFill>
                  <a:srgbClr val="262626"/>
                </a:solidFill>
                <a:latin typeface="微软雅黑"/>
                <a:ea typeface="微软雅黑"/>
                <a:cs typeface="微软雅黑"/>
                <a:sym typeface="微软雅黑"/>
              </a:rPr>
              <a:t>其他开源编程模型</a:t>
            </a:r>
          </a:p>
        </p:txBody>
      </p:sp>
      <p:sp>
        <p:nvSpPr>
          <p:cNvPr name="AutoShape 3" id="3"/>
          <p:cNvSpPr/>
          <p:nvPr>
            <p:ph idx="8" type="body" sz="quarter"/>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a:endParaRPr/>
          </a:p>
        </p:txBody>
      </p:sp>
      <p:sp>
        <p:nvSpPr>
          <p:cNvPr name="AutoShape 4" id="4"/>
          <p:cNvSpPr/>
          <p:nvPr>
            <p:ph idx="9" type="body" sz="quarter"/>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a:endParaRPr/>
          </a:p>
        </p:txBody>
      </p:sp>
      <p:sp>
        <p:nvSpPr>
          <p:cNvPr name="AutoShape 5" id="5"/>
          <p:cNvSpPr/>
          <p:nvPr/>
        </p:nvSpPr>
        <p:spPr>
          <a:xfrm rot="0" flipH="false" flipV="false">
            <a:off x="5748030" y="2316787"/>
            <a:ext cx="1743096" cy="308472"/>
          </a:xfrm>
          <a:prstGeom prst="roundRect">
            <a:avLst>
              <a:gd name="adj" fmla="val 16666"/>
            </a:avLst>
          </a:prstGeom>
          <a:solidFill>
            <a:srgbClr val="FFFFFF">
              <a:alpha val="100000"/>
            </a:srgbClr>
          </a:solidFill>
          <a:ln w="12700" cap="flat">
            <a:solidFill>
              <a:srgbClr val="4472C4">
                <a:alpha val="100000"/>
              </a:srgbClr>
            </a:solidFill>
            <a:prstDash val="solid"/>
          </a:ln>
        </p:spPr>
        <p:txBody>
          <a:bodyPr anchor="ctr" rtlCol="false" vert="horz" wrap="square" lIns="91440" rIns="91440" tIns="45720" bIns="45720">
            <a:noAutofit/>
          </a:bodyPr>
          <a:lstStyle/>
          <a:p>
            <a:pPr algn="r" indent="0">
              <a:lnSpc>
                <a:spcPct val="100000"/>
              </a:lnSpc>
              <a:defRPr/>
            </a:pPr>
            <a:r>
              <a:rPr lang="en-US" b="false" i="false" strike="noStrike" u="none" sz="1600">
                <a:solidFill>
                  <a:srgbClr val="000000"/>
                </a:solidFill>
                <a:latin typeface="Arial"/>
                <a:ea typeface="Arial"/>
                <a:cs typeface="Arial"/>
                <a:sym typeface="Arial"/>
              </a:rPr>
              <a:t>MLIR</a:t>
            </a:r>
            <a:endParaRPr lang="en-US" sz="1100"/>
          </a:p>
        </p:txBody>
      </p:sp>
      <p:sp>
        <p:nvSpPr>
          <p:cNvPr name="AutoShape 6" id="6"/>
          <p:cNvSpPr/>
          <p:nvPr/>
        </p:nvSpPr>
        <p:spPr>
          <a:xfrm rot="0" flipH="false" flipV="false">
            <a:off x="466955" y="4924793"/>
            <a:ext cx="11081266" cy="1443453"/>
          </a:xfrm>
          <a:prstGeom prst="rect">
            <a:avLst/>
          </a:prstGeom>
          <a:noFill/>
          <a:ln w="12700">
            <a:noFill/>
            <a:prstDash val="solid"/>
          </a:ln>
        </p:spPr>
        <p:txBody>
          <a:bodyPr anchor="t" rtlCol="false" wrap="square" lIns="91440" rIns="91440" tIns="45720" bIns="45720">
            <a:noAutofit/>
          </a:bodyPr>
          <a:lstStyle/>
          <a:p>
            <a:pPr algn="l" indent="-203200" marL="203200">
              <a:lnSpc>
                <a:spcPct val="100000"/>
              </a:lnSpc>
              <a:spcBef>
                <a:spcPts val="1000"/>
              </a:spcBef>
              <a:buClr>
                <a:srgbClr val="404040"/>
              </a:buClr>
              <a:buChar char="•"/>
              <a:defRPr/>
            </a:pPr>
            <a:r>
              <a:rPr lang="en-US" b="false" i="false" strike="noStrike" u="none" sz="1600">
                <a:solidFill>
                  <a:srgbClr val="404040"/>
                </a:solidFill>
                <a:latin typeface="微软雅黑"/>
                <a:ea typeface="微软雅黑"/>
                <a:cs typeface="微软雅黑"/>
                <a:sym typeface="微软雅黑"/>
              </a:rPr>
              <a:t>衡量标准</a:t>
            </a:r>
            <a:endParaRPr lang="en-US" sz="1100"/>
          </a:p>
          <a:p>
            <a:pPr algn="l" indent="-203200" lvl="1" marL="660400">
              <a:lnSpc>
                <a:spcPct val="100000"/>
              </a:lnSpc>
              <a:spcBef>
                <a:spcPts val="500"/>
              </a:spcBef>
              <a:buClr>
                <a:srgbClr val="404040"/>
              </a:buClr>
              <a:buChar char="•"/>
            </a:pPr>
            <a:r>
              <a:rPr lang="en-US" b="false" i="false" strike="noStrike" u="none" sz="1600">
                <a:solidFill>
                  <a:srgbClr val="404040"/>
                </a:solidFill>
                <a:latin typeface="微软雅黑"/>
                <a:ea typeface="微软雅黑"/>
                <a:cs typeface="微软雅黑"/>
                <a:sym typeface="微软雅黑"/>
              </a:rPr>
              <a:t>架构先进性：技术代际和软件架构的先进性</a:t>
            </a:r>
          </a:p>
          <a:p>
            <a:pPr algn="l" indent="-203200" lvl="1" marL="660400">
              <a:lnSpc>
                <a:spcPct val="100000"/>
              </a:lnSpc>
              <a:spcBef>
                <a:spcPts val="500"/>
              </a:spcBef>
              <a:buClr>
                <a:srgbClr val="404040"/>
              </a:buClr>
              <a:buChar char="•"/>
            </a:pPr>
            <a:r>
              <a:rPr lang="en-US" b="false" i="false" strike="noStrike" u="none" sz="1600">
                <a:solidFill>
                  <a:srgbClr val="404040"/>
                </a:solidFill>
                <a:latin typeface="微软雅黑"/>
                <a:ea typeface="微软雅黑"/>
                <a:cs typeface="微软雅黑"/>
                <a:sym typeface="微软雅黑"/>
              </a:rPr>
              <a:t>实现高效性：是否已高效实现各种重要算子和复杂算子，性能逼近或超过手动优化</a:t>
            </a:r>
          </a:p>
          <a:p>
            <a:pPr algn="l" indent="-203200" lvl="1" marL="660400">
              <a:lnSpc>
                <a:spcPct val="100000"/>
              </a:lnSpc>
              <a:spcBef>
                <a:spcPts val="500"/>
              </a:spcBef>
              <a:buClr>
                <a:srgbClr val="404040"/>
              </a:buClr>
              <a:buChar char="•"/>
            </a:pPr>
            <a:r>
              <a:rPr lang="en-US" b="false" i="false" strike="noStrike" u="none" sz="1600">
                <a:solidFill>
                  <a:srgbClr val="404040"/>
                </a:solidFill>
                <a:latin typeface="微软雅黑"/>
                <a:ea typeface="微软雅黑"/>
                <a:cs typeface="微软雅黑"/>
                <a:sym typeface="微软雅黑"/>
              </a:rPr>
              <a:t>实现质量：作为进一步推广和二次开发的软件基础设施质量如何</a:t>
            </a:r>
          </a:p>
          <a:p>
            <a:pPr algn="l" indent="-203200" lvl="1" marL="660400">
              <a:lnSpc>
                <a:spcPct val="100000"/>
              </a:lnSpc>
              <a:spcBef>
                <a:spcPts val="500"/>
              </a:spcBef>
              <a:buClr>
                <a:srgbClr val="404040"/>
              </a:buClr>
              <a:buChar char="•"/>
            </a:pPr>
            <a:r>
              <a:rPr lang="en-US" b="false" i="false" strike="noStrike" u="none" sz="1600">
                <a:solidFill>
                  <a:srgbClr val="404040"/>
                </a:solidFill>
                <a:latin typeface="微软雅黑"/>
                <a:ea typeface="微软雅黑"/>
                <a:cs typeface="微软雅黑"/>
                <a:sym typeface="微软雅黑"/>
              </a:rPr>
              <a:t>易编程性：是否能降低编程难度，有效提升开发生产率</a:t>
            </a:r>
          </a:p>
          <a:p>
            <a:pPr algn="l" indent="-203200" lvl="1" marL="660400">
              <a:lnSpc>
                <a:spcPct val="100000"/>
              </a:lnSpc>
              <a:spcBef>
                <a:spcPts val="500"/>
              </a:spcBef>
              <a:buClr>
                <a:srgbClr val="404040"/>
              </a:buClr>
              <a:buChar char="•"/>
            </a:pPr>
            <a:r>
              <a:rPr lang="en-US" b="false" i="false" strike="noStrike" u="none" sz="1600">
                <a:solidFill>
                  <a:srgbClr val="404040"/>
                </a:solidFill>
                <a:latin typeface="微软雅黑"/>
                <a:ea typeface="微软雅黑"/>
                <a:cs typeface="微软雅黑"/>
                <a:sym typeface="微软雅黑"/>
              </a:rPr>
              <a:t>适配度：不同框架的适用性和限制情况，上层生态的适用广度如何</a:t>
            </a:r>
          </a:p>
        </p:txBody>
      </p:sp>
      <p:sp>
        <p:nvSpPr>
          <p:cNvPr name="AutoShape 7" id="7"/>
          <p:cNvSpPr/>
          <p:nvPr/>
        </p:nvSpPr>
        <p:spPr>
          <a:xfrm rot="0" flipH="false" flipV="false">
            <a:off x="1714041" y="956108"/>
            <a:ext cx="789305" cy="368300"/>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1800">
                <a:solidFill>
                  <a:srgbClr val="000000"/>
                </a:solidFill>
                <a:latin typeface="Arial"/>
                <a:ea typeface="Arial"/>
                <a:cs typeface="Arial"/>
                <a:sym typeface="Arial"/>
              </a:rPr>
              <a:t>Triton</a:t>
            </a:r>
            <a:endParaRPr lang="en-US" sz="1100"/>
          </a:p>
        </p:txBody>
      </p:sp>
      <p:sp>
        <p:nvSpPr>
          <p:cNvPr name="AutoShape 8" id="8"/>
          <p:cNvSpPr/>
          <p:nvPr/>
        </p:nvSpPr>
        <p:spPr>
          <a:xfrm rot="0" flipH="false" flipV="false">
            <a:off x="5207785" y="945820"/>
            <a:ext cx="1076960" cy="368300"/>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1800">
                <a:solidFill>
                  <a:srgbClr val="000000"/>
                </a:solidFill>
                <a:latin typeface="Arial"/>
                <a:ea typeface="Arial"/>
                <a:cs typeface="Arial"/>
                <a:sym typeface="Arial"/>
              </a:rPr>
              <a:t>OpenXLA</a:t>
            </a:r>
            <a:endParaRPr lang="en-US" sz="1100"/>
          </a:p>
        </p:txBody>
      </p:sp>
      <p:sp>
        <p:nvSpPr>
          <p:cNvPr name="AutoShape 9" id="9"/>
          <p:cNvSpPr/>
          <p:nvPr/>
        </p:nvSpPr>
        <p:spPr>
          <a:xfrm rot="0" flipH="false" flipV="false">
            <a:off x="9177323" y="945820"/>
            <a:ext cx="664845" cy="368300"/>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1800">
                <a:solidFill>
                  <a:srgbClr val="000000"/>
                </a:solidFill>
                <a:latin typeface="Arial"/>
                <a:ea typeface="Arial"/>
                <a:cs typeface="Arial"/>
                <a:sym typeface="Arial"/>
              </a:rPr>
              <a:t>Mojo</a:t>
            </a:r>
            <a:endParaRPr lang="en-US" sz="1100"/>
          </a:p>
        </p:txBody>
      </p:sp>
      <p:sp>
        <p:nvSpPr>
          <p:cNvPr name="AutoShape 10" id="10"/>
          <p:cNvSpPr/>
          <p:nvPr/>
        </p:nvSpPr>
        <p:spPr>
          <a:xfrm rot="0" flipH="false" flipV="false">
            <a:off x="4449093" y="1600769"/>
            <a:ext cx="1123328" cy="308472"/>
          </a:xfrm>
          <a:prstGeom prst="roundRect">
            <a:avLst>
              <a:gd name="adj" fmla="val 16666"/>
            </a:avLst>
          </a:prstGeom>
          <a:solidFill>
            <a:srgbClr val="FFFFFF">
              <a:alpha val="100000"/>
            </a:srgbClr>
          </a:solidFill>
          <a:ln w="12700" cap="flat">
            <a:solidFill>
              <a:srgbClr val="4472C4">
                <a:alpha val="100000"/>
              </a:srgbClr>
            </a:solidFill>
            <a:prstDash val="solid"/>
          </a:ln>
        </p:spPr>
        <p:txBody>
          <a:bodyPr anchor="ctr" rtlCol="false" vert="horz"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Pytorch</a:t>
            </a:r>
            <a:endParaRPr lang="en-US" sz="1100"/>
          </a:p>
        </p:txBody>
      </p:sp>
      <p:sp>
        <p:nvSpPr>
          <p:cNvPr name="AutoShape 11" id="11"/>
          <p:cNvSpPr/>
          <p:nvPr/>
        </p:nvSpPr>
        <p:spPr>
          <a:xfrm rot="0" flipH="false" flipV="false">
            <a:off x="5660833" y="1600769"/>
            <a:ext cx="870333" cy="308472"/>
          </a:xfrm>
          <a:prstGeom prst="roundRect">
            <a:avLst>
              <a:gd name="adj" fmla="val 16666"/>
            </a:avLst>
          </a:prstGeom>
          <a:solidFill>
            <a:srgbClr val="DEEBF7">
              <a:alpha val="100000"/>
            </a:srgbClr>
          </a:solidFill>
          <a:ln w="12700" cap="flat">
            <a:solidFill>
              <a:srgbClr val="4472C4">
                <a:alpha val="100000"/>
              </a:srgbClr>
            </a:solidFill>
            <a:prstDash val="solid"/>
          </a:ln>
        </p:spPr>
        <p:txBody>
          <a:bodyPr anchor="ctr" rtlCol="false" vert="horz"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TF</a:t>
            </a:r>
            <a:endParaRPr lang="en-US" sz="1100"/>
          </a:p>
        </p:txBody>
      </p:sp>
      <p:sp>
        <p:nvSpPr>
          <p:cNvPr name="AutoShape 12" id="12"/>
          <p:cNvSpPr/>
          <p:nvPr/>
        </p:nvSpPr>
        <p:spPr>
          <a:xfrm rot="0" flipH="false" flipV="false">
            <a:off x="6619578" y="1600769"/>
            <a:ext cx="870333" cy="308472"/>
          </a:xfrm>
          <a:prstGeom prst="roundRect">
            <a:avLst>
              <a:gd name="adj" fmla="val 16666"/>
            </a:avLst>
          </a:prstGeom>
          <a:solidFill>
            <a:srgbClr val="DEEBF7">
              <a:alpha val="100000"/>
            </a:srgbClr>
          </a:solidFill>
          <a:ln w="12700" cap="flat">
            <a:solidFill>
              <a:srgbClr val="4472C4">
                <a:alpha val="100000"/>
              </a:srgbClr>
            </a:solidFill>
            <a:prstDash val="solid"/>
          </a:ln>
        </p:spPr>
        <p:txBody>
          <a:bodyPr anchor="ctr" rtlCol="false" vert="horz"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JAX</a:t>
            </a:r>
            <a:endParaRPr lang="en-US" sz="1100"/>
          </a:p>
        </p:txBody>
      </p:sp>
      <p:sp>
        <p:nvSpPr>
          <p:cNvPr name="AutoShape 13" id="13"/>
          <p:cNvSpPr/>
          <p:nvPr/>
        </p:nvSpPr>
        <p:spPr>
          <a:xfrm rot="0" flipH="false" flipV="false">
            <a:off x="4594951" y="2177365"/>
            <a:ext cx="2205899" cy="369331"/>
          </a:xfrm>
          <a:prstGeom prst="roundRect">
            <a:avLst>
              <a:gd name="adj" fmla="val 16667"/>
            </a:avLst>
          </a:prstGeom>
          <a:solidFill>
            <a:srgbClr val="DEEBF7">
              <a:alpha val="100000"/>
            </a:srgbClr>
          </a:solidFill>
          <a:ln w="12700" cap="flat">
            <a:solidFill>
              <a:srgbClr val="4472C4">
                <a:alpha val="100000"/>
              </a:srgbClr>
            </a:solidFill>
            <a:prstDash val="solid"/>
          </a:ln>
        </p:spPr>
        <p:txBody>
          <a:bodyPr anchor="ctr" rtlCol="false" vert="horz"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OpenXLA</a:t>
            </a:r>
            <a:endParaRPr lang="en-US" sz="1100"/>
          </a:p>
        </p:txBody>
      </p:sp>
      <p:sp>
        <p:nvSpPr>
          <p:cNvPr name="AutoShape 14" id="14"/>
          <p:cNvSpPr/>
          <p:nvPr/>
        </p:nvSpPr>
        <p:spPr>
          <a:xfrm rot="0" flipH="false" flipV="false">
            <a:off x="4449093" y="2825427"/>
            <a:ext cx="1123328" cy="308472"/>
          </a:xfrm>
          <a:prstGeom prst="roundRect">
            <a:avLst>
              <a:gd name="adj" fmla="val 16666"/>
            </a:avLst>
          </a:prstGeom>
          <a:solidFill>
            <a:srgbClr val="FFFFFF">
              <a:alpha val="100000"/>
            </a:srgbClr>
          </a:solidFill>
          <a:ln w="12700" cap="flat">
            <a:solidFill>
              <a:srgbClr val="4472C4">
                <a:alpha val="100000"/>
              </a:srgbClr>
            </a:solidFill>
            <a:prstDash val="solid"/>
          </a:ln>
        </p:spPr>
        <p:txBody>
          <a:bodyPr anchor="ctr" rtlCol="false" vert="horz"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GPU</a:t>
            </a:r>
            <a:endParaRPr lang="en-US" sz="1100"/>
          </a:p>
        </p:txBody>
      </p:sp>
      <p:sp>
        <p:nvSpPr>
          <p:cNvPr name="AutoShape 15" id="15"/>
          <p:cNvSpPr/>
          <p:nvPr/>
        </p:nvSpPr>
        <p:spPr>
          <a:xfrm rot="0" flipH="false" flipV="false">
            <a:off x="5660832" y="2825427"/>
            <a:ext cx="870333" cy="308472"/>
          </a:xfrm>
          <a:prstGeom prst="roundRect">
            <a:avLst>
              <a:gd name="adj" fmla="val 16666"/>
            </a:avLst>
          </a:prstGeom>
          <a:solidFill>
            <a:srgbClr val="DEEBF7">
              <a:alpha val="100000"/>
            </a:srgbClr>
          </a:solidFill>
          <a:ln w="12700" cap="flat">
            <a:solidFill>
              <a:srgbClr val="4472C4">
                <a:alpha val="100000"/>
              </a:srgbClr>
            </a:solidFill>
            <a:prstDash val="solid"/>
          </a:ln>
        </p:spPr>
        <p:txBody>
          <a:bodyPr anchor="ctr" rtlCol="false" vert="horz"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TPU</a:t>
            </a:r>
            <a:endParaRPr lang="en-US" sz="1100"/>
          </a:p>
        </p:txBody>
      </p:sp>
      <p:sp>
        <p:nvSpPr>
          <p:cNvPr name="AutoShape 16" id="16"/>
          <p:cNvSpPr/>
          <p:nvPr/>
        </p:nvSpPr>
        <p:spPr>
          <a:xfrm rot="0" flipH="false" flipV="false">
            <a:off x="6619578" y="2814820"/>
            <a:ext cx="870333" cy="308472"/>
          </a:xfrm>
          <a:prstGeom prst="roundRect">
            <a:avLst>
              <a:gd name="adj" fmla="val 16666"/>
            </a:avLst>
          </a:prstGeom>
          <a:solidFill>
            <a:srgbClr val="FFFFFF">
              <a:alpha val="100000"/>
            </a:srgbClr>
          </a:solidFill>
          <a:ln w="12700" cap="flat">
            <a:solidFill>
              <a:srgbClr val="4472C4">
                <a:alpha val="100000"/>
              </a:srgbClr>
            </a:solidFill>
            <a:prstDash val="solid"/>
          </a:ln>
        </p:spPr>
        <p:txBody>
          <a:bodyPr anchor="ctr" rtlCol="false" vert="horz"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CPU</a:t>
            </a:r>
            <a:endParaRPr lang="en-US" sz="1100"/>
          </a:p>
        </p:txBody>
      </p:sp>
      <p:cxnSp>
        <p:nvCxnSpPr>
          <p:cNvPr name="Connector 17" id="17"/>
          <p:cNvCxnSpPr/>
          <p:nvPr/>
        </p:nvCxnSpPr>
        <p:spPr>
          <a:xfrm rot="10800000" flipH="false" flipV="true">
            <a:off x="5697901" y="1909241"/>
            <a:ext cx="398099" cy="268124"/>
          </a:xfrm>
          <a:prstGeom prst="straightConnector1">
            <a:avLst/>
          </a:prstGeom>
          <a:noFill/>
          <a:ln w="12700" cap="flat">
            <a:solidFill>
              <a:srgbClr val="4472C4">
                <a:alpha val="100000"/>
              </a:srgbClr>
            </a:solidFill>
            <a:prstDash val="solid"/>
            <a:headEnd type="none" w="med" len="med"/>
            <a:tailEnd type="triangle" w="med" len="med"/>
          </a:ln>
        </p:spPr>
      </p:cxnSp>
      <p:cxnSp>
        <p:nvCxnSpPr>
          <p:cNvPr name="Connector 18" id="18"/>
          <p:cNvCxnSpPr/>
          <p:nvPr/>
        </p:nvCxnSpPr>
        <p:spPr>
          <a:xfrm rot="0" flipH="false" flipV="false">
            <a:off x="5010757" y="1909241"/>
            <a:ext cx="687144" cy="268124"/>
          </a:xfrm>
          <a:prstGeom prst="straightConnector1">
            <a:avLst/>
          </a:prstGeom>
          <a:noFill/>
          <a:ln w="12700" cap="flat">
            <a:solidFill>
              <a:srgbClr val="4472C4">
                <a:alpha val="100000"/>
              </a:srgbClr>
            </a:solidFill>
            <a:prstDash val="solid"/>
            <a:headEnd type="none" w="med" len="med"/>
            <a:tailEnd type="triangle" w="med" len="med"/>
          </a:ln>
        </p:spPr>
      </p:cxnSp>
      <p:cxnSp>
        <p:nvCxnSpPr>
          <p:cNvPr name="Connector 19" id="19"/>
          <p:cNvCxnSpPr/>
          <p:nvPr/>
        </p:nvCxnSpPr>
        <p:spPr>
          <a:xfrm rot="10800000" flipH="false" flipV="true">
            <a:off x="5697901" y="1909241"/>
            <a:ext cx="1356844" cy="268124"/>
          </a:xfrm>
          <a:prstGeom prst="straightConnector1">
            <a:avLst/>
          </a:prstGeom>
          <a:noFill/>
          <a:ln w="12700" cap="flat">
            <a:solidFill>
              <a:srgbClr val="4472C4">
                <a:alpha val="100000"/>
              </a:srgbClr>
            </a:solidFill>
            <a:prstDash val="solid"/>
            <a:headEnd type="none" w="med" len="med"/>
            <a:tailEnd type="triangle" w="med" len="med"/>
          </a:ln>
        </p:spPr>
      </p:cxnSp>
      <p:cxnSp>
        <p:nvCxnSpPr>
          <p:cNvPr name="Connector 20" id="20"/>
          <p:cNvCxnSpPr/>
          <p:nvPr/>
        </p:nvCxnSpPr>
        <p:spPr>
          <a:xfrm rot="10800000" flipH="false" flipV="true">
            <a:off x="5010757" y="2546696"/>
            <a:ext cx="687144" cy="278731"/>
          </a:xfrm>
          <a:prstGeom prst="straightConnector1">
            <a:avLst/>
          </a:prstGeom>
          <a:noFill/>
          <a:ln w="12700" cap="flat">
            <a:solidFill>
              <a:srgbClr val="4472C4">
                <a:alpha val="100000"/>
              </a:srgbClr>
            </a:solidFill>
            <a:prstDash val="solid"/>
            <a:headEnd type="none" w="med" len="med"/>
            <a:tailEnd type="triangle" w="med" len="med"/>
          </a:ln>
        </p:spPr>
      </p:cxnSp>
      <p:cxnSp>
        <p:nvCxnSpPr>
          <p:cNvPr name="Connector 21" id="21"/>
          <p:cNvCxnSpPr/>
          <p:nvPr/>
        </p:nvCxnSpPr>
        <p:spPr>
          <a:xfrm rot="0" flipH="false" flipV="false">
            <a:off x="5697901" y="2546696"/>
            <a:ext cx="398098" cy="278731"/>
          </a:xfrm>
          <a:prstGeom prst="straightConnector1">
            <a:avLst/>
          </a:prstGeom>
          <a:noFill/>
          <a:ln w="12700" cap="flat">
            <a:solidFill>
              <a:srgbClr val="4472C4">
                <a:alpha val="100000"/>
              </a:srgbClr>
            </a:solidFill>
            <a:prstDash val="solid"/>
            <a:headEnd type="none" w="med" len="med"/>
            <a:tailEnd type="triangle" w="med" len="med"/>
          </a:ln>
        </p:spPr>
      </p:cxnSp>
      <p:cxnSp>
        <p:nvCxnSpPr>
          <p:cNvPr name="Connector 22" id="22"/>
          <p:cNvCxnSpPr/>
          <p:nvPr/>
        </p:nvCxnSpPr>
        <p:spPr>
          <a:xfrm rot="0" flipH="false" flipV="false">
            <a:off x="5697901" y="2546696"/>
            <a:ext cx="1356844" cy="268124"/>
          </a:xfrm>
          <a:prstGeom prst="straightConnector1">
            <a:avLst/>
          </a:prstGeom>
          <a:noFill/>
          <a:ln w="12700" cap="flat">
            <a:solidFill>
              <a:srgbClr val="4472C4">
                <a:alpha val="100000"/>
              </a:srgbClr>
            </a:solidFill>
            <a:prstDash val="solid"/>
            <a:headEnd type="none" w="med" len="med"/>
            <a:tailEnd type="triangle" w="med" len="med"/>
          </a:ln>
        </p:spPr>
      </p:cxnSp>
      <p:sp>
        <p:nvSpPr>
          <p:cNvPr name="AutoShape 23" id="23"/>
          <p:cNvSpPr/>
          <p:nvPr/>
        </p:nvSpPr>
        <p:spPr>
          <a:xfrm rot="0" flipH="false" flipV="false">
            <a:off x="2090217" y="2306180"/>
            <a:ext cx="1743096" cy="308472"/>
          </a:xfrm>
          <a:prstGeom prst="roundRect">
            <a:avLst>
              <a:gd name="adj" fmla="val 16666"/>
            </a:avLst>
          </a:prstGeom>
          <a:solidFill>
            <a:srgbClr val="FFFFFF">
              <a:alpha val="100000"/>
            </a:srgbClr>
          </a:solidFill>
          <a:ln w="12700" cap="flat">
            <a:solidFill>
              <a:srgbClr val="4472C4">
                <a:alpha val="100000"/>
              </a:srgbClr>
            </a:solidFill>
            <a:prstDash val="solid"/>
          </a:ln>
        </p:spPr>
        <p:txBody>
          <a:bodyPr anchor="ctr" rtlCol="false" vert="horz" wrap="square" lIns="91440" rIns="91440" tIns="45720" bIns="45720">
            <a:noAutofit/>
          </a:bodyPr>
          <a:lstStyle/>
          <a:p>
            <a:pPr algn="r" indent="0">
              <a:lnSpc>
                <a:spcPct val="100000"/>
              </a:lnSpc>
              <a:defRPr/>
            </a:pPr>
            <a:r>
              <a:rPr lang="en-US" b="false" i="false" strike="noStrike" u="none" sz="1600">
                <a:solidFill>
                  <a:srgbClr val="000000"/>
                </a:solidFill>
                <a:latin typeface="Arial"/>
                <a:ea typeface="Arial"/>
                <a:cs typeface="Arial"/>
                <a:sym typeface="Arial"/>
              </a:rPr>
              <a:t>MLIR</a:t>
            </a:r>
            <a:endParaRPr lang="en-US" sz="1100"/>
          </a:p>
        </p:txBody>
      </p:sp>
      <p:sp>
        <p:nvSpPr>
          <p:cNvPr name="AutoShape 24" id="24"/>
          <p:cNvSpPr/>
          <p:nvPr/>
        </p:nvSpPr>
        <p:spPr>
          <a:xfrm rot="0" flipH="false" flipV="false">
            <a:off x="1528553" y="1600769"/>
            <a:ext cx="1123328" cy="308472"/>
          </a:xfrm>
          <a:prstGeom prst="roundRect">
            <a:avLst>
              <a:gd name="adj" fmla="val 16666"/>
            </a:avLst>
          </a:prstGeom>
          <a:solidFill>
            <a:srgbClr val="DEEBF7">
              <a:alpha val="100000"/>
            </a:srgbClr>
          </a:solidFill>
          <a:ln w="12700" cap="flat">
            <a:solidFill>
              <a:srgbClr val="4472C4">
                <a:alpha val="100000"/>
              </a:srgbClr>
            </a:solidFill>
            <a:prstDash val="solid"/>
          </a:ln>
        </p:spPr>
        <p:txBody>
          <a:bodyPr anchor="ctr" rtlCol="false" vert="horz"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Pytorch</a:t>
            </a:r>
            <a:endParaRPr lang="en-US" sz="1100"/>
          </a:p>
        </p:txBody>
      </p:sp>
      <p:sp>
        <p:nvSpPr>
          <p:cNvPr name="AutoShape 25" id="25"/>
          <p:cNvSpPr/>
          <p:nvPr/>
        </p:nvSpPr>
        <p:spPr>
          <a:xfrm rot="0" flipH="false" flipV="false">
            <a:off x="937138" y="2166758"/>
            <a:ext cx="2205899" cy="369331"/>
          </a:xfrm>
          <a:prstGeom prst="roundRect">
            <a:avLst>
              <a:gd name="adj" fmla="val 16667"/>
            </a:avLst>
          </a:prstGeom>
          <a:solidFill>
            <a:srgbClr val="DEEBF7">
              <a:alpha val="100000"/>
            </a:srgbClr>
          </a:solidFill>
          <a:ln w="12700" cap="flat">
            <a:solidFill>
              <a:srgbClr val="4472C4">
                <a:alpha val="100000"/>
              </a:srgbClr>
            </a:solidFill>
            <a:prstDash val="solid"/>
          </a:ln>
        </p:spPr>
        <p:txBody>
          <a:bodyPr anchor="ctr" rtlCol="false" vert="horz"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Triton</a:t>
            </a:r>
            <a:endParaRPr lang="en-US" sz="1100"/>
          </a:p>
        </p:txBody>
      </p:sp>
      <p:sp>
        <p:nvSpPr>
          <p:cNvPr name="AutoShape 26" id="26"/>
          <p:cNvSpPr/>
          <p:nvPr/>
        </p:nvSpPr>
        <p:spPr>
          <a:xfrm rot="0" flipH="false" flipV="false">
            <a:off x="1432193" y="2814820"/>
            <a:ext cx="1123328" cy="308472"/>
          </a:xfrm>
          <a:prstGeom prst="roundRect">
            <a:avLst>
              <a:gd name="adj" fmla="val 16666"/>
            </a:avLst>
          </a:prstGeom>
          <a:solidFill>
            <a:srgbClr val="DEEBF7">
              <a:alpha val="100000"/>
            </a:srgbClr>
          </a:solidFill>
          <a:ln w="12700" cap="flat">
            <a:solidFill>
              <a:srgbClr val="4472C4">
                <a:alpha val="100000"/>
              </a:srgbClr>
            </a:solidFill>
            <a:prstDash val="solid"/>
          </a:ln>
        </p:spPr>
        <p:txBody>
          <a:bodyPr anchor="ctr" rtlCol="false" vert="horz"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GPU</a:t>
            </a:r>
            <a:endParaRPr lang="en-US" sz="1100"/>
          </a:p>
        </p:txBody>
      </p:sp>
      <p:cxnSp>
        <p:nvCxnSpPr>
          <p:cNvPr name="Connector 27" id="27"/>
          <p:cNvCxnSpPr/>
          <p:nvPr/>
        </p:nvCxnSpPr>
        <p:spPr>
          <a:xfrm rot="10800000" flipH="false" flipV="true">
            <a:off x="2040088" y="1909241"/>
            <a:ext cx="50129" cy="257517"/>
          </a:xfrm>
          <a:prstGeom prst="straightConnector1">
            <a:avLst/>
          </a:prstGeom>
          <a:noFill/>
          <a:ln w="12700" cap="flat">
            <a:solidFill>
              <a:srgbClr val="4472C4">
                <a:alpha val="100000"/>
              </a:srgbClr>
            </a:solidFill>
            <a:prstDash val="solid"/>
            <a:headEnd type="none" w="med" len="med"/>
            <a:tailEnd type="triangle" w="med" len="med"/>
          </a:ln>
        </p:spPr>
      </p:cxnSp>
      <p:cxnSp>
        <p:nvCxnSpPr>
          <p:cNvPr name="Connector 28" id="28"/>
          <p:cNvCxnSpPr/>
          <p:nvPr/>
        </p:nvCxnSpPr>
        <p:spPr>
          <a:xfrm rot="10800000" flipH="false" flipV="true">
            <a:off x="1993857" y="2536089"/>
            <a:ext cx="46231" cy="278731"/>
          </a:xfrm>
          <a:prstGeom prst="straightConnector1">
            <a:avLst/>
          </a:prstGeom>
          <a:noFill/>
          <a:ln w="12700" cap="flat">
            <a:solidFill>
              <a:srgbClr val="4472C4">
                <a:alpha val="100000"/>
              </a:srgbClr>
            </a:solidFill>
            <a:prstDash val="solid"/>
            <a:headEnd type="none" w="med" len="med"/>
            <a:tailEnd type="triangle" w="med" len="med"/>
          </a:ln>
        </p:spPr>
      </p:cxnSp>
      <p:sp>
        <p:nvSpPr>
          <p:cNvPr name="AutoShape 29" id="29"/>
          <p:cNvSpPr/>
          <p:nvPr/>
        </p:nvSpPr>
        <p:spPr>
          <a:xfrm rot="0" flipH="false" flipV="false">
            <a:off x="9821649" y="2306180"/>
            <a:ext cx="1743096" cy="308472"/>
          </a:xfrm>
          <a:prstGeom prst="roundRect">
            <a:avLst>
              <a:gd name="adj" fmla="val 16666"/>
            </a:avLst>
          </a:prstGeom>
          <a:solidFill>
            <a:srgbClr val="FFFFFF">
              <a:alpha val="100000"/>
            </a:srgbClr>
          </a:solidFill>
          <a:ln w="12700" cap="flat">
            <a:solidFill>
              <a:srgbClr val="4472C4">
                <a:alpha val="100000"/>
              </a:srgbClr>
            </a:solidFill>
            <a:prstDash val="solid"/>
          </a:ln>
        </p:spPr>
        <p:txBody>
          <a:bodyPr anchor="ctr" rtlCol="false" vert="horz" wrap="square" lIns="91440" rIns="91440" tIns="45720" bIns="45720">
            <a:noAutofit/>
          </a:bodyPr>
          <a:lstStyle/>
          <a:p>
            <a:pPr algn="r" indent="0">
              <a:lnSpc>
                <a:spcPct val="100000"/>
              </a:lnSpc>
              <a:defRPr/>
            </a:pPr>
            <a:r>
              <a:rPr lang="en-US" b="false" i="false" strike="noStrike" u="none" sz="1600">
                <a:solidFill>
                  <a:srgbClr val="000000"/>
                </a:solidFill>
                <a:latin typeface="Arial"/>
                <a:ea typeface="Arial"/>
                <a:cs typeface="Arial"/>
                <a:sym typeface="Arial"/>
              </a:rPr>
              <a:t>MLIR</a:t>
            </a:r>
            <a:endParaRPr lang="en-US" sz="1100"/>
          </a:p>
        </p:txBody>
      </p:sp>
      <p:sp>
        <p:nvSpPr>
          <p:cNvPr name="AutoShape 30" id="30"/>
          <p:cNvSpPr/>
          <p:nvPr/>
        </p:nvSpPr>
        <p:spPr>
          <a:xfrm rot="0" flipH="false" flipV="false">
            <a:off x="8668570" y="2166758"/>
            <a:ext cx="2205899" cy="369331"/>
          </a:xfrm>
          <a:prstGeom prst="roundRect">
            <a:avLst>
              <a:gd name="adj" fmla="val 16667"/>
            </a:avLst>
          </a:prstGeom>
          <a:solidFill>
            <a:srgbClr val="DEEBF7">
              <a:alpha val="100000"/>
            </a:srgbClr>
          </a:solidFill>
          <a:ln w="12700" cap="flat">
            <a:solidFill>
              <a:srgbClr val="4472C4">
                <a:alpha val="100000"/>
              </a:srgbClr>
            </a:solidFill>
            <a:prstDash val="solid"/>
          </a:ln>
        </p:spPr>
        <p:txBody>
          <a:bodyPr anchor="ctr" rtlCol="false" vert="horz"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Mojo</a:t>
            </a:r>
            <a:endParaRPr lang="en-US" sz="1100"/>
          </a:p>
        </p:txBody>
      </p:sp>
      <p:sp>
        <p:nvSpPr>
          <p:cNvPr name="AutoShape 31" id="31"/>
          <p:cNvSpPr/>
          <p:nvPr/>
        </p:nvSpPr>
        <p:spPr>
          <a:xfrm rot="0" flipH="false" flipV="false">
            <a:off x="8507403" y="2823700"/>
            <a:ext cx="1123328" cy="308472"/>
          </a:xfrm>
          <a:prstGeom prst="roundRect">
            <a:avLst>
              <a:gd name="adj" fmla="val 16666"/>
            </a:avLst>
          </a:prstGeom>
          <a:solidFill>
            <a:srgbClr val="FFFFFF">
              <a:alpha val="100000"/>
            </a:srgbClr>
          </a:solidFill>
          <a:ln w="12700" cap="flat">
            <a:solidFill>
              <a:srgbClr val="4472C4">
                <a:alpha val="100000"/>
              </a:srgbClr>
            </a:solidFill>
            <a:prstDash val="solid"/>
          </a:ln>
        </p:spPr>
        <p:txBody>
          <a:bodyPr anchor="ctr" rtlCol="false" vert="horz"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GPU</a:t>
            </a:r>
            <a:endParaRPr lang="en-US" sz="1100"/>
          </a:p>
        </p:txBody>
      </p:sp>
      <p:sp>
        <p:nvSpPr>
          <p:cNvPr name="AutoShape 32" id="32"/>
          <p:cNvSpPr/>
          <p:nvPr/>
        </p:nvSpPr>
        <p:spPr>
          <a:xfrm rot="0" flipH="false" flipV="false">
            <a:off x="9719142" y="2823700"/>
            <a:ext cx="870333" cy="308472"/>
          </a:xfrm>
          <a:prstGeom prst="roundRect">
            <a:avLst>
              <a:gd name="adj" fmla="val 16666"/>
            </a:avLst>
          </a:prstGeom>
          <a:noFill/>
          <a:ln w="12700" cap="flat">
            <a:solidFill>
              <a:srgbClr val="4472C4">
                <a:alpha val="100000"/>
              </a:srgbClr>
            </a:solidFill>
            <a:prstDash val="solid"/>
          </a:ln>
        </p:spPr>
        <p:txBody>
          <a:bodyPr anchor="ctr" rtlCol="false" vert="horz"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a:t>
            </a:r>
            <a:endParaRPr lang="en-US" sz="1100"/>
          </a:p>
        </p:txBody>
      </p:sp>
      <p:sp>
        <p:nvSpPr>
          <p:cNvPr name="AutoShape 33" id="33"/>
          <p:cNvSpPr/>
          <p:nvPr/>
        </p:nvSpPr>
        <p:spPr>
          <a:xfrm rot="0" flipH="false" flipV="false">
            <a:off x="10677888" y="2813093"/>
            <a:ext cx="870333" cy="308472"/>
          </a:xfrm>
          <a:prstGeom prst="roundRect">
            <a:avLst>
              <a:gd name="adj" fmla="val 16666"/>
            </a:avLst>
          </a:prstGeom>
          <a:solidFill>
            <a:srgbClr val="DEEBF7">
              <a:alpha val="100000"/>
            </a:srgbClr>
          </a:solidFill>
          <a:ln w="12700" cap="flat">
            <a:solidFill>
              <a:srgbClr val="4472C4">
                <a:alpha val="100000"/>
              </a:srgbClr>
            </a:solidFill>
            <a:prstDash val="solid"/>
          </a:ln>
        </p:spPr>
        <p:txBody>
          <a:bodyPr anchor="ctr" rtlCol="false" vert="horz"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CPU</a:t>
            </a:r>
            <a:endParaRPr lang="en-US" sz="1100"/>
          </a:p>
        </p:txBody>
      </p:sp>
      <p:cxnSp>
        <p:nvCxnSpPr>
          <p:cNvPr name="Connector 34" id="34"/>
          <p:cNvCxnSpPr/>
          <p:nvPr/>
        </p:nvCxnSpPr>
        <p:spPr>
          <a:xfrm rot="10800000" flipH="false" flipV="true">
            <a:off x="9069067" y="2536089"/>
            <a:ext cx="702453" cy="287611"/>
          </a:xfrm>
          <a:prstGeom prst="straightConnector1">
            <a:avLst/>
          </a:prstGeom>
          <a:noFill/>
          <a:ln w="12700" cap="flat">
            <a:solidFill>
              <a:srgbClr val="4472C4">
                <a:alpha val="100000"/>
              </a:srgbClr>
            </a:solidFill>
            <a:prstDash val="solid"/>
            <a:headEnd type="none" w="med" len="med"/>
            <a:tailEnd type="triangle" w="med" len="med"/>
          </a:ln>
        </p:spPr>
      </p:cxnSp>
      <p:cxnSp>
        <p:nvCxnSpPr>
          <p:cNvPr name="Connector 35" id="35"/>
          <p:cNvCxnSpPr/>
          <p:nvPr/>
        </p:nvCxnSpPr>
        <p:spPr>
          <a:xfrm rot="0" flipH="false" flipV="false">
            <a:off x="9771520" y="2536089"/>
            <a:ext cx="1341535" cy="277004"/>
          </a:xfrm>
          <a:prstGeom prst="straightConnector1">
            <a:avLst/>
          </a:prstGeom>
          <a:noFill/>
          <a:ln w="12700" cap="flat">
            <a:solidFill>
              <a:srgbClr val="4472C4">
                <a:alpha val="100000"/>
              </a:srgbClr>
            </a:solidFill>
            <a:prstDash val="solid"/>
            <a:headEnd type="none" w="med" len="med"/>
            <a:tailEnd type="triangle" w="med" len="med"/>
          </a:ln>
        </p:spPr>
      </p:cxnSp>
      <p:cxnSp>
        <p:nvCxnSpPr>
          <p:cNvPr name="Connector 36" id="36"/>
          <p:cNvCxnSpPr/>
          <p:nvPr/>
        </p:nvCxnSpPr>
        <p:spPr>
          <a:xfrm rot="0" flipH="false" flipV="false">
            <a:off x="9771520" y="2536089"/>
            <a:ext cx="382789" cy="287611"/>
          </a:xfrm>
          <a:prstGeom prst="straightConnector1">
            <a:avLst/>
          </a:prstGeom>
          <a:noFill/>
          <a:ln w="12700" cap="flat">
            <a:solidFill>
              <a:srgbClr val="4472C4">
                <a:alpha val="100000"/>
              </a:srgbClr>
            </a:solidFill>
            <a:prstDash val="solid"/>
            <a:headEnd type="none" w="med" len="med"/>
            <a:tailEnd type="triangle" w="med" len="med"/>
          </a:ln>
        </p:spPr>
      </p:cxnSp>
      <p:sp>
        <p:nvSpPr>
          <p:cNvPr name="AutoShape 37" id="37"/>
          <p:cNvSpPr/>
          <p:nvPr/>
        </p:nvSpPr>
        <p:spPr>
          <a:xfrm rot="0" flipH="false" flipV="false">
            <a:off x="8584925" y="5966668"/>
            <a:ext cx="400497" cy="308472"/>
          </a:xfrm>
          <a:prstGeom prst="roundRect">
            <a:avLst>
              <a:gd name="adj" fmla="val 16666"/>
            </a:avLst>
          </a:prstGeom>
          <a:solidFill>
            <a:srgbClr val="DEEBF7">
              <a:alpha val="100000"/>
            </a:srgbClr>
          </a:solidFill>
          <a:ln w="12700" cap="flat">
            <a:solidFill>
              <a:srgbClr val="4472C4">
                <a:alpha val="100000"/>
              </a:srgbClr>
            </a:solidFill>
            <a:prstDash val="solid"/>
          </a:ln>
        </p:spPr>
        <p:txBody>
          <a:bodyPr anchor="ctr" rtlCol="false" vert="horz"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 </a:t>
            </a:r>
            <a:endParaRPr lang="en-US" sz="1100"/>
          </a:p>
        </p:txBody>
      </p:sp>
      <p:sp>
        <p:nvSpPr>
          <p:cNvPr name="AutoShape 38" id="38"/>
          <p:cNvSpPr/>
          <p:nvPr/>
        </p:nvSpPr>
        <p:spPr>
          <a:xfrm rot="0" flipH="false" flipV="false">
            <a:off x="9151376" y="5966668"/>
            <a:ext cx="400497" cy="308472"/>
          </a:xfrm>
          <a:prstGeom prst="roundRect">
            <a:avLst>
              <a:gd name="adj" fmla="val 16666"/>
            </a:avLst>
          </a:prstGeom>
          <a:solidFill>
            <a:srgbClr val="DEEBF7">
              <a:alpha val="100000"/>
            </a:srgbClr>
          </a:solidFill>
          <a:ln w="12700" cap="flat">
            <a:solidFill>
              <a:srgbClr val="4472C4">
                <a:alpha val="100000"/>
              </a:srgbClr>
            </a:solidFill>
            <a:prstDash val="solid"/>
          </a:ln>
        </p:spPr>
        <p:txBody>
          <a:bodyPr anchor="ctr" rtlCol="false" vert="horz" wrap="square" lIns="91440" rIns="91440" tIns="45720" bIns="45720">
            <a:noAutofit/>
          </a:bodyPr>
          <a:lstStyle/>
          <a:p>
            <a:pPr algn="ctr" indent="0">
              <a:lnSpc>
                <a:spcPct val="100000"/>
              </a:lnSpc>
              <a:defRPr/>
            </a:pPr>
            <a:r>
              <a:rPr lang="en-US" b="false" i="false" strike="noStrike" u="none" sz="1600">
                <a:solidFill>
                  <a:srgbClr val="000000"/>
                </a:solidFill>
                <a:latin typeface="Arial"/>
                <a:ea typeface="Arial"/>
                <a:cs typeface="Arial"/>
                <a:sym typeface="Arial"/>
              </a:rPr>
              <a:t> </a:t>
            </a:r>
            <a:endParaRPr lang="en-US" sz="1100"/>
          </a:p>
        </p:txBody>
      </p:sp>
      <p:cxnSp>
        <p:nvCxnSpPr>
          <p:cNvPr name="Connector 39" id="39"/>
          <p:cNvCxnSpPr/>
          <p:nvPr/>
        </p:nvCxnSpPr>
        <p:spPr>
          <a:xfrm rot="0" flipH="false" flipV="false">
            <a:off x="8985422" y="6120904"/>
            <a:ext cx="165954" cy="0"/>
          </a:xfrm>
          <a:prstGeom prst="straightConnector1">
            <a:avLst/>
          </a:prstGeom>
          <a:noFill/>
          <a:ln w="12700" cap="flat">
            <a:solidFill>
              <a:srgbClr val="4472C4">
                <a:alpha val="100000"/>
              </a:srgbClr>
            </a:solidFill>
            <a:prstDash val="solid"/>
            <a:headEnd type="none" w="med" len="med"/>
            <a:tailEnd type="triangle" w="med" len="med"/>
          </a:ln>
        </p:spPr>
      </p:cxnSp>
      <p:sp>
        <p:nvSpPr>
          <p:cNvPr name="AutoShape 40" id="40"/>
          <p:cNvSpPr/>
          <p:nvPr/>
        </p:nvSpPr>
        <p:spPr>
          <a:xfrm rot="0" flipH="false" flipV="false">
            <a:off x="9573812" y="5921204"/>
            <a:ext cx="2011680" cy="368300"/>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1800">
                <a:solidFill>
                  <a:srgbClr val="000000"/>
                </a:solidFill>
                <a:latin typeface="微软雅黑"/>
                <a:ea typeface="微软雅黑"/>
                <a:cs typeface="微软雅黑"/>
                <a:sym typeface="微软雅黑"/>
              </a:rPr>
              <a:t>蓝色表示主要路径</a:t>
            </a:r>
            <a:endParaRPr lang="en-US" sz="1100"/>
          </a:p>
        </p:txBody>
      </p:sp>
      <p:sp>
        <p:nvSpPr>
          <p:cNvPr name="AutoShape 41" id="41"/>
          <p:cNvSpPr/>
          <p:nvPr/>
        </p:nvSpPr>
        <p:spPr>
          <a:xfrm rot="0" flipH="false" flipV="false">
            <a:off x="877659" y="3402146"/>
            <a:ext cx="3177540" cy="1322070"/>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1600">
                <a:solidFill>
                  <a:srgbClr val="000000"/>
                </a:solidFill>
                <a:latin typeface="微软雅黑"/>
                <a:ea typeface="微软雅黑"/>
                <a:cs typeface="微软雅黑"/>
                <a:sym typeface="微软雅黑"/>
              </a:rPr>
              <a:t>架构先进性：</a:t>
            </a:r>
            <a:r>
              <a:rPr lang="en-US" b="false" i="false" strike="noStrike" u="none" sz="1600">
                <a:solidFill>
                  <a:srgbClr val="000000"/>
                </a:solidFill>
                <a:latin typeface="Arial"/>
                <a:ea typeface="Arial"/>
                <a:cs typeface="Arial"/>
                <a:sym typeface="Arial"/>
              </a:rPr>
              <a:t>kernel</a:t>
            </a:r>
            <a:r>
              <a:rPr lang="en-US" b="false" i="false" strike="noStrike" u="none" sz="1600">
                <a:solidFill>
                  <a:srgbClr val="000000"/>
                </a:solidFill>
                <a:latin typeface="微软雅黑"/>
                <a:ea typeface="微软雅黑"/>
                <a:cs typeface="微软雅黑"/>
                <a:sym typeface="微软雅黑"/>
              </a:rPr>
              <a:t>编程领先一代</a:t>
            </a:r>
            <a:endParaRPr lang="en-US" sz="1100"/>
          </a:p>
          <a:p>
            <a:pPr algn="l" indent="0">
              <a:lnSpc>
                <a:spcPct val="100000"/>
              </a:lnSpc>
            </a:pPr>
            <a:r>
              <a:rPr lang="en-US" b="false" i="false" strike="noStrike" u="none" sz="1600">
                <a:solidFill>
                  <a:srgbClr val="000000"/>
                </a:solidFill>
                <a:latin typeface="微软雅黑"/>
                <a:ea typeface="微软雅黑"/>
                <a:cs typeface="微软雅黑"/>
                <a:sym typeface="微软雅黑"/>
              </a:rPr>
              <a:t>实现高效性：领先</a:t>
            </a:r>
          </a:p>
          <a:p>
            <a:pPr algn="l" indent="0">
              <a:lnSpc>
                <a:spcPct val="100000"/>
              </a:lnSpc>
            </a:pPr>
            <a:r>
              <a:rPr lang="en-US" b="false" i="false" strike="noStrike" u="none" sz="1600">
                <a:solidFill>
                  <a:srgbClr val="000000"/>
                </a:solidFill>
                <a:latin typeface="微软雅黑"/>
                <a:ea typeface="微软雅黑"/>
                <a:cs typeface="微软雅黑"/>
                <a:sym typeface="微软雅黑"/>
              </a:rPr>
              <a:t>实现质量：较好</a:t>
            </a:r>
          </a:p>
          <a:p>
            <a:pPr algn="l" indent="0">
              <a:lnSpc>
                <a:spcPct val="100000"/>
              </a:lnSpc>
            </a:pPr>
            <a:r>
              <a:rPr lang="en-US" b="false" i="false" strike="noStrike" u="none" sz="1600">
                <a:solidFill>
                  <a:srgbClr val="000000"/>
                </a:solidFill>
                <a:latin typeface="微软雅黑"/>
                <a:ea typeface="微软雅黑"/>
                <a:cs typeface="微软雅黑"/>
                <a:sym typeface="微软雅黑"/>
              </a:rPr>
              <a:t>易编程：优于</a:t>
            </a:r>
            <a:r>
              <a:rPr lang="en-US" b="false" i="false" strike="noStrike" u="none" sz="1600">
                <a:solidFill>
                  <a:srgbClr val="000000"/>
                </a:solidFill>
                <a:latin typeface="Arial"/>
                <a:ea typeface="Arial"/>
                <a:cs typeface="Arial"/>
                <a:sym typeface="Arial"/>
              </a:rPr>
              <a:t>CUDA</a:t>
            </a:r>
          </a:p>
          <a:p>
            <a:pPr algn="l" indent="0">
              <a:lnSpc>
                <a:spcPct val="100000"/>
              </a:lnSpc>
            </a:pPr>
            <a:r>
              <a:rPr lang="en-US" b="false" i="false" strike="noStrike" u="none" sz="1600">
                <a:solidFill>
                  <a:srgbClr val="000000"/>
                </a:solidFill>
                <a:latin typeface="微软雅黑"/>
                <a:ea typeface="微软雅黑"/>
                <a:cs typeface="微软雅黑"/>
                <a:sym typeface="微软雅黑"/>
              </a:rPr>
              <a:t>适配度：</a:t>
            </a:r>
            <a:r>
              <a:rPr lang="en-US" b="false" i="false" strike="noStrike" u="none" sz="1600">
                <a:solidFill>
                  <a:srgbClr val="000000"/>
                </a:solidFill>
                <a:latin typeface="Arial"/>
                <a:ea typeface="Arial"/>
                <a:cs typeface="Arial"/>
                <a:sym typeface="Arial"/>
              </a:rPr>
              <a:t>Pytorch</a:t>
            </a:r>
            <a:r>
              <a:rPr lang="en-US" b="false" i="false" strike="noStrike" u="none" sz="1600">
                <a:solidFill>
                  <a:srgbClr val="000000"/>
                </a:solidFill>
                <a:latin typeface="微软雅黑"/>
                <a:ea typeface="微软雅黑"/>
                <a:cs typeface="微软雅黑"/>
                <a:sym typeface="微软雅黑"/>
              </a:rPr>
              <a:t>框架原生支持</a:t>
            </a:r>
          </a:p>
        </p:txBody>
      </p:sp>
      <p:sp>
        <p:nvSpPr>
          <p:cNvPr name="AutoShape 42" id="42"/>
          <p:cNvSpPr/>
          <p:nvPr/>
        </p:nvSpPr>
        <p:spPr>
          <a:xfrm rot="0" flipH="false" flipV="false">
            <a:off x="4179570" y="3402023"/>
            <a:ext cx="4193540" cy="1814830"/>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1600">
                <a:solidFill>
                  <a:srgbClr val="000000"/>
                </a:solidFill>
                <a:latin typeface="微软雅黑"/>
                <a:ea typeface="微软雅黑"/>
                <a:cs typeface="微软雅黑"/>
                <a:sym typeface="微软雅黑"/>
              </a:rPr>
              <a:t>架构先进性：整体领先一代，</a:t>
            </a:r>
            <a:r>
              <a:rPr lang="en-US" b="false" i="false" strike="noStrike" u="none" sz="1600">
                <a:solidFill>
                  <a:srgbClr val="000000"/>
                </a:solidFill>
                <a:latin typeface="Arial"/>
                <a:ea typeface="Arial"/>
                <a:cs typeface="Arial"/>
                <a:sym typeface="Arial"/>
              </a:rPr>
              <a:t>kernel</a:t>
            </a:r>
            <a:r>
              <a:rPr lang="en-US" b="false" i="false" strike="noStrike" u="none" sz="1600">
                <a:solidFill>
                  <a:srgbClr val="000000"/>
                </a:solidFill>
                <a:latin typeface="微软雅黑"/>
                <a:ea typeface="微软雅黑"/>
                <a:cs typeface="微软雅黑"/>
                <a:sym typeface="微软雅黑"/>
              </a:rPr>
              <a:t>编程缺失</a:t>
            </a:r>
            <a:endParaRPr lang="en-US" sz="1100"/>
          </a:p>
          <a:p>
            <a:pPr algn="l" indent="0">
              <a:lnSpc>
                <a:spcPct val="100000"/>
              </a:lnSpc>
            </a:pPr>
            <a:r>
              <a:rPr lang="en-US" b="false" i="false" strike="noStrike" u="none" sz="1600">
                <a:solidFill>
                  <a:srgbClr val="000000"/>
                </a:solidFill>
                <a:latin typeface="微软雅黑"/>
                <a:ea typeface="微软雅黑"/>
                <a:cs typeface="微软雅黑"/>
                <a:sym typeface="微软雅黑"/>
              </a:rPr>
              <a:t>实现高效性：领先，但</a:t>
            </a:r>
            <a:r>
              <a:rPr lang="en-US" b="false" i="false" strike="noStrike" u="none" sz="1600">
                <a:solidFill>
                  <a:srgbClr val="000000"/>
                </a:solidFill>
                <a:latin typeface="Arial"/>
                <a:ea typeface="Arial"/>
                <a:cs typeface="Arial"/>
                <a:sym typeface="Arial"/>
              </a:rPr>
              <a:t>GPU</a:t>
            </a:r>
            <a:r>
              <a:rPr lang="en-US" b="false" i="false" strike="noStrike" u="none" sz="1600">
                <a:solidFill>
                  <a:srgbClr val="000000"/>
                </a:solidFill>
                <a:latin typeface="微软雅黑"/>
                <a:ea typeface="微软雅黑"/>
                <a:cs typeface="微软雅黑"/>
                <a:sym typeface="微软雅黑"/>
              </a:rPr>
              <a:t>性能低于</a:t>
            </a:r>
            <a:r>
              <a:rPr lang="en-US" b="false" i="false" strike="noStrike" u="none" sz="1600">
                <a:solidFill>
                  <a:srgbClr val="000000"/>
                </a:solidFill>
                <a:latin typeface="Arial"/>
                <a:ea typeface="Arial"/>
                <a:cs typeface="Arial"/>
                <a:sym typeface="Arial"/>
              </a:rPr>
              <a:t>Triton</a:t>
            </a:r>
          </a:p>
          <a:p>
            <a:pPr algn="l" indent="0">
              <a:lnSpc>
                <a:spcPct val="100000"/>
              </a:lnSpc>
            </a:pPr>
            <a:r>
              <a:rPr lang="en-US" b="false" i="false" strike="noStrike" u="none" sz="1600">
                <a:solidFill>
                  <a:srgbClr val="000000"/>
                </a:solidFill>
                <a:latin typeface="微软雅黑"/>
                <a:ea typeface="微软雅黑"/>
                <a:cs typeface="微软雅黑"/>
                <a:sym typeface="微软雅黑"/>
              </a:rPr>
              <a:t>实现质量：较好</a:t>
            </a:r>
          </a:p>
          <a:p>
            <a:pPr algn="l" indent="0">
              <a:lnSpc>
                <a:spcPct val="100000"/>
              </a:lnSpc>
            </a:pPr>
            <a:r>
              <a:rPr lang="en-US" b="false" i="false" strike="noStrike" u="none" sz="1600">
                <a:solidFill>
                  <a:srgbClr val="000000"/>
                </a:solidFill>
                <a:latin typeface="微软雅黑"/>
                <a:ea typeface="微软雅黑"/>
                <a:cs typeface="微软雅黑"/>
                <a:sym typeface="微软雅黑"/>
              </a:rPr>
              <a:t>易编程：</a:t>
            </a:r>
            <a:r>
              <a:rPr lang="en-US" b="false" i="false" strike="noStrike" u="none" sz="1600">
                <a:solidFill>
                  <a:srgbClr val="000000"/>
                </a:solidFill>
                <a:latin typeface="Arial"/>
                <a:ea typeface="Arial"/>
                <a:cs typeface="Arial"/>
                <a:sym typeface="Arial"/>
              </a:rPr>
              <a:t>kernel</a:t>
            </a:r>
            <a:r>
              <a:rPr lang="en-US" b="false" i="false" strike="noStrike" u="none" sz="1600">
                <a:solidFill>
                  <a:srgbClr val="000000"/>
                </a:solidFill>
                <a:latin typeface="微软雅黑"/>
                <a:ea typeface="微软雅黑"/>
                <a:cs typeface="微软雅黑"/>
                <a:sym typeface="微软雅黑"/>
              </a:rPr>
              <a:t>编程模型借鉴</a:t>
            </a:r>
            <a:r>
              <a:rPr lang="en-US" b="false" i="false" strike="noStrike" u="none" sz="1600">
                <a:solidFill>
                  <a:srgbClr val="000000"/>
                </a:solidFill>
                <a:latin typeface="Arial"/>
                <a:ea typeface="Arial"/>
                <a:cs typeface="Arial"/>
                <a:sym typeface="Arial"/>
              </a:rPr>
              <a:t>Triton</a:t>
            </a:r>
          </a:p>
          <a:p>
            <a:pPr algn="l" indent="0">
              <a:lnSpc>
                <a:spcPct val="100000"/>
              </a:lnSpc>
            </a:pPr>
            <a:r>
              <a:rPr lang="en-US" b="false" i="false" strike="noStrike" u="none" sz="1600">
                <a:solidFill>
                  <a:srgbClr val="000000"/>
                </a:solidFill>
                <a:latin typeface="微软雅黑"/>
                <a:ea typeface="微软雅黑"/>
                <a:cs typeface="微软雅黑"/>
                <a:sym typeface="微软雅黑"/>
              </a:rPr>
              <a:t>适配度：</a:t>
            </a:r>
            <a:br>
              <a:rPr lang="en-US" b="false" i="false" strike="noStrike" u="none" sz="1600">
                <a:solidFill>
                  <a:srgbClr val="000000"/>
                </a:solidFill>
                <a:latin typeface="微软雅黑"/>
                <a:ea typeface="微软雅黑"/>
                <a:cs typeface="微软雅黑"/>
                <a:sym typeface="微软雅黑"/>
              </a:rPr>
            </a:br>
            <a:r>
              <a:rPr lang="en-US" b="false" i="false" strike="noStrike" u="none" sz="1600">
                <a:solidFill>
                  <a:srgbClr val="000000"/>
                </a:solidFill>
                <a:latin typeface="Arial"/>
                <a:ea typeface="Arial"/>
                <a:cs typeface="Arial"/>
                <a:sym typeface="Arial"/>
              </a:rPr>
              <a:t>    TF</a:t>
            </a:r>
            <a:r>
              <a:rPr lang="en-US" b="false" i="false" strike="noStrike" u="none" sz="1600">
                <a:solidFill>
                  <a:srgbClr val="000000"/>
                </a:solidFill>
                <a:latin typeface="微软雅黑"/>
                <a:ea typeface="微软雅黑"/>
                <a:cs typeface="微软雅黑"/>
                <a:sym typeface="微软雅黑"/>
              </a:rPr>
              <a:t>和</a:t>
            </a:r>
            <a:r>
              <a:rPr lang="en-US" b="false" i="false" strike="noStrike" u="none" sz="1600">
                <a:solidFill>
                  <a:srgbClr val="000000"/>
                </a:solidFill>
                <a:latin typeface="Arial"/>
                <a:ea typeface="Arial"/>
                <a:cs typeface="Arial"/>
                <a:sym typeface="Arial"/>
              </a:rPr>
              <a:t>JAX</a:t>
            </a:r>
            <a:r>
              <a:rPr lang="en-US" b="false" i="false" strike="noStrike" u="none" sz="1600">
                <a:solidFill>
                  <a:srgbClr val="000000"/>
                </a:solidFill>
                <a:latin typeface="微软雅黑"/>
                <a:ea typeface="微软雅黑"/>
                <a:cs typeface="微软雅黑"/>
                <a:sym typeface="微软雅黑"/>
              </a:rPr>
              <a:t>支持较好</a:t>
            </a:r>
            <a:br>
              <a:rPr lang="en-US" b="false" i="false" strike="noStrike" u="none" sz="1600">
                <a:solidFill>
                  <a:srgbClr val="000000"/>
                </a:solidFill>
                <a:latin typeface="微软雅黑"/>
                <a:ea typeface="微软雅黑"/>
                <a:cs typeface="微软雅黑"/>
                <a:sym typeface="微软雅黑"/>
              </a:rPr>
            </a:br>
            <a:r>
              <a:rPr lang="en-US" b="false" i="false" strike="noStrike" u="none" sz="1600">
                <a:solidFill>
                  <a:srgbClr val="000000"/>
                </a:solidFill>
                <a:latin typeface="Arial"/>
                <a:ea typeface="Arial"/>
                <a:cs typeface="Arial"/>
                <a:sym typeface="Arial"/>
              </a:rPr>
              <a:t>    Pytorch</a:t>
            </a:r>
            <a:r>
              <a:rPr lang="en-US" b="false" i="false" strike="noStrike" u="none" sz="1600">
                <a:solidFill>
                  <a:srgbClr val="000000"/>
                </a:solidFill>
                <a:latin typeface="微软雅黑"/>
                <a:ea typeface="微软雅黑"/>
                <a:cs typeface="微软雅黑"/>
                <a:sym typeface="微软雅黑"/>
              </a:rPr>
              <a:t>非原生支持，需要导出模型</a:t>
            </a:r>
          </a:p>
        </p:txBody>
      </p:sp>
      <p:sp>
        <p:nvSpPr>
          <p:cNvPr name="AutoShape 43" id="43"/>
          <p:cNvSpPr/>
          <p:nvPr/>
        </p:nvSpPr>
        <p:spPr>
          <a:xfrm rot="0" flipH="false" flipV="false">
            <a:off x="8507403" y="3409176"/>
            <a:ext cx="3637280" cy="1322070"/>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1600">
                <a:solidFill>
                  <a:srgbClr val="000000"/>
                </a:solidFill>
                <a:latin typeface="微软雅黑"/>
                <a:ea typeface="微软雅黑"/>
                <a:cs typeface="微软雅黑"/>
                <a:sym typeface="微软雅黑"/>
              </a:rPr>
              <a:t>架构领先性：领先两代</a:t>
            </a:r>
            <a:endParaRPr lang="en-US" sz="1100"/>
          </a:p>
          <a:p>
            <a:pPr algn="l" indent="0">
              <a:lnSpc>
                <a:spcPct val="100000"/>
              </a:lnSpc>
            </a:pPr>
            <a:r>
              <a:rPr lang="en-US" b="false" i="false" strike="noStrike" u="none" sz="1600">
                <a:solidFill>
                  <a:srgbClr val="000000"/>
                </a:solidFill>
                <a:latin typeface="微软雅黑"/>
                <a:ea typeface="微软雅黑"/>
                <a:cs typeface="微软雅黑"/>
                <a:sym typeface="微软雅黑"/>
              </a:rPr>
              <a:t>实现高效性：有欠缺，目前只支持</a:t>
            </a:r>
            <a:r>
              <a:rPr lang="en-US" b="false" i="false" strike="noStrike" u="none" sz="1600">
                <a:solidFill>
                  <a:srgbClr val="000000"/>
                </a:solidFill>
                <a:latin typeface="Arial"/>
                <a:ea typeface="Arial"/>
                <a:cs typeface="Arial"/>
                <a:sym typeface="Arial"/>
              </a:rPr>
              <a:t>CPU</a:t>
            </a:r>
          </a:p>
          <a:p>
            <a:pPr algn="l" indent="0">
              <a:lnSpc>
                <a:spcPct val="100000"/>
              </a:lnSpc>
            </a:pPr>
            <a:r>
              <a:rPr lang="en-US" b="false" i="false" strike="noStrike" u="none" sz="1600">
                <a:solidFill>
                  <a:srgbClr val="000000"/>
                </a:solidFill>
                <a:latin typeface="微软雅黑"/>
                <a:ea typeface="微软雅黑"/>
                <a:cs typeface="微软雅黑"/>
                <a:sym typeface="微软雅黑"/>
              </a:rPr>
              <a:t>实现质量：目前不开源，技术班底很硬</a:t>
            </a:r>
          </a:p>
          <a:p>
            <a:pPr algn="l" indent="0">
              <a:lnSpc>
                <a:spcPct val="100000"/>
              </a:lnSpc>
            </a:pPr>
            <a:r>
              <a:rPr lang="en-US" b="false" i="false" strike="noStrike" u="none" sz="1600">
                <a:solidFill>
                  <a:srgbClr val="000000"/>
                </a:solidFill>
                <a:latin typeface="微软雅黑"/>
                <a:ea typeface="微软雅黑"/>
                <a:cs typeface="微软雅黑"/>
                <a:sym typeface="微软雅黑"/>
              </a:rPr>
              <a:t>易编程：全新编程模型，用户反馈不足</a:t>
            </a:r>
          </a:p>
          <a:p>
            <a:pPr algn="l" indent="0">
              <a:lnSpc>
                <a:spcPct val="100000"/>
              </a:lnSpc>
            </a:pPr>
            <a:r>
              <a:rPr lang="en-US" b="false" i="false" strike="noStrike" u="none" sz="1600">
                <a:solidFill>
                  <a:srgbClr val="000000"/>
                </a:solidFill>
                <a:latin typeface="微软雅黑"/>
                <a:ea typeface="微软雅黑"/>
                <a:cs typeface="微软雅黑"/>
                <a:sym typeface="微软雅黑"/>
              </a:rPr>
              <a:t>适配度：尚无框架支持</a:t>
            </a:r>
          </a:p>
        </p:txBody>
      </p:sp>
      <p:sp>
        <p:nvSpPr>
          <p:cNvPr name="AutoShape 44" id="44"/>
          <p:cNvSpPr/>
          <p:nvPr/>
        </p:nvSpPr>
        <p:spPr>
          <a:xfrm rot="0" flipH="false" flipV="false">
            <a:off x="2555521" y="948450"/>
            <a:ext cx="1198245" cy="368300"/>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1800">
                <a:solidFill>
                  <a:srgbClr val="FF0000"/>
                </a:solidFill>
                <a:latin typeface="微软雅黑"/>
                <a:ea typeface="微软雅黑"/>
                <a:cs typeface="微软雅黑"/>
                <a:sym typeface="微软雅黑"/>
              </a:rPr>
              <a:t>由</a:t>
            </a:r>
            <a:r>
              <a:rPr lang="en-US" b="false" i="false" strike="noStrike" u="none" sz="1800">
                <a:solidFill>
                  <a:srgbClr val="FF0000"/>
                </a:solidFill>
                <a:latin typeface="Arial"/>
                <a:ea typeface="Arial"/>
                <a:cs typeface="Arial"/>
                <a:sym typeface="Arial"/>
              </a:rPr>
              <a:t> OpenAI </a:t>
            </a:r>
            <a:r>
              <a:rPr lang="en-US" b="false" i="false" strike="noStrike" u="none" sz="1800">
                <a:solidFill>
                  <a:srgbClr val="FF0000"/>
                </a:solidFill>
                <a:latin typeface="微软雅黑"/>
                <a:ea typeface="微软雅黑"/>
                <a:cs typeface="微软雅黑"/>
                <a:sym typeface="微软雅黑"/>
              </a:rPr>
              <a:t>开发</a:t>
            </a:r>
            <a:endParaRPr lang="en-US" sz="1100"/>
          </a:p>
        </p:txBody>
      </p:sp>
      <p:sp>
        <p:nvSpPr>
          <p:cNvPr name="AutoShape 45" id="45"/>
          <p:cNvSpPr/>
          <p:nvPr/>
        </p:nvSpPr>
        <p:spPr>
          <a:xfrm rot="0" flipH="false" flipV="false">
            <a:off x="6410770" y="934731"/>
            <a:ext cx="1170305" cy="368300"/>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1800">
                <a:solidFill>
                  <a:srgbClr val="FF0000"/>
                </a:solidFill>
                <a:latin typeface="微软雅黑"/>
                <a:ea typeface="微软雅黑"/>
                <a:cs typeface="微软雅黑"/>
                <a:sym typeface="微软雅黑"/>
              </a:rPr>
              <a:t>由</a:t>
            </a:r>
            <a:r>
              <a:rPr lang="en-US" b="false" i="false" strike="noStrike" u="none" sz="1800">
                <a:solidFill>
                  <a:srgbClr val="FF0000"/>
                </a:solidFill>
                <a:latin typeface="Arial"/>
                <a:ea typeface="Arial"/>
                <a:cs typeface="Arial"/>
                <a:sym typeface="Arial"/>
              </a:rPr>
              <a:t> Google </a:t>
            </a:r>
            <a:r>
              <a:rPr lang="en-US" b="false" i="false" strike="noStrike" u="none" sz="1800">
                <a:solidFill>
                  <a:srgbClr val="FF0000"/>
                </a:solidFill>
                <a:latin typeface="微软雅黑"/>
                <a:ea typeface="微软雅黑"/>
                <a:cs typeface="微软雅黑"/>
                <a:sym typeface="微软雅黑"/>
              </a:rPr>
              <a:t>开发</a:t>
            </a:r>
            <a:endParaRPr lang="en-US" sz="1100"/>
          </a:p>
        </p:txBody>
      </p:sp>
      <p:sp>
        <p:nvSpPr>
          <p:cNvPr name="AutoShape 46" id="46"/>
          <p:cNvSpPr/>
          <p:nvPr/>
        </p:nvSpPr>
        <p:spPr>
          <a:xfrm rot="0" flipH="false" flipV="false">
            <a:off x="9862126" y="956108"/>
            <a:ext cx="1295400" cy="368300"/>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1800">
                <a:solidFill>
                  <a:srgbClr val="FF0000"/>
                </a:solidFill>
                <a:latin typeface="微软雅黑"/>
                <a:ea typeface="微软雅黑"/>
                <a:cs typeface="微软雅黑"/>
                <a:sym typeface="微软雅黑"/>
              </a:rPr>
              <a:t>由</a:t>
            </a:r>
            <a:r>
              <a:rPr lang="en-US" b="false" i="false" strike="noStrike" u="none" sz="1800">
                <a:solidFill>
                  <a:srgbClr val="FF0000"/>
                </a:solidFill>
                <a:latin typeface="Arial"/>
                <a:ea typeface="Arial"/>
                <a:cs typeface="Arial"/>
                <a:sym typeface="Arial"/>
              </a:rPr>
              <a:t> Modular </a:t>
            </a:r>
            <a:r>
              <a:rPr lang="en-US" b="false" i="false" strike="noStrike" u="none" sz="1800">
                <a:solidFill>
                  <a:srgbClr val="FF0000"/>
                </a:solidFill>
                <a:latin typeface="微软雅黑"/>
                <a:ea typeface="微软雅黑"/>
                <a:cs typeface="微软雅黑"/>
                <a:sym typeface="微软雅黑"/>
              </a:rPr>
              <a:t>开发</a:t>
            </a:r>
            <a:endParaRPr lang="en-US" sz="1100"/>
          </a:p>
        </p:txBody>
      </p:sp>
    </p:spTree>
  </p:cSld>
  <p:clrMapOvr>
    <a:masterClrMapping/>
  </p:clrMapOvr>
  <p:transition main:dur="1000">
    <p:fade thruBlk="false"/>
  </p:transition>
</p:sld>
</file>

<file path=ppt/slides/slide6.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Triton </a:t>
            </a:r>
            <a:r>
              <a:rPr lang="en-US" b="false" i="false" strike="noStrike" u="none" sz="3600">
                <a:solidFill>
                  <a:srgbClr val="262626"/>
                </a:solidFill>
                <a:latin typeface="微软雅黑"/>
                <a:ea typeface="微软雅黑"/>
                <a:cs typeface="微软雅黑"/>
                <a:sym typeface="微软雅黑"/>
              </a:rPr>
              <a:t>语言与编译器</a:t>
            </a:r>
          </a:p>
        </p:txBody>
      </p:sp>
      <p:sp>
        <p:nvSpPr>
          <p:cNvPr name="AutoShape 3" id="3"/>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6</a:t>
            </a:r>
          </a:p>
        </p:txBody>
      </p:sp>
      <p:sp>
        <p:nvSpPr>
          <p:cNvPr name="AutoShape 4" id="4"/>
          <p:cNvSpPr/>
          <p:nvPr>
            <p:ph idx="9" type="body" sz="quarter"/>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a:endParaRPr/>
          </a:p>
        </p:txBody>
      </p:sp>
      <p:sp>
        <p:nvSpPr>
          <p:cNvPr name="AutoShape 5" id="5"/>
          <p:cNvSpPr/>
          <p:nvPr/>
        </p:nvSpPr>
        <p:spPr>
          <a:xfrm rot="0" flipH="false" flipV="false">
            <a:off x="2673250" y="1032975"/>
            <a:ext cx="8391577" cy="5372100"/>
          </a:xfrm>
          <a:prstGeom prst="rect">
            <a:avLst/>
          </a:prstGeom>
          <a:noFill/>
          <a:ln w="12700">
            <a:noFill/>
            <a:prstDash val="solid"/>
          </a:ln>
        </p:spPr>
        <p:txBody>
          <a:bodyPr anchor="t" rtlCol="false" wrap="square" lIns="91440" rIns="91440" tIns="45720" bIns="45720">
            <a:spAutoFit/>
          </a:bodyPr>
          <a:lstStyle/>
          <a:p>
            <a:pPr algn="l" indent="0">
              <a:lnSpc>
                <a:spcPct val="150000"/>
              </a:lnSpc>
              <a:defRPr/>
            </a:pPr>
            <a:r>
              <a:rPr lang="en-US" b="true" i="false" strike="noStrike" u="none" sz="2800">
                <a:solidFill>
                  <a:srgbClr val="000000"/>
                </a:solidFill>
                <a:latin typeface="微软雅黑"/>
                <a:ea typeface="微软雅黑"/>
                <a:cs typeface="微软雅黑"/>
                <a:sym typeface="微软雅黑"/>
              </a:rPr>
              <a:t>Triton语言</a:t>
            </a:r>
            <a:endParaRPr lang="en-US" sz="1100"/>
          </a:p>
          <a:p>
            <a:pPr algn="l" indent="-254000" marL="254000">
              <a:lnSpc>
                <a:spcPct val="150000"/>
              </a:lnSpc>
              <a:buClr>
                <a:srgbClr val="000000"/>
              </a:buClr>
              <a:buChar char="•"/>
            </a:pPr>
            <a:r>
              <a:rPr lang="en-US" b="false" i="false" strike="noStrike" u="none" sz="2000">
                <a:solidFill>
                  <a:srgbClr val="000000"/>
                </a:solidFill>
                <a:latin typeface="微软雅黑"/>
                <a:ea typeface="微软雅黑"/>
                <a:cs typeface="微软雅黑"/>
                <a:sym typeface="微软雅黑"/>
              </a:rPr>
              <a:t>专用于并行编程的语言</a:t>
            </a:r>
          </a:p>
          <a:p>
            <a:pPr algn="l" indent="-254000" marL="254000">
              <a:lnSpc>
                <a:spcPct val="150000"/>
              </a:lnSpc>
              <a:buClr>
                <a:srgbClr val="000000"/>
              </a:buClr>
              <a:buChar char="•"/>
            </a:pPr>
            <a:r>
              <a:rPr lang="en-US" b="false" i="false" strike="noStrike" u="none" sz="2000">
                <a:solidFill>
                  <a:srgbClr val="000000"/>
                </a:solidFill>
                <a:latin typeface="微软雅黑"/>
                <a:ea typeface="微软雅黑"/>
                <a:cs typeface="微软雅黑"/>
                <a:sym typeface="微软雅黑"/>
              </a:rPr>
              <a:t>用于GPU硬件（或其他加速器）</a:t>
            </a:r>
          </a:p>
          <a:p>
            <a:pPr algn="l" indent="-254000" marL="254000">
              <a:lnSpc>
                <a:spcPct val="150000"/>
              </a:lnSpc>
              <a:buClr>
                <a:srgbClr val="000000"/>
              </a:buClr>
              <a:buChar char="•"/>
            </a:pPr>
            <a:r>
              <a:rPr lang="en-US" b="false" i="false" strike="noStrike" u="none" sz="2000">
                <a:solidFill>
                  <a:srgbClr val="000000"/>
                </a:solidFill>
                <a:latin typeface="微软雅黑"/>
                <a:ea typeface="微软雅黑"/>
                <a:cs typeface="微软雅黑"/>
                <a:sym typeface="微软雅黑"/>
              </a:rPr>
              <a:t>可以编写神经网络的算子</a:t>
            </a:r>
          </a:p>
          <a:p>
            <a:pPr algn="l" indent="0">
              <a:lnSpc>
                <a:spcPct val="116666"/>
              </a:lnSpc>
            </a:pPr>
            <a:r>
              <a:rPr lang="en-US" b="false" i="false" strike="noStrike" u="none" sz="2800">
                <a:solidFill>
                  <a:srgbClr val="000000"/>
                </a:solidFill>
                <a:latin typeface="Arial"/>
                <a:ea typeface="Arial"/>
                <a:cs typeface="Arial"/>
                <a:sym typeface="Arial"/>
              </a:rPr>
              <a:t/>
            </a:r>
          </a:p>
          <a:p>
            <a:pPr algn="l" indent="0">
              <a:lnSpc>
                <a:spcPct val="116666"/>
              </a:lnSpc>
            </a:pPr>
            <a:r>
              <a:rPr lang="en-US" b="true" i="false" strike="noStrike" u="none" sz="2800">
                <a:solidFill>
                  <a:srgbClr val="000000"/>
                </a:solidFill>
                <a:latin typeface="微软雅黑"/>
                <a:ea typeface="微软雅黑"/>
                <a:cs typeface="微软雅黑"/>
                <a:sym typeface="微软雅黑"/>
              </a:rPr>
              <a:t>Triton编译器</a:t>
            </a:r>
          </a:p>
          <a:p>
            <a:pPr algn="l" indent="-254000" marL="254000">
              <a:lnSpc>
                <a:spcPct val="150000"/>
              </a:lnSpc>
              <a:buClr>
                <a:srgbClr val="000000"/>
              </a:buClr>
              <a:buChar char="•"/>
            </a:pPr>
            <a:r>
              <a:rPr lang="en-US" b="false" i="false" strike="noStrike" u="none" sz="2000">
                <a:solidFill>
                  <a:srgbClr val="000000"/>
                </a:solidFill>
                <a:latin typeface="微软雅黑"/>
                <a:ea typeface="微软雅黑"/>
                <a:cs typeface="微软雅黑"/>
                <a:sym typeface="微软雅黑"/>
              </a:rPr>
              <a:t>将Triton语言转换成机器语言</a:t>
            </a:r>
          </a:p>
          <a:p>
            <a:pPr algn="l" indent="-254000" marL="254000">
              <a:lnSpc>
                <a:spcPct val="150000"/>
              </a:lnSpc>
              <a:buClr>
                <a:srgbClr val="000000"/>
              </a:buClr>
              <a:buChar char="•"/>
            </a:pPr>
            <a:r>
              <a:rPr lang="en-US" b="false" i="false" strike="noStrike" u="none" sz="2000">
                <a:solidFill>
                  <a:srgbClr val="000000"/>
                </a:solidFill>
                <a:latin typeface="微软雅黑"/>
                <a:ea typeface="微软雅黑"/>
                <a:cs typeface="微软雅黑"/>
                <a:sym typeface="微软雅黑"/>
              </a:rPr>
              <a:t>分析、优化</a:t>
            </a:r>
          </a:p>
          <a:p>
            <a:pPr algn="l" indent="0">
              <a:lnSpc>
                <a:spcPct val="116666"/>
              </a:lnSpc>
            </a:pPr>
            <a:r>
              <a:rPr lang="en-US" b="false" i="false" strike="noStrike" u="none" sz="2000">
                <a:solidFill>
                  <a:srgbClr val="000000"/>
                </a:solidFill>
                <a:latin typeface="Arial"/>
                <a:ea typeface="Arial"/>
                <a:cs typeface="Arial"/>
                <a:sym typeface="Arial"/>
              </a:rPr>
              <a:t/>
            </a:r>
          </a:p>
          <a:p>
            <a:pPr algn="l" indent="-254000" marL="254000">
              <a:lnSpc>
                <a:spcPct val="150000"/>
              </a:lnSpc>
              <a:buClr>
                <a:srgbClr val="000000"/>
              </a:buClr>
              <a:buChar char="•"/>
            </a:pPr>
            <a:r>
              <a:rPr lang="en-US" b="false" i="false" strike="noStrike" u="none" sz="2000">
                <a:solidFill>
                  <a:srgbClr val="000000"/>
                </a:solidFill>
                <a:latin typeface="微软雅黑"/>
                <a:ea typeface="微软雅黑"/>
                <a:cs typeface="微软雅黑"/>
                <a:sym typeface="微软雅黑"/>
              </a:rPr>
              <a:t>开源项目地址：</a:t>
            </a:r>
            <a:r>
              <a:rPr lang="en-US" b="false" i="false" strike="noStrike" u="none" sz="2000">
                <a:solidFill>
                  <a:srgbClr val="000000"/>
                </a:solidFill>
                <a:latin typeface="微软雅黑"/>
                <a:ea typeface="微软雅黑"/>
                <a:cs typeface="微软雅黑"/>
                <a:sym typeface="微软雅黑"/>
                <a:hlinkClick r:id="rId2" tooltip="https://github.com/triton-lang/triton">
                  <a:extLst>
                    <a:ext uri="{A12FA001-AC4F-418D-AE19-62706E023703}">
                      <ahyp:hlinkClr xmlns:ahyp="http://schemas.microsoft.com/office/drawing/2018/hyperlinkcolor" val="tx"/>
                    </a:ext>
                  </a:extLst>
                </a:hlinkClick>
              </a:rPr>
              <a:t>https://</a:t>
            </a:r>
            <a:r>
              <a:rPr lang="en-US" b="false" i="false" strike="noStrike" u="none" sz="2000">
                <a:solidFill>
                  <a:srgbClr val="000000"/>
                </a:solidFill>
                <a:latin typeface="微软雅黑"/>
                <a:ea typeface="微软雅黑"/>
                <a:cs typeface="微软雅黑"/>
                <a:sym typeface="微软雅黑"/>
                <a:hlinkClick r:id="rId3" tooltip="https://github.com/triton-lang/triton">
                  <a:extLst>
                    <a:ext uri="{A12FA001-AC4F-418D-AE19-62706E023703}">
                      <ahyp:hlinkClr xmlns:ahyp="http://schemas.microsoft.com/office/drawing/2018/hyperlinkcolor" val="tx"/>
                    </a:ext>
                  </a:extLst>
                </a:hlinkClick>
              </a:rPr>
              <a:t>github.com</a:t>
            </a:r>
            <a:r>
              <a:rPr lang="en-US" b="false" i="false" strike="noStrike" u="none" sz="2000">
                <a:solidFill>
                  <a:srgbClr val="000000"/>
                </a:solidFill>
                <a:latin typeface="微软雅黑"/>
                <a:ea typeface="微软雅黑"/>
                <a:cs typeface="微软雅黑"/>
                <a:sym typeface="微软雅黑"/>
                <a:hlinkClick r:id="rId4" tooltip="https://github.com/triton-lang/triton">
                  <a:extLst>
                    <a:ext uri="{A12FA001-AC4F-418D-AE19-62706E023703}">
                      <ahyp:hlinkClr xmlns:ahyp="http://schemas.microsoft.com/office/drawing/2018/hyperlinkcolor" val="tx"/>
                    </a:ext>
                  </a:extLst>
                </a:hlinkClick>
              </a:rPr>
              <a:t>/triton-lang/triton</a:t>
            </a:r>
          </a:p>
          <a:p>
            <a:pPr algn="l" indent="-254000" marL="254000">
              <a:lnSpc>
                <a:spcPct val="150000"/>
              </a:lnSpc>
              <a:buClr>
                <a:srgbClr val="000000"/>
              </a:buClr>
              <a:buChar char="•"/>
            </a:pPr>
            <a:r>
              <a:rPr lang="en-US" b="false" i="false" strike="noStrike" u="none" sz="2000">
                <a:solidFill>
                  <a:srgbClr val="000000"/>
                </a:solidFill>
                <a:latin typeface="微软雅黑"/>
                <a:ea typeface="微软雅黑"/>
                <a:cs typeface="微软雅黑"/>
                <a:sym typeface="微软雅黑"/>
              </a:rPr>
              <a:t>说明文档地址：</a:t>
            </a:r>
            <a:r>
              <a:rPr lang="en-US" b="false" i="false" strike="noStrike" u="none" sz="2000">
                <a:solidFill>
                  <a:srgbClr val="000000"/>
                </a:solidFill>
                <a:latin typeface="微软雅黑"/>
                <a:ea typeface="微软雅黑"/>
                <a:cs typeface="微软雅黑"/>
                <a:sym typeface="微软雅黑"/>
                <a:hlinkClick r:id="rId5" tooltip="https://triton-lang.org/">
                  <a:extLst>
                    <a:ext uri="{A12FA001-AC4F-418D-AE19-62706E023703}">
                      <ahyp:hlinkClr xmlns:ahyp="http://schemas.microsoft.com/office/drawing/2018/hyperlinkcolor" val="tx"/>
                    </a:ext>
                  </a:extLst>
                </a:hlinkClick>
              </a:rPr>
              <a:t>https://triton-</a:t>
            </a:r>
            <a:r>
              <a:rPr lang="en-US" b="false" i="false" strike="noStrike" u="none" sz="2000">
                <a:solidFill>
                  <a:srgbClr val="000000"/>
                </a:solidFill>
                <a:latin typeface="微软雅黑"/>
                <a:ea typeface="微软雅黑"/>
                <a:cs typeface="微软雅黑"/>
                <a:sym typeface="微软雅黑"/>
                <a:hlinkClick r:id="rId6" tooltip="https://triton-lang.org/">
                  <a:extLst>
                    <a:ext uri="{A12FA001-AC4F-418D-AE19-62706E023703}">
                      <ahyp:hlinkClr xmlns:ahyp="http://schemas.microsoft.com/office/drawing/2018/hyperlinkcolor" val="tx"/>
                    </a:ext>
                  </a:extLst>
                </a:hlinkClick>
              </a:rPr>
              <a:t>lang.org</a:t>
            </a:r>
          </a:p>
        </p:txBody>
      </p:sp>
      <p:pic>
        <p:nvPicPr>
          <p:cNvPr name="Picture 6" id="6"/>
          <p:cNvPicPr>
            <a:picLocks noChangeAspect="true"/>
          </p:cNvPicPr>
          <p:nvPr/>
        </p:nvPicPr>
        <p:blipFill>
          <a:blip r:embed="rId7"/>
          <a:srcRect l="0" r="0" t="0" b="0"/>
          <a:stretch>
            <a:fillRect/>
          </a:stretch>
        </p:blipFill>
        <p:spPr>
          <a:xfrm rot="0" flipH="false" flipV="false">
            <a:off x="8148780" y="1872216"/>
            <a:ext cx="1369970" cy="1556784"/>
          </a:xfrm>
          <a:prstGeom prst="rect">
            <a:avLst/>
          </a:prstGeom>
          <a:ln w="12700">
            <a:noFill/>
            <a:prstDash val="solid"/>
          </a:ln>
        </p:spPr>
      </p:pic>
      <p:pic>
        <p:nvPicPr>
          <p:cNvPr name="Picture 7" id="7"/>
          <p:cNvPicPr>
            <a:picLocks noChangeAspect="true"/>
          </p:cNvPicPr>
          <p:nvPr/>
        </p:nvPicPr>
        <p:blipFill>
          <a:blip r:embed="rId8"/>
          <a:srcRect l="0" r="0" t="0" b="0"/>
          <a:stretch>
            <a:fillRect/>
          </a:stretch>
        </p:blipFill>
        <p:spPr>
          <a:xfrm rot="0" flipH="false" flipV="false">
            <a:off x="1635821" y="1004720"/>
            <a:ext cx="764287" cy="764287"/>
          </a:xfrm>
          <a:prstGeom prst="rect">
            <a:avLst/>
          </a:prstGeom>
          <a:ln w="12700">
            <a:noFill/>
            <a:prstDash val="solid"/>
          </a:ln>
        </p:spPr>
      </p:pic>
      <p:pic>
        <p:nvPicPr>
          <p:cNvPr name="Picture 8" id="8"/>
          <p:cNvPicPr>
            <a:picLocks noChangeAspect="true"/>
          </p:cNvPicPr>
          <p:nvPr/>
        </p:nvPicPr>
        <p:blipFill>
          <a:blip r:embed="rId9"/>
          <a:srcRect l="0" r="0" t="0" b="0"/>
          <a:stretch>
            <a:fillRect/>
          </a:stretch>
        </p:blipFill>
        <p:spPr>
          <a:xfrm rot="0" flipH="false" flipV="false">
            <a:off x="1635821" y="3440190"/>
            <a:ext cx="764287" cy="764287"/>
          </a:xfrm>
          <a:prstGeom prst="rect">
            <a:avLst/>
          </a:prstGeom>
          <a:ln w="12700">
            <a:noFill/>
            <a:prstDash val="solid"/>
          </a:ln>
        </p:spPr>
      </p:pic>
      <p:pic>
        <p:nvPicPr>
          <p:cNvPr name="Picture 9" id="9"/>
          <p:cNvPicPr>
            <a:picLocks noChangeAspect="true"/>
          </p:cNvPicPr>
          <p:nvPr/>
        </p:nvPicPr>
        <p:blipFill>
          <a:blip r:embed="rId10"/>
          <a:srcRect l="0" r="0" t="0" b="0"/>
          <a:stretch>
            <a:fillRect/>
          </a:stretch>
        </p:blipFill>
        <p:spPr>
          <a:xfrm rot="0" flipH="false" flipV="false">
            <a:off x="1635821" y="5443394"/>
            <a:ext cx="764287" cy="764287"/>
          </a:xfrm>
          <a:prstGeom prst="rect">
            <a:avLst/>
          </a:prstGeom>
          <a:ln w="12700">
            <a:noFill/>
            <a:prstDash val="solid"/>
          </a:ln>
        </p:spPr>
      </p:pic>
    </p:spTree>
  </p:cSld>
  <p:clrMapOvr>
    <a:masterClrMapping/>
  </p:clrMapOvr>
  <p:transition main:dur="1000">
    <p:fade thruBlk="false"/>
  </p:transition>
</p:sld>
</file>

<file path=ppt/slides/slide7.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Triton </a:t>
            </a:r>
            <a:r>
              <a:rPr lang="en-US" b="false" i="false" strike="noStrike" u="none" sz="3600">
                <a:solidFill>
                  <a:srgbClr val="262626"/>
                </a:solidFill>
                <a:latin typeface="微软雅黑"/>
                <a:ea typeface="微软雅黑"/>
                <a:cs typeface="微软雅黑"/>
                <a:sym typeface="微软雅黑"/>
              </a:rPr>
              <a:t>概述</a:t>
            </a:r>
            <a:r>
              <a:rPr lang="en-US" b="false" i="false" strike="noStrike" u="none" sz="3600">
                <a:solidFill>
                  <a:srgbClr val="262626"/>
                </a:solidFill>
                <a:latin typeface="Calibri"/>
                <a:ea typeface="Calibri"/>
                <a:cs typeface="Calibri"/>
                <a:sym typeface="Calibri"/>
              </a:rPr>
              <a:t> | Triton </a:t>
            </a:r>
            <a:r>
              <a:rPr lang="en-US" b="false" i="false" strike="noStrike" u="none" sz="3600">
                <a:solidFill>
                  <a:srgbClr val="262626"/>
                </a:solidFill>
                <a:latin typeface="微软雅黑"/>
                <a:ea typeface="微软雅黑"/>
                <a:cs typeface="微软雅黑"/>
                <a:sym typeface="微软雅黑"/>
              </a:rPr>
              <a:t>作为编程语言</a:t>
            </a:r>
          </a:p>
        </p:txBody>
      </p:sp>
      <p:sp>
        <p:nvSpPr>
          <p:cNvPr name="AutoShape 3" id="3"/>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7</a:t>
            </a:r>
          </a:p>
        </p:txBody>
      </p:sp>
      <p:sp>
        <p:nvSpPr>
          <p:cNvPr name="AutoShape 4" id="4"/>
          <p:cNvSpPr/>
          <p:nvPr>
            <p:ph idx="9" type="body" sz="quarter"/>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a:endParaRPr/>
          </a:p>
        </p:txBody>
      </p:sp>
      <p:sp>
        <p:nvSpPr>
          <p:cNvPr name="AutoShape 5" id="5"/>
          <p:cNvSpPr/>
          <p:nvPr/>
        </p:nvSpPr>
        <p:spPr>
          <a:xfrm rot="0" flipH="false" flipV="false">
            <a:off x="11315785" y="6333924"/>
            <a:ext cx="495300" cy="365125"/>
          </a:xfrm>
          <a:prstGeom prst="rect">
            <a:avLst/>
          </a:prstGeom>
          <a:noFill/>
          <a:ln w="12700">
            <a:noFill/>
            <a:prstDash val="solid"/>
          </a:ln>
        </p:spPr>
        <p:txBody>
          <a:bodyPr anchor="ctr" rtlCol="false" vert="horz" wrap="square" lIns="91440" rIns="91440" tIns="45720" bIns="45720">
            <a:noAutofit/>
          </a:bodyPr>
          <a:lstStyle/>
          <a:p>
            <a:pPr algn="r" indent="0">
              <a:lnSpc>
                <a:spcPct val="100000"/>
              </a:lnSpc>
              <a:defRPr/>
            </a:pPr>
            <a:fld type="slidenum" id="{8EEFEEE5-5F04-4339-8C06-6B7ADBA1E866}">
              <a:rPr b="false" i="false" strike="noStrike" u="none" sz="1200">
                <a:solidFill>
                  <a:srgbClr val="767676"/>
                </a:solidFill>
                <a:latin typeface="Arial"/>
                <a:ea typeface="Arial"/>
                <a:cs typeface="Arial"/>
                <a:sym typeface="Arial"/>
              </a:rPr>
              <a:t>7</a:t>
            </a:fld>
            <a:endParaRPr lang="en-US" sz="1100"/>
          </a:p>
        </p:txBody>
      </p:sp>
      <p:pic>
        <p:nvPicPr>
          <p:cNvPr name="Picture 6" id="6"/>
          <p:cNvPicPr>
            <a:picLocks noChangeAspect="true"/>
          </p:cNvPicPr>
          <p:nvPr/>
        </p:nvPicPr>
        <p:blipFill>
          <a:blip r:embed="rId2"/>
          <a:srcRect l="0" r="0" t="0" b="0"/>
          <a:stretch>
            <a:fillRect/>
          </a:stretch>
        </p:blipFill>
        <p:spPr>
          <a:xfrm rot="0" flipH="false" flipV="false">
            <a:off x="2369820" y="1149985"/>
            <a:ext cx="7136130" cy="2316480"/>
          </a:xfrm>
          <a:prstGeom prst="rect">
            <a:avLst/>
          </a:prstGeom>
          <a:ln w="12700">
            <a:noFill/>
            <a:prstDash val="solid"/>
          </a:ln>
        </p:spPr>
      </p:pic>
      <p:sp>
        <p:nvSpPr>
          <p:cNvPr name="AutoShape 7" id="7"/>
          <p:cNvSpPr/>
          <p:nvPr/>
        </p:nvSpPr>
        <p:spPr>
          <a:xfrm rot="0" flipH="false" flipV="false">
            <a:off x="851176" y="3535324"/>
            <a:ext cx="5816324" cy="2999740"/>
          </a:xfrm>
          <a:prstGeom prst="rect">
            <a:avLst/>
          </a:prstGeom>
          <a:noFill/>
          <a:ln w="12700">
            <a:noFill/>
            <a:prstDash val="solid"/>
          </a:ln>
        </p:spPr>
        <p:txBody>
          <a:bodyPr anchor="t" rtlCol="false" wrap="square" lIns="91440" rIns="91440" tIns="45720" bIns="45720">
            <a:spAutoFit/>
          </a:bodyPr>
          <a:lstStyle/>
          <a:p>
            <a:pPr algn="l" indent="0">
              <a:lnSpc>
                <a:spcPct val="150000"/>
              </a:lnSpc>
              <a:defRPr/>
            </a:pPr>
            <a:r>
              <a:rPr lang="en-US" b="true" i="false" strike="noStrike" u="none" sz="1400">
                <a:solidFill>
                  <a:srgbClr val="ED7D31"/>
                </a:solidFill>
                <a:latin typeface="微软雅黑"/>
                <a:ea typeface="微软雅黑"/>
                <a:cs typeface="微软雅黑"/>
                <a:sym typeface="微软雅黑"/>
              </a:rPr>
              <a:t>GPU编程的挑战</a:t>
            </a:r>
            <a:endParaRPr lang="en-US" sz="1100"/>
          </a:p>
          <a:p>
            <a:pPr algn="l" indent="-177800" marL="177800">
              <a:lnSpc>
                <a:spcPct val="150000"/>
              </a:lnSpc>
              <a:buClr>
                <a:srgbClr val="000000"/>
              </a:buClr>
              <a:buChar char="•"/>
            </a:pPr>
            <a:r>
              <a:rPr lang="en-US" b="false" i="false" strike="noStrike" u="none" sz="1400">
                <a:solidFill>
                  <a:srgbClr val="000000"/>
                </a:solidFill>
                <a:latin typeface="微软雅黑"/>
                <a:ea typeface="微软雅黑"/>
                <a:cs typeface="微软雅黑"/>
                <a:sym typeface="微软雅黑"/>
              </a:rPr>
              <a:t>在编写 CUDA 代码的时候，必须考虑 DRAM、 SRAM 和 ALUs 三部分才能写出高效的算子</a:t>
            </a:r>
          </a:p>
          <a:p>
            <a:pPr algn="l" indent="-177800" marL="177800">
              <a:lnSpc>
                <a:spcPct val="150000"/>
              </a:lnSpc>
              <a:buClr>
                <a:srgbClr val="000000"/>
              </a:buClr>
              <a:buChar char="•"/>
            </a:pPr>
            <a:r>
              <a:rPr lang="en-US" b="false" i="false" strike="noStrike" u="none" sz="1400">
                <a:solidFill>
                  <a:srgbClr val="000000"/>
                </a:solidFill>
                <a:latin typeface="微软雅黑"/>
                <a:ea typeface="微软雅黑"/>
                <a:cs typeface="微软雅黑"/>
                <a:sym typeface="微软雅黑"/>
              </a:rPr>
              <a:t>DRAM 的内存访问必须融合才能充分利用带宽</a:t>
            </a:r>
          </a:p>
          <a:p>
            <a:pPr algn="l" indent="-177800" marL="177800">
              <a:lnSpc>
                <a:spcPct val="150000"/>
              </a:lnSpc>
              <a:buClr>
                <a:srgbClr val="000000"/>
              </a:buClr>
              <a:buChar char="•"/>
            </a:pPr>
            <a:r>
              <a:rPr lang="en-US" b="false" i="false" strike="noStrike" u="none" sz="1400">
                <a:solidFill>
                  <a:srgbClr val="000000"/>
                </a:solidFill>
                <a:latin typeface="微软雅黑"/>
                <a:ea typeface="微软雅黑"/>
                <a:cs typeface="微软雅黑"/>
                <a:sym typeface="微软雅黑"/>
              </a:rPr>
              <a:t>数据在重新使用之前必须手动存储到 SRAM 中并进行管理，以尽量减少在检索时共享内存 bank 冲突。</a:t>
            </a:r>
          </a:p>
          <a:p>
            <a:pPr algn="l" indent="-177800" marL="177800">
              <a:lnSpc>
                <a:spcPct val="150000"/>
              </a:lnSpc>
              <a:buClr>
                <a:srgbClr val="000000"/>
              </a:buClr>
              <a:buChar char="•"/>
            </a:pPr>
            <a:r>
              <a:rPr lang="en-US" b="false" i="false" strike="noStrike" u="none" sz="1400">
                <a:solidFill>
                  <a:srgbClr val="000000"/>
                </a:solidFill>
                <a:latin typeface="微软雅黑"/>
                <a:ea typeface="微软雅黑"/>
                <a:cs typeface="微软雅黑"/>
                <a:sym typeface="微软雅黑"/>
              </a:rPr>
              <a:t>计算必须经过精心划分和调度，无论是在流式多处理器（SMs）之间还是内部，以促进指令/线程级并行性，并利用特定运算单元（如Tensor core）</a:t>
            </a:r>
          </a:p>
        </p:txBody>
      </p:sp>
      <p:graphicFrame>
        <p:nvGraphicFramePr>
          <p:cNvPr name="Table 8" id="8"/>
          <p:cNvGraphicFramePr>
            <a:graphicFrameLocks noGrp="true"/>
          </p:cNvGraphicFramePr>
          <p:nvPr/>
        </p:nvGraphicFramePr>
        <p:xfrm>
          <a:off x="7191858" y="3760491"/>
          <a:ext cx="3838092" cy="1133240"/>
        </p:xfrm>
        <a:graphic>
          <a:graphicData uri="http://schemas.openxmlformats.org/drawingml/2006/table">
            <a:tbl>
              <a:tblPr>
                <a:effectLst/>
              </a:tblPr>
              <a:tblGrid>
                <a:gridCol w="1666392"/>
                <a:gridCol w="1050778"/>
                <a:gridCol w="1120922"/>
              </a:tblGrid>
              <a:tr h="0">
                <a:tc>
                  <a:txBody>
                    <a:bodyPr anchor="t" rtlCol="false"/>
                    <a:lstStyle/>
                    <a:p>
                      <a:pPr algn="l" indent="0">
                        <a:lnSpc>
                          <a:spcPct val="100000"/>
                        </a:lnSpc>
                        <a:defRPr/>
                      </a:pPr>
                      <a:r>
                        <a:rPr lang="en-US" b="true" i="false" strike="noStrike" u="none" sz="1400">
                          <a:solidFill>
                            <a:srgbClr val="000000"/>
                          </a:solidFill>
                          <a:latin typeface="Arial"/>
                          <a:ea typeface="Arial"/>
                          <a:cs typeface="Arial"/>
                          <a:sym typeface="Arial"/>
                        </a:rPr>
                        <a:t> </a:t>
                      </a:r>
                      <a:endParaRPr lang="en-US" sz="1100"/>
                    </a:p>
                  </a:txBody>
                  <a:tcPr anchor="ctr" marL="91440" marR="91440" marT="45720" marB="45720">
                    <a:lnL cmpd="sng" algn="ctr" cap="flat" w="0">
                      <a:prstDash val="solid"/>
                      <a:round/>
                      <a:headEnd type="none" w="med" len="med"/>
                      <a:tailEnd type="none" w="med" len="med"/>
                    </a:lnL>
                    <a:lnR cmpd="sng" algn="ctr" cap="flat" w="0">
                      <a:prstDash val="solid"/>
                      <a:round/>
                      <a:headEnd type="none" w="med" len="med"/>
                      <a:tailEnd type="none" w="med" len="med"/>
                    </a:lnR>
                    <a:lnT cmpd="sng" algn="ctr" cap="flat" w="12700">
                      <a:solidFill>
                        <a:srgbClr val="ED7D31"/>
                      </a:solidFill>
                      <a:prstDash val="solid"/>
                      <a:round/>
                      <a:headEnd type="none" w="med" len="med"/>
                      <a:tailEnd type="none" w="med" len="med"/>
                    </a:lnT>
                    <a:lnB cmpd="sng" algn="ctr" cap="flat" w="12700">
                      <a:solidFill>
                        <a:srgbClr val="ED7D31"/>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400">
                          <a:solidFill>
                            <a:srgbClr val="000000"/>
                          </a:solidFill>
                          <a:latin typeface="Arial"/>
                          <a:ea typeface="Arial"/>
                          <a:cs typeface="Arial"/>
                          <a:sym typeface="Arial"/>
                        </a:rPr>
                        <a:t>CUDA</a:t>
                      </a:r>
                      <a:endParaRPr lang="en-US" sz="1100"/>
                    </a:p>
                  </a:txBody>
                  <a:tcPr anchor="ctr" marL="91440" marR="91440" marT="45720" marB="45720">
                    <a:lnL cmpd="sng" algn="ctr" cap="flat" w="0">
                      <a:prstDash val="solid"/>
                      <a:round/>
                      <a:headEnd type="none" w="med" len="med"/>
                      <a:tailEnd type="none" w="med" len="med"/>
                    </a:lnL>
                    <a:lnR cmpd="sng" algn="ctr" cap="flat" w="0">
                      <a:prstDash val="solid"/>
                      <a:round/>
                      <a:headEnd type="none" w="med" len="med"/>
                      <a:tailEnd type="none" w="med" len="med"/>
                    </a:lnR>
                    <a:lnT cmpd="sng" algn="ctr" cap="flat" w="12700">
                      <a:solidFill>
                        <a:srgbClr val="ED7D31"/>
                      </a:solidFill>
                      <a:prstDash val="solid"/>
                      <a:round/>
                      <a:headEnd type="none" w="med" len="med"/>
                      <a:tailEnd type="none" w="med" len="med"/>
                    </a:lnT>
                    <a:lnB cmpd="sng" algn="ctr" cap="flat" w="12700">
                      <a:solidFill>
                        <a:srgbClr val="ED7D31"/>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400">
                          <a:solidFill>
                            <a:srgbClr val="000000"/>
                          </a:solidFill>
                          <a:latin typeface="Arial"/>
                          <a:ea typeface="Arial"/>
                          <a:cs typeface="Arial"/>
                          <a:sym typeface="Arial"/>
                        </a:rPr>
                        <a:t>Triton</a:t>
                      </a:r>
                      <a:endParaRPr lang="en-US" sz="1100"/>
                    </a:p>
                  </a:txBody>
                  <a:tcPr anchor="ctr" marL="91440" marR="91440" marT="45720" marB="45720">
                    <a:lnL cmpd="sng" algn="ctr" cap="flat" w="0">
                      <a:prstDash val="solid"/>
                      <a:round/>
                      <a:headEnd type="none" w="med" len="med"/>
                      <a:tailEnd type="none" w="med" len="med"/>
                    </a:lnL>
                    <a:lnR cmpd="sng" algn="ctr" cap="flat" w="0">
                      <a:prstDash val="solid"/>
                      <a:round/>
                      <a:headEnd type="none" w="med" len="med"/>
                      <a:tailEnd type="none" w="med" len="med"/>
                    </a:lnR>
                    <a:lnT cmpd="sng" algn="ctr" cap="flat" w="12700">
                      <a:solidFill>
                        <a:srgbClr val="ED7D31"/>
                      </a:solidFill>
                      <a:prstDash val="solid"/>
                      <a:round/>
                      <a:headEnd type="none" w="med" len="med"/>
                      <a:tailEnd type="none" w="med" len="med"/>
                    </a:lnT>
                    <a:lnB cmpd="sng" algn="ctr" cap="flat" w="12700">
                      <a:solidFill>
                        <a:srgbClr val="ED7D31"/>
                      </a:solidFill>
                      <a:prstDash val="solid"/>
                      <a:round/>
                      <a:headEnd type="none" w="med" len="med"/>
                      <a:tailEnd type="none" w="med" len="med"/>
                    </a:lnB>
                    <a:noFill/>
                  </a:tcPr>
                </a:tc>
              </a:tr>
              <a:tr h="520997">
                <a:tc>
                  <a:txBody>
                    <a:bodyPr anchor="t" rtlCol="false"/>
                    <a:lstStyle/>
                    <a:p>
                      <a:pPr algn="l" indent="0">
                        <a:lnSpc>
                          <a:spcPct val="100000"/>
                        </a:lnSpc>
                        <a:defRPr/>
                      </a:pPr>
                      <a:r>
                        <a:rPr lang="en-US" b="false" i="false" strike="noStrike" u="none" sz="1400">
                          <a:solidFill>
                            <a:srgbClr val="000000"/>
                          </a:solidFill>
                          <a:latin typeface="微软雅黑"/>
                          <a:ea typeface="微软雅黑"/>
                          <a:cs typeface="微软雅黑"/>
                          <a:sym typeface="微软雅黑"/>
                        </a:rPr>
                        <a:t>内存融合访问</a:t>
                      </a:r>
                      <a:endParaRPr lang="en-US" sz="1100"/>
                    </a:p>
                  </a:txBody>
                  <a:tcPr anchor="ctr" marL="91440" marR="91440" marT="45720" marB="45720">
                    <a:lnL cmpd="sng" algn="ctr" cap="flat" w="0">
                      <a:prstDash val="solid"/>
                      <a:round/>
                      <a:headEnd type="none" w="med" len="med"/>
                      <a:tailEnd type="none" w="med" len="med"/>
                    </a:lnL>
                    <a:lnR cmpd="sng" algn="ctr" cap="flat" w="0">
                      <a:prstDash val="solid"/>
                      <a:round/>
                      <a:headEnd type="none" w="med" len="med"/>
                      <a:tailEnd type="none" w="med" len="med"/>
                    </a:lnR>
                    <a:lnT cmpd="sng" algn="ctr" cap="flat" w="12700">
                      <a:solidFill>
                        <a:srgbClr val="ED7D31"/>
                      </a:solidFill>
                      <a:prstDash val="solid"/>
                      <a:round/>
                      <a:headEnd type="none" w="med" len="med"/>
                      <a:tailEnd type="none" w="med" len="med"/>
                    </a:lnT>
                    <a:lnB cmpd="sng" algn="ctr" cap="flat" w="12700">
                      <a:solidFill>
                        <a:srgbClr val="ED7D31"/>
                      </a:solidFill>
                      <a:prstDash val="solid"/>
                      <a:round/>
                      <a:headEnd type="none" w="med" len="med"/>
                      <a:tailEnd type="none" w="med" len="med"/>
                    </a:lnB>
                    <a:solidFill>
                      <a:srgbClr val="ED7D31">
                        <a:alpha val="20000"/>
                      </a:srgbClr>
                    </a:solidFill>
                  </a:tcPr>
                </a:tc>
                <a:tc>
                  <a:txBody>
                    <a:bodyPr anchor="t" rtlCol="false"/>
                    <a:lstStyle/>
                    <a:p>
                      <a:pPr algn="l" indent="0">
                        <a:lnSpc>
                          <a:spcPct val="100000"/>
                        </a:lnSpc>
                        <a:defRPr/>
                      </a:pPr>
                      <a:r>
                        <a:rPr lang="en-US" b="false" i="false" strike="noStrike" u="none" sz="1400">
                          <a:solidFill>
                            <a:srgbClr val="000000"/>
                          </a:solidFill>
                          <a:latin typeface="微软雅黑"/>
                          <a:ea typeface="微软雅黑"/>
                          <a:cs typeface="微软雅黑"/>
                          <a:sym typeface="微软雅黑"/>
                        </a:rPr>
                        <a:t>手动</a:t>
                      </a:r>
                      <a:endParaRPr lang="en-US" sz="1100"/>
                    </a:p>
                  </a:txBody>
                  <a:tcPr anchor="ctr" marL="91440" marR="91440" marT="45720" marB="45720">
                    <a:lnL cmpd="sng" algn="ctr" cap="flat" w="0">
                      <a:prstDash val="solid"/>
                      <a:round/>
                      <a:headEnd type="none" w="med" len="med"/>
                      <a:tailEnd type="none" w="med" len="med"/>
                    </a:lnL>
                    <a:lnR cmpd="sng" algn="ctr" cap="flat" w="0">
                      <a:prstDash val="solid"/>
                      <a:round/>
                      <a:headEnd type="none" w="med" len="med"/>
                      <a:tailEnd type="none" w="med" len="med"/>
                    </a:lnR>
                    <a:lnT cmpd="sng" algn="ctr" cap="flat" w="12700">
                      <a:solidFill>
                        <a:srgbClr val="ED7D31"/>
                      </a:solidFill>
                      <a:prstDash val="solid"/>
                      <a:round/>
                      <a:headEnd type="none" w="med" len="med"/>
                      <a:tailEnd type="none" w="med" len="med"/>
                    </a:lnT>
                    <a:lnB cmpd="sng" algn="ctr" cap="flat" w="12700">
                      <a:solidFill>
                        <a:srgbClr val="ED7D31"/>
                      </a:solidFill>
                      <a:prstDash val="solid"/>
                      <a:round/>
                      <a:headEnd type="none" w="med" len="med"/>
                      <a:tailEnd type="none" w="med" len="med"/>
                    </a:lnB>
                    <a:solidFill>
                      <a:srgbClr val="ED7D31">
                        <a:alpha val="20000"/>
                      </a:srgbClr>
                    </a:solidFill>
                  </a:tcPr>
                </a:tc>
                <a:tc>
                  <a:txBody>
                    <a:bodyPr anchor="t" rtlCol="false"/>
                    <a:lstStyle/>
                    <a:p>
                      <a:pPr algn="l" indent="0">
                        <a:lnSpc>
                          <a:spcPct val="100000"/>
                        </a:lnSpc>
                        <a:defRPr/>
                      </a:pPr>
                      <a:r>
                        <a:rPr lang="en-US" b="false" i="false" strike="noStrike" u="none" sz="1400">
                          <a:solidFill>
                            <a:srgbClr val="000000"/>
                          </a:solidFill>
                          <a:latin typeface="微软雅黑"/>
                          <a:ea typeface="微软雅黑"/>
                          <a:cs typeface="微软雅黑"/>
                          <a:sym typeface="微软雅黑"/>
                        </a:rPr>
                        <a:t>自动</a:t>
                      </a:r>
                      <a:endParaRPr lang="en-US" sz="1100"/>
                    </a:p>
                  </a:txBody>
                  <a:tcPr anchor="ctr" marL="91440" marR="91440" marT="45720" marB="45720">
                    <a:lnL cmpd="sng" algn="ctr" cap="flat" w="0">
                      <a:prstDash val="solid"/>
                      <a:round/>
                      <a:headEnd type="none" w="med" len="med"/>
                      <a:tailEnd type="none" w="med" len="med"/>
                    </a:lnL>
                    <a:lnR cmpd="sng" algn="ctr" cap="flat" w="0">
                      <a:prstDash val="solid"/>
                      <a:round/>
                      <a:headEnd type="none" w="med" len="med"/>
                      <a:tailEnd type="none" w="med" len="med"/>
                    </a:lnR>
                    <a:lnT cmpd="sng" algn="ctr" cap="flat" w="12700">
                      <a:solidFill>
                        <a:srgbClr val="ED7D31"/>
                      </a:solidFill>
                      <a:prstDash val="solid"/>
                      <a:round/>
                      <a:headEnd type="none" w="med" len="med"/>
                      <a:tailEnd type="none" w="med" len="med"/>
                    </a:lnT>
                    <a:lnB cmpd="sng" algn="ctr" cap="flat" w="12700">
                      <a:solidFill>
                        <a:srgbClr val="ED7D31"/>
                      </a:solidFill>
                      <a:prstDash val="solid"/>
                      <a:round/>
                      <a:headEnd type="none" w="med" len="med"/>
                      <a:tailEnd type="none" w="med" len="med"/>
                    </a:lnB>
                    <a:solidFill>
                      <a:srgbClr val="ED7D31">
                        <a:alpha val="20000"/>
                      </a:srgbClr>
                    </a:solidFill>
                  </a:tcPr>
                </a:tc>
              </a:tr>
              <a:tr h="485775">
                <a:tc>
                  <a:txBody>
                    <a:bodyPr anchor="t" rtlCol="false"/>
                    <a:lstStyle/>
                    <a:p>
                      <a:pPr algn="l" indent="0">
                        <a:lnSpc>
                          <a:spcPct val="100000"/>
                        </a:lnSpc>
                        <a:defRPr/>
                      </a:pPr>
                      <a:r>
                        <a:rPr lang="en-US" b="false" i="false" strike="noStrike" u="none" sz="1400">
                          <a:solidFill>
                            <a:srgbClr val="000000"/>
                          </a:solidFill>
                          <a:latin typeface="微软雅黑"/>
                          <a:ea typeface="微软雅黑"/>
                          <a:cs typeface="微软雅黑"/>
                          <a:sym typeface="微软雅黑"/>
                        </a:rPr>
                        <a:t>共享内存管理</a:t>
                      </a:r>
                      <a:endParaRPr lang="en-US" sz="1100"/>
                    </a:p>
                  </a:txBody>
                  <a:tcPr anchor="ctr" marL="91440" marR="91440" marT="45720" marB="45720">
                    <a:lnL cmpd="sng" algn="ctr" cap="flat" w="0">
                      <a:prstDash val="solid"/>
                      <a:round/>
                      <a:headEnd type="none" w="med" len="med"/>
                      <a:tailEnd type="none" w="med" len="med"/>
                    </a:lnL>
                    <a:lnR cmpd="sng" algn="ctr" cap="flat" w="0">
                      <a:prstDash val="solid"/>
                      <a:round/>
                      <a:headEnd type="none" w="med" len="med"/>
                      <a:tailEnd type="none" w="med" len="med"/>
                    </a:lnR>
                    <a:lnT cmpd="sng" algn="ctr" cap="flat" w="12700">
                      <a:solidFill>
                        <a:srgbClr val="ED7D31"/>
                      </a:solidFill>
                      <a:prstDash val="solid"/>
                      <a:round/>
                      <a:headEnd type="none" w="med" len="med"/>
                      <a:tailEnd type="none" w="med" len="med"/>
                    </a:lnT>
                    <a:lnB cmpd="sng" algn="ctr" cap="flat" w="12700">
                      <a:solidFill>
                        <a:srgbClr val="ED7D31"/>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400">
                          <a:solidFill>
                            <a:srgbClr val="000000"/>
                          </a:solidFill>
                          <a:latin typeface="微软雅黑"/>
                          <a:ea typeface="微软雅黑"/>
                          <a:cs typeface="微软雅黑"/>
                          <a:sym typeface="微软雅黑"/>
                        </a:rPr>
                        <a:t>手动</a:t>
                      </a:r>
                      <a:endParaRPr lang="en-US" sz="1100"/>
                    </a:p>
                  </a:txBody>
                  <a:tcPr anchor="ctr" marL="91440" marR="91440" marT="45720" marB="45720">
                    <a:lnL cmpd="sng" algn="ctr" cap="flat" w="0">
                      <a:prstDash val="solid"/>
                      <a:round/>
                      <a:headEnd type="none" w="med" len="med"/>
                      <a:tailEnd type="none" w="med" len="med"/>
                    </a:lnL>
                    <a:lnR cmpd="sng" algn="ctr" cap="flat" w="0">
                      <a:prstDash val="solid"/>
                      <a:round/>
                      <a:headEnd type="none" w="med" len="med"/>
                      <a:tailEnd type="none" w="med" len="med"/>
                    </a:lnR>
                    <a:lnT cmpd="sng" algn="ctr" cap="flat" w="12700">
                      <a:solidFill>
                        <a:srgbClr val="ED7D31"/>
                      </a:solidFill>
                      <a:prstDash val="solid"/>
                      <a:round/>
                      <a:headEnd type="none" w="med" len="med"/>
                      <a:tailEnd type="none" w="med" len="med"/>
                    </a:lnT>
                    <a:lnB cmpd="sng" algn="ctr" cap="flat" w="12700">
                      <a:solidFill>
                        <a:srgbClr val="ED7D31"/>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400">
                          <a:solidFill>
                            <a:srgbClr val="000000"/>
                          </a:solidFill>
                          <a:latin typeface="微软雅黑"/>
                          <a:ea typeface="微软雅黑"/>
                          <a:cs typeface="微软雅黑"/>
                          <a:sym typeface="微软雅黑"/>
                        </a:rPr>
                        <a:t>自动</a:t>
                      </a:r>
                      <a:endParaRPr lang="en-US" sz="1100"/>
                    </a:p>
                  </a:txBody>
                  <a:tcPr anchor="ctr" marL="91440" marR="91440" marT="45720" marB="45720">
                    <a:lnL cmpd="sng" algn="ctr" cap="flat" w="0">
                      <a:prstDash val="solid"/>
                      <a:round/>
                      <a:headEnd type="none" w="med" len="med"/>
                      <a:tailEnd type="none" w="med" len="med"/>
                    </a:lnL>
                    <a:lnR cmpd="sng" algn="ctr" cap="flat" w="0">
                      <a:prstDash val="solid"/>
                      <a:round/>
                      <a:headEnd type="none" w="med" len="med"/>
                      <a:tailEnd type="none" w="med" len="med"/>
                    </a:lnR>
                    <a:lnT cmpd="sng" algn="ctr" cap="flat" w="12700">
                      <a:solidFill>
                        <a:srgbClr val="ED7D31"/>
                      </a:solidFill>
                      <a:prstDash val="solid"/>
                      <a:round/>
                      <a:headEnd type="none" w="med" len="med"/>
                      <a:tailEnd type="none" w="med" len="med"/>
                    </a:lnT>
                    <a:lnB cmpd="sng" algn="ctr" cap="flat" w="12700">
                      <a:solidFill>
                        <a:srgbClr val="ED7D31"/>
                      </a:solidFill>
                      <a:prstDash val="solid"/>
                      <a:round/>
                      <a:headEnd type="none" w="med" len="med"/>
                      <a:tailEnd type="none" w="med" len="med"/>
                    </a:lnB>
                    <a:noFill/>
                  </a:tcPr>
                </a:tc>
              </a:tr>
              <a:tr h="0">
                <a:tc>
                  <a:txBody>
                    <a:bodyPr anchor="t" rtlCol="false"/>
                    <a:lstStyle/>
                    <a:p>
                      <a:pPr algn="l" indent="0">
                        <a:lnSpc>
                          <a:spcPct val="100000"/>
                        </a:lnSpc>
                        <a:defRPr/>
                      </a:pPr>
                      <a:r>
                        <a:rPr lang="en-US" b="false" i="false" strike="noStrike" u="none" sz="1400">
                          <a:solidFill>
                            <a:srgbClr val="000000"/>
                          </a:solidFill>
                          <a:latin typeface="Arial"/>
                          <a:ea typeface="Arial"/>
                          <a:cs typeface="Arial"/>
                          <a:sym typeface="Arial"/>
                        </a:rPr>
                        <a:t>SM </a:t>
                      </a:r>
                      <a:r>
                        <a:rPr lang="en-US" b="false" i="false" strike="noStrike" u="none" sz="1400">
                          <a:solidFill>
                            <a:srgbClr val="000000"/>
                          </a:solidFill>
                          <a:latin typeface="微软雅黑"/>
                          <a:ea typeface="微软雅黑"/>
                          <a:cs typeface="微软雅黑"/>
                          <a:sym typeface="微软雅黑"/>
                        </a:rPr>
                        <a:t>内部</a:t>
                      </a:r>
                      <a:r>
                        <a:rPr lang="en-US" b="false" i="false" strike="noStrike" u="none" sz="1400">
                          <a:solidFill>
                            <a:srgbClr val="000000"/>
                          </a:solidFill>
                          <a:latin typeface="Arial"/>
                          <a:ea typeface="Arial"/>
                          <a:cs typeface="Arial"/>
                          <a:sym typeface="Arial"/>
                        </a:rPr>
                        <a:t> Scheduling</a:t>
                      </a:r>
                      <a:endParaRPr lang="en-US" sz="1100"/>
                    </a:p>
                  </a:txBody>
                  <a:tcPr anchor="ctr" marL="91440" marR="91440" marT="45720" marB="45720">
                    <a:lnL cmpd="sng" algn="ctr" cap="flat" w="0">
                      <a:prstDash val="solid"/>
                      <a:round/>
                      <a:headEnd type="none" w="med" len="med"/>
                      <a:tailEnd type="none" w="med" len="med"/>
                    </a:lnL>
                    <a:lnR cmpd="sng" algn="ctr" cap="flat" w="0">
                      <a:prstDash val="solid"/>
                      <a:round/>
                      <a:headEnd type="none" w="med" len="med"/>
                      <a:tailEnd type="none" w="med" len="med"/>
                    </a:lnR>
                    <a:lnT cmpd="sng" algn="ctr" cap="flat" w="12700">
                      <a:solidFill>
                        <a:srgbClr val="ED7D31"/>
                      </a:solidFill>
                      <a:prstDash val="solid"/>
                      <a:round/>
                      <a:headEnd type="none" w="med" len="med"/>
                      <a:tailEnd type="none" w="med" len="med"/>
                    </a:lnT>
                    <a:lnB cmpd="sng" algn="ctr" cap="flat" w="12700">
                      <a:solidFill>
                        <a:srgbClr val="ED7D31"/>
                      </a:solidFill>
                      <a:prstDash val="solid"/>
                      <a:round/>
                      <a:headEnd type="none" w="med" len="med"/>
                      <a:tailEnd type="none" w="med" len="med"/>
                    </a:lnB>
                    <a:solidFill>
                      <a:srgbClr val="ED7D31">
                        <a:alpha val="20000"/>
                      </a:srgbClr>
                    </a:solidFill>
                  </a:tcPr>
                </a:tc>
                <a:tc>
                  <a:txBody>
                    <a:bodyPr anchor="t" rtlCol="false"/>
                    <a:lstStyle/>
                    <a:p>
                      <a:pPr algn="l" indent="0">
                        <a:lnSpc>
                          <a:spcPct val="100000"/>
                        </a:lnSpc>
                        <a:defRPr/>
                      </a:pPr>
                      <a:r>
                        <a:rPr lang="en-US" b="false" i="false" strike="noStrike" u="none" sz="1400">
                          <a:solidFill>
                            <a:srgbClr val="000000"/>
                          </a:solidFill>
                          <a:latin typeface="微软雅黑"/>
                          <a:ea typeface="微软雅黑"/>
                          <a:cs typeface="微软雅黑"/>
                          <a:sym typeface="微软雅黑"/>
                        </a:rPr>
                        <a:t>手动</a:t>
                      </a:r>
                      <a:endParaRPr lang="en-US" sz="1100"/>
                    </a:p>
                  </a:txBody>
                  <a:tcPr anchor="ctr" marL="91440" marR="91440" marT="45720" marB="45720">
                    <a:lnL cmpd="sng" algn="ctr" cap="flat" w="0">
                      <a:prstDash val="solid"/>
                      <a:round/>
                      <a:headEnd type="none" w="med" len="med"/>
                      <a:tailEnd type="none" w="med" len="med"/>
                    </a:lnL>
                    <a:lnR cmpd="sng" algn="ctr" cap="flat" w="0">
                      <a:prstDash val="solid"/>
                      <a:round/>
                      <a:headEnd type="none" w="med" len="med"/>
                      <a:tailEnd type="none" w="med" len="med"/>
                    </a:lnR>
                    <a:lnT cmpd="sng" algn="ctr" cap="flat" w="12700">
                      <a:solidFill>
                        <a:srgbClr val="ED7D31"/>
                      </a:solidFill>
                      <a:prstDash val="solid"/>
                      <a:round/>
                      <a:headEnd type="none" w="med" len="med"/>
                      <a:tailEnd type="none" w="med" len="med"/>
                    </a:lnT>
                    <a:lnB cmpd="sng" algn="ctr" cap="flat" w="12700">
                      <a:solidFill>
                        <a:srgbClr val="ED7D31"/>
                      </a:solidFill>
                      <a:prstDash val="solid"/>
                      <a:round/>
                      <a:headEnd type="none" w="med" len="med"/>
                      <a:tailEnd type="none" w="med" len="med"/>
                    </a:lnB>
                    <a:solidFill>
                      <a:srgbClr val="ED7D31">
                        <a:alpha val="20000"/>
                      </a:srgbClr>
                    </a:solidFill>
                  </a:tcPr>
                </a:tc>
                <a:tc>
                  <a:txBody>
                    <a:bodyPr anchor="t" rtlCol="false"/>
                    <a:lstStyle/>
                    <a:p>
                      <a:pPr algn="l" indent="0">
                        <a:lnSpc>
                          <a:spcPct val="100000"/>
                        </a:lnSpc>
                        <a:defRPr/>
                      </a:pPr>
                      <a:r>
                        <a:rPr lang="en-US" b="false" i="false" strike="noStrike" u="none" sz="1400">
                          <a:solidFill>
                            <a:srgbClr val="000000"/>
                          </a:solidFill>
                          <a:latin typeface="微软雅黑"/>
                          <a:ea typeface="微软雅黑"/>
                          <a:cs typeface="微软雅黑"/>
                          <a:sym typeface="微软雅黑"/>
                        </a:rPr>
                        <a:t>自动</a:t>
                      </a:r>
                      <a:endParaRPr lang="en-US" sz="1100"/>
                    </a:p>
                  </a:txBody>
                  <a:tcPr anchor="ctr" marL="91440" marR="91440" marT="45720" marB="45720">
                    <a:lnL cmpd="sng" algn="ctr" cap="flat" w="0">
                      <a:prstDash val="solid"/>
                      <a:round/>
                      <a:headEnd type="none" w="med" len="med"/>
                      <a:tailEnd type="none" w="med" len="med"/>
                    </a:lnL>
                    <a:lnR cmpd="sng" algn="ctr" cap="flat" w="0">
                      <a:prstDash val="solid"/>
                      <a:round/>
                      <a:headEnd type="none" w="med" len="med"/>
                      <a:tailEnd type="none" w="med" len="med"/>
                    </a:lnR>
                    <a:lnT cmpd="sng" algn="ctr" cap="flat" w="12700">
                      <a:solidFill>
                        <a:srgbClr val="ED7D31"/>
                      </a:solidFill>
                      <a:prstDash val="solid"/>
                      <a:round/>
                      <a:headEnd type="none" w="med" len="med"/>
                      <a:tailEnd type="none" w="med" len="med"/>
                    </a:lnT>
                    <a:lnB cmpd="sng" algn="ctr" cap="flat" w="12700">
                      <a:solidFill>
                        <a:srgbClr val="ED7D31"/>
                      </a:solidFill>
                      <a:prstDash val="solid"/>
                      <a:round/>
                      <a:headEnd type="none" w="med" len="med"/>
                      <a:tailEnd type="none" w="med" len="med"/>
                    </a:lnB>
                    <a:solidFill>
                      <a:srgbClr val="ED7D31">
                        <a:alpha val="20000"/>
                      </a:srgbClr>
                    </a:solidFill>
                  </a:tcPr>
                </a:tc>
              </a:tr>
              <a:tr h="126468">
                <a:tc>
                  <a:txBody>
                    <a:bodyPr anchor="t" rtlCol="false"/>
                    <a:lstStyle/>
                    <a:p>
                      <a:pPr algn="l" indent="0">
                        <a:lnSpc>
                          <a:spcPct val="100000"/>
                        </a:lnSpc>
                        <a:defRPr/>
                      </a:pPr>
                      <a:r>
                        <a:rPr lang="en-US" b="false" i="false" strike="noStrike" u="none" sz="1400">
                          <a:solidFill>
                            <a:srgbClr val="000000"/>
                          </a:solidFill>
                          <a:latin typeface="Arial"/>
                          <a:ea typeface="Arial"/>
                          <a:cs typeface="Arial"/>
                          <a:sym typeface="Arial"/>
                        </a:rPr>
                        <a:t>SM </a:t>
                      </a:r>
                      <a:r>
                        <a:rPr lang="en-US" b="false" i="false" strike="noStrike" u="none" sz="1400">
                          <a:solidFill>
                            <a:srgbClr val="000000"/>
                          </a:solidFill>
                          <a:latin typeface="微软雅黑"/>
                          <a:ea typeface="微软雅黑"/>
                          <a:cs typeface="微软雅黑"/>
                          <a:sym typeface="微软雅黑"/>
                        </a:rPr>
                        <a:t>外部</a:t>
                      </a:r>
                      <a:r>
                        <a:rPr lang="en-US" b="false" i="false" strike="noStrike" u="none" sz="1400">
                          <a:solidFill>
                            <a:srgbClr val="000000"/>
                          </a:solidFill>
                          <a:latin typeface="Arial"/>
                          <a:ea typeface="Arial"/>
                          <a:cs typeface="Arial"/>
                          <a:sym typeface="Arial"/>
                        </a:rPr>
                        <a:t> Scheduling</a:t>
                      </a:r>
                      <a:endParaRPr lang="en-US" sz="1100"/>
                    </a:p>
                  </a:txBody>
                  <a:tcPr anchor="ctr" marL="91440" marR="91440" marT="45720" marB="45720">
                    <a:lnL cmpd="sng" algn="ctr" cap="flat" w="0">
                      <a:prstDash val="solid"/>
                      <a:round/>
                      <a:headEnd type="none" w="med" len="med"/>
                      <a:tailEnd type="none" w="med" len="med"/>
                    </a:lnL>
                    <a:lnR cmpd="sng" algn="ctr" cap="flat" w="0">
                      <a:prstDash val="solid"/>
                      <a:round/>
                      <a:headEnd type="none" w="med" len="med"/>
                      <a:tailEnd type="none" w="med" len="med"/>
                    </a:lnR>
                    <a:lnT cmpd="sng" algn="ctr" cap="flat" w="12700">
                      <a:solidFill>
                        <a:srgbClr val="ED7D31"/>
                      </a:solidFill>
                      <a:prstDash val="solid"/>
                      <a:round/>
                      <a:headEnd type="none" w="med" len="med"/>
                      <a:tailEnd type="none" w="med" len="med"/>
                    </a:lnT>
                    <a:lnB cmpd="sng" algn="ctr" cap="flat" w="12700">
                      <a:solidFill>
                        <a:srgbClr val="ED7D31"/>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400">
                          <a:solidFill>
                            <a:srgbClr val="000000"/>
                          </a:solidFill>
                          <a:latin typeface="微软雅黑"/>
                          <a:ea typeface="微软雅黑"/>
                          <a:cs typeface="微软雅黑"/>
                          <a:sym typeface="微软雅黑"/>
                        </a:rPr>
                        <a:t>手动</a:t>
                      </a:r>
                      <a:endParaRPr lang="en-US" sz="1100"/>
                    </a:p>
                  </a:txBody>
                  <a:tcPr anchor="ctr" marL="91440" marR="91440" marT="45720" marB="45720">
                    <a:lnL cmpd="sng" algn="ctr" cap="flat" w="0">
                      <a:prstDash val="solid"/>
                      <a:round/>
                      <a:headEnd type="none" w="med" len="med"/>
                      <a:tailEnd type="none" w="med" len="med"/>
                    </a:lnL>
                    <a:lnR cmpd="sng" algn="ctr" cap="flat" w="0">
                      <a:prstDash val="solid"/>
                      <a:round/>
                      <a:headEnd type="none" w="med" len="med"/>
                      <a:tailEnd type="none" w="med" len="med"/>
                    </a:lnR>
                    <a:lnT cmpd="sng" algn="ctr" cap="flat" w="12700">
                      <a:solidFill>
                        <a:srgbClr val="ED7D31"/>
                      </a:solidFill>
                      <a:prstDash val="solid"/>
                      <a:round/>
                      <a:headEnd type="none" w="med" len="med"/>
                      <a:tailEnd type="none" w="med" len="med"/>
                    </a:lnT>
                    <a:lnB cmpd="sng" algn="ctr" cap="flat" w="12700">
                      <a:solidFill>
                        <a:srgbClr val="ED7D31"/>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400">
                          <a:solidFill>
                            <a:srgbClr val="000000"/>
                          </a:solidFill>
                          <a:latin typeface="微软雅黑"/>
                          <a:ea typeface="微软雅黑"/>
                          <a:cs typeface="微软雅黑"/>
                          <a:sym typeface="微软雅黑"/>
                        </a:rPr>
                        <a:t>手动</a:t>
                      </a:r>
                      <a:endParaRPr lang="en-US" sz="1100"/>
                    </a:p>
                  </a:txBody>
                  <a:tcPr anchor="ctr" marL="91440" marR="91440" marT="45720" marB="45720">
                    <a:lnL cmpd="sng" algn="ctr" cap="flat" w="0">
                      <a:prstDash val="solid"/>
                      <a:round/>
                      <a:headEnd type="none" w="med" len="med"/>
                      <a:tailEnd type="none" w="med" len="med"/>
                    </a:lnL>
                    <a:lnR cmpd="sng" algn="ctr" cap="flat" w="0">
                      <a:prstDash val="solid"/>
                      <a:round/>
                      <a:headEnd type="none" w="med" len="med"/>
                      <a:tailEnd type="none" w="med" len="med"/>
                    </a:lnR>
                    <a:lnT cmpd="sng" algn="ctr" cap="flat" w="12700">
                      <a:solidFill>
                        <a:srgbClr val="ED7D31"/>
                      </a:solidFill>
                      <a:prstDash val="solid"/>
                      <a:round/>
                      <a:headEnd type="none" w="med" len="med"/>
                      <a:tailEnd type="none" w="med" len="med"/>
                    </a:lnT>
                    <a:lnB cmpd="sng" algn="ctr" cap="flat" w="12700">
                      <a:solidFill>
                        <a:srgbClr val="ED7D31"/>
                      </a:solidFill>
                      <a:prstDash val="solid"/>
                      <a:round/>
                      <a:headEnd type="none" w="med" len="med"/>
                      <a:tailEnd type="none" w="med" len="med"/>
                    </a:lnB>
                    <a:noFill/>
                  </a:tcPr>
                </a:tc>
              </a:tr>
            </a:tbl>
          </a:graphicData>
        </a:graphic>
      </p:graphicFrame>
    </p:spTree>
  </p:cSld>
  <p:clrMapOvr>
    <a:masterClrMapping/>
  </p:clrMapOvr>
  <p:transition main:dur="1000">
    <p:fade thruBlk="false"/>
  </p:transition>
</p:sld>
</file>

<file path=ppt/slides/slide8.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Triton </a:t>
            </a:r>
            <a:r>
              <a:rPr lang="en-US" b="false" i="false" strike="noStrike" u="none" sz="3600">
                <a:solidFill>
                  <a:srgbClr val="262626"/>
                </a:solidFill>
                <a:latin typeface="微软雅黑"/>
                <a:ea typeface="微软雅黑"/>
                <a:cs typeface="微软雅黑"/>
                <a:sym typeface="微软雅黑"/>
              </a:rPr>
              <a:t>开源优势</a:t>
            </a:r>
          </a:p>
        </p:txBody>
      </p:sp>
      <p:sp>
        <p:nvSpPr>
          <p:cNvPr name="AutoShape 3" id="3"/>
          <p:cNvSpPr/>
          <p:nvPr>
            <p:ph idx="8" type="body" sz="quarter"/>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a:endParaRPr/>
          </a:p>
        </p:txBody>
      </p:sp>
      <p:sp>
        <p:nvSpPr>
          <p:cNvPr name="AutoShape 4" id="4"/>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Pytorch </a:t>
            </a:r>
            <a:r>
              <a:rPr lang="en-US" b="false" i="false" strike="noStrike" u="none" sz="2400">
                <a:solidFill>
                  <a:srgbClr val="404040"/>
                </a:solidFill>
                <a:latin typeface="微软雅黑"/>
                <a:ea typeface="微软雅黑"/>
                <a:cs typeface="微软雅黑"/>
                <a:sym typeface="微软雅黑"/>
              </a:rPr>
              <a:t>框架集成</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大模型领域的定制化算子</a:t>
            </a:r>
          </a:p>
        </p:txBody>
      </p:sp>
      <p:cxnSp>
        <p:nvCxnSpPr>
          <p:cNvPr name="Connector 5" id="5"/>
          <p:cNvCxnSpPr/>
          <p:nvPr/>
        </p:nvCxnSpPr>
        <p:spPr>
          <a:xfrm rot="0" flipH="false" flipV="true">
            <a:off x="264577" y="5716228"/>
            <a:ext cx="10929654" cy="15804"/>
          </a:xfrm>
          <a:prstGeom prst="straightConnector1">
            <a:avLst/>
          </a:prstGeom>
          <a:noFill/>
          <a:ln w="38100" cap="flat">
            <a:solidFill>
              <a:srgbClr val="4472C4">
                <a:alpha val="100000"/>
              </a:srgbClr>
            </a:solidFill>
            <a:prstDash val="solid"/>
            <a:headEnd type="none" w="med" len="med"/>
            <a:tailEnd type="triangle" w="med" len="med"/>
          </a:ln>
        </p:spPr>
      </p:cxnSp>
      <p:cxnSp>
        <p:nvCxnSpPr>
          <p:cNvPr name="Connector 6" id="6"/>
          <p:cNvCxnSpPr/>
          <p:nvPr/>
        </p:nvCxnSpPr>
        <p:spPr>
          <a:xfrm rot="0" flipH="false" flipV="true">
            <a:off x="1869428" y="5715593"/>
            <a:ext cx="1276" cy="425418"/>
          </a:xfrm>
          <a:prstGeom prst="line">
            <a:avLst/>
          </a:prstGeom>
          <a:noFill/>
          <a:ln w="12700" cap="flat">
            <a:solidFill>
              <a:srgbClr val="4472C4">
                <a:alpha val="100000"/>
              </a:srgbClr>
            </a:solidFill>
            <a:prstDash val="solid"/>
            <a:headEnd type="none" w="med" len="med"/>
            <a:tailEnd type="none" w="med" len="med"/>
          </a:ln>
        </p:spPr>
      </p:cxnSp>
      <p:sp>
        <p:nvSpPr>
          <p:cNvPr name="AutoShape 7" id="7"/>
          <p:cNvSpPr/>
          <p:nvPr/>
        </p:nvSpPr>
        <p:spPr>
          <a:xfrm rot="0" flipH="false" flipV="false">
            <a:off x="1869428" y="5956980"/>
            <a:ext cx="652780" cy="368300"/>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1800">
                <a:solidFill>
                  <a:srgbClr val="000000"/>
                </a:solidFill>
                <a:latin typeface="Arial"/>
                <a:ea typeface="Arial"/>
                <a:cs typeface="Arial"/>
                <a:sym typeface="Arial"/>
              </a:rPr>
              <a:t>2016</a:t>
            </a:r>
            <a:endParaRPr lang="en-US" sz="1100"/>
          </a:p>
        </p:txBody>
      </p:sp>
      <p:cxnSp>
        <p:nvCxnSpPr>
          <p:cNvPr name="Connector 8" id="8"/>
          <p:cNvCxnSpPr/>
          <p:nvPr/>
        </p:nvCxnSpPr>
        <p:spPr>
          <a:xfrm rot="0" flipH="false" flipV="true">
            <a:off x="3455296" y="5747837"/>
            <a:ext cx="0" cy="356215"/>
          </a:xfrm>
          <a:prstGeom prst="line">
            <a:avLst/>
          </a:prstGeom>
          <a:noFill/>
          <a:ln w="12700" cap="flat">
            <a:solidFill>
              <a:srgbClr val="4472C4">
                <a:alpha val="100000"/>
              </a:srgbClr>
            </a:solidFill>
            <a:prstDash val="solid"/>
            <a:headEnd type="none" w="med" len="med"/>
            <a:tailEnd type="none" w="med" len="med"/>
          </a:ln>
        </p:spPr>
      </p:cxnSp>
      <p:sp>
        <p:nvSpPr>
          <p:cNvPr name="AutoShape 9" id="9"/>
          <p:cNvSpPr/>
          <p:nvPr/>
        </p:nvSpPr>
        <p:spPr>
          <a:xfrm rot="0" flipH="false" flipV="false">
            <a:off x="3455296" y="5956980"/>
            <a:ext cx="652780" cy="368300"/>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1800">
                <a:solidFill>
                  <a:srgbClr val="000000"/>
                </a:solidFill>
                <a:latin typeface="Arial"/>
                <a:ea typeface="Arial"/>
                <a:cs typeface="Arial"/>
                <a:sym typeface="Arial"/>
              </a:rPr>
              <a:t>2018</a:t>
            </a:r>
            <a:endParaRPr lang="en-US" sz="1100"/>
          </a:p>
        </p:txBody>
      </p:sp>
      <p:cxnSp>
        <p:nvCxnSpPr>
          <p:cNvPr name="Connector 10" id="10"/>
          <p:cNvCxnSpPr/>
          <p:nvPr/>
        </p:nvCxnSpPr>
        <p:spPr>
          <a:xfrm rot="0" flipH="false" flipV="true">
            <a:off x="4993937" y="5747837"/>
            <a:ext cx="0" cy="356215"/>
          </a:xfrm>
          <a:prstGeom prst="line">
            <a:avLst/>
          </a:prstGeom>
          <a:noFill/>
          <a:ln w="12700" cap="flat">
            <a:solidFill>
              <a:srgbClr val="4472C4">
                <a:alpha val="100000"/>
              </a:srgbClr>
            </a:solidFill>
            <a:prstDash val="solid"/>
            <a:headEnd type="none" w="med" len="med"/>
            <a:tailEnd type="none" w="med" len="med"/>
          </a:ln>
        </p:spPr>
      </p:cxnSp>
      <p:sp>
        <p:nvSpPr>
          <p:cNvPr name="AutoShape 11" id="11"/>
          <p:cNvSpPr/>
          <p:nvPr/>
        </p:nvSpPr>
        <p:spPr>
          <a:xfrm rot="0" flipH="false" flipV="false">
            <a:off x="4993937" y="5956980"/>
            <a:ext cx="652780" cy="368300"/>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1800">
                <a:solidFill>
                  <a:srgbClr val="000000"/>
                </a:solidFill>
                <a:latin typeface="Arial"/>
                <a:ea typeface="Arial"/>
                <a:cs typeface="Arial"/>
                <a:sym typeface="Arial"/>
              </a:rPr>
              <a:t>2020</a:t>
            </a:r>
            <a:endParaRPr lang="en-US" sz="1100"/>
          </a:p>
        </p:txBody>
      </p:sp>
      <p:cxnSp>
        <p:nvCxnSpPr>
          <p:cNvPr name="Connector 12" id="12"/>
          <p:cNvCxnSpPr/>
          <p:nvPr/>
        </p:nvCxnSpPr>
        <p:spPr>
          <a:xfrm rot="0" flipH="false" flipV="true">
            <a:off x="8142063" y="5747837"/>
            <a:ext cx="0" cy="356215"/>
          </a:xfrm>
          <a:prstGeom prst="line">
            <a:avLst/>
          </a:prstGeom>
          <a:noFill/>
          <a:ln w="12700" cap="flat">
            <a:solidFill>
              <a:srgbClr val="4472C4">
                <a:alpha val="100000"/>
              </a:srgbClr>
            </a:solidFill>
            <a:prstDash val="solid"/>
            <a:headEnd type="none" w="med" len="med"/>
            <a:tailEnd type="none" w="med" len="med"/>
          </a:ln>
        </p:spPr>
      </p:cxnSp>
      <p:sp>
        <p:nvSpPr>
          <p:cNvPr name="AutoShape 13" id="13"/>
          <p:cNvSpPr/>
          <p:nvPr/>
        </p:nvSpPr>
        <p:spPr>
          <a:xfrm rot="0" flipH="false" flipV="false">
            <a:off x="8142063" y="5956980"/>
            <a:ext cx="652780" cy="368300"/>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1800">
                <a:solidFill>
                  <a:srgbClr val="000000"/>
                </a:solidFill>
                <a:latin typeface="Arial"/>
                <a:ea typeface="Arial"/>
                <a:cs typeface="Arial"/>
                <a:sym typeface="Arial"/>
              </a:rPr>
              <a:t>2023</a:t>
            </a:r>
            <a:endParaRPr lang="en-US" sz="1100"/>
          </a:p>
        </p:txBody>
      </p:sp>
      <p:sp>
        <p:nvSpPr>
          <p:cNvPr name="Freeform 14" id="14"/>
          <p:cNvSpPr/>
          <p:nvPr/>
        </p:nvSpPr>
        <p:spPr>
          <a:xfrm rot="0" flipH="false" flipV="false">
            <a:off x="1388297" y="2734778"/>
            <a:ext cx="4682169" cy="2057400"/>
          </a:xfrm>
          <a:custGeom>
            <a:avLst/>
            <a:gdLst/>
            <a:ahLst/>
            <a:cxnLst/>
            <a:rect r="r" b="b" t="t" l="l"/>
            <a:pathLst>
              <a:path h="2057400" w="4682169">
                <a:moveTo>
                  <a:pt x="0" y="2057400"/>
                </a:moveTo>
                <a:cubicBezTo>
                  <a:pt x="948369" y="1904288"/>
                  <a:pt x="1896737" y="1751174"/>
                  <a:pt x="2677099" y="1408274"/>
                </a:cubicBezTo>
                <a:cubicBezTo>
                  <a:pt x="3457461" y="1065374"/>
                  <a:pt x="4069815" y="532688"/>
                  <a:pt x="4682169" y="0"/>
                </a:cubicBezTo>
              </a:path>
            </a:pathLst>
          </a:custGeom>
          <a:no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Freeform 15" id="15"/>
          <p:cNvSpPr/>
          <p:nvPr/>
        </p:nvSpPr>
        <p:spPr>
          <a:xfrm rot="0" flipH="false" flipV="false">
            <a:off x="892539" y="2381622"/>
            <a:ext cx="5501096" cy="1951821"/>
          </a:xfrm>
          <a:custGeom>
            <a:avLst/>
            <a:gdLst/>
            <a:ahLst/>
            <a:cxnLst/>
            <a:rect r="r" b="b" t="t" l="l"/>
            <a:pathLst>
              <a:path h="1951821" w="5501096">
                <a:moveTo>
                  <a:pt x="0" y="1927951"/>
                </a:moveTo>
                <a:cubicBezTo>
                  <a:pt x="1022640" y="1939886"/>
                  <a:pt x="2045280" y="1951821"/>
                  <a:pt x="2962129" y="1630496"/>
                </a:cubicBezTo>
                <a:cubicBezTo>
                  <a:pt x="3878978" y="1309171"/>
                  <a:pt x="5501096" y="0"/>
                  <a:pt x="5501096" y="0"/>
                </a:cubicBezTo>
                <a:lnTo>
                  <a:pt x="5501096" y="0"/>
                </a:lnTo>
              </a:path>
            </a:pathLst>
          </a:custGeom>
          <a:noFill/>
          <a:ln w="50800" cap="flat">
            <a:solidFill>
              <a:srgbClr val="2E75B6">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16" id="16"/>
          <p:cNvSpPr/>
          <p:nvPr/>
        </p:nvSpPr>
        <p:spPr>
          <a:xfrm rot="0" flipH="false" flipV="false">
            <a:off x="1855479" y="4317446"/>
            <a:ext cx="1292860" cy="368300"/>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1800">
                <a:solidFill>
                  <a:srgbClr val="000000"/>
                </a:solidFill>
                <a:latin typeface="Arial"/>
                <a:ea typeface="Arial"/>
                <a:cs typeface="Arial"/>
                <a:sym typeface="Arial"/>
              </a:rPr>
              <a:t>Tensorflow</a:t>
            </a:r>
            <a:endParaRPr lang="en-US" sz="1100"/>
          </a:p>
        </p:txBody>
      </p:sp>
      <p:sp>
        <p:nvSpPr>
          <p:cNvPr name="AutoShape 17" id="17"/>
          <p:cNvSpPr/>
          <p:nvPr/>
        </p:nvSpPr>
        <p:spPr>
          <a:xfrm rot="0" flipH="false" flipV="false">
            <a:off x="4249757" y="3749108"/>
            <a:ext cx="955675" cy="368300"/>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1800">
                <a:solidFill>
                  <a:srgbClr val="000000"/>
                </a:solidFill>
                <a:latin typeface="Arial"/>
                <a:ea typeface="Arial"/>
                <a:cs typeface="Arial"/>
                <a:sym typeface="Arial"/>
              </a:rPr>
              <a:t>Pytorch</a:t>
            </a:r>
            <a:endParaRPr lang="en-US" sz="1100"/>
          </a:p>
        </p:txBody>
      </p:sp>
      <p:sp>
        <p:nvSpPr>
          <p:cNvPr name="AutoShape 18" id="18"/>
          <p:cNvSpPr/>
          <p:nvPr/>
        </p:nvSpPr>
        <p:spPr>
          <a:xfrm rot="0" flipH="false" flipV="false">
            <a:off x="1464327" y="4600935"/>
            <a:ext cx="693420" cy="368300"/>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1800">
                <a:solidFill>
                  <a:srgbClr val="000000"/>
                </a:solidFill>
                <a:latin typeface="Arial"/>
                <a:ea typeface="Arial"/>
                <a:cs typeface="Arial"/>
                <a:sym typeface="Arial"/>
              </a:rPr>
              <a:t>Caffe</a:t>
            </a:r>
            <a:endParaRPr lang="en-US" sz="1100"/>
          </a:p>
        </p:txBody>
      </p:sp>
      <p:sp>
        <p:nvSpPr>
          <p:cNvPr name="AutoShape 19" id="19"/>
          <p:cNvSpPr/>
          <p:nvPr/>
        </p:nvSpPr>
        <p:spPr>
          <a:xfrm rot="0" flipH="false" flipV="false">
            <a:off x="2440640" y="4689207"/>
            <a:ext cx="672465" cy="306705"/>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1400">
                <a:solidFill>
                  <a:srgbClr val="000000"/>
                </a:solidFill>
                <a:latin typeface="Arial"/>
                <a:ea typeface="Arial"/>
                <a:cs typeface="Arial"/>
                <a:sym typeface="Arial"/>
              </a:rPr>
              <a:t>MxNet</a:t>
            </a:r>
            <a:endParaRPr lang="en-US" sz="1100"/>
          </a:p>
        </p:txBody>
      </p:sp>
      <p:sp>
        <p:nvSpPr>
          <p:cNvPr name="AutoShape 20" id="20"/>
          <p:cNvSpPr/>
          <p:nvPr/>
        </p:nvSpPr>
        <p:spPr>
          <a:xfrm rot="0" flipH="false" flipV="false">
            <a:off x="3963241" y="4027791"/>
            <a:ext cx="1250950" cy="306705"/>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1400">
                <a:solidFill>
                  <a:srgbClr val="000000"/>
                </a:solidFill>
                <a:latin typeface="Arial"/>
                <a:ea typeface="Arial"/>
                <a:cs typeface="Arial"/>
                <a:sym typeface="Arial"/>
              </a:rPr>
              <a:t>PaddlePaddle</a:t>
            </a:r>
            <a:endParaRPr lang="en-US" sz="1100"/>
          </a:p>
        </p:txBody>
      </p:sp>
      <p:sp>
        <p:nvSpPr>
          <p:cNvPr name="AutoShape 21" id="21"/>
          <p:cNvSpPr/>
          <p:nvPr/>
        </p:nvSpPr>
        <p:spPr>
          <a:xfrm rot="0" flipH="false" flipV="false">
            <a:off x="5085346" y="3236757"/>
            <a:ext cx="485775" cy="337185"/>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1600">
                <a:solidFill>
                  <a:srgbClr val="000000"/>
                </a:solidFill>
                <a:latin typeface="Arial"/>
                <a:ea typeface="Arial"/>
                <a:cs typeface="Arial"/>
                <a:sym typeface="Arial"/>
              </a:rPr>
              <a:t>Jax</a:t>
            </a:r>
            <a:endParaRPr lang="en-US" sz="1100"/>
          </a:p>
        </p:txBody>
      </p:sp>
      <p:sp>
        <p:nvSpPr>
          <p:cNvPr name="Freeform 22" id="22"/>
          <p:cNvSpPr/>
          <p:nvPr/>
        </p:nvSpPr>
        <p:spPr>
          <a:xfrm rot="0" flipH="false" flipV="false">
            <a:off x="3910363" y="2556689"/>
            <a:ext cx="5221995" cy="1830635"/>
          </a:xfrm>
          <a:custGeom>
            <a:avLst/>
            <a:gdLst/>
            <a:ahLst/>
            <a:cxnLst/>
            <a:rect r="r" b="b" t="t" l="l"/>
            <a:pathLst>
              <a:path h="1830635" w="5221995">
                <a:moveTo>
                  <a:pt x="0" y="1795750"/>
                </a:moveTo>
                <a:cubicBezTo>
                  <a:pt x="1272449" y="1813192"/>
                  <a:pt x="2544896" y="1830635"/>
                  <a:pt x="3415228" y="1531344"/>
                </a:cubicBezTo>
                <a:cubicBezTo>
                  <a:pt x="4285560" y="1232052"/>
                  <a:pt x="5221995" y="0"/>
                  <a:pt x="5221995" y="0"/>
                </a:cubicBezTo>
                <a:lnTo>
                  <a:pt x="5221995" y="0"/>
                </a:lnTo>
                <a:lnTo>
                  <a:pt x="5221995" y="0"/>
                </a:lnTo>
                <a:lnTo>
                  <a:pt x="5221995" y="0"/>
                </a:lnTo>
              </a:path>
            </a:pathLst>
          </a:custGeom>
          <a:noFill/>
          <a:ln w="50800" cap="flat">
            <a:solidFill>
              <a:srgbClr val="548235">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23" id="23"/>
          <p:cNvSpPr/>
          <p:nvPr/>
        </p:nvSpPr>
        <p:spPr>
          <a:xfrm rot="0" flipH="false" flipV="false">
            <a:off x="5875153" y="2932084"/>
            <a:ext cx="608965" cy="306705"/>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1400">
                <a:solidFill>
                  <a:srgbClr val="000000"/>
                </a:solidFill>
                <a:latin typeface="Arial"/>
                <a:ea typeface="Arial"/>
                <a:cs typeface="Arial"/>
                <a:sym typeface="Arial"/>
              </a:rPr>
              <a:t>Jittor</a:t>
            </a:r>
            <a:endParaRPr lang="en-US" sz="1100"/>
          </a:p>
        </p:txBody>
      </p:sp>
      <p:sp>
        <p:nvSpPr>
          <p:cNvPr name="AutoShape 24" id="24"/>
          <p:cNvSpPr/>
          <p:nvPr/>
        </p:nvSpPr>
        <p:spPr>
          <a:xfrm rot="0" flipH="false" flipV="false">
            <a:off x="5188840" y="2460109"/>
            <a:ext cx="640080" cy="368300"/>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1800">
                <a:solidFill>
                  <a:srgbClr val="FF0000"/>
                </a:solidFill>
                <a:latin typeface="微软雅黑"/>
                <a:ea typeface="微软雅黑"/>
                <a:cs typeface="微软雅黑"/>
                <a:sym typeface="微软雅黑"/>
              </a:rPr>
              <a:t>框架</a:t>
            </a:r>
            <a:endParaRPr lang="en-US" sz="1100"/>
          </a:p>
        </p:txBody>
      </p:sp>
      <p:sp>
        <p:nvSpPr>
          <p:cNvPr name="AutoShape 25" id="25"/>
          <p:cNvSpPr/>
          <p:nvPr/>
        </p:nvSpPr>
        <p:spPr>
          <a:xfrm rot="0" flipH="false" flipV="false">
            <a:off x="8091416" y="2280314"/>
            <a:ext cx="868680" cy="368300"/>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1800">
                <a:solidFill>
                  <a:srgbClr val="FF0000"/>
                </a:solidFill>
                <a:latin typeface="微软雅黑"/>
                <a:ea typeface="微软雅黑"/>
                <a:cs typeface="微软雅黑"/>
                <a:sym typeface="微软雅黑"/>
              </a:rPr>
              <a:t>编译器</a:t>
            </a:r>
            <a:endParaRPr lang="en-US" sz="1100"/>
          </a:p>
        </p:txBody>
      </p:sp>
      <p:sp>
        <p:nvSpPr>
          <p:cNvPr name="AutoShape 26" id="26"/>
          <p:cNvSpPr/>
          <p:nvPr/>
        </p:nvSpPr>
        <p:spPr>
          <a:xfrm rot="0" flipH="false" flipV="false">
            <a:off x="4073262" y="4487887"/>
            <a:ext cx="600710" cy="368300"/>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1800">
                <a:solidFill>
                  <a:srgbClr val="000000"/>
                </a:solidFill>
                <a:latin typeface="Arial"/>
                <a:ea typeface="Arial"/>
                <a:cs typeface="Arial"/>
                <a:sym typeface="Arial"/>
              </a:rPr>
              <a:t>TVM</a:t>
            </a:r>
            <a:endParaRPr lang="en-US" sz="1100"/>
          </a:p>
        </p:txBody>
      </p:sp>
      <p:sp>
        <p:nvSpPr>
          <p:cNvPr name="AutoShape 27" id="27"/>
          <p:cNvSpPr/>
          <p:nvPr/>
        </p:nvSpPr>
        <p:spPr>
          <a:xfrm rot="0" flipH="false" flipV="false">
            <a:off x="6027260" y="4401090"/>
            <a:ext cx="668020" cy="368300"/>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1800">
                <a:solidFill>
                  <a:srgbClr val="000000"/>
                </a:solidFill>
                <a:latin typeface="Arial"/>
                <a:ea typeface="Arial"/>
                <a:cs typeface="Arial"/>
                <a:sym typeface="Arial"/>
              </a:rPr>
              <a:t>MLIR</a:t>
            </a:r>
            <a:endParaRPr lang="en-US" sz="1100"/>
          </a:p>
        </p:txBody>
      </p:sp>
      <p:sp>
        <p:nvSpPr>
          <p:cNvPr name="AutoShape 28" id="28"/>
          <p:cNvSpPr/>
          <p:nvPr/>
        </p:nvSpPr>
        <p:spPr>
          <a:xfrm rot="0" flipH="false" flipV="false">
            <a:off x="4003735" y="4819437"/>
            <a:ext cx="1983105" cy="306705"/>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1400">
                <a:solidFill>
                  <a:srgbClr val="000000"/>
                </a:solidFill>
                <a:latin typeface="Arial"/>
                <a:ea typeface="Arial"/>
                <a:cs typeface="Arial"/>
                <a:sym typeface="Arial"/>
              </a:rPr>
              <a:t>Tensorcomprehensions</a:t>
            </a:r>
            <a:endParaRPr lang="en-US" sz="1100"/>
          </a:p>
        </p:txBody>
      </p:sp>
      <p:sp>
        <p:nvSpPr>
          <p:cNvPr name="AutoShape 29" id="29"/>
          <p:cNvSpPr/>
          <p:nvPr/>
        </p:nvSpPr>
        <p:spPr>
          <a:xfrm rot="0" flipH="false" flipV="false">
            <a:off x="7370495" y="3930803"/>
            <a:ext cx="1599565" cy="368300"/>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1800">
                <a:solidFill>
                  <a:srgbClr val="4472C4"/>
                </a:solidFill>
                <a:latin typeface="Arial"/>
                <a:ea typeface="Arial"/>
                <a:cs typeface="Arial"/>
                <a:sym typeface="Arial"/>
              </a:rPr>
              <a:t>TorchInductor</a:t>
            </a:r>
            <a:endParaRPr lang="en-US" sz="1100"/>
          </a:p>
        </p:txBody>
      </p:sp>
      <p:sp>
        <p:nvSpPr>
          <p:cNvPr name="AutoShape 30" id="30"/>
          <p:cNvSpPr/>
          <p:nvPr/>
        </p:nvSpPr>
        <p:spPr>
          <a:xfrm rot="0" flipH="false" flipV="false">
            <a:off x="7062682" y="4226599"/>
            <a:ext cx="1555115" cy="368300"/>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1800">
                <a:solidFill>
                  <a:srgbClr val="4472C4"/>
                </a:solidFill>
                <a:latin typeface="Arial"/>
                <a:ea typeface="Arial"/>
                <a:cs typeface="Arial"/>
                <a:sym typeface="Arial"/>
              </a:rPr>
              <a:t>OpenAI Triton</a:t>
            </a:r>
            <a:endParaRPr lang="en-US" sz="1100"/>
          </a:p>
        </p:txBody>
      </p:sp>
      <p:sp>
        <p:nvSpPr>
          <p:cNvPr name="AutoShape 31" id="31"/>
          <p:cNvSpPr/>
          <p:nvPr/>
        </p:nvSpPr>
        <p:spPr>
          <a:xfrm rot="0" flipH="false" flipV="false">
            <a:off x="8161769" y="3552909"/>
            <a:ext cx="1076960" cy="368300"/>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1800">
                <a:solidFill>
                  <a:srgbClr val="000000"/>
                </a:solidFill>
                <a:latin typeface="Arial"/>
                <a:ea typeface="Arial"/>
                <a:cs typeface="Arial"/>
                <a:sym typeface="Arial"/>
              </a:rPr>
              <a:t>OpenXLA</a:t>
            </a:r>
            <a:endParaRPr lang="en-US" sz="1100"/>
          </a:p>
        </p:txBody>
      </p:sp>
      <p:sp>
        <p:nvSpPr>
          <p:cNvPr name="AutoShape 32" id="32"/>
          <p:cNvSpPr/>
          <p:nvPr/>
        </p:nvSpPr>
        <p:spPr>
          <a:xfrm rot="0" flipH="false" flipV="false">
            <a:off x="5188840" y="4422846"/>
            <a:ext cx="549275" cy="368300"/>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1800">
                <a:solidFill>
                  <a:srgbClr val="000000"/>
                </a:solidFill>
                <a:latin typeface="Arial"/>
                <a:ea typeface="Arial"/>
                <a:cs typeface="Arial"/>
                <a:sym typeface="Arial"/>
              </a:rPr>
              <a:t>XLA</a:t>
            </a:r>
            <a:endParaRPr lang="en-US" sz="1100"/>
          </a:p>
        </p:txBody>
      </p:sp>
      <p:sp>
        <p:nvSpPr>
          <p:cNvPr name="AutoShape 33" id="33"/>
          <p:cNvSpPr/>
          <p:nvPr/>
        </p:nvSpPr>
        <p:spPr>
          <a:xfrm rot="0" flipH="false" flipV="false">
            <a:off x="8872894" y="2913362"/>
            <a:ext cx="664845" cy="368300"/>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1800">
                <a:solidFill>
                  <a:srgbClr val="000000"/>
                </a:solidFill>
                <a:latin typeface="Arial"/>
                <a:ea typeface="Arial"/>
                <a:cs typeface="Arial"/>
                <a:sym typeface="Arial"/>
              </a:rPr>
              <a:t>Mojo</a:t>
            </a:r>
            <a:endParaRPr lang="en-US" sz="1100"/>
          </a:p>
        </p:txBody>
      </p:sp>
      <p:sp>
        <p:nvSpPr>
          <p:cNvPr name="Freeform 34" id="34"/>
          <p:cNvSpPr/>
          <p:nvPr/>
        </p:nvSpPr>
        <p:spPr>
          <a:xfrm rot="0" flipH="false" flipV="false">
            <a:off x="7629424" y="2205213"/>
            <a:ext cx="3926142" cy="2562112"/>
          </a:xfrm>
          <a:custGeom>
            <a:avLst/>
            <a:gdLst/>
            <a:ahLst/>
            <a:cxnLst/>
            <a:rect r="r" b="b" t="t" l="l"/>
            <a:pathLst>
              <a:path h="2562112" w="3926142">
                <a:moveTo>
                  <a:pt x="0" y="2513286"/>
                </a:moveTo>
                <a:cubicBezTo>
                  <a:pt x="956686" y="2537699"/>
                  <a:pt x="1913372" y="2562112"/>
                  <a:pt x="2567729" y="2143232"/>
                </a:cubicBezTo>
                <a:cubicBezTo>
                  <a:pt x="3222085" y="1724351"/>
                  <a:pt x="3926142" y="0"/>
                  <a:pt x="3926142" y="0"/>
                </a:cubicBezTo>
                <a:lnTo>
                  <a:pt x="3926142" y="0"/>
                </a:lnTo>
                <a:lnTo>
                  <a:pt x="3926142" y="0"/>
                </a:lnTo>
                <a:lnTo>
                  <a:pt x="3926142" y="0"/>
                </a:lnTo>
              </a:path>
            </a:pathLst>
          </a:custGeom>
          <a:noFill/>
          <a:ln w="50800" cap="flat">
            <a:solidFill>
              <a:srgbClr val="7030A0">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35" id="35"/>
          <p:cNvSpPr/>
          <p:nvPr/>
        </p:nvSpPr>
        <p:spPr>
          <a:xfrm rot="0" flipH="false" flipV="false">
            <a:off x="8161769" y="4804129"/>
            <a:ext cx="1127125" cy="368300"/>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1800">
                <a:solidFill>
                  <a:srgbClr val="000000"/>
                </a:solidFill>
                <a:latin typeface="Arial"/>
                <a:ea typeface="Arial"/>
                <a:cs typeface="Arial"/>
                <a:sym typeface="Arial"/>
              </a:rPr>
              <a:t>FlashAttn</a:t>
            </a:r>
            <a:endParaRPr lang="en-US" sz="1100"/>
          </a:p>
        </p:txBody>
      </p:sp>
      <p:sp>
        <p:nvSpPr>
          <p:cNvPr name="AutoShape 36" id="36"/>
          <p:cNvSpPr/>
          <p:nvPr/>
        </p:nvSpPr>
        <p:spPr>
          <a:xfrm rot="0" flipH="false" flipV="false">
            <a:off x="10560724" y="2071171"/>
            <a:ext cx="582930" cy="368300"/>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1800">
                <a:solidFill>
                  <a:srgbClr val="FF0000"/>
                </a:solidFill>
                <a:latin typeface="Arial"/>
                <a:ea typeface="Arial"/>
                <a:cs typeface="Arial"/>
                <a:sym typeface="Arial"/>
              </a:rPr>
              <a:t>LLM</a:t>
            </a:r>
            <a:endParaRPr lang="en-US" sz="1100"/>
          </a:p>
        </p:txBody>
      </p:sp>
      <p:sp>
        <p:nvSpPr>
          <p:cNvPr name="AutoShape 37" id="37"/>
          <p:cNvSpPr/>
          <p:nvPr/>
        </p:nvSpPr>
        <p:spPr>
          <a:xfrm rot="0" flipH="false" flipV="false">
            <a:off x="9160969" y="4634435"/>
            <a:ext cx="1908175" cy="306705"/>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1400">
                <a:solidFill>
                  <a:srgbClr val="000000"/>
                </a:solidFill>
                <a:latin typeface="Arial"/>
                <a:ea typeface="Arial"/>
                <a:cs typeface="Arial"/>
                <a:sym typeface="Arial"/>
              </a:rPr>
              <a:t>Segment anything fast</a:t>
            </a:r>
            <a:endParaRPr lang="en-US" sz="1100"/>
          </a:p>
        </p:txBody>
      </p:sp>
      <p:sp>
        <p:nvSpPr>
          <p:cNvPr name="AutoShape 38" id="38"/>
          <p:cNvSpPr/>
          <p:nvPr/>
        </p:nvSpPr>
        <p:spPr>
          <a:xfrm rot="0" flipH="false" flipV="false">
            <a:off x="10296760" y="4137627"/>
            <a:ext cx="934720" cy="368300"/>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1800">
                <a:solidFill>
                  <a:srgbClr val="000000"/>
                </a:solidFill>
                <a:latin typeface="Arial"/>
                <a:ea typeface="Arial"/>
                <a:cs typeface="Arial"/>
                <a:sym typeface="Arial"/>
              </a:rPr>
              <a:t>unsloth</a:t>
            </a:r>
            <a:endParaRPr lang="en-US" sz="1100"/>
          </a:p>
        </p:txBody>
      </p:sp>
      <p:sp>
        <p:nvSpPr>
          <p:cNvPr name="AutoShape 39" id="39"/>
          <p:cNvSpPr/>
          <p:nvPr/>
        </p:nvSpPr>
        <p:spPr>
          <a:xfrm rot="0" flipH="false" flipV="false">
            <a:off x="9897939" y="4380765"/>
            <a:ext cx="884555" cy="368300"/>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1800">
                <a:solidFill>
                  <a:srgbClr val="000000"/>
                </a:solidFill>
                <a:latin typeface="Arial"/>
                <a:ea typeface="Arial"/>
                <a:cs typeface="Arial"/>
                <a:sym typeface="Arial"/>
              </a:rPr>
              <a:t>gptfast</a:t>
            </a:r>
            <a:endParaRPr lang="en-US" sz="1100"/>
          </a:p>
        </p:txBody>
      </p:sp>
    </p:spTree>
  </p:cSld>
  <p:clrMapOvr>
    <a:masterClrMapping/>
  </p:clrMapOvr>
  <p:transition main:dur="1000">
    <p:fade thruBlk="false"/>
  </p:transition>
</p:sld>
</file>

<file path=ppt/slides/slide9.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10"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为何选择</a:t>
            </a:r>
            <a:r>
              <a:rPr lang="en-US" b="false" i="false" strike="noStrike" u="none" sz="3600">
                <a:solidFill>
                  <a:srgbClr val="262626"/>
                </a:solidFill>
                <a:latin typeface="Calibri"/>
                <a:ea typeface="Calibri"/>
                <a:cs typeface="Calibri"/>
                <a:sym typeface="Calibri"/>
              </a:rPr>
              <a:t> Triton</a:t>
            </a:r>
            <a:r>
              <a:rPr lang="en-US" b="false" i="false" strike="noStrike" u="none" sz="3600">
                <a:solidFill>
                  <a:srgbClr val="262626"/>
                </a:solidFill>
                <a:latin typeface="微软雅黑"/>
                <a:ea typeface="微软雅黑"/>
                <a:cs typeface="微软雅黑"/>
                <a:sym typeface="微软雅黑"/>
              </a:rPr>
              <a:t>？</a:t>
            </a:r>
            <a:r>
              <a:rPr lang="en-US" b="false" i="false" strike="noStrike" u="none" sz="3200">
                <a:solidFill>
                  <a:srgbClr val="262626"/>
                </a:solidFill>
                <a:latin typeface="微软雅黑"/>
                <a:ea typeface="微软雅黑"/>
                <a:cs typeface="微软雅黑"/>
                <a:sym typeface="微软雅黑"/>
              </a:rPr>
              <a:t>在生产率与性能之间寻求平衡</a:t>
            </a:r>
          </a:p>
        </p:txBody>
      </p:sp>
      <p:sp>
        <p:nvSpPr>
          <p:cNvPr name="AutoShape 3" id="3"/>
          <p:cNvSpPr/>
          <p:nvPr>
            <p:ph idx="11"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9</a:t>
            </a:r>
          </a:p>
        </p:txBody>
      </p:sp>
      <p:sp>
        <p:nvSpPr>
          <p:cNvPr name="AutoShape 4" id="4"/>
          <p:cNvSpPr/>
          <p:nvPr>
            <p:ph idx="12"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生产率与性能的两难困境</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PyTorch </a:t>
            </a:r>
            <a:r>
              <a:rPr lang="en-US" b="false" i="false" strike="noStrike" u="none" sz="2000">
                <a:solidFill>
                  <a:srgbClr val="404040"/>
                </a:solidFill>
                <a:latin typeface="微软雅黑"/>
                <a:ea typeface="微软雅黑"/>
                <a:cs typeface="微软雅黑"/>
                <a:sym typeface="微软雅黑"/>
              </a:rPr>
              <a:t>等框架</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生产率高，但</a:t>
            </a:r>
            <a:r>
              <a:rPr lang="en-US" b="false" i="false" strike="noStrike" u="none" sz="1600">
                <a:solidFill>
                  <a:srgbClr val="404040"/>
                </a:solidFill>
                <a:latin typeface="Calibri"/>
                <a:ea typeface="Calibri"/>
                <a:cs typeface="Calibri"/>
                <a:sym typeface="Calibri"/>
              </a:rPr>
              <a:t>“</a:t>
            </a:r>
            <a:r>
              <a:rPr lang="en-US" b="false" i="false" strike="noStrike" u="none" sz="1600">
                <a:solidFill>
                  <a:srgbClr val="404040"/>
                </a:solidFill>
                <a:latin typeface="微软雅黑"/>
                <a:ea typeface="微软雅黑"/>
                <a:cs typeface="微软雅黑"/>
                <a:sym typeface="微软雅黑"/>
              </a:rPr>
              <a:t>融合</a:t>
            </a:r>
            <a:r>
              <a:rPr lang="en-US" b="false" i="false" strike="noStrike" u="none" sz="1600">
                <a:solidFill>
                  <a:srgbClr val="404040"/>
                </a:solidFill>
                <a:latin typeface="Calibri"/>
                <a:ea typeface="Calibri"/>
                <a:cs typeface="Calibri"/>
                <a:sym typeface="Calibri"/>
              </a:rPr>
              <a:t>”</a:t>
            </a:r>
            <a:r>
              <a:rPr lang="en-US" b="false" i="false" strike="noStrike" u="none" sz="1600">
                <a:solidFill>
                  <a:srgbClr val="404040"/>
                </a:solidFill>
                <a:latin typeface="微软雅黑"/>
                <a:ea typeface="微软雅黑"/>
                <a:cs typeface="微软雅黑"/>
                <a:sym typeface="微软雅黑"/>
              </a:rPr>
              <a:t>自定义算子通常需要借助</a:t>
            </a:r>
            <a:r>
              <a:rPr lang="en-US" b="false" i="false" strike="noStrike" u="none" sz="1600">
                <a:solidFill>
                  <a:srgbClr val="404040"/>
                </a:solidFill>
                <a:latin typeface="Calibri"/>
                <a:ea typeface="Calibri"/>
                <a:cs typeface="Calibri"/>
                <a:sym typeface="Calibri"/>
              </a:rPr>
              <a:t> CUDA C++ </a:t>
            </a:r>
            <a:r>
              <a:rPr lang="en-US" b="false" i="false" strike="noStrike" u="none" sz="1600">
                <a:solidFill>
                  <a:srgbClr val="404040"/>
                </a:solidFill>
                <a:latin typeface="微软雅黑"/>
                <a:ea typeface="微软雅黑"/>
                <a:cs typeface="微软雅黑"/>
                <a:sym typeface="微软雅黑"/>
              </a:rPr>
              <a:t>才能避免额外开销</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CUDA C++</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可充分利用硬件资源，但编写、调试与维护难度极大</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差距所在</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大多数研究人员无法花费数周时间来优化单个</a:t>
            </a:r>
            <a:r>
              <a:rPr lang="en-US" b="false" i="false" strike="noStrike" u="none" sz="1600">
                <a:solidFill>
                  <a:srgbClr val="404040"/>
                </a:solidFill>
                <a:latin typeface="Calibri"/>
                <a:ea typeface="Calibri"/>
                <a:cs typeface="Calibri"/>
                <a:sym typeface="Calibri"/>
              </a:rPr>
              <a:t> CUDA </a:t>
            </a:r>
            <a:r>
              <a:rPr lang="en-US" b="false" i="false" strike="noStrike" u="none" sz="1600">
                <a:solidFill>
                  <a:srgbClr val="404040"/>
                </a:solidFill>
                <a:latin typeface="微软雅黑"/>
                <a:ea typeface="微软雅黑"/>
                <a:cs typeface="微软雅黑"/>
                <a:sym typeface="微软雅黑"/>
              </a:rPr>
              <a:t>核函数</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sp>
        <p:nvSpPr>
          <p:cNvPr name="AutoShape 5" id="5"/>
          <p:cNvSpPr/>
          <p:nvPr>
            <p:ph idx="13"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6" id="6"/>
          <p:cNvSpPr/>
          <p:nvPr>
            <p:ph idx="14"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Triton</a:t>
            </a:r>
            <a:r>
              <a:rPr lang="en-US" b="false" i="false" strike="noStrike" u="none" sz="2400">
                <a:solidFill>
                  <a:srgbClr val="404040"/>
                </a:solidFill>
                <a:latin typeface="微软雅黑"/>
                <a:ea typeface="微软雅黑"/>
                <a:cs typeface="微软雅黑"/>
                <a:sym typeface="微软雅黑"/>
              </a:rPr>
              <a:t>的</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秘密武器</a:t>
            </a:r>
            <a:r>
              <a:rPr lang="en-US" b="false" i="false" strike="noStrike" u="none" sz="2400">
                <a:solidFill>
                  <a:srgbClr val="404040"/>
                </a:solidFill>
                <a:latin typeface="Calibri"/>
                <a:ea typeface="Calibri"/>
                <a:cs typeface="Calibri"/>
                <a:sym typeface="Calibri"/>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块级抽象</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无需管理单个线程，只需管理数据块。</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自动并行化</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编译器自动处理内存合并访问、共享内存分配和硬件调度。</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OpenAI </a:t>
            </a:r>
            <a:r>
              <a:rPr lang="en-US" b="false" i="false" strike="noStrike" u="none" sz="2000">
                <a:solidFill>
                  <a:srgbClr val="404040"/>
                </a:solidFill>
                <a:latin typeface="微软雅黑"/>
                <a:ea typeface="微软雅黑"/>
                <a:cs typeface="微软雅黑"/>
                <a:sym typeface="微软雅黑"/>
              </a:rPr>
              <a:t>背书</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专为使下一代</a:t>
            </a:r>
            <a:r>
              <a:rPr lang="en-US" b="false" i="false" strike="noStrike" u="none" sz="1600">
                <a:solidFill>
                  <a:srgbClr val="404040"/>
                </a:solidFill>
                <a:latin typeface="Calibri"/>
                <a:ea typeface="Calibri"/>
                <a:cs typeface="Calibri"/>
                <a:sym typeface="Calibri"/>
              </a:rPr>
              <a:t> AI </a:t>
            </a:r>
            <a:r>
              <a:rPr lang="en-US" b="false" i="false" strike="noStrike" u="none" sz="1600">
                <a:solidFill>
                  <a:srgbClr val="404040"/>
                </a:solidFill>
                <a:latin typeface="微软雅黑"/>
                <a:ea typeface="微软雅黑"/>
                <a:cs typeface="微软雅黑"/>
                <a:sym typeface="微软雅黑"/>
              </a:rPr>
              <a:t>模型的</a:t>
            </a:r>
            <a:r>
              <a:rPr lang="en-US" b="false" i="false" strike="noStrike" u="none" sz="1600">
                <a:solidFill>
                  <a:srgbClr val="404040"/>
                </a:solidFill>
                <a:latin typeface="Calibri"/>
                <a:ea typeface="Calibri"/>
                <a:cs typeface="Calibri"/>
                <a:sym typeface="Calibri"/>
              </a:rPr>
              <a:t> GPU </a:t>
            </a:r>
            <a:r>
              <a:rPr lang="en-US" b="false" i="false" strike="noStrike" u="none" sz="1600">
                <a:solidFill>
                  <a:srgbClr val="404040"/>
                </a:solidFill>
                <a:latin typeface="微软雅黑"/>
                <a:ea typeface="微软雅黑"/>
                <a:cs typeface="微软雅黑"/>
                <a:sym typeface="微软雅黑"/>
              </a:rPr>
              <a:t>编程更加易用而开发。</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spTree>
  </p:cSld>
  <p:clrMapOvr>
    <a:masterClrMapping/>
  </p:clrMapOvr>
  <p:transition main:dur="1000">
    <p:fade thruBlk="false"/>
  </p:transition>
</p:sld>
</file>

<file path=ppt/slides/slide10.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Triton </a:t>
            </a:r>
            <a:r>
              <a:rPr lang="en-US" b="false" i="false" strike="noStrike" u="none" sz="3600">
                <a:solidFill>
                  <a:srgbClr val="262626"/>
                </a:solidFill>
                <a:latin typeface="微软雅黑"/>
                <a:ea typeface="微软雅黑"/>
                <a:cs typeface="微软雅黑"/>
                <a:sym typeface="微软雅黑"/>
              </a:rPr>
              <a:t>执行模型</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10</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300" b="false" i="false" u="none" strike="noStrike" spc="0">
                <a:solidFill>
                  <a:srgbClr val="404040">
                    <a:alpha val="100000"/>
                  </a:srgbClr>
                </a:solidFill>
                <a:latin typeface="微软雅黑"/>
              </a:defRPr>
            </a:lvl1pPr>
          </a:lstStyle>
          <a:p>
            <a:pPr algn="l" indent="-292100" marL="292100">
              <a:lnSpc>
                <a:spcPct val="100000"/>
              </a:lnSpc>
              <a:spcBef>
                <a:spcPts val="1500"/>
              </a:spcBef>
              <a:buClr>
                <a:srgbClr val="404040"/>
              </a:buClr>
              <a:buChar char="•"/>
            </a:pPr>
            <a:r>
              <a:rPr lang="en-US" b="false" i="false" strike="noStrike" u="none" sz="2300">
                <a:solidFill>
                  <a:srgbClr val="404040"/>
                </a:solidFill>
                <a:latin typeface="微软雅黑"/>
                <a:ea typeface="微软雅黑"/>
                <a:cs typeface="微软雅黑"/>
                <a:sym typeface="微软雅黑"/>
              </a:rPr>
              <a:t>从线程到块</a:t>
            </a:r>
          </a:p>
          <a:p>
            <a:pPr algn="l" indent="-241300" lvl="1" marL="584200">
              <a:lnSpc>
                <a:spcPct val="100000"/>
              </a:lnSpc>
              <a:spcBef>
                <a:spcPts val="750"/>
              </a:spcBef>
              <a:buClr>
                <a:srgbClr val="404040"/>
              </a:buClr>
              <a:buChar char="•"/>
            </a:pPr>
            <a:r>
              <a:rPr lang="en-US" b="false" i="false" strike="noStrike" u="none" sz="1900">
                <a:solidFill>
                  <a:srgbClr val="404040"/>
                </a:solidFill>
                <a:latin typeface="Calibri"/>
                <a:ea typeface="Calibri"/>
                <a:cs typeface="Calibri"/>
                <a:sym typeface="Calibri"/>
              </a:rPr>
              <a:t>CUDA </a:t>
            </a:r>
            <a:r>
              <a:rPr lang="en-US" b="false" i="false" strike="noStrike" u="none" sz="1900">
                <a:solidFill>
                  <a:srgbClr val="404040"/>
                </a:solidFill>
                <a:latin typeface="微软雅黑"/>
                <a:ea typeface="微软雅黑"/>
                <a:cs typeface="微软雅黑"/>
                <a:sym typeface="微软雅黑"/>
              </a:rPr>
              <a:t>模型：以线程（</a:t>
            </a:r>
            <a:r>
              <a:rPr lang="en-US" b="false" i="false" strike="noStrike" u="none" sz="1900">
                <a:solidFill>
                  <a:srgbClr val="404040"/>
                </a:solidFill>
                <a:latin typeface="Calibri"/>
                <a:ea typeface="Calibri"/>
                <a:cs typeface="Calibri"/>
                <a:sym typeface="Calibri"/>
              </a:rPr>
              <a:t>Thread</a:t>
            </a:r>
            <a:r>
              <a:rPr lang="en-US" b="false" i="false" strike="noStrike" u="none" sz="1900">
                <a:solidFill>
                  <a:srgbClr val="404040"/>
                </a:solidFill>
                <a:latin typeface="微软雅黑"/>
                <a:ea typeface="微软雅黑"/>
                <a:cs typeface="微软雅黑"/>
                <a:sym typeface="微软雅黑"/>
              </a:rPr>
              <a:t>）和线程束（</a:t>
            </a:r>
            <a:r>
              <a:rPr lang="en-US" b="false" i="false" strike="noStrike" u="none" sz="1900">
                <a:solidFill>
                  <a:srgbClr val="404040"/>
                </a:solidFill>
                <a:latin typeface="Calibri"/>
                <a:ea typeface="Calibri"/>
                <a:cs typeface="Calibri"/>
                <a:sym typeface="Calibri"/>
              </a:rPr>
              <a:t>Warp</a:t>
            </a:r>
            <a:r>
              <a:rPr lang="en-US" b="false" i="false" strike="noStrike" u="none" sz="1900">
                <a:solidFill>
                  <a:srgbClr val="404040"/>
                </a:solidFill>
                <a:latin typeface="微软雅黑"/>
                <a:ea typeface="微软雅黑"/>
                <a:cs typeface="微软雅黑"/>
                <a:sym typeface="微软雅黑"/>
              </a:rPr>
              <a:t>）为中心，开发者必须手动管理同步与共享内存。</a:t>
            </a:r>
          </a:p>
          <a:p>
            <a:pPr algn="l" indent="-241300" lvl="1" marL="584200">
              <a:lnSpc>
                <a:spcPct val="100000"/>
              </a:lnSpc>
              <a:spcBef>
                <a:spcPts val="750"/>
              </a:spcBef>
              <a:buClr>
                <a:srgbClr val="404040"/>
              </a:buClr>
              <a:buChar char="•"/>
            </a:pPr>
            <a:r>
              <a:rPr lang="en-US" b="false" i="false" strike="noStrike" u="none" sz="1900">
                <a:solidFill>
                  <a:srgbClr val="404040"/>
                </a:solidFill>
                <a:latin typeface="Calibri"/>
                <a:ea typeface="Calibri"/>
                <a:cs typeface="Calibri"/>
                <a:sym typeface="Calibri"/>
              </a:rPr>
              <a:t>Triton </a:t>
            </a:r>
            <a:r>
              <a:rPr lang="en-US" b="false" i="false" strike="noStrike" u="none" sz="1900">
                <a:solidFill>
                  <a:srgbClr val="404040"/>
                </a:solidFill>
                <a:latin typeface="微软雅黑"/>
                <a:ea typeface="微软雅黑"/>
                <a:cs typeface="微软雅黑"/>
                <a:sym typeface="微软雅黑"/>
              </a:rPr>
              <a:t>模型：以程序（</a:t>
            </a:r>
            <a:r>
              <a:rPr lang="en-US" b="false" i="false" strike="noStrike" u="none" sz="1900">
                <a:solidFill>
                  <a:srgbClr val="404040"/>
                </a:solidFill>
                <a:latin typeface="Calibri"/>
                <a:ea typeface="Calibri"/>
                <a:cs typeface="Calibri"/>
                <a:sym typeface="Calibri"/>
              </a:rPr>
              <a:t>Program</a:t>
            </a:r>
            <a:r>
              <a:rPr lang="en-US" b="false" i="false" strike="noStrike" u="none" sz="1900">
                <a:solidFill>
                  <a:srgbClr val="404040"/>
                </a:solidFill>
                <a:latin typeface="微软雅黑"/>
                <a:ea typeface="微软雅黑"/>
                <a:cs typeface="微软雅黑"/>
                <a:sym typeface="微软雅黑"/>
              </a:rPr>
              <a:t>）和块（</a:t>
            </a:r>
            <a:r>
              <a:rPr lang="en-US" b="false" i="false" strike="noStrike" u="none" sz="1900">
                <a:solidFill>
                  <a:srgbClr val="404040"/>
                </a:solidFill>
                <a:latin typeface="Calibri"/>
                <a:ea typeface="Calibri"/>
                <a:cs typeface="Calibri"/>
                <a:sym typeface="Calibri"/>
              </a:rPr>
              <a:t>Block</a:t>
            </a:r>
            <a:r>
              <a:rPr lang="en-US" b="false" i="false" strike="noStrike" u="none" sz="1900">
                <a:solidFill>
                  <a:srgbClr val="404040"/>
                </a:solidFill>
                <a:latin typeface="微软雅黑"/>
                <a:ea typeface="微软雅黑"/>
                <a:cs typeface="微软雅黑"/>
                <a:sym typeface="微软雅黑"/>
              </a:rPr>
              <a:t>）为中心，代码以</a:t>
            </a:r>
            <a:r>
              <a:rPr lang="en-US" b="false" i="false" strike="noStrike" u="none" sz="1900">
                <a:solidFill>
                  <a:srgbClr val="404040"/>
                </a:solidFill>
                <a:latin typeface="Calibri"/>
                <a:ea typeface="Calibri"/>
                <a:cs typeface="Calibri"/>
                <a:sym typeface="Calibri"/>
              </a:rPr>
              <a:t>“</a:t>
            </a:r>
            <a:r>
              <a:rPr lang="en-US" b="false" i="false" strike="noStrike" u="none" sz="1900">
                <a:solidFill>
                  <a:srgbClr val="404040"/>
                </a:solidFill>
                <a:latin typeface="微软雅黑"/>
                <a:ea typeface="微软雅黑"/>
                <a:cs typeface="微软雅黑"/>
                <a:sym typeface="微软雅黑"/>
              </a:rPr>
              <a:t>分块</a:t>
            </a:r>
            <a:r>
              <a:rPr lang="en-US" b="false" i="false" strike="noStrike" u="none" sz="1900">
                <a:solidFill>
                  <a:srgbClr val="404040"/>
                </a:solidFill>
                <a:latin typeface="Calibri"/>
                <a:ea typeface="Calibri"/>
                <a:cs typeface="Calibri"/>
                <a:sym typeface="Calibri"/>
              </a:rPr>
              <a:t>”</a:t>
            </a:r>
            <a:r>
              <a:rPr lang="en-US" b="false" i="false" strike="noStrike" u="none" sz="1900">
                <a:solidFill>
                  <a:srgbClr val="404040"/>
                </a:solidFill>
                <a:latin typeface="微软雅黑"/>
                <a:ea typeface="微软雅黑"/>
                <a:cs typeface="微软雅黑"/>
                <a:sym typeface="微软雅黑"/>
              </a:rPr>
              <a:t>（</a:t>
            </a:r>
            <a:r>
              <a:rPr lang="en-US" b="false" i="false" strike="noStrike" u="none" sz="1900">
                <a:solidFill>
                  <a:srgbClr val="404040"/>
                </a:solidFill>
                <a:latin typeface="Calibri"/>
                <a:ea typeface="Calibri"/>
                <a:cs typeface="Calibri"/>
                <a:sym typeface="Calibri"/>
              </a:rPr>
              <a:t>Block</a:t>
            </a:r>
            <a:r>
              <a:rPr lang="en-US" b="false" i="false" strike="noStrike" u="none" sz="1900">
                <a:solidFill>
                  <a:srgbClr val="404040"/>
                </a:solidFill>
                <a:latin typeface="微软雅黑"/>
                <a:ea typeface="微软雅黑"/>
                <a:cs typeface="微软雅黑"/>
                <a:sym typeface="微软雅黑"/>
              </a:rPr>
              <a:t>）为基本单元对数据进行操作。</a:t>
            </a:r>
          </a:p>
          <a:p>
            <a:pPr algn="l" indent="-292100" marL="292100">
              <a:lnSpc>
                <a:spcPct val="100000"/>
              </a:lnSpc>
              <a:spcBef>
                <a:spcPts val="1500"/>
              </a:spcBef>
              <a:buClr>
                <a:srgbClr val="404040"/>
              </a:buClr>
              <a:buChar char="•"/>
            </a:pPr>
            <a:r>
              <a:rPr lang="en-US" b="false" i="false" strike="noStrike" u="none" sz="2300">
                <a:solidFill>
                  <a:srgbClr val="404040"/>
                </a:solidFill>
                <a:latin typeface="微软雅黑"/>
                <a:ea typeface="微软雅黑"/>
                <a:cs typeface="微软雅黑"/>
                <a:sym typeface="微软雅黑"/>
              </a:rPr>
              <a:t>核心组件</a:t>
            </a:r>
          </a:p>
          <a:p>
            <a:pPr algn="l" indent="-241300" lvl="1" marL="584200">
              <a:lnSpc>
                <a:spcPct val="100000"/>
              </a:lnSpc>
              <a:spcBef>
                <a:spcPts val="750"/>
              </a:spcBef>
              <a:buClr>
                <a:srgbClr val="404040"/>
              </a:buClr>
              <a:buChar char="•"/>
            </a:pPr>
            <a:r>
              <a:rPr lang="en-US" b="false" i="false" strike="noStrike" u="none" sz="1900">
                <a:solidFill>
                  <a:srgbClr val="404040"/>
                </a:solidFill>
                <a:latin typeface="微软雅黑"/>
                <a:ea typeface="微软雅黑"/>
                <a:cs typeface="微软雅黑"/>
                <a:sym typeface="微软雅黑"/>
              </a:rPr>
              <a:t>网格（坐标空间）：网格是一个一维、二维或三维的执行实例空间。启动核函数时需定义网格大小（如</a:t>
            </a:r>
            <a:r>
              <a:rPr lang="en-US" b="false" i="false" strike="noStrike" u="none" sz="1900">
                <a:solidFill>
                  <a:srgbClr val="404040"/>
                </a:solidFill>
                <a:latin typeface="Calibri"/>
                <a:ea typeface="Calibri"/>
                <a:cs typeface="Calibri"/>
                <a:sym typeface="Calibri"/>
              </a:rPr>
              <a:t> grid=(1024,)</a:t>
            </a:r>
            <a:r>
              <a:rPr lang="en-US" b="false" i="false" strike="noStrike" u="none" sz="1900">
                <a:solidFill>
                  <a:srgbClr val="404040"/>
                </a:solidFill>
                <a:latin typeface="微软雅黑"/>
                <a:ea typeface="微软雅黑"/>
                <a:cs typeface="微软雅黑"/>
                <a:sym typeface="微软雅黑"/>
              </a:rPr>
              <a:t>）。网格中的每个点称为一个程序（</a:t>
            </a:r>
            <a:r>
              <a:rPr lang="en-US" b="false" i="false" strike="noStrike" u="none" sz="1900">
                <a:solidFill>
                  <a:srgbClr val="404040"/>
                </a:solidFill>
                <a:latin typeface="Calibri"/>
                <a:ea typeface="Calibri"/>
                <a:cs typeface="Calibri"/>
                <a:sym typeface="Calibri"/>
              </a:rPr>
              <a:t>Program</a:t>
            </a:r>
            <a:r>
              <a:rPr lang="en-US" b="false" i="false" strike="noStrike" u="none" sz="1900">
                <a:solidFill>
                  <a:srgbClr val="404040"/>
                </a:solidFill>
                <a:latin typeface="微软雅黑"/>
                <a:ea typeface="微软雅黑"/>
                <a:cs typeface="微软雅黑"/>
                <a:sym typeface="微软雅黑"/>
              </a:rPr>
              <a:t>）。</a:t>
            </a:r>
          </a:p>
          <a:p>
            <a:pPr algn="l" indent="-241300" lvl="1" marL="584200">
              <a:lnSpc>
                <a:spcPct val="100000"/>
              </a:lnSpc>
              <a:spcBef>
                <a:spcPts val="750"/>
              </a:spcBef>
              <a:buClr>
                <a:srgbClr val="404040"/>
              </a:buClr>
              <a:buChar char="•"/>
            </a:pPr>
            <a:r>
              <a:rPr lang="en-US" b="false" i="false" strike="noStrike" u="none" sz="1900">
                <a:solidFill>
                  <a:srgbClr val="404040"/>
                </a:solidFill>
                <a:latin typeface="微软雅黑"/>
                <a:ea typeface="微软雅黑"/>
                <a:cs typeface="微软雅黑"/>
                <a:sym typeface="微软雅黑"/>
              </a:rPr>
              <a:t>程序（实例）：程序是核函数的一个独立执行实例，在</a:t>
            </a:r>
            <a:r>
              <a:rPr lang="en-US" b="false" i="false" strike="noStrike" u="none" sz="1900">
                <a:solidFill>
                  <a:srgbClr val="404040"/>
                </a:solidFill>
                <a:latin typeface="Calibri"/>
                <a:ea typeface="Calibri"/>
                <a:cs typeface="Calibri"/>
                <a:sym typeface="Calibri"/>
              </a:rPr>
              <a:t> GPU </a:t>
            </a:r>
            <a:r>
              <a:rPr lang="en-US" b="false" i="false" strike="noStrike" u="none" sz="1900">
                <a:solidFill>
                  <a:srgbClr val="404040"/>
                </a:solidFill>
                <a:latin typeface="微软雅黑"/>
                <a:ea typeface="微软雅黑"/>
                <a:cs typeface="微软雅黑"/>
                <a:sym typeface="微软雅黑"/>
              </a:rPr>
              <a:t>的各计算单元上并行运行。每个程序通过</a:t>
            </a:r>
            <a:r>
              <a:rPr lang="en-US" b="false" i="false" strike="noStrike" u="none" sz="1900">
                <a:solidFill>
                  <a:srgbClr val="404040"/>
                </a:solidFill>
                <a:latin typeface="Calibri"/>
                <a:ea typeface="Calibri"/>
                <a:cs typeface="Calibri"/>
                <a:sym typeface="Calibri"/>
              </a:rPr>
              <a:t> tl.program_id(axis) </a:t>
            </a:r>
            <a:r>
              <a:rPr lang="en-US" b="false" i="false" strike="noStrike" u="none" sz="1900">
                <a:solidFill>
                  <a:srgbClr val="404040"/>
                </a:solidFill>
                <a:latin typeface="微软雅黑"/>
                <a:ea typeface="微软雅黑"/>
                <a:cs typeface="微软雅黑"/>
                <a:sym typeface="微软雅黑"/>
              </a:rPr>
              <a:t>标识自身。</a:t>
            </a:r>
          </a:p>
          <a:p>
            <a:pPr algn="l" indent="-241300" lvl="1" marL="584200">
              <a:lnSpc>
                <a:spcPct val="100000"/>
              </a:lnSpc>
              <a:spcBef>
                <a:spcPts val="750"/>
              </a:spcBef>
              <a:buClr>
                <a:srgbClr val="404040"/>
              </a:buClr>
              <a:buChar char="•"/>
            </a:pPr>
            <a:r>
              <a:rPr lang="en-US" b="false" i="false" strike="noStrike" u="none" sz="1900">
                <a:solidFill>
                  <a:srgbClr val="404040"/>
                </a:solidFill>
                <a:latin typeface="微软雅黑"/>
                <a:ea typeface="微软雅黑"/>
                <a:cs typeface="微软雅黑"/>
                <a:sym typeface="微软雅黑"/>
              </a:rPr>
              <a:t>块（数据单元）：块是由一个程序处理的连续数据片段（即</a:t>
            </a:r>
            <a:r>
              <a:rPr lang="en-US" b="false" i="false" strike="noStrike" u="none" sz="1900">
                <a:solidFill>
                  <a:srgbClr val="404040"/>
                </a:solidFill>
                <a:latin typeface="Calibri"/>
                <a:ea typeface="Calibri"/>
                <a:cs typeface="Calibri"/>
                <a:sym typeface="Calibri"/>
              </a:rPr>
              <a:t>“</a:t>
            </a:r>
            <a:r>
              <a:rPr lang="en-US" b="false" i="false" strike="noStrike" u="none" sz="1900">
                <a:solidFill>
                  <a:srgbClr val="404040"/>
                </a:solidFill>
                <a:latin typeface="微软雅黑"/>
                <a:ea typeface="微软雅黑"/>
                <a:cs typeface="微软雅黑"/>
                <a:sym typeface="微软雅黑"/>
              </a:rPr>
              <a:t>分块</a:t>
            </a:r>
            <a:r>
              <a:rPr lang="en-US" b="false" i="false" strike="noStrike" u="none" sz="1900">
                <a:solidFill>
                  <a:srgbClr val="404040"/>
                </a:solidFill>
                <a:latin typeface="Calibri"/>
                <a:ea typeface="Calibri"/>
                <a:cs typeface="Calibri"/>
                <a:sym typeface="Calibri"/>
              </a:rPr>
              <a:t>”</a:t>
            </a:r>
            <a:r>
              <a:rPr lang="en-US" b="false" i="false" strike="noStrike" u="none" sz="1900">
                <a:solidFill>
                  <a:srgbClr val="404040"/>
                </a:solidFill>
                <a:latin typeface="微软雅黑"/>
                <a:ea typeface="微软雅黑"/>
                <a:cs typeface="微软雅黑"/>
                <a:sym typeface="微软雅黑"/>
              </a:rPr>
              <a:t>）。约束：块大小必须为</a:t>
            </a:r>
            <a:r>
              <a:rPr lang="en-US" b="false" i="false" strike="noStrike" u="none" sz="1900">
                <a:solidFill>
                  <a:srgbClr val="404040"/>
                </a:solidFill>
                <a:latin typeface="Calibri"/>
                <a:ea typeface="Calibri"/>
                <a:cs typeface="Calibri"/>
                <a:sym typeface="Calibri"/>
              </a:rPr>
              <a:t> 2 </a:t>
            </a:r>
            <a:r>
              <a:rPr lang="en-US" b="false" i="false" strike="noStrike" u="none" sz="1900">
                <a:solidFill>
                  <a:srgbClr val="404040"/>
                </a:solidFill>
                <a:latin typeface="微软雅黑"/>
                <a:ea typeface="微软雅黑"/>
                <a:cs typeface="微软雅黑"/>
                <a:sym typeface="微软雅黑"/>
              </a:rPr>
              <a:t>的幂次（如</a:t>
            </a:r>
            <a:r>
              <a:rPr lang="en-US" b="false" i="false" strike="noStrike" u="none" sz="1900">
                <a:solidFill>
                  <a:srgbClr val="404040"/>
                </a:solidFill>
                <a:latin typeface="Calibri"/>
                <a:ea typeface="Calibri"/>
                <a:cs typeface="Calibri"/>
                <a:sym typeface="Calibri"/>
              </a:rPr>
              <a:t> 128</a:t>
            </a:r>
            <a:r>
              <a:rPr lang="en-US" b="false" i="false" strike="noStrike" u="none" sz="1900">
                <a:solidFill>
                  <a:srgbClr val="404040"/>
                </a:solidFill>
                <a:latin typeface="微软雅黑"/>
                <a:ea typeface="微软雅黑"/>
                <a:cs typeface="微软雅黑"/>
                <a:sym typeface="微软雅黑"/>
              </a:rPr>
              <a:t>、</a:t>
            </a:r>
            <a:r>
              <a:rPr lang="en-US" b="false" i="false" strike="noStrike" u="none" sz="1900">
                <a:solidFill>
                  <a:srgbClr val="404040"/>
                </a:solidFill>
                <a:latin typeface="Calibri"/>
                <a:ea typeface="Calibri"/>
                <a:cs typeface="Calibri"/>
                <a:sym typeface="Calibri"/>
              </a:rPr>
              <a:t>256</a:t>
            </a:r>
            <a:r>
              <a:rPr lang="en-US" b="false" i="false" strike="noStrike" u="none" sz="1900">
                <a:solidFill>
                  <a:srgbClr val="404040"/>
                </a:solidFill>
                <a:latin typeface="微软雅黑"/>
                <a:ea typeface="微软雅黑"/>
                <a:cs typeface="微软雅黑"/>
                <a:sym typeface="微软雅黑"/>
              </a:rPr>
              <a:t>、</a:t>
            </a:r>
            <a:r>
              <a:rPr lang="en-US" b="false" i="false" strike="noStrike" u="none" sz="1900">
                <a:solidFill>
                  <a:srgbClr val="404040"/>
                </a:solidFill>
                <a:latin typeface="Calibri"/>
                <a:ea typeface="Calibri"/>
                <a:cs typeface="Calibri"/>
                <a:sym typeface="Calibri"/>
              </a:rPr>
              <a:t>512</a:t>
            </a:r>
            <a:r>
              <a:rPr lang="en-US" b="false" i="false" strike="noStrike" u="none" sz="1900">
                <a:solidFill>
                  <a:srgbClr val="404040"/>
                </a:solidFill>
                <a:latin typeface="微软雅黑"/>
                <a:ea typeface="微软雅黑"/>
                <a:cs typeface="微软雅黑"/>
                <a:sym typeface="微软雅黑"/>
              </a:rPr>
              <a:t>、</a:t>
            </a:r>
            <a:r>
              <a:rPr lang="en-US" b="false" i="false" strike="noStrike" u="none" sz="1900">
                <a:solidFill>
                  <a:srgbClr val="404040"/>
                </a:solidFill>
                <a:latin typeface="Calibri"/>
                <a:ea typeface="Calibri"/>
                <a:cs typeface="Calibri"/>
                <a:sym typeface="Calibri"/>
              </a:rPr>
              <a:t>1024</a:t>
            </a:r>
            <a:r>
              <a:rPr lang="en-US" b="false" i="false" strike="noStrike" u="none" sz="1900">
                <a:solidFill>
                  <a:srgbClr val="404040"/>
                </a:solidFill>
                <a:latin typeface="微软雅黑"/>
                <a:ea typeface="微软雅黑"/>
                <a:cs typeface="微软雅黑"/>
                <a:sym typeface="微软雅黑"/>
              </a:rPr>
              <a:t>），以支持硬件层面的优化。</a:t>
            </a:r>
          </a:p>
        </p:txBody>
      </p:sp>
    </p:spTree>
  </p:cSld>
  <p:clrMapOvr>
    <a:masterClrMapping/>
  </p:clrMapOvr>
  <p:transition main:dur="1000">
    <p:fade thruBlk="false"/>
  </p:transition>
</p:sld>
</file>

<file path=ppt/slides/slide11.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核函数剖析与指针算术</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11</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10000"/>
          </a:bodyPr>
          <a:lstStyle>
            <a:lvl1pPr algn="l">
              <a:lnSpc>
                <a:spcPct val="91666"/>
              </a:lnSpc>
              <a:defRPr sz="2300" b="false" i="false" u="none" strike="noStrike" spc="0">
                <a:solidFill>
                  <a:srgbClr val="404040">
                    <a:alpha val="100000"/>
                  </a:srgbClr>
                </a:solidFill>
                <a:latin typeface="微软雅黑"/>
              </a:defRPr>
            </a:lvl1pPr>
          </a:lstStyle>
          <a:p>
            <a:pPr algn="l" indent="-292100" marL="292100">
              <a:lnSpc>
                <a:spcPct val="91666"/>
              </a:lnSpc>
              <a:spcBef>
                <a:spcPts val="1500"/>
              </a:spcBef>
              <a:buClr>
                <a:srgbClr val="404040"/>
              </a:buClr>
              <a:buChar char="•"/>
            </a:pPr>
            <a:r>
              <a:rPr lang="en-US" b="false" i="false" strike="noStrike" u="none" sz="2300">
                <a:solidFill>
                  <a:srgbClr val="404040"/>
                </a:solidFill>
                <a:latin typeface="微软雅黑"/>
                <a:ea typeface="微软雅黑"/>
                <a:cs typeface="微软雅黑"/>
                <a:sym typeface="微软雅黑"/>
              </a:rPr>
              <a:t>定义</a:t>
            </a:r>
            <a:r>
              <a:rPr lang="en-US" b="false" i="false" strike="noStrike" u="none" sz="2300">
                <a:solidFill>
                  <a:srgbClr val="404040"/>
                </a:solidFill>
                <a:latin typeface="Calibri"/>
                <a:ea typeface="Calibri"/>
                <a:cs typeface="Calibri"/>
                <a:sym typeface="Calibri"/>
              </a:rPr>
              <a:t> Triton </a:t>
            </a:r>
            <a:r>
              <a:rPr lang="en-US" b="false" i="false" strike="noStrike" u="none" sz="2300">
                <a:solidFill>
                  <a:srgbClr val="404040"/>
                </a:solidFill>
                <a:latin typeface="微软雅黑"/>
                <a:ea typeface="微软雅黑"/>
                <a:cs typeface="微软雅黑"/>
                <a:sym typeface="微软雅黑"/>
              </a:rPr>
              <a:t>核函数</a:t>
            </a:r>
          </a:p>
          <a:p>
            <a:pPr algn="l" indent="-254000" lvl="1" marL="596900">
              <a:lnSpc>
                <a:spcPct val="91666"/>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@triton.jit </a:t>
            </a:r>
            <a:r>
              <a:rPr lang="en-US" b="false" i="false" strike="noStrike" u="none" sz="2000">
                <a:solidFill>
                  <a:srgbClr val="404040"/>
                </a:solidFill>
                <a:latin typeface="微软雅黑"/>
                <a:ea typeface="微软雅黑"/>
                <a:cs typeface="微软雅黑"/>
                <a:sym typeface="微软雅黑"/>
              </a:rPr>
              <a:t>装饰器：将标准</a:t>
            </a:r>
            <a:r>
              <a:rPr lang="en-US" b="false" i="false" strike="noStrike" u="none" sz="2000">
                <a:solidFill>
                  <a:srgbClr val="404040"/>
                </a:solidFill>
                <a:latin typeface="Calibri"/>
                <a:ea typeface="Calibri"/>
                <a:cs typeface="Calibri"/>
                <a:sym typeface="Calibri"/>
              </a:rPr>
              <a:t> Python </a:t>
            </a:r>
            <a:r>
              <a:rPr lang="en-US" b="false" i="false" strike="noStrike" u="none" sz="2000">
                <a:solidFill>
                  <a:srgbClr val="404040"/>
                </a:solidFill>
                <a:latin typeface="微软雅黑"/>
                <a:ea typeface="微软雅黑"/>
                <a:cs typeface="微软雅黑"/>
                <a:sym typeface="微软雅黑"/>
              </a:rPr>
              <a:t>函数转换为可在</a:t>
            </a:r>
            <a:r>
              <a:rPr lang="en-US" b="false" i="false" strike="noStrike" u="none" sz="2000">
                <a:solidFill>
                  <a:srgbClr val="404040"/>
                </a:solidFill>
                <a:latin typeface="Calibri"/>
                <a:ea typeface="Calibri"/>
                <a:cs typeface="Calibri"/>
                <a:sym typeface="Calibri"/>
              </a:rPr>
              <a:t> GPU </a:t>
            </a:r>
            <a:r>
              <a:rPr lang="en-US" b="false" i="false" strike="noStrike" u="none" sz="2000">
                <a:solidFill>
                  <a:srgbClr val="404040"/>
                </a:solidFill>
                <a:latin typeface="微软雅黑"/>
                <a:ea typeface="微软雅黑"/>
                <a:cs typeface="微软雅黑"/>
                <a:sym typeface="微软雅黑"/>
              </a:rPr>
              <a:t>上执行的核函数。</a:t>
            </a:r>
          </a:p>
          <a:p>
            <a:pPr algn="l" indent="-254000" lvl="1" marL="596900">
              <a:lnSpc>
                <a:spcPct val="91666"/>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函数签名：</a:t>
            </a:r>
          </a:p>
          <a:p>
            <a:pPr algn="l" indent="-203200" lvl="2" marL="889000">
              <a:lnSpc>
                <a:spcPct val="91666"/>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指针：输入</a:t>
            </a:r>
            <a:r>
              <a:rPr lang="en-US" b="false" i="false" strike="noStrike" u="none" sz="1600">
                <a:solidFill>
                  <a:srgbClr val="404040"/>
                </a:solidFill>
                <a:latin typeface="Calibri"/>
                <a:ea typeface="Calibri"/>
                <a:cs typeface="Calibri"/>
                <a:sym typeface="Calibri"/>
              </a:rPr>
              <a:t>/</a:t>
            </a:r>
            <a:r>
              <a:rPr lang="en-US" b="false" i="false" strike="noStrike" u="none" sz="1600">
                <a:solidFill>
                  <a:srgbClr val="404040"/>
                </a:solidFill>
                <a:latin typeface="微软雅黑"/>
                <a:ea typeface="微软雅黑"/>
                <a:cs typeface="微软雅黑"/>
                <a:sym typeface="微软雅黑"/>
              </a:rPr>
              <a:t>输出的内存地址（如</a:t>
            </a:r>
            <a:r>
              <a:rPr lang="en-US" b="false" i="false" strike="noStrike" u="none" sz="1600">
                <a:solidFill>
                  <a:srgbClr val="404040"/>
                </a:solidFill>
                <a:latin typeface="Calibri"/>
                <a:ea typeface="Calibri"/>
                <a:cs typeface="Calibri"/>
                <a:sym typeface="Calibri"/>
              </a:rPr>
              <a:t> x_ptr</a:t>
            </a:r>
            <a:r>
              <a:rPr lang="en-US" b="false" i="false" strike="noStrike" u="none" sz="1600">
                <a:solidFill>
                  <a:srgbClr val="404040"/>
                </a:solidFill>
                <a:latin typeface="微软雅黑"/>
                <a:ea typeface="微软雅黑"/>
                <a:cs typeface="微软雅黑"/>
                <a:sym typeface="微软雅黑"/>
              </a:rPr>
              <a:t>）。</a:t>
            </a:r>
          </a:p>
          <a:p>
            <a:pPr algn="l" indent="-203200" lvl="2" marL="889000">
              <a:lnSpc>
                <a:spcPct val="91666"/>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元数据：大小常量或步幅（如</a:t>
            </a:r>
            <a:r>
              <a:rPr lang="en-US" b="false" i="false" strike="noStrike" u="none" sz="1600">
                <a:solidFill>
                  <a:srgbClr val="404040"/>
                </a:solidFill>
                <a:latin typeface="Calibri"/>
                <a:ea typeface="Calibri"/>
                <a:cs typeface="Calibri"/>
                <a:sym typeface="Calibri"/>
              </a:rPr>
              <a:t> n_elements</a:t>
            </a:r>
            <a:r>
              <a:rPr lang="en-US" b="false" i="false" strike="noStrike" u="none" sz="1600">
                <a:solidFill>
                  <a:srgbClr val="404040"/>
                </a:solidFill>
                <a:latin typeface="微软雅黑"/>
                <a:ea typeface="微软雅黑"/>
                <a:cs typeface="微软雅黑"/>
                <a:sym typeface="微软雅黑"/>
              </a:rPr>
              <a:t>）。</a:t>
            </a:r>
            <a:r>
              <a:rPr lang="en-US" b="false" i="false" strike="noStrike" u="none" sz="1600">
                <a:solidFill>
                  <a:srgbClr val="404040"/>
                </a:solidFill>
                <a:latin typeface="Calibri"/>
                <a:ea typeface="Calibri"/>
                <a:cs typeface="Calibri"/>
                <a:sym typeface="Calibri"/>
              </a:rPr>
              <a:t>tl.constexpr</a:t>
            </a:r>
            <a:r>
              <a:rPr lang="en-US" b="false" i="false" strike="noStrike" u="none" sz="1600">
                <a:solidFill>
                  <a:srgbClr val="404040"/>
                </a:solidFill>
                <a:latin typeface="微软雅黑"/>
                <a:ea typeface="微软雅黑"/>
                <a:cs typeface="微软雅黑"/>
                <a:sym typeface="微软雅黑"/>
              </a:rPr>
              <a:t>：必须在编译时确定的特殊参数（如</a:t>
            </a:r>
            <a:r>
              <a:rPr lang="en-US" b="false" i="false" strike="noStrike" u="none" sz="1600">
                <a:solidFill>
                  <a:srgbClr val="404040"/>
                </a:solidFill>
                <a:latin typeface="Calibri"/>
                <a:ea typeface="Calibri"/>
                <a:cs typeface="Calibri"/>
                <a:sym typeface="Calibri"/>
              </a:rPr>
              <a:t> BLOCK_SIZE</a:t>
            </a:r>
            <a:r>
              <a:rPr lang="en-US" b="false" i="false" strike="noStrike" u="none" sz="1600">
                <a:solidFill>
                  <a:srgbClr val="404040"/>
                </a:solidFill>
                <a:latin typeface="微软雅黑"/>
                <a:ea typeface="微软雅黑"/>
                <a:cs typeface="微软雅黑"/>
                <a:sym typeface="微软雅黑"/>
              </a:rPr>
              <a:t>）。</a:t>
            </a:r>
          </a:p>
          <a:p>
            <a:pPr algn="l" indent="-292100" marL="292100">
              <a:lnSpc>
                <a:spcPct val="91666"/>
              </a:lnSpc>
              <a:spcBef>
                <a:spcPts val="1500"/>
              </a:spcBef>
              <a:buClr>
                <a:srgbClr val="404040"/>
              </a:buClr>
              <a:buChar char="•"/>
            </a:pPr>
            <a:r>
              <a:rPr lang="en-US" b="false" i="false" strike="noStrike" u="none" sz="2300">
                <a:solidFill>
                  <a:srgbClr val="404040"/>
                </a:solidFill>
                <a:latin typeface="微软雅黑"/>
                <a:ea typeface="微软雅黑"/>
                <a:cs typeface="微软雅黑"/>
                <a:sym typeface="微软雅黑"/>
              </a:rPr>
              <a:t>核心逻辑：指针算术</a:t>
            </a:r>
          </a:p>
          <a:p>
            <a:pPr algn="l" indent="-254000" lvl="1" marL="596900">
              <a:lnSpc>
                <a:spcPct val="91666"/>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确定程序标识：</a:t>
            </a:r>
            <a:r>
              <a:rPr lang="en-US" b="false" i="false" strike="noStrike" u="none" sz="2000">
                <a:solidFill>
                  <a:srgbClr val="404040"/>
                </a:solidFill>
                <a:latin typeface="Calibri"/>
                <a:ea typeface="Calibri"/>
                <a:cs typeface="Calibri"/>
                <a:sym typeface="Calibri"/>
              </a:rPr>
              <a:t>pid = tl.program_id(axis=0)    </a:t>
            </a:r>
            <a:r>
              <a:rPr lang="en-US" b="false" i="false" strike="noStrike" u="none" sz="2000">
                <a:solidFill>
                  <a:srgbClr val="404040"/>
                </a:solidFill>
                <a:latin typeface="微软雅黑"/>
                <a:ea typeface="微软雅黑"/>
                <a:cs typeface="微软雅黑"/>
                <a:sym typeface="微软雅黑"/>
              </a:rPr>
              <a:t>计算起始偏移量：</a:t>
            </a:r>
            <a:r>
              <a:rPr lang="en-US" b="false" i="false" strike="noStrike" u="none" sz="2000">
                <a:solidFill>
                  <a:srgbClr val="404040"/>
                </a:solidFill>
                <a:latin typeface="Calibri"/>
                <a:ea typeface="Calibri"/>
                <a:cs typeface="Calibri"/>
                <a:sym typeface="Calibri"/>
              </a:rPr>
              <a:t>block_start = pid * BLOCK_SIZE</a:t>
            </a:r>
          </a:p>
          <a:p>
            <a:pPr algn="l" indent="-254000" lvl="1" marL="596900">
              <a:lnSpc>
                <a:spcPct val="91666"/>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生成偏移量范围：</a:t>
            </a:r>
            <a:r>
              <a:rPr lang="en-US" b="false" i="false" strike="noStrike" u="none" sz="2000">
                <a:solidFill>
                  <a:srgbClr val="404040"/>
                </a:solidFill>
                <a:latin typeface="Calibri"/>
                <a:ea typeface="Calibri"/>
                <a:cs typeface="Calibri"/>
                <a:sym typeface="Calibri"/>
              </a:rPr>
              <a:t>offsets = block_start + tl.arange(0, BLOCK_SIZE)</a:t>
            </a:r>
          </a:p>
          <a:p>
            <a:pPr algn="l" indent="-254000" lvl="1" marL="596900">
              <a:lnSpc>
                <a:spcPct val="91666"/>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构建指针：</a:t>
            </a:r>
            <a:r>
              <a:rPr lang="en-US" b="false" i="false" strike="noStrike" u="none" sz="2000">
                <a:solidFill>
                  <a:srgbClr val="404040"/>
                </a:solidFill>
                <a:latin typeface="Calibri"/>
                <a:ea typeface="Calibri"/>
                <a:cs typeface="Calibri"/>
                <a:sym typeface="Calibri"/>
              </a:rPr>
              <a:t>pointers = base_ptr + offsets</a:t>
            </a:r>
          </a:p>
          <a:p>
            <a:pPr algn="l" indent="-292100" marL="292100">
              <a:lnSpc>
                <a:spcPct val="91666"/>
              </a:lnSpc>
              <a:spcBef>
                <a:spcPts val="1500"/>
              </a:spcBef>
              <a:buClr>
                <a:srgbClr val="404040"/>
              </a:buClr>
              <a:buChar char="•"/>
            </a:pPr>
            <a:r>
              <a:rPr lang="en-US" b="false" i="false" strike="noStrike" u="none" sz="2300">
                <a:solidFill>
                  <a:srgbClr val="404040"/>
                </a:solidFill>
                <a:latin typeface="微软雅黑"/>
                <a:ea typeface="微软雅黑"/>
                <a:cs typeface="微软雅黑"/>
                <a:sym typeface="微软雅黑"/>
              </a:rPr>
              <a:t>地址映射可视化</a:t>
            </a:r>
          </a:p>
          <a:p>
            <a:pPr algn="l" indent="-254000" lvl="1" marL="596900">
              <a:lnSpc>
                <a:spcPct val="91666"/>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tl.arange(0, 4) → [0, 1, 2, 3]</a:t>
            </a:r>
          </a:p>
          <a:p>
            <a:pPr algn="l" indent="-254000" lvl="1" marL="596900">
              <a:lnSpc>
                <a:spcPct val="91666"/>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base_ptr + [0, 1, 2, 3] → 4 </a:t>
            </a:r>
            <a:r>
              <a:rPr lang="en-US" b="false" i="false" strike="noStrike" u="none" sz="2000">
                <a:solidFill>
                  <a:srgbClr val="404040"/>
                </a:solidFill>
                <a:latin typeface="微软雅黑"/>
                <a:ea typeface="微软雅黑"/>
                <a:cs typeface="微软雅黑"/>
                <a:sym typeface="微软雅黑"/>
              </a:rPr>
              <a:t>个内存地址构成的向量。</a:t>
            </a:r>
          </a:p>
        </p:txBody>
      </p:sp>
    </p:spTree>
  </p:cSld>
  <p:clrMapOvr>
    <a:masterClrMapping/>
  </p:clrMapOvr>
  <p:transition main:dur="1000">
    <p:fade thruBlk="false"/>
  </p:transition>
</p:sld>
</file>

<file path=ppt/slides/slide12.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内存操作</a:t>
            </a:r>
            <a:r>
              <a:rPr lang="en-US" b="false" i="false" strike="noStrike" u="none" sz="3600">
                <a:solidFill>
                  <a:srgbClr val="262626"/>
                </a:solidFill>
                <a:latin typeface="Calibri"/>
                <a:ea typeface="Calibri"/>
                <a:cs typeface="Calibri"/>
                <a:sym typeface="Calibri"/>
              </a:rPr>
              <a:t>——</a:t>
            </a:r>
            <a:r>
              <a:rPr lang="en-US" b="false" i="false" strike="noStrike" u="none" sz="3600">
                <a:solidFill>
                  <a:srgbClr val="262626"/>
                </a:solidFill>
                <a:latin typeface="微软雅黑"/>
                <a:ea typeface="微软雅黑"/>
                <a:cs typeface="微软雅黑"/>
                <a:sym typeface="微软雅黑"/>
              </a:rPr>
              <a:t>加载、存储与掩码</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12</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数据桥接：全局内存（</a:t>
            </a:r>
            <a:r>
              <a:rPr lang="en-US" b="false" i="false" strike="noStrike" u="none" sz="2400">
                <a:solidFill>
                  <a:srgbClr val="404040"/>
                </a:solidFill>
                <a:latin typeface="Calibri"/>
                <a:ea typeface="Calibri"/>
                <a:cs typeface="Calibri"/>
                <a:sym typeface="Calibri"/>
              </a:rPr>
              <a:t>DRAM</a:t>
            </a:r>
            <a:r>
              <a:rPr lang="en-US" b="false" i="false" strike="noStrike" u="none" sz="2400">
                <a:solidFill>
                  <a:srgbClr val="404040"/>
                </a:solidFill>
                <a:latin typeface="微软雅黑"/>
                <a:ea typeface="微软雅黑"/>
                <a:cs typeface="微软雅黑"/>
                <a:sym typeface="微软雅黑"/>
              </a:rPr>
              <a:t>）</a:t>
            </a:r>
            <a:r>
              <a:rPr lang="en-US" b="false" i="false" strike="noStrike" u="none" sz="2400">
                <a:solidFill>
                  <a:srgbClr val="404040"/>
                </a:solidFill>
                <a:latin typeface="Calibri"/>
                <a:ea typeface="Calibri"/>
                <a:cs typeface="Calibri"/>
                <a:sym typeface="Calibri"/>
              </a:rPr>
              <a:t>↔SRAM/</a:t>
            </a:r>
            <a:r>
              <a:rPr lang="en-US" b="false" i="false" strike="noStrike" u="none" sz="2400">
                <a:solidFill>
                  <a:srgbClr val="404040"/>
                </a:solidFill>
                <a:latin typeface="微软雅黑"/>
                <a:ea typeface="微软雅黑"/>
                <a:cs typeface="微软雅黑"/>
                <a:sym typeface="微软雅黑"/>
              </a:rPr>
              <a:t>寄存器</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tl.load(pointers, mask)</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从指针指定的地址读取一块数据。</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效率：</a:t>
            </a:r>
            <a:r>
              <a:rPr lang="en-US" b="false" i="false" strike="noStrike" u="none" sz="1600">
                <a:solidFill>
                  <a:srgbClr val="404040"/>
                </a:solidFill>
                <a:latin typeface="Calibri"/>
                <a:ea typeface="Calibri"/>
                <a:cs typeface="Calibri"/>
                <a:sym typeface="Calibri"/>
              </a:rPr>
              <a:t>Triton </a:t>
            </a:r>
            <a:r>
              <a:rPr lang="en-US" b="false" i="false" strike="noStrike" u="none" sz="1600">
                <a:solidFill>
                  <a:srgbClr val="404040"/>
                </a:solidFill>
                <a:latin typeface="微软雅黑"/>
                <a:ea typeface="微软雅黑"/>
                <a:cs typeface="微软雅黑"/>
                <a:sym typeface="微软雅黑"/>
              </a:rPr>
              <a:t>自动确保</a:t>
            </a:r>
            <a:r>
              <a:rPr lang="en-US" b="false" i="false" strike="noStrike" u="none" sz="1600">
                <a:solidFill>
                  <a:srgbClr val="404040"/>
                </a:solidFill>
                <a:latin typeface="Calibri"/>
                <a:ea typeface="Calibri"/>
                <a:cs typeface="Calibri"/>
                <a:sym typeface="Calibri"/>
              </a:rPr>
              <a:t>“</a:t>
            </a:r>
            <a:r>
              <a:rPr lang="en-US" b="false" i="false" strike="noStrike" u="none" sz="1600">
                <a:solidFill>
                  <a:srgbClr val="404040"/>
                </a:solidFill>
                <a:latin typeface="微软雅黑"/>
                <a:ea typeface="微软雅黑"/>
                <a:cs typeface="微软雅黑"/>
                <a:sym typeface="微软雅黑"/>
              </a:rPr>
              <a:t>合并内存访问</a:t>
            </a:r>
            <a:r>
              <a:rPr lang="en-US" b="false" i="false" strike="noStrike" u="none" sz="1600">
                <a:solidFill>
                  <a:srgbClr val="404040"/>
                </a:solidFill>
                <a:latin typeface="Calibri"/>
                <a:ea typeface="Calibri"/>
                <a:cs typeface="Calibri"/>
                <a:sym typeface="Calibri"/>
              </a:rPr>
              <a:t>”</a:t>
            </a:r>
            <a:r>
              <a:rPr lang="en-US" b="false" i="false" strike="noStrike" u="none" sz="1600">
                <a:solidFill>
                  <a:srgbClr val="404040"/>
                </a:solidFill>
                <a:latin typeface="微软雅黑"/>
                <a:ea typeface="微软雅黑"/>
                <a:cs typeface="微软雅黑"/>
                <a:sym typeface="微软雅黑"/>
              </a:rPr>
              <a:t>，即硬件以最高效的突发方式读取数据。</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tl.store(pointers, data, mask)</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将寄存器中的计算结果写回全局内存。</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掩码的必要性</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由于</a:t>
            </a:r>
            <a:r>
              <a:rPr lang="en-US" b="false" i="false" strike="noStrike" u="none" sz="2000">
                <a:solidFill>
                  <a:srgbClr val="404040"/>
                </a:solidFill>
                <a:latin typeface="Calibri"/>
                <a:ea typeface="Calibri"/>
                <a:cs typeface="Calibri"/>
                <a:sym typeface="Calibri"/>
              </a:rPr>
              <a:t> Triton </a:t>
            </a:r>
            <a:r>
              <a:rPr lang="en-US" b="false" i="false" strike="noStrike" u="none" sz="2000">
                <a:solidFill>
                  <a:srgbClr val="404040"/>
                </a:solidFill>
                <a:latin typeface="微软雅黑"/>
                <a:ea typeface="微软雅黑"/>
                <a:cs typeface="微软雅黑"/>
                <a:sym typeface="微软雅黑"/>
              </a:rPr>
              <a:t>要求块大小为</a:t>
            </a:r>
            <a:r>
              <a:rPr lang="en-US" b="false" i="false" strike="noStrike" u="none" sz="2000">
                <a:solidFill>
                  <a:srgbClr val="404040"/>
                </a:solidFill>
                <a:latin typeface="Calibri"/>
                <a:ea typeface="Calibri"/>
                <a:cs typeface="Calibri"/>
                <a:sym typeface="Calibri"/>
              </a:rPr>
              <a:t> 2 </a:t>
            </a:r>
            <a:r>
              <a:rPr lang="en-US" b="false" i="false" strike="noStrike" u="none" sz="2000">
                <a:solidFill>
                  <a:srgbClr val="404040"/>
                </a:solidFill>
                <a:latin typeface="微软雅黑"/>
                <a:ea typeface="微软雅黑"/>
                <a:cs typeface="微软雅黑"/>
                <a:sym typeface="微软雅黑"/>
              </a:rPr>
              <a:t>的幂次（如</a:t>
            </a:r>
            <a:r>
              <a:rPr lang="en-US" b="false" i="false" strike="noStrike" u="none" sz="2000">
                <a:solidFill>
                  <a:srgbClr val="404040"/>
                </a:solidFill>
                <a:latin typeface="Calibri"/>
                <a:ea typeface="Calibri"/>
                <a:cs typeface="Calibri"/>
                <a:sym typeface="Calibri"/>
              </a:rPr>
              <a:t> 512</a:t>
            </a:r>
            <a:r>
              <a:rPr lang="en-US" b="false" i="false" strike="noStrike" u="none" sz="2000">
                <a:solidFill>
                  <a:srgbClr val="404040"/>
                </a:solidFill>
                <a:latin typeface="微软雅黑"/>
                <a:ea typeface="微软雅黑"/>
                <a:cs typeface="微软雅黑"/>
                <a:sym typeface="微软雅黑"/>
              </a:rPr>
              <a:t>），而实际数据量可能并非如此（如</a:t>
            </a:r>
            <a:r>
              <a:rPr lang="en-US" b="false" i="false" strike="noStrike" u="none" sz="2000">
                <a:solidFill>
                  <a:srgbClr val="404040"/>
                </a:solidFill>
                <a:latin typeface="Calibri"/>
                <a:ea typeface="Calibri"/>
                <a:cs typeface="Calibri"/>
                <a:sym typeface="Calibri"/>
              </a:rPr>
              <a:t> 500 </a:t>
            </a:r>
            <a:r>
              <a:rPr lang="en-US" b="false" i="false" strike="noStrike" u="none" sz="2000">
                <a:solidFill>
                  <a:srgbClr val="404040"/>
                </a:solidFill>
                <a:latin typeface="微软雅黑"/>
                <a:ea typeface="微软雅黑"/>
                <a:cs typeface="微软雅黑"/>
                <a:sym typeface="微软雅黑"/>
              </a:rPr>
              <a:t>个元素），因此必须防止越界内存访问。</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逻辑：创建布尔掩码，其中</a:t>
            </a:r>
            <a:r>
              <a:rPr lang="en-US" b="false" i="false" strike="noStrike" u="none" sz="2000">
                <a:solidFill>
                  <a:srgbClr val="404040"/>
                </a:solidFill>
                <a:latin typeface="Calibri"/>
                <a:ea typeface="Calibri"/>
                <a:cs typeface="Calibri"/>
                <a:sym typeface="Calibri"/>
              </a:rPr>
              <a:t> offsets &lt; total_elements</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语法示例：</a:t>
            </a:r>
            <a:r>
              <a:rPr lang="en-US" b="false" i="false" strike="noStrike" u="none" sz="2000">
                <a:solidFill>
                  <a:srgbClr val="404040"/>
                </a:solidFill>
                <a:latin typeface="Calibri"/>
                <a:ea typeface="Calibri"/>
                <a:cs typeface="Calibri"/>
                <a:sym typeface="Calibri"/>
              </a:rPr>
              <a:t>mask = offsets &lt; n_elements    data = tl.load(ptr + offsets, mask=mask)</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优势：当掩码为</a:t>
            </a:r>
            <a:r>
              <a:rPr lang="en-US" b="false" i="false" strike="noStrike" u="none" sz="2000">
                <a:solidFill>
                  <a:srgbClr val="404040"/>
                </a:solidFill>
                <a:latin typeface="Calibri"/>
                <a:ea typeface="Calibri"/>
                <a:cs typeface="Calibri"/>
                <a:sym typeface="Calibri"/>
              </a:rPr>
              <a:t> False </a:t>
            </a:r>
            <a:r>
              <a:rPr lang="en-US" b="false" i="false" strike="noStrike" u="none" sz="2000">
                <a:solidFill>
                  <a:srgbClr val="404040"/>
                </a:solidFill>
                <a:latin typeface="微软雅黑"/>
                <a:ea typeface="微软雅黑"/>
                <a:cs typeface="微软雅黑"/>
                <a:sym typeface="微软雅黑"/>
              </a:rPr>
              <a:t>时，操作被安全忽略，从而防止段错误（</a:t>
            </a:r>
            <a:r>
              <a:rPr lang="en-US" b="false" i="false" strike="noStrike" u="none" sz="2000">
                <a:solidFill>
                  <a:srgbClr val="404040"/>
                </a:solidFill>
                <a:latin typeface="Calibri"/>
                <a:ea typeface="Calibri"/>
                <a:cs typeface="Calibri"/>
                <a:sym typeface="Calibri"/>
              </a:rPr>
              <a:t>Segmentation Fault</a:t>
            </a:r>
            <a:r>
              <a:rPr lang="en-US" b="false" i="false" strike="noStrike" u="none" sz="2000">
                <a:solidFill>
                  <a:srgbClr val="404040"/>
                </a:solidFill>
                <a:latin typeface="微软雅黑"/>
                <a:ea typeface="微软雅黑"/>
                <a:cs typeface="微软雅黑"/>
                <a:sym typeface="微软雅黑"/>
              </a:rPr>
              <a:t>）。</a:t>
            </a:r>
          </a:p>
        </p:txBody>
      </p:sp>
    </p:spTree>
  </p:cSld>
  <p:clrMapOvr>
    <a:masterClrMapping/>
  </p:clrMapOvr>
  <p:transition main:dur="1000">
    <p:fade thruBlk="false"/>
  </p:transition>
</p:sld>
</file>

<file path=ppt/slides/slide13.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案例分析</a:t>
            </a:r>
            <a:r>
              <a:rPr lang="en-US" b="false" i="false" strike="noStrike" u="none" sz="3600">
                <a:solidFill>
                  <a:srgbClr val="262626"/>
                </a:solidFill>
                <a:latin typeface="Calibri"/>
                <a:ea typeface="Calibri"/>
                <a:cs typeface="Calibri"/>
                <a:sym typeface="Calibri"/>
              </a:rPr>
              <a:t>:</a:t>
            </a:r>
            <a:r>
              <a:rPr lang="en-US" b="false" i="false" strike="noStrike" u="none" sz="3600">
                <a:solidFill>
                  <a:srgbClr val="262626"/>
                </a:solidFill>
                <a:latin typeface="微软雅黑"/>
                <a:ea typeface="微软雅黑"/>
                <a:cs typeface="微软雅黑"/>
                <a:sym typeface="微软雅黑"/>
              </a:rPr>
              <a:t>向量加法核函数</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13</a:t>
            </a:r>
          </a:p>
        </p:txBody>
      </p:sp>
      <p:sp>
        <p:nvSpPr>
          <p:cNvPr name="AutoShape 5" id="5"/>
          <p:cNvSpPr/>
          <p:nvPr>
            <p:ph idx="9" type="body" sz="quarter"/>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a:endParaRPr/>
          </a:p>
        </p:txBody>
      </p:sp>
      <p:sp>
        <p:nvSpPr>
          <p:cNvPr name="AutoShape 6" id="6"/>
          <p:cNvSpPr/>
          <p:nvPr/>
        </p:nvSpPr>
        <p:spPr>
          <a:xfrm rot="0" flipH="false" flipV="false">
            <a:off x="1904365" y="1323975"/>
            <a:ext cx="9342120" cy="5363845"/>
          </a:xfrm>
          <a:prstGeom prst="rect">
            <a:avLst/>
          </a:prstGeom>
          <a:noFill/>
          <a:ln w="12700">
            <a:solidFill>
              <a:srgbClr val="262626">
                <a:alpha val="100000"/>
              </a:srgbClr>
            </a:solidFill>
            <a:prstDash val="solid"/>
          </a:ln>
        </p:spPr>
        <p:txBody>
          <a:bodyPr anchor="t" rtlCol="false" wrap="square" lIns="91440" rIns="91440" tIns="45720" bIns="45720">
            <a:noAutofit/>
          </a:bodyPr>
          <a:lstStyle/>
          <a:p>
            <a:pPr algn="l" indent="0">
              <a:lnSpc>
                <a:spcPct val="100000"/>
              </a:lnSpc>
              <a:defRPr/>
            </a:pPr>
            <a:r>
              <a:rPr lang="en-US" b="false" i="false" strike="noStrike" u="none" sz="1200">
                <a:solidFill>
                  <a:srgbClr val="000000"/>
                </a:solidFill>
                <a:latin typeface="Droid Sans Mono"/>
                <a:ea typeface="Droid Sans Mono"/>
                <a:cs typeface="Droid Sans Mono"/>
                <a:sym typeface="Droid Sans Mono"/>
              </a:rPr>
              <a:t>import triton</a:t>
            </a:r>
            <a:endParaRPr lang="en-US" sz="1100"/>
          </a:p>
          <a:p>
            <a:pPr algn="l" indent="0">
              <a:lnSpc>
                <a:spcPct val="100000"/>
              </a:lnSpc>
            </a:pPr>
            <a:r>
              <a:rPr lang="en-US" b="false" i="false" strike="noStrike" u="none" sz="1200">
                <a:solidFill>
                  <a:srgbClr val="000000"/>
                </a:solidFill>
                <a:latin typeface="Droid Sans Mono"/>
                <a:ea typeface="Droid Sans Mono"/>
                <a:cs typeface="Droid Sans Mono"/>
                <a:sym typeface="Droid Sans Mono"/>
              </a:rPr>
              <a:t>import triton.language as tl</a:t>
            </a:r>
          </a:p>
          <a:p>
            <a:pPr algn="l" indent="0">
              <a:lnSpc>
                <a:spcPct val="100000"/>
              </a:lnSpc>
            </a:pPr>
            <a:r>
              <a:rPr lang="en-US" b="false" i="false" strike="noStrike" u="none" sz="1200">
                <a:solidFill>
                  <a:srgbClr val="000000"/>
                </a:solidFill>
                <a:latin typeface="Arial"/>
                <a:ea typeface="Arial"/>
                <a:cs typeface="Arial"/>
                <a:sym typeface="Arial"/>
              </a:rPr>
              <a:t/>
            </a:r>
          </a:p>
          <a:p>
            <a:pPr algn="l" indent="0">
              <a:lnSpc>
                <a:spcPct val="100000"/>
              </a:lnSpc>
            </a:pPr>
            <a:r>
              <a:rPr lang="en-US" b="false" i="false" strike="noStrike" u="none" sz="1200">
                <a:solidFill>
                  <a:srgbClr val="000000"/>
                </a:solidFill>
                <a:latin typeface="Droid Sans Mono"/>
                <a:ea typeface="Droid Sans Mono"/>
                <a:cs typeface="Droid Sans Mono"/>
                <a:sym typeface="Droid Sans Mono"/>
              </a:rPr>
              <a:t>@triton.jit</a:t>
            </a:r>
          </a:p>
          <a:p>
            <a:pPr algn="l" indent="0">
              <a:lnSpc>
                <a:spcPct val="100000"/>
              </a:lnSpc>
            </a:pPr>
            <a:r>
              <a:rPr lang="en-US" b="false" i="false" strike="noStrike" u="none" sz="1200">
                <a:solidFill>
                  <a:srgbClr val="000000"/>
                </a:solidFill>
                <a:latin typeface="Droid Sans Mono"/>
                <a:ea typeface="Droid Sans Mono"/>
                <a:cs typeface="Droid Sans Mono"/>
                <a:sym typeface="Droid Sans Mono"/>
              </a:rPr>
              <a:t>def add_kernel(</a:t>
            </a:r>
          </a:p>
          <a:p>
            <a:pPr algn="l" indent="0">
              <a:lnSpc>
                <a:spcPct val="100000"/>
              </a:lnSpc>
            </a:pPr>
            <a:r>
              <a:rPr lang="en-US" b="false" i="false" strike="noStrike" u="none" sz="1200">
                <a:solidFill>
                  <a:srgbClr val="000000"/>
                </a:solidFill>
                <a:latin typeface="Droid Sans Mono"/>
                <a:ea typeface="Droid Sans Mono"/>
                <a:cs typeface="Droid Sans Mono"/>
                <a:sym typeface="Droid Sans Mono"/>
              </a:rPr>
              <a:t>    x_ptr,  # </a:t>
            </a:r>
            <a:r>
              <a:rPr lang="en-US" b="false" i="false" strike="noStrike" u="none" sz="1200">
                <a:solidFill>
                  <a:srgbClr val="000000"/>
                </a:solidFill>
                <a:latin typeface="微软雅黑"/>
                <a:ea typeface="微软雅黑"/>
                <a:cs typeface="微软雅黑"/>
                <a:sym typeface="微软雅黑"/>
              </a:rPr>
              <a:t>指向第一个输入向量的指针</a:t>
            </a:r>
          </a:p>
          <a:p>
            <a:pPr algn="l" indent="0">
              <a:lnSpc>
                <a:spcPct val="100000"/>
              </a:lnSpc>
            </a:pPr>
            <a:r>
              <a:rPr lang="en-US" b="false" i="false" strike="noStrike" u="none" sz="1200">
                <a:solidFill>
                  <a:srgbClr val="000000"/>
                </a:solidFill>
                <a:latin typeface="Droid Sans Mono"/>
                <a:ea typeface="Droid Sans Mono"/>
                <a:cs typeface="Droid Sans Mono"/>
                <a:sym typeface="Droid Sans Mono"/>
              </a:rPr>
              <a:t>    y_ptr,  # </a:t>
            </a:r>
            <a:r>
              <a:rPr lang="en-US" b="false" i="false" strike="noStrike" u="none" sz="1200">
                <a:solidFill>
                  <a:srgbClr val="000000"/>
                </a:solidFill>
                <a:latin typeface="微软雅黑"/>
                <a:ea typeface="微软雅黑"/>
                <a:cs typeface="微软雅黑"/>
                <a:sym typeface="微软雅黑"/>
              </a:rPr>
              <a:t>指向第二个输入向量的指针</a:t>
            </a:r>
          </a:p>
          <a:p>
            <a:pPr algn="l" indent="0">
              <a:lnSpc>
                <a:spcPct val="100000"/>
              </a:lnSpc>
            </a:pPr>
            <a:r>
              <a:rPr lang="en-US" b="false" i="false" strike="noStrike" u="none" sz="1200">
                <a:solidFill>
                  <a:srgbClr val="000000"/>
                </a:solidFill>
                <a:latin typeface="Droid Sans Mono"/>
                <a:ea typeface="Droid Sans Mono"/>
                <a:cs typeface="Droid Sans Mono"/>
                <a:sym typeface="Droid Sans Mono"/>
              </a:rPr>
              <a:t>    out_ptr, # </a:t>
            </a:r>
            <a:r>
              <a:rPr lang="en-US" b="false" i="false" strike="noStrike" u="none" sz="1200">
                <a:solidFill>
                  <a:srgbClr val="000000"/>
                </a:solidFill>
                <a:latin typeface="微软雅黑"/>
                <a:ea typeface="微软雅黑"/>
                <a:cs typeface="微软雅黑"/>
                <a:sym typeface="微软雅黑"/>
              </a:rPr>
              <a:t>指向输出向量的指针</a:t>
            </a:r>
          </a:p>
          <a:p>
            <a:pPr algn="l" indent="0">
              <a:lnSpc>
                <a:spcPct val="100000"/>
              </a:lnSpc>
            </a:pPr>
            <a:r>
              <a:rPr lang="en-US" b="false" i="false" strike="noStrike" u="none" sz="1200">
                <a:solidFill>
                  <a:srgbClr val="000000"/>
                </a:solidFill>
                <a:latin typeface="Droid Sans Mono"/>
                <a:ea typeface="Droid Sans Mono"/>
                <a:cs typeface="Droid Sans Mono"/>
                <a:sym typeface="Droid Sans Mono"/>
              </a:rPr>
              <a:t>    n_elements, # </a:t>
            </a:r>
            <a:r>
              <a:rPr lang="en-US" b="false" i="false" strike="noStrike" u="none" sz="1200">
                <a:solidFill>
                  <a:srgbClr val="000000"/>
                </a:solidFill>
                <a:latin typeface="微软雅黑"/>
                <a:ea typeface="微软雅黑"/>
                <a:cs typeface="微软雅黑"/>
                <a:sym typeface="微软雅黑"/>
              </a:rPr>
              <a:t>向量的大小</a:t>
            </a:r>
          </a:p>
          <a:p>
            <a:pPr algn="l" indent="0">
              <a:lnSpc>
                <a:spcPct val="100000"/>
              </a:lnSpc>
            </a:pPr>
            <a:r>
              <a:rPr lang="en-US" b="false" i="false" strike="noStrike" u="none" sz="1200">
                <a:solidFill>
                  <a:srgbClr val="000000"/>
                </a:solidFill>
                <a:latin typeface="Droid Sans Mono"/>
                <a:ea typeface="Droid Sans Mono"/>
                <a:cs typeface="Droid Sans Mono"/>
                <a:sym typeface="Droid Sans Mono"/>
              </a:rPr>
              <a:t>    BLOCK_SIZE: tl.constexpr, # </a:t>
            </a:r>
            <a:r>
              <a:rPr lang="en-US" b="false" i="false" strike="noStrike" u="none" sz="1200">
                <a:solidFill>
                  <a:srgbClr val="000000"/>
                </a:solidFill>
                <a:latin typeface="微软雅黑"/>
                <a:ea typeface="微软雅黑"/>
                <a:cs typeface="微软雅黑"/>
                <a:sym typeface="微软雅黑"/>
              </a:rPr>
              <a:t>编译时常量</a:t>
            </a:r>
          </a:p>
          <a:p>
            <a:pPr algn="l" indent="0">
              <a:lnSpc>
                <a:spcPct val="100000"/>
              </a:lnSpc>
            </a:pPr>
            <a:r>
              <a:rPr lang="en-US" b="false" i="false" strike="noStrike" u="none" sz="1200">
                <a:solidFill>
                  <a:srgbClr val="000000"/>
                </a:solidFill>
                <a:latin typeface="Droid Sans Mono"/>
                <a:ea typeface="Droid Sans Mono"/>
                <a:cs typeface="Droid Sans Mono"/>
                <a:sym typeface="Droid Sans Mono"/>
              </a:rPr>
              <a:t>):</a:t>
            </a:r>
          </a:p>
          <a:p>
            <a:pPr algn="l" indent="0">
              <a:lnSpc>
                <a:spcPct val="100000"/>
              </a:lnSpc>
            </a:pPr>
            <a:r>
              <a:rPr lang="en-US" b="false" i="false" strike="noStrike" u="none" sz="1200">
                <a:solidFill>
                  <a:srgbClr val="000000"/>
                </a:solidFill>
                <a:latin typeface="Droid Sans Mono"/>
                <a:ea typeface="Droid Sans Mono"/>
                <a:cs typeface="Droid Sans Mono"/>
                <a:sym typeface="Droid Sans Mono"/>
              </a:rPr>
              <a:t>    # 1. </a:t>
            </a:r>
            <a:r>
              <a:rPr lang="en-US" b="false" i="false" strike="noStrike" u="none" sz="1200">
                <a:solidFill>
                  <a:srgbClr val="000000"/>
                </a:solidFill>
                <a:latin typeface="微软雅黑"/>
                <a:ea typeface="微软雅黑"/>
                <a:cs typeface="微软雅黑"/>
                <a:sym typeface="微软雅黑"/>
              </a:rPr>
              <a:t>确定本程序处理哪个</a:t>
            </a:r>
            <a:r>
              <a:rPr lang="en-US" b="false" i="false" strike="noStrike" u="none" sz="1200">
                <a:solidFill>
                  <a:srgbClr val="000000"/>
                </a:solidFill>
                <a:latin typeface="Droid Sans Mono"/>
                <a:ea typeface="Droid Sans Mono"/>
                <a:cs typeface="Droid Sans Mono"/>
                <a:sym typeface="Droid Sans Mono"/>
              </a:rPr>
              <a:t>“</a:t>
            </a:r>
            <a:r>
              <a:rPr lang="en-US" b="false" i="false" strike="noStrike" u="none" sz="1200">
                <a:solidFill>
                  <a:srgbClr val="000000"/>
                </a:solidFill>
                <a:latin typeface="微软雅黑"/>
                <a:ea typeface="微软雅黑"/>
                <a:cs typeface="微软雅黑"/>
                <a:sym typeface="微软雅黑"/>
              </a:rPr>
              <a:t>分块</a:t>
            </a:r>
            <a:r>
              <a:rPr lang="en-US" b="false" i="false" strike="noStrike" u="none" sz="1200">
                <a:solidFill>
                  <a:srgbClr val="000000"/>
                </a:solidFill>
                <a:latin typeface="Droid Sans Mono"/>
                <a:ea typeface="Droid Sans Mono"/>
                <a:cs typeface="Droid Sans Mono"/>
                <a:sym typeface="Droid Sans Mono"/>
              </a:rPr>
              <a:t>”</a:t>
            </a:r>
          </a:p>
          <a:p>
            <a:pPr algn="l" indent="0">
              <a:lnSpc>
                <a:spcPct val="100000"/>
              </a:lnSpc>
            </a:pPr>
            <a:r>
              <a:rPr lang="en-US" b="false" i="false" strike="noStrike" u="none" sz="1200">
                <a:solidFill>
                  <a:srgbClr val="000000"/>
                </a:solidFill>
                <a:latin typeface="Droid Sans Mono"/>
                <a:ea typeface="Droid Sans Mono"/>
                <a:cs typeface="Droid Sans Mono"/>
                <a:sym typeface="Droid Sans Mono"/>
              </a:rPr>
              <a:t>    pid = tl.program_id(axis=0) </a:t>
            </a:r>
          </a:p>
          <a:p>
            <a:pPr algn="l" indent="0">
              <a:lnSpc>
                <a:spcPct val="100000"/>
              </a:lnSpc>
            </a:pPr>
            <a:r>
              <a:rPr lang="en-US" b="false" i="false" strike="noStrike" u="none" sz="1200">
                <a:solidFill>
                  <a:srgbClr val="000000"/>
                </a:solidFill>
                <a:latin typeface="Droid Sans Mono"/>
                <a:ea typeface="Droid Sans Mono"/>
                <a:cs typeface="Droid Sans Mono"/>
                <a:sym typeface="Droid Sans Mono"/>
              </a:rPr>
              <a:t>    </a:t>
            </a:r>
          </a:p>
          <a:p>
            <a:pPr algn="l" indent="0">
              <a:lnSpc>
                <a:spcPct val="100000"/>
              </a:lnSpc>
            </a:pPr>
            <a:r>
              <a:rPr lang="en-US" b="false" i="false" strike="noStrike" u="none" sz="1200">
                <a:solidFill>
                  <a:srgbClr val="000000"/>
                </a:solidFill>
                <a:latin typeface="Droid Sans Mono"/>
                <a:ea typeface="Droid Sans Mono"/>
                <a:cs typeface="Droid Sans Mono"/>
                <a:sym typeface="Droid Sans Mono"/>
              </a:rPr>
              <a:t>    # 2. </a:t>
            </a:r>
            <a:r>
              <a:rPr lang="en-US" b="false" i="false" strike="noStrike" u="none" sz="1200">
                <a:solidFill>
                  <a:srgbClr val="000000"/>
                </a:solidFill>
                <a:latin typeface="微软雅黑"/>
                <a:ea typeface="微软雅黑"/>
                <a:cs typeface="微软雅黑"/>
                <a:sym typeface="微软雅黑"/>
              </a:rPr>
              <a:t>计算内存偏移量</a:t>
            </a:r>
          </a:p>
          <a:p>
            <a:pPr algn="l" indent="0">
              <a:lnSpc>
                <a:spcPct val="100000"/>
              </a:lnSpc>
            </a:pPr>
            <a:r>
              <a:rPr lang="en-US" b="false" i="false" strike="noStrike" u="none" sz="1200">
                <a:solidFill>
                  <a:srgbClr val="000000"/>
                </a:solidFill>
                <a:latin typeface="Droid Sans Mono"/>
                <a:ea typeface="Droid Sans Mono"/>
                <a:cs typeface="Droid Sans Mono"/>
                <a:sym typeface="Droid Sans Mono"/>
              </a:rPr>
              <a:t>    block_start = pid * BLOCK_SIZE</a:t>
            </a:r>
          </a:p>
          <a:p>
            <a:pPr algn="l" indent="0">
              <a:lnSpc>
                <a:spcPct val="100000"/>
              </a:lnSpc>
            </a:pPr>
            <a:r>
              <a:rPr lang="en-US" b="false" i="false" strike="noStrike" u="none" sz="1200">
                <a:solidFill>
                  <a:srgbClr val="000000"/>
                </a:solidFill>
                <a:latin typeface="Droid Sans Mono"/>
                <a:ea typeface="Droid Sans Mono"/>
                <a:cs typeface="Droid Sans Mono"/>
                <a:sym typeface="Droid Sans Mono"/>
              </a:rPr>
              <a:t>    offsets = block_start + tl.arange(0, BLOCK_SIZE)</a:t>
            </a:r>
          </a:p>
          <a:p>
            <a:pPr algn="l" indent="0">
              <a:lnSpc>
                <a:spcPct val="100000"/>
              </a:lnSpc>
            </a:pPr>
            <a:r>
              <a:rPr lang="en-US" b="false" i="false" strike="noStrike" u="none" sz="1200">
                <a:solidFill>
                  <a:srgbClr val="000000"/>
                </a:solidFill>
                <a:latin typeface="Droid Sans Mono"/>
                <a:ea typeface="Droid Sans Mono"/>
                <a:cs typeface="Droid Sans Mono"/>
                <a:sym typeface="Droid Sans Mono"/>
              </a:rPr>
              <a:t>    </a:t>
            </a:r>
          </a:p>
          <a:p>
            <a:pPr algn="l" indent="0">
              <a:lnSpc>
                <a:spcPct val="100000"/>
              </a:lnSpc>
            </a:pPr>
            <a:r>
              <a:rPr lang="en-US" b="false" i="false" strike="noStrike" u="none" sz="1200">
                <a:solidFill>
                  <a:srgbClr val="000000"/>
                </a:solidFill>
                <a:latin typeface="Droid Sans Mono"/>
                <a:ea typeface="Droid Sans Mono"/>
                <a:cs typeface="Droid Sans Mono"/>
                <a:sym typeface="Droid Sans Mono"/>
              </a:rPr>
              <a:t>    # 3. </a:t>
            </a:r>
            <a:r>
              <a:rPr lang="en-US" b="false" i="false" strike="noStrike" u="none" sz="1200">
                <a:solidFill>
                  <a:srgbClr val="000000"/>
                </a:solidFill>
                <a:latin typeface="微软雅黑"/>
                <a:ea typeface="微软雅黑"/>
                <a:cs typeface="微软雅黑"/>
                <a:sym typeface="微软雅黑"/>
              </a:rPr>
              <a:t>创建掩码以避免越界访问</a:t>
            </a:r>
          </a:p>
          <a:p>
            <a:pPr algn="l" indent="0">
              <a:lnSpc>
                <a:spcPct val="100000"/>
              </a:lnSpc>
            </a:pPr>
            <a:r>
              <a:rPr lang="en-US" b="false" i="false" strike="noStrike" u="none" sz="1200">
                <a:solidFill>
                  <a:srgbClr val="000000"/>
                </a:solidFill>
                <a:latin typeface="Droid Sans Mono"/>
                <a:ea typeface="Droid Sans Mono"/>
                <a:cs typeface="Droid Sans Mono"/>
                <a:sym typeface="Droid Sans Mono"/>
              </a:rPr>
              <a:t>    mask = offsets &lt; n_elements</a:t>
            </a:r>
          </a:p>
          <a:p>
            <a:pPr algn="l" indent="0">
              <a:lnSpc>
                <a:spcPct val="100000"/>
              </a:lnSpc>
            </a:pPr>
            <a:r>
              <a:rPr lang="en-US" b="false" i="false" strike="noStrike" u="none" sz="1200">
                <a:solidFill>
                  <a:srgbClr val="000000"/>
                </a:solidFill>
                <a:latin typeface="Droid Sans Mono"/>
                <a:ea typeface="Droid Sans Mono"/>
                <a:cs typeface="Droid Sans Mono"/>
                <a:sym typeface="Droid Sans Mono"/>
              </a:rPr>
              <a:t>    </a:t>
            </a:r>
          </a:p>
          <a:p>
            <a:pPr algn="l" indent="0">
              <a:lnSpc>
                <a:spcPct val="100000"/>
              </a:lnSpc>
            </a:pPr>
            <a:r>
              <a:rPr lang="en-US" b="false" i="false" strike="noStrike" u="none" sz="1200">
                <a:solidFill>
                  <a:srgbClr val="000000"/>
                </a:solidFill>
                <a:latin typeface="Droid Sans Mono"/>
                <a:ea typeface="Droid Sans Mono"/>
                <a:cs typeface="Droid Sans Mono"/>
                <a:sym typeface="Droid Sans Mono"/>
              </a:rPr>
              <a:t>    # 4. </a:t>
            </a:r>
            <a:r>
              <a:rPr lang="en-US" b="false" i="false" strike="noStrike" u="none" sz="1200">
                <a:solidFill>
                  <a:srgbClr val="000000"/>
                </a:solidFill>
                <a:latin typeface="微软雅黑"/>
                <a:ea typeface="微软雅黑"/>
                <a:cs typeface="微软雅黑"/>
                <a:sym typeface="微软雅黑"/>
              </a:rPr>
              <a:t>从</a:t>
            </a:r>
            <a:r>
              <a:rPr lang="en-US" b="false" i="false" strike="noStrike" u="none" sz="1200">
                <a:solidFill>
                  <a:srgbClr val="000000"/>
                </a:solidFill>
                <a:latin typeface="Droid Sans Mono"/>
                <a:ea typeface="Droid Sans Mono"/>
                <a:cs typeface="Droid Sans Mono"/>
                <a:sym typeface="Droid Sans Mono"/>
              </a:rPr>
              <a:t> DRAM </a:t>
            </a:r>
            <a:r>
              <a:rPr lang="en-US" b="false" i="false" strike="noStrike" u="none" sz="1200">
                <a:solidFill>
                  <a:srgbClr val="000000"/>
                </a:solidFill>
                <a:latin typeface="微软雅黑"/>
                <a:ea typeface="微软雅黑"/>
                <a:cs typeface="微软雅黑"/>
                <a:sym typeface="微软雅黑"/>
              </a:rPr>
              <a:t>加载数据到寄存器</a:t>
            </a:r>
          </a:p>
          <a:p>
            <a:pPr algn="l" indent="0">
              <a:lnSpc>
                <a:spcPct val="100000"/>
              </a:lnSpc>
            </a:pPr>
            <a:r>
              <a:rPr lang="en-US" b="false" i="false" strike="noStrike" u="none" sz="1200">
                <a:solidFill>
                  <a:srgbClr val="000000"/>
                </a:solidFill>
                <a:latin typeface="Droid Sans Mono"/>
                <a:ea typeface="Droid Sans Mono"/>
                <a:cs typeface="Droid Sans Mono"/>
                <a:sym typeface="Droid Sans Mono"/>
              </a:rPr>
              <a:t>    x = tl.load(x_ptr + offsets, mask=mask)</a:t>
            </a:r>
          </a:p>
          <a:p>
            <a:pPr algn="l" indent="0">
              <a:lnSpc>
                <a:spcPct val="100000"/>
              </a:lnSpc>
            </a:pPr>
            <a:r>
              <a:rPr lang="en-US" b="false" i="false" strike="noStrike" u="none" sz="1200">
                <a:solidFill>
                  <a:srgbClr val="000000"/>
                </a:solidFill>
                <a:latin typeface="Droid Sans Mono"/>
                <a:ea typeface="Droid Sans Mono"/>
                <a:cs typeface="Droid Sans Mono"/>
                <a:sym typeface="Droid Sans Mono"/>
              </a:rPr>
              <a:t>    y = tl.load(y_ptr + offsets, mask=mask)</a:t>
            </a:r>
          </a:p>
          <a:p>
            <a:pPr algn="l" indent="0">
              <a:lnSpc>
                <a:spcPct val="100000"/>
              </a:lnSpc>
            </a:pPr>
            <a:r>
              <a:rPr lang="en-US" b="false" i="false" strike="noStrike" u="none" sz="1200">
                <a:solidFill>
                  <a:srgbClr val="000000"/>
                </a:solidFill>
                <a:latin typeface="Droid Sans Mono"/>
                <a:ea typeface="Droid Sans Mono"/>
                <a:cs typeface="Droid Sans Mono"/>
                <a:sym typeface="Droid Sans Mono"/>
              </a:rPr>
              <a:t>    </a:t>
            </a:r>
          </a:p>
          <a:p>
            <a:pPr algn="l" indent="0">
              <a:lnSpc>
                <a:spcPct val="100000"/>
              </a:lnSpc>
            </a:pPr>
            <a:r>
              <a:rPr lang="en-US" b="false" i="false" strike="noStrike" u="none" sz="1200">
                <a:solidFill>
                  <a:srgbClr val="000000"/>
                </a:solidFill>
                <a:latin typeface="Droid Sans Mono"/>
                <a:ea typeface="Droid Sans Mono"/>
                <a:cs typeface="Droid Sans Mono"/>
                <a:sym typeface="Droid Sans Mono"/>
              </a:rPr>
              <a:t>    # 5. </a:t>
            </a:r>
            <a:r>
              <a:rPr lang="en-US" b="false" i="false" strike="noStrike" u="none" sz="1200">
                <a:solidFill>
                  <a:srgbClr val="000000"/>
                </a:solidFill>
                <a:latin typeface="微软雅黑"/>
                <a:ea typeface="微软雅黑"/>
                <a:cs typeface="微软雅黑"/>
                <a:sym typeface="微软雅黑"/>
              </a:rPr>
              <a:t>执行运算并将结果存回</a:t>
            </a:r>
            <a:r>
              <a:rPr lang="en-US" b="false" i="false" strike="noStrike" u="none" sz="1200">
                <a:solidFill>
                  <a:srgbClr val="000000"/>
                </a:solidFill>
                <a:latin typeface="Droid Sans Mono"/>
                <a:ea typeface="Droid Sans Mono"/>
                <a:cs typeface="Droid Sans Mono"/>
                <a:sym typeface="Droid Sans Mono"/>
              </a:rPr>
              <a:t> DRAM</a:t>
            </a:r>
          </a:p>
          <a:p>
            <a:pPr algn="l" indent="0">
              <a:lnSpc>
                <a:spcPct val="100000"/>
              </a:lnSpc>
            </a:pPr>
            <a:r>
              <a:rPr lang="en-US" b="false" i="false" strike="noStrike" u="none" sz="1200">
                <a:solidFill>
                  <a:srgbClr val="000000"/>
                </a:solidFill>
                <a:latin typeface="Droid Sans Mono"/>
                <a:ea typeface="Droid Sans Mono"/>
                <a:cs typeface="Droid Sans Mono"/>
                <a:sym typeface="Droid Sans Mono"/>
              </a:rPr>
              <a:t>    output = x + y</a:t>
            </a:r>
          </a:p>
          <a:p>
            <a:pPr algn="l" indent="0">
              <a:lnSpc>
                <a:spcPct val="100000"/>
              </a:lnSpc>
            </a:pPr>
            <a:r>
              <a:rPr lang="en-US" b="false" i="false" strike="noStrike" u="none" sz="1200">
                <a:solidFill>
                  <a:srgbClr val="000000"/>
                </a:solidFill>
                <a:latin typeface="Droid Sans Mono"/>
                <a:ea typeface="Droid Sans Mono"/>
                <a:cs typeface="Droid Sans Mono"/>
                <a:sym typeface="Droid Sans Mono"/>
              </a:rPr>
              <a:t>    tl.store(out_ptr + offsets, output, mask=mask)</a:t>
            </a:r>
          </a:p>
        </p:txBody>
      </p:sp>
    </p:spTree>
  </p:cSld>
  <p:clrMapOvr>
    <a:masterClrMapping/>
  </p:clrMapOvr>
  <p:transition main:dur="1000">
    <p:fade thruBlk="false"/>
  </p:transition>
</p:sld>
</file>

<file path=ppt/slides/slide14.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从</a:t>
            </a:r>
            <a:r>
              <a:rPr lang="en-US" b="false" i="false" strike="noStrike" u="none" sz="3600">
                <a:solidFill>
                  <a:srgbClr val="262626"/>
                </a:solidFill>
                <a:latin typeface="Calibri"/>
                <a:ea typeface="Calibri"/>
                <a:cs typeface="Calibri"/>
                <a:sym typeface="Calibri"/>
              </a:rPr>
              <a:t> Python </a:t>
            </a:r>
            <a:r>
              <a:rPr lang="en-US" b="false" i="false" strike="noStrike" u="none" sz="3600">
                <a:solidFill>
                  <a:srgbClr val="262626"/>
                </a:solidFill>
                <a:latin typeface="微软雅黑"/>
                <a:ea typeface="微软雅黑"/>
                <a:cs typeface="微软雅黑"/>
                <a:sym typeface="微软雅黑"/>
              </a:rPr>
              <a:t>启动核函数</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14</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主机与设备的交互</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计算网格大小</a:t>
            </a:r>
          </a:p>
          <a:p>
            <a:pPr algn="l" indent="0" lvl="2" marL="685800">
              <a:lnSpc>
                <a:spcPct val="100000"/>
              </a:lnSpc>
              <a:spcBef>
                <a:spcPts val="750"/>
              </a:spcBef>
            </a:pPr>
            <a:r>
              <a:rPr lang="en-US" b="false" i="false" strike="noStrike" u="none" sz="1600">
                <a:solidFill>
                  <a:srgbClr val="404040"/>
                </a:solidFill>
                <a:latin typeface="Calibri"/>
                <a:ea typeface="Calibri"/>
                <a:cs typeface="Calibri"/>
                <a:sym typeface="Calibri"/>
              </a:rPr>
              <a:t/>
            </a:r>
          </a:p>
          <a:p>
            <a:pPr algn="l" indent="0" lvl="2" marL="685800">
              <a:lnSpc>
                <a:spcPct val="100000"/>
              </a:lnSpc>
              <a:spcBef>
                <a:spcPts val="750"/>
              </a:spcBef>
            </a:pPr>
            <a:r>
              <a:rPr lang="en-US" b="false" i="false" strike="noStrike" u="none" sz="1600">
                <a:solidFill>
                  <a:srgbClr val="404040"/>
                </a:solidFill>
                <a:latin typeface="Calibri"/>
                <a:ea typeface="Calibri"/>
                <a:cs typeface="Calibri"/>
                <a:sym typeface="Calibri"/>
              </a:rPr>
              <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调用语法</a:t>
            </a:r>
          </a:p>
          <a:p>
            <a:pPr algn="l" indent="0" lvl="2" marL="685800">
              <a:lnSpc>
                <a:spcPct val="100000"/>
              </a:lnSpc>
              <a:spcBef>
                <a:spcPts val="750"/>
              </a:spcBef>
            </a:pPr>
            <a:r>
              <a:rPr lang="en-US" b="false" i="false" strike="noStrike" u="none" sz="1600">
                <a:solidFill>
                  <a:srgbClr val="404040"/>
                </a:solidFill>
                <a:latin typeface="Calibri"/>
                <a:ea typeface="Calibri"/>
                <a:cs typeface="Calibri"/>
                <a:sym typeface="Calibri"/>
              </a:rPr>
              <a:t/>
            </a:r>
          </a:p>
          <a:p>
            <a:pPr algn="l" indent="0" lvl="2" marL="685800">
              <a:lnSpc>
                <a:spcPct val="100000"/>
              </a:lnSpc>
              <a:spcBef>
                <a:spcPts val="750"/>
              </a:spcBef>
            </a:pPr>
            <a:r>
              <a:rPr lang="en-US" b="false" i="false" strike="noStrike" u="none" sz="1600">
                <a:solidFill>
                  <a:srgbClr val="404040"/>
                </a:solidFill>
                <a:latin typeface="Calibri"/>
                <a:ea typeface="Calibri"/>
                <a:cs typeface="Calibri"/>
                <a:sym typeface="Calibri"/>
              </a:rPr>
              <a:t/>
            </a:r>
          </a:p>
          <a:p>
            <a:pPr algn="l" indent="0" lvl="2" marL="685800">
              <a:lnSpc>
                <a:spcPct val="100000"/>
              </a:lnSpc>
              <a:spcBef>
                <a:spcPts val="750"/>
              </a:spcBef>
            </a:pPr>
            <a:r>
              <a:rPr lang="en-US" b="false" i="false" strike="noStrike" u="none" sz="1600">
                <a:solidFill>
                  <a:srgbClr val="404040"/>
                </a:solidFill>
                <a:latin typeface="Calibri"/>
                <a:ea typeface="Calibri"/>
                <a:cs typeface="Calibri"/>
                <a:sym typeface="Calibri"/>
              </a:rPr>
              <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关键机制</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惰性编译：</a:t>
            </a:r>
            <a:r>
              <a:rPr lang="en-US" b="false" i="false" strike="noStrike" u="none" sz="2000">
                <a:solidFill>
                  <a:srgbClr val="404040"/>
                </a:solidFill>
                <a:latin typeface="Calibri"/>
                <a:ea typeface="Calibri"/>
                <a:cs typeface="Calibri"/>
                <a:sym typeface="Calibri"/>
              </a:rPr>
              <a:t>Triton </a:t>
            </a:r>
            <a:r>
              <a:rPr lang="en-US" b="false" i="false" strike="noStrike" u="none" sz="2000">
                <a:solidFill>
                  <a:srgbClr val="404040"/>
                </a:solidFill>
                <a:latin typeface="微软雅黑"/>
                <a:ea typeface="微软雅黑"/>
                <a:cs typeface="微软雅黑"/>
                <a:sym typeface="微软雅黑"/>
              </a:rPr>
              <a:t>在核函数首次被调用时进行编译，后续调用几乎无延迟。</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自动调优（预览）：</a:t>
            </a:r>
            <a:r>
              <a:rPr lang="en-US" b="false" i="false" strike="noStrike" u="none" sz="2000">
                <a:solidFill>
                  <a:srgbClr val="404040"/>
                </a:solidFill>
                <a:latin typeface="Calibri"/>
                <a:ea typeface="Calibri"/>
                <a:cs typeface="Calibri"/>
                <a:sym typeface="Calibri"/>
              </a:rPr>
              <a:t>Triton </a:t>
            </a:r>
            <a:r>
              <a:rPr lang="en-US" b="false" i="false" strike="noStrike" u="none" sz="2000">
                <a:solidFill>
                  <a:srgbClr val="404040"/>
                </a:solidFill>
                <a:latin typeface="微软雅黑"/>
                <a:ea typeface="微软雅黑"/>
                <a:cs typeface="微软雅黑"/>
                <a:sym typeface="微软雅黑"/>
              </a:rPr>
              <a:t>可自动测试不同的</a:t>
            </a:r>
            <a:r>
              <a:rPr lang="en-US" b="false" i="false" strike="noStrike" u="none" sz="2000">
                <a:solidFill>
                  <a:srgbClr val="404040"/>
                </a:solidFill>
                <a:latin typeface="Calibri"/>
                <a:ea typeface="Calibri"/>
                <a:cs typeface="Calibri"/>
                <a:sym typeface="Calibri"/>
              </a:rPr>
              <a:t> BLOCK_SIZE </a:t>
            </a:r>
            <a:r>
              <a:rPr lang="en-US" b="false" i="false" strike="noStrike" u="none" sz="2000">
                <a:solidFill>
                  <a:srgbClr val="404040"/>
                </a:solidFill>
                <a:latin typeface="微软雅黑"/>
                <a:ea typeface="微软雅黑"/>
                <a:cs typeface="微软雅黑"/>
                <a:sym typeface="微软雅黑"/>
              </a:rPr>
              <a:t>值，以找到适合特定</a:t>
            </a:r>
            <a:r>
              <a:rPr lang="en-US" b="false" i="false" strike="noStrike" u="none" sz="2000">
                <a:solidFill>
                  <a:srgbClr val="404040"/>
                </a:solidFill>
                <a:latin typeface="Calibri"/>
                <a:ea typeface="Calibri"/>
                <a:cs typeface="Calibri"/>
                <a:sym typeface="Calibri"/>
              </a:rPr>
              <a:t> GPU </a:t>
            </a:r>
            <a:r>
              <a:rPr lang="en-US" b="false" i="false" strike="noStrike" u="none" sz="2000">
                <a:solidFill>
                  <a:srgbClr val="404040"/>
                </a:solidFill>
                <a:latin typeface="微软雅黑"/>
                <a:ea typeface="微软雅黑"/>
                <a:cs typeface="微软雅黑"/>
                <a:sym typeface="微软雅黑"/>
              </a:rPr>
              <a:t>的最优配置。</a:t>
            </a:r>
          </a:p>
        </p:txBody>
      </p:sp>
      <p:sp>
        <p:nvSpPr>
          <p:cNvPr name="AutoShape 6" id="6"/>
          <p:cNvSpPr/>
          <p:nvPr/>
        </p:nvSpPr>
        <p:spPr>
          <a:xfrm rot="0" flipH="false" flipV="false">
            <a:off x="1172210" y="2129790"/>
            <a:ext cx="6407150" cy="460375"/>
          </a:xfrm>
          <a:prstGeom prst="rect">
            <a:avLst/>
          </a:prstGeom>
          <a:noFill/>
          <a:ln w="12700">
            <a:solidFill>
              <a:srgbClr val="262626">
                <a:alpha val="100000"/>
              </a:srgbClr>
            </a:solidFill>
            <a:prstDash val="solid"/>
          </a:ln>
        </p:spPr>
        <p:txBody>
          <a:bodyPr anchor="t" rtlCol="false" wrap="square" lIns="91440" rIns="91440" tIns="45720" bIns="45720">
            <a:spAutoFit/>
          </a:bodyPr>
          <a:lstStyle/>
          <a:p>
            <a:pPr algn="l" indent="-152400" lvl="2" marL="692400">
              <a:lnSpc>
                <a:spcPct val="100000"/>
              </a:lnSpc>
              <a:buChar char=" "/>
              <a:defRPr/>
            </a:pPr>
            <a:r>
              <a:rPr lang="en-US" b="false" i="false" strike="noStrike" u="none" sz="1200">
                <a:solidFill>
                  <a:srgbClr val="000000"/>
                </a:solidFill>
                <a:latin typeface="Droid Sans Mono"/>
                <a:ea typeface="Droid Sans Mono"/>
                <a:cs typeface="Droid Sans Mono"/>
                <a:sym typeface="Droid Sans Mono"/>
              </a:rPr>
              <a:t># </a:t>
            </a:r>
            <a:r>
              <a:rPr lang="en-US" b="false" i="false" strike="noStrike" u="none" sz="1200">
                <a:solidFill>
                  <a:srgbClr val="000000"/>
                </a:solidFill>
                <a:latin typeface="微软雅黑"/>
                <a:ea typeface="微软雅黑"/>
                <a:cs typeface="微软雅黑"/>
                <a:sym typeface="微软雅黑"/>
              </a:rPr>
              <a:t>计算网格大小的常用模式</a:t>
            </a:r>
            <a:endParaRPr lang="en-US" sz="1100"/>
          </a:p>
          <a:p>
            <a:pPr algn="l" indent="-152400" lvl="2" marL="692400">
              <a:lnSpc>
                <a:spcPct val="100000"/>
              </a:lnSpc>
              <a:buChar char=" "/>
            </a:pPr>
            <a:r>
              <a:rPr lang="en-US" b="false" i="false" strike="noStrike" u="none" sz="1200">
                <a:solidFill>
                  <a:srgbClr val="000000"/>
                </a:solidFill>
                <a:latin typeface="Droid Sans Mono"/>
                <a:ea typeface="Droid Sans Mono"/>
                <a:cs typeface="Droid Sans Mono"/>
                <a:sym typeface="Droid Sans Mono"/>
              </a:rPr>
              <a:t>grid = lambda meta: (triton.cdiv(n_elements, meta['BLOCK_SIZE']), )</a:t>
            </a:r>
          </a:p>
        </p:txBody>
      </p:sp>
      <p:sp>
        <p:nvSpPr>
          <p:cNvPr name="AutoShape 7" id="7"/>
          <p:cNvSpPr/>
          <p:nvPr/>
        </p:nvSpPr>
        <p:spPr>
          <a:xfrm rot="0" flipH="false" flipV="false">
            <a:off x="1172210" y="3145790"/>
            <a:ext cx="6407150" cy="802641"/>
          </a:xfrm>
          <a:prstGeom prst="rect">
            <a:avLst/>
          </a:prstGeom>
          <a:noFill/>
          <a:ln w="12700">
            <a:solidFill>
              <a:srgbClr val="262626">
                <a:alpha val="100000"/>
              </a:srgbClr>
            </a:solidFill>
            <a:prstDash val="solid"/>
          </a:ln>
        </p:spPr>
        <p:txBody>
          <a:bodyPr anchor="t" rtlCol="false" wrap="square" lIns="91440" rIns="91440" tIns="45720" bIns="45720">
            <a:spAutoFit/>
          </a:bodyPr>
          <a:lstStyle/>
          <a:p>
            <a:pPr algn="l" indent="-152400" lvl="2" marL="692400">
              <a:lnSpc>
                <a:spcPct val="100000"/>
              </a:lnSpc>
              <a:buChar char=" "/>
              <a:defRPr/>
            </a:pPr>
            <a:r>
              <a:rPr lang="en-US" b="false" i="false" strike="noStrike" u="none" sz="1200">
                <a:solidFill>
                  <a:srgbClr val="000000"/>
                </a:solidFill>
                <a:latin typeface="Droid Sans Mono"/>
                <a:ea typeface="Droid Sans Mono"/>
                <a:cs typeface="Droid Sans Mono"/>
                <a:sym typeface="Droid Sans Mono"/>
              </a:rPr>
              <a:t>add_kernel[grid](</a:t>
            </a:r>
            <a:endParaRPr lang="en-US" sz="1100"/>
          </a:p>
          <a:p>
            <a:pPr algn="l" indent="-152400" lvl="2" marL="692400">
              <a:lnSpc>
                <a:spcPct val="100000"/>
              </a:lnSpc>
              <a:buChar char=" "/>
            </a:pPr>
            <a:r>
              <a:rPr lang="en-US" b="false" i="false" strike="noStrike" u="none" sz="1200">
                <a:solidFill>
                  <a:srgbClr val="000000"/>
                </a:solidFill>
                <a:latin typeface="Droid Sans Mono"/>
                <a:ea typeface="Droid Sans Mono"/>
                <a:cs typeface="Droid Sans Mono"/>
                <a:sym typeface="Droid Sans Mono"/>
              </a:rPr>
              <a:t>    x, y, output, n_elements, </a:t>
            </a:r>
          </a:p>
          <a:p>
            <a:pPr algn="l" indent="-152400" lvl="2" marL="692400">
              <a:lnSpc>
                <a:spcPct val="100000"/>
              </a:lnSpc>
              <a:buChar char=" "/>
            </a:pPr>
            <a:r>
              <a:rPr lang="en-US" b="false" i="false" strike="noStrike" u="none" sz="1200">
                <a:solidFill>
                  <a:srgbClr val="000000"/>
                </a:solidFill>
                <a:latin typeface="Droid Sans Mono"/>
                <a:ea typeface="Droid Sans Mono"/>
                <a:cs typeface="Droid Sans Mono"/>
                <a:sym typeface="Droid Sans Mono"/>
              </a:rPr>
              <a:t>    BLOCK_SIZE=1024  # </a:t>
            </a:r>
            <a:r>
              <a:rPr lang="en-US" b="false" i="false" strike="noStrike" u="none" sz="1200">
                <a:solidFill>
                  <a:srgbClr val="000000"/>
                </a:solidFill>
                <a:latin typeface="微软雅黑"/>
                <a:ea typeface="微软雅黑"/>
                <a:cs typeface="微软雅黑"/>
                <a:sym typeface="微软雅黑"/>
              </a:rPr>
              <a:t>作为</a:t>
            </a:r>
            <a:r>
              <a:rPr lang="en-US" b="false" i="false" strike="noStrike" u="none" sz="1200">
                <a:solidFill>
                  <a:srgbClr val="000000"/>
                </a:solidFill>
                <a:latin typeface="Droid Sans Mono"/>
                <a:ea typeface="Droid Sans Mono"/>
                <a:cs typeface="Droid Sans Mono"/>
                <a:sym typeface="Droid Sans Mono"/>
              </a:rPr>
              <a:t> tl.constexpr </a:t>
            </a:r>
            <a:r>
              <a:rPr lang="en-US" b="false" i="false" strike="noStrike" u="none" sz="1200">
                <a:solidFill>
                  <a:srgbClr val="000000"/>
                </a:solidFill>
                <a:latin typeface="微软雅黑"/>
                <a:ea typeface="微软雅黑"/>
                <a:cs typeface="微软雅黑"/>
                <a:sym typeface="微软雅黑"/>
              </a:rPr>
              <a:t>传入</a:t>
            </a:r>
          </a:p>
          <a:p>
            <a:pPr algn="l" indent="-152400" lvl="2" marL="692400">
              <a:lnSpc>
                <a:spcPct val="100000"/>
              </a:lnSpc>
              <a:buChar char=" "/>
            </a:pPr>
            <a:r>
              <a:rPr lang="en-US" b="false" i="false" strike="noStrike" u="none" sz="1200">
                <a:solidFill>
                  <a:srgbClr val="000000"/>
                </a:solidFill>
                <a:latin typeface="Droid Sans Mono"/>
                <a:ea typeface="Droid Sans Mono"/>
                <a:cs typeface="Droid Sans Mono"/>
                <a:sym typeface="Droid Sans Mono"/>
              </a:rPr>
              <a:t>)</a:t>
            </a:r>
          </a:p>
        </p:txBody>
      </p:sp>
    </p:spTree>
  </p:cSld>
  <p:clrMapOvr>
    <a:masterClrMapping/>
  </p:clrMapOvr>
  <p:transition main:dur="1000">
    <p:fade thruBlk="false"/>
  </p:transition>
</p:sld>
</file>

<file path=ppt/slides/slide15.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200" b="false" i="false" u="none" strike="noStrike" spc="0">
                <a:solidFill>
                  <a:srgbClr val="262626">
                    <a:alpha val="100000"/>
                  </a:srgbClr>
                </a:solidFill>
                <a:latin typeface="微软雅黑"/>
              </a:defRPr>
            </a:lvl1pPr>
          </a:lstStyle>
          <a:p>
            <a:pPr algn="l" indent="0">
              <a:lnSpc>
                <a:spcPct val="100000"/>
              </a:lnSpc>
            </a:pPr>
            <a:r>
              <a:rPr lang="en-US" b="false" i="false" strike="noStrike" u="none" sz="3200">
                <a:solidFill>
                  <a:srgbClr val="262626"/>
                </a:solidFill>
                <a:latin typeface="微软雅黑"/>
                <a:ea typeface="微软雅黑"/>
                <a:cs typeface="微软雅黑"/>
                <a:sym typeface="微软雅黑"/>
              </a:rPr>
              <a:t>编译时常量的威力与核函数特化</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15</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为何使用</a:t>
            </a:r>
            <a:r>
              <a:rPr lang="en-US" b="false" i="false" strike="noStrike" u="none" sz="2400">
                <a:solidFill>
                  <a:srgbClr val="404040"/>
                </a:solidFill>
                <a:latin typeface="Calibri"/>
                <a:ea typeface="Calibri"/>
                <a:cs typeface="Calibri"/>
                <a:sym typeface="Calibri"/>
              </a:rPr>
              <a:t> tl.constexpr</a:t>
            </a:r>
            <a:r>
              <a:rPr lang="en-US" b="false" i="false" strike="noStrike" u="none" sz="24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循环展开：若迭代次数为常量，编译器可对循环进行展开优化。</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共享内存分配：硬件需要在核函数启动前确切知道需要预留多少内存。</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死代码消除：若</a:t>
            </a:r>
            <a:r>
              <a:rPr lang="en-US" b="false" i="false" strike="noStrike" u="none" sz="2000">
                <a:solidFill>
                  <a:srgbClr val="404040"/>
                </a:solidFill>
                <a:latin typeface="Calibri"/>
                <a:ea typeface="Calibri"/>
                <a:cs typeface="Calibri"/>
                <a:sym typeface="Calibri"/>
              </a:rPr>
              <a:t> tl.constexpr </a:t>
            </a:r>
            <a:r>
              <a:rPr lang="en-US" b="false" i="false" strike="noStrike" u="none" sz="2000">
                <a:solidFill>
                  <a:srgbClr val="404040"/>
                </a:solidFill>
                <a:latin typeface="微软雅黑"/>
                <a:ea typeface="微软雅黑"/>
                <a:cs typeface="微软雅黑"/>
                <a:sym typeface="微软雅黑"/>
              </a:rPr>
              <a:t>的值使某个条件恒为</a:t>
            </a:r>
            <a:r>
              <a:rPr lang="en-US" b="false" i="false" strike="noStrike" u="none" sz="2000">
                <a:solidFill>
                  <a:srgbClr val="404040"/>
                </a:solidFill>
                <a:latin typeface="Calibri"/>
                <a:ea typeface="Calibri"/>
                <a:cs typeface="Calibri"/>
                <a:sym typeface="Calibri"/>
              </a:rPr>
              <a:t> False</a:t>
            </a:r>
            <a:r>
              <a:rPr lang="en-US" b="false" i="false" strike="noStrike" u="none" sz="2000">
                <a:solidFill>
                  <a:srgbClr val="404040"/>
                </a:solidFill>
                <a:latin typeface="微软雅黑"/>
                <a:ea typeface="微软雅黑"/>
                <a:cs typeface="微软雅黑"/>
                <a:sym typeface="微软雅黑"/>
              </a:rPr>
              <a:t>，编译器将完全移除该代码段。</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核函数特化</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Triton </a:t>
            </a:r>
            <a:r>
              <a:rPr lang="en-US" b="false" i="false" strike="noStrike" u="none" sz="2000">
                <a:solidFill>
                  <a:srgbClr val="404040"/>
                </a:solidFill>
                <a:latin typeface="微软雅黑"/>
                <a:ea typeface="微软雅黑"/>
                <a:cs typeface="微软雅黑"/>
                <a:sym typeface="微软雅黑"/>
              </a:rPr>
              <a:t>会为每种唯一的</a:t>
            </a:r>
            <a:r>
              <a:rPr lang="en-US" b="false" i="false" strike="noStrike" u="none" sz="2000">
                <a:solidFill>
                  <a:srgbClr val="404040"/>
                </a:solidFill>
                <a:latin typeface="Calibri"/>
                <a:ea typeface="Calibri"/>
                <a:cs typeface="Calibri"/>
                <a:sym typeface="Calibri"/>
              </a:rPr>
              <a:t> constexpr </a:t>
            </a:r>
            <a:r>
              <a:rPr lang="en-US" b="false" i="false" strike="noStrike" u="none" sz="2000">
                <a:solidFill>
                  <a:srgbClr val="404040"/>
                </a:solidFill>
                <a:latin typeface="微软雅黑"/>
                <a:ea typeface="微软雅黑"/>
                <a:cs typeface="微软雅黑"/>
                <a:sym typeface="微软雅黑"/>
              </a:rPr>
              <a:t>值与数据类型组合生成一个新的核函数版本。</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场景</a:t>
            </a:r>
            <a:r>
              <a:rPr lang="en-US" b="false" i="false" strike="noStrike" u="none" sz="2000">
                <a:solidFill>
                  <a:srgbClr val="404040"/>
                </a:solidFill>
                <a:latin typeface="Calibri"/>
                <a:ea typeface="Calibri"/>
                <a:cs typeface="Calibri"/>
                <a:sym typeface="Calibri"/>
              </a:rPr>
              <a:t> A</a:t>
            </a:r>
            <a:r>
              <a:rPr lang="en-US" b="false" i="false" strike="noStrike" u="none" sz="2000">
                <a:solidFill>
                  <a:srgbClr val="404040"/>
                </a:solidFill>
                <a:latin typeface="微软雅黑"/>
                <a:ea typeface="微软雅黑"/>
                <a:cs typeface="微软雅黑"/>
                <a:sym typeface="微软雅黑"/>
              </a:rPr>
              <a:t>：以</a:t>
            </a:r>
            <a:r>
              <a:rPr lang="en-US" b="false" i="false" strike="noStrike" u="none" sz="2000">
                <a:solidFill>
                  <a:srgbClr val="404040"/>
                </a:solidFill>
                <a:latin typeface="Calibri"/>
                <a:ea typeface="Calibri"/>
                <a:cs typeface="Calibri"/>
                <a:sym typeface="Calibri"/>
              </a:rPr>
              <a:t> BLOCK_SIZE=128 </a:t>
            </a:r>
            <a:r>
              <a:rPr lang="en-US" b="false" i="false" strike="noStrike" u="none" sz="2000">
                <a:solidFill>
                  <a:srgbClr val="404040"/>
                </a:solidFill>
                <a:latin typeface="微软雅黑"/>
                <a:ea typeface="微软雅黑"/>
                <a:cs typeface="微软雅黑"/>
                <a:sym typeface="微软雅黑"/>
              </a:rPr>
              <a:t>启动</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编译生成核函数</a:t>
            </a:r>
            <a:r>
              <a:rPr lang="en-US" b="false" i="false" strike="noStrike" u="none" sz="2000">
                <a:solidFill>
                  <a:srgbClr val="404040"/>
                </a:solidFill>
                <a:latin typeface="Calibri"/>
                <a:ea typeface="Calibri"/>
                <a:cs typeface="Calibri"/>
                <a:sym typeface="Calibri"/>
              </a:rPr>
              <a:t> V1</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场景</a:t>
            </a:r>
            <a:r>
              <a:rPr lang="en-US" b="false" i="false" strike="noStrike" u="none" sz="2000">
                <a:solidFill>
                  <a:srgbClr val="404040"/>
                </a:solidFill>
                <a:latin typeface="Calibri"/>
                <a:ea typeface="Calibri"/>
                <a:cs typeface="Calibri"/>
                <a:sym typeface="Calibri"/>
              </a:rPr>
              <a:t> B</a:t>
            </a:r>
            <a:r>
              <a:rPr lang="en-US" b="false" i="false" strike="noStrike" u="none" sz="2000">
                <a:solidFill>
                  <a:srgbClr val="404040"/>
                </a:solidFill>
                <a:latin typeface="微软雅黑"/>
                <a:ea typeface="微软雅黑"/>
                <a:cs typeface="微软雅黑"/>
                <a:sym typeface="微软雅黑"/>
              </a:rPr>
              <a:t>：以</a:t>
            </a:r>
            <a:r>
              <a:rPr lang="en-US" b="false" i="false" strike="noStrike" u="none" sz="2000">
                <a:solidFill>
                  <a:srgbClr val="404040"/>
                </a:solidFill>
                <a:latin typeface="Calibri"/>
                <a:ea typeface="Calibri"/>
                <a:cs typeface="Calibri"/>
                <a:sym typeface="Calibri"/>
              </a:rPr>
              <a:t> BLOCK_SIZE=512 </a:t>
            </a:r>
            <a:r>
              <a:rPr lang="en-US" b="false" i="false" strike="noStrike" u="none" sz="2000">
                <a:solidFill>
                  <a:srgbClr val="404040"/>
                </a:solidFill>
                <a:latin typeface="微软雅黑"/>
                <a:ea typeface="微软雅黑"/>
                <a:cs typeface="微软雅黑"/>
                <a:sym typeface="微软雅黑"/>
              </a:rPr>
              <a:t>启动</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编译生成核函数</a:t>
            </a:r>
            <a:r>
              <a:rPr lang="en-US" b="false" i="false" strike="noStrike" u="none" sz="2000">
                <a:solidFill>
                  <a:srgbClr val="404040"/>
                </a:solidFill>
                <a:latin typeface="Calibri"/>
                <a:ea typeface="Calibri"/>
                <a:cs typeface="Calibri"/>
                <a:sym typeface="Calibri"/>
              </a:rPr>
              <a:t> V2</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结果：运行时无需</a:t>
            </a:r>
            <a:r>
              <a:rPr lang="en-US" b="false" i="false" strike="noStrike" u="none" sz="2000">
                <a:solidFill>
                  <a:srgbClr val="404040"/>
                </a:solidFill>
                <a:latin typeface="Calibri"/>
                <a:ea typeface="Calibri"/>
                <a:cs typeface="Calibri"/>
                <a:sym typeface="Calibri"/>
              </a:rPr>
              <a:t>“if </a:t>
            </a:r>
            <a:r>
              <a:rPr lang="en-US" b="false" i="false" strike="noStrike" u="none" sz="2000">
                <a:solidFill>
                  <a:srgbClr val="404040"/>
                </a:solidFill>
                <a:latin typeface="微软雅黑"/>
                <a:ea typeface="微软雅黑"/>
                <a:cs typeface="微软雅黑"/>
                <a:sym typeface="微软雅黑"/>
              </a:rPr>
              <a:t>语句</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检查块大小；代码针对特定大小硬编码，性能达到最优。</a:t>
            </a:r>
          </a:p>
        </p:txBody>
      </p:sp>
    </p:spTree>
  </p:cSld>
  <p:clrMapOvr>
    <a:masterClrMapping/>
  </p:clrMapOvr>
  <p:transition main:dur="1000">
    <p:fade thruBlk="false"/>
  </p:transition>
</p:sld>
</file>

<file path=ppt/slides/slide16.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迈向二维</a:t>
            </a:r>
            <a:r>
              <a:rPr lang="en-US" b="false" i="false" strike="noStrike" u="none" sz="3600">
                <a:solidFill>
                  <a:srgbClr val="262626"/>
                </a:solidFill>
                <a:latin typeface="Calibri"/>
                <a:ea typeface="Calibri"/>
                <a:cs typeface="Calibri"/>
                <a:sym typeface="Calibri"/>
              </a:rPr>
              <a:t>:</a:t>
            </a:r>
            <a:r>
              <a:rPr lang="en-US" b="false" i="false" strike="noStrike" u="none" sz="3600">
                <a:solidFill>
                  <a:srgbClr val="262626"/>
                </a:solidFill>
                <a:latin typeface="微软雅黑"/>
                <a:ea typeface="微软雅黑"/>
                <a:cs typeface="微软雅黑"/>
                <a:sym typeface="微软雅黑"/>
              </a:rPr>
              <a:t>分块与矩阵乘法</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16</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10000"/>
          </a:bodyPr>
          <a:lstStyle>
            <a:lvl1pPr algn="l">
              <a:lnSpc>
                <a:spcPct val="91666"/>
              </a:lnSpc>
              <a:defRPr sz="2300" b="false" i="false" u="none" strike="noStrike" spc="0">
                <a:solidFill>
                  <a:srgbClr val="404040">
                    <a:alpha val="100000"/>
                  </a:srgbClr>
                </a:solidFill>
                <a:latin typeface="微软雅黑"/>
              </a:defRPr>
            </a:lvl1pPr>
          </a:lstStyle>
          <a:p>
            <a:pPr algn="l" indent="-292100" marL="292100">
              <a:lnSpc>
                <a:spcPct val="91666"/>
              </a:lnSpc>
              <a:spcBef>
                <a:spcPts val="1500"/>
              </a:spcBef>
              <a:buClr>
                <a:srgbClr val="404040"/>
              </a:buClr>
              <a:buChar char="•"/>
            </a:pPr>
            <a:r>
              <a:rPr lang="en-US" b="false" i="false" strike="noStrike" u="none" sz="2300">
                <a:solidFill>
                  <a:srgbClr val="404040"/>
                </a:solidFill>
                <a:latin typeface="微软雅黑"/>
                <a:ea typeface="微软雅黑"/>
                <a:cs typeface="微软雅黑"/>
                <a:sym typeface="微软雅黑"/>
              </a:rPr>
              <a:t>超越向量：以分块方式思考</a:t>
            </a:r>
          </a:p>
          <a:p>
            <a:pPr algn="l" indent="-241300" lvl="1" marL="584200">
              <a:lnSpc>
                <a:spcPct val="91666"/>
              </a:lnSpc>
              <a:spcBef>
                <a:spcPts val="750"/>
              </a:spcBef>
              <a:buClr>
                <a:srgbClr val="404040"/>
              </a:buClr>
              <a:buChar char="•"/>
            </a:pPr>
            <a:r>
              <a:rPr lang="en-US" b="false" i="false" strike="noStrike" u="none" sz="1900">
                <a:solidFill>
                  <a:srgbClr val="404040"/>
                </a:solidFill>
                <a:latin typeface="Calibri"/>
                <a:ea typeface="Calibri"/>
                <a:cs typeface="Calibri"/>
                <a:sym typeface="Calibri"/>
              </a:rPr>
              <a:t>offs_m = tl.arange(0, BLOCK_SIZE_M) (Vertical)</a:t>
            </a:r>
          </a:p>
          <a:p>
            <a:pPr algn="l" indent="-241300" lvl="1" marL="584200">
              <a:lnSpc>
                <a:spcPct val="91666"/>
              </a:lnSpc>
              <a:spcBef>
                <a:spcPts val="750"/>
              </a:spcBef>
              <a:buClr>
                <a:srgbClr val="404040"/>
              </a:buClr>
              <a:buChar char="•"/>
            </a:pPr>
            <a:r>
              <a:rPr lang="en-US" b="false" i="false" strike="noStrike" u="none" sz="1900">
                <a:solidFill>
                  <a:srgbClr val="404040"/>
                </a:solidFill>
                <a:latin typeface="Calibri"/>
                <a:ea typeface="Calibri"/>
                <a:cs typeface="Calibri"/>
                <a:sym typeface="Calibri"/>
              </a:rPr>
              <a:t>offs_n = tl.arange(0, BLOCK_SIZE_N) (Horizontal)</a:t>
            </a:r>
          </a:p>
          <a:p>
            <a:pPr algn="l" indent="-241300" lvl="1" marL="584200">
              <a:lnSpc>
                <a:spcPct val="91666"/>
              </a:lnSpc>
              <a:spcBef>
                <a:spcPts val="750"/>
              </a:spcBef>
              <a:buClr>
                <a:srgbClr val="404040"/>
              </a:buClr>
              <a:buChar char="•"/>
            </a:pPr>
            <a:r>
              <a:rPr lang="en-US" b="false" i="false" strike="noStrike" u="none" sz="1900">
                <a:solidFill>
                  <a:srgbClr val="404040"/>
                </a:solidFill>
                <a:latin typeface="Calibri"/>
                <a:ea typeface="Calibri"/>
                <a:cs typeface="Calibri"/>
                <a:sym typeface="Calibri"/>
              </a:rPr>
              <a:t>tile_pointers = base_ptr + offs_m[:, None] * stride_m + offs_n[None, :] * stride_n</a:t>
            </a:r>
          </a:p>
          <a:p>
            <a:pPr algn="l" indent="-292100" marL="292100">
              <a:lnSpc>
                <a:spcPct val="91666"/>
              </a:lnSpc>
              <a:spcBef>
                <a:spcPts val="1500"/>
              </a:spcBef>
              <a:buClr>
                <a:srgbClr val="404040"/>
              </a:buClr>
              <a:buChar char="•"/>
            </a:pPr>
            <a:r>
              <a:rPr lang="en-US" b="false" i="false" strike="noStrike" u="none" sz="2300">
                <a:solidFill>
                  <a:srgbClr val="404040"/>
                </a:solidFill>
                <a:latin typeface="Calibri"/>
                <a:ea typeface="Calibri"/>
                <a:cs typeface="Calibri"/>
                <a:sym typeface="Calibri"/>
              </a:rPr>
              <a:t>tl.dot </a:t>
            </a:r>
            <a:r>
              <a:rPr lang="en-US" b="false" i="false" strike="noStrike" u="none" sz="2300">
                <a:solidFill>
                  <a:srgbClr val="404040"/>
                </a:solidFill>
                <a:latin typeface="微软雅黑"/>
                <a:ea typeface="微软雅黑"/>
                <a:cs typeface="微软雅黑"/>
                <a:sym typeface="微软雅黑"/>
              </a:rPr>
              <a:t>原语</a:t>
            </a:r>
          </a:p>
          <a:p>
            <a:pPr algn="l" indent="-241300" lvl="1" marL="584200">
              <a:lnSpc>
                <a:spcPct val="91666"/>
              </a:lnSpc>
              <a:spcBef>
                <a:spcPts val="750"/>
              </a:spcBef>
              <a:buClr>
                <a:srgbClr val="404040"/>
              </a:buClr>
              <a:buChar char="•"/>
            </a:pPr>
            <a:r>
              <a:rPr lang="en-US" b="false" i="false" strike="noStrike" u="none" sz="1900">
                <a:solidFill>
                  <a:srgbClr val="404040"/>
                </a:solidFill>
                <a:latin typeface="微软雅黑"/>
                <a:ea typeface="微软雅黑"/>
                <a:cs typeface="微软雅黑"/>
                <a:sym typeface="微软雅黑"/>
              </a:rPr>
              <a:t>矩阵乘法（</a:t>
            </a:r>
            <a:r>
              <a:rPr lang="en-US" b="false" i="false" strike="noStrike" u="none" sz="1900">
                <a:solidFill>
                  <a:srgbClr val="404040"/>
                </a:solidFill>
                <a:latin typeface="Calibri"/>
                <a:ea typeface="Calibri"/>
                <a:cs typeface="Calibri"/>
                <a:sym typeface="Calibri"/>
              </a:rPr>
              <a:t>C = A </a:t>
            </a:r>
            <a:r>
              <a:rPr lang="en-US" b="false" i="false" strike="noStrike" u="none" sz="1900">
                <a:solidFill>
                  <a:srgbClr val="404040"/>
                </a:solidFill>
                <a:latin typeface="微软雅黑"/>
                <a:ea typeface="微软雅黑"/>
                <a:cs typeface="微软雅黑"/>
                <a:sym typeface="微软雅黑"/>
              </a:rPr>
              <a:t>×</a:t>
            </a:r>
            <a:r>
              <a:rPr lang="en-US" b="false" i="false" strike="noStrike" u="none" sz="1900">
                <a:solidFill>
                  <a:srgbClr val="404040"/>
                </a:solidFill>
                <a:latin typeface="Calibri"/>
                <a:ea typeface="Calibri"/>
                <a:cs typeface="Calibri"/>
                <a:sym typeface="Calibri"/>
              </a:rPr>
              <a:t> B</a:t>
            </a:r>
            <a:r>
              <a:rPr lang="en-US" b="false" i="false" strike="noStrike" u="none" sz="1900">
                <a:solidFill>
                  <a:srgbClr val="404040"/>
                </a:solidFill>
                <a:latin typeface="微软雅黑"/>
                <a:ea typeface="微软雅黑"/>
                <a:cs typeface="微软雅黑"/>
                <a:sym typeface="微软雅黑"/>
              </a:rPr>
              <a:t>）是</a:t>
            </a:r>
            <a:r>
              <a:rPr lang="en-US" b="false" i="false" strike="noStrike" u="none" sz="1900">
                <a:solidFill>
                  <a:srgbClr val="404040"/>
                </a:solidFill>
                <a:latin typeface="Calibri"/>
                <a:ea typeface="Calibri"/>
                <a:cs typeface="Calibri"/>
                <a:sym typeface="Calibri"/>
              </a:rPr>
              <a:t> AI </a:t>
            </a:r>
            <a:r>
              <a:rPr lang="en-US" b="false" i="false" strike="noStrike" u="none" sz="1900">
                <a:solidFill>
                  <a:srgbClr val="404040"/>
                </a:solidFill>
                <a:latin typeface="微软雅黑"/>
                <a:ea typeface="微软雅黑"/>
                <a:cs typeface="微软雅黑"/>
                <a:sym typeface="微软雅黑"/>
              </a:rPr>
              <a:t>计算的</a:t>
            </a:r>
            <a:r>
              <a:rPr lang="en-US" b="false" i="false" strike="noStrike" u="none" sz="1900">
                <a:solidFill>
                  <a:srgbClr val="404040"/>
                </a:solidFill>
                <a:latin typeface="Calibri"/>
                <a:ea typeface="Calibri"/>
                <a:cs typeface="Calibri"/>
                <a:sym typeface="Calibri"/>
              </a:rPr>
              <a:t>“</a:t>
            </a:r>
            <a:r>
              <a:rPr lang="en-US" b="false" i="false" strike="noStrike" u="none" sz="1900">
                <a:solidFill>
                  <a:srgbClr val="404040"/>
                </a:solidFill>
                <a:latin typeface="微软雅黑"/>
                <a:ea typeface="微软雅黑"/>
                <a:cs typeface="微软雅黑"/>
                <a:sym typeface="微软雅黑"/>
              </a:rPr>
              <a:t>主力</a:t>
            </a:r>
            <a:r>
              <a:rPr lang="en-US" b="false" i="false" strike="noStrike" u="none" sz="1900">
                <a:solidFill>
                  <a:srgbClr val="404040"/>
                </a:solidFill>
                <a:latin typeface="Calibri"/>
                <a:ea typeface="Calibri"/>
                <a:cs typeface="Calibri"/>
                <a:sym typeface="Calibri"/>
              </a:rPr>
              <a:t>”</a:t>
            </a:r>
            <a:r>
              <a:rPr lang="en-US" b="false" i="false" strike="noStrike" u="none" sz="1900">
                <a:solidFill>
                  <a:srgbClr val="404040"/>
                </a:solidFill>
                <a:latin typeface="微软雅黑"/>
                <a:ea typeface="微软雅黑"/>
                <a:cs typeface="微软雅黑"/>
                <a:sym typeface="微软雅黑"/>
              </a:rPr>
              <a:t>，</a:t>
            </a:r>
            <a:r>
              <a:rPr lang="en-US" b="false" i="false" strike="noStrike" u="none" sz="1900">
                <a:solidFill>
                  <a:srgbClr val="404040"/>
                </a:solidFill>
                <a:latin typeface="Calibri"/>
                <a:ea typeface="Calibri"/>
                <a:cs typeface="Calibri"/>
                <a:sym typeface="Calibri"/>
              </a:rPr>
              <a:t>Triton </a:t>
            </a:r>
            <a:r>
              <a:rPr lang="en-US" b="false" i="false" strike="noStrike" u="none" sz="1900">
                <a:solidFill>
                  <a:srgbClr val="404040"/>
                </a:solidFill>
                <a:latin typeface="微软雅黑"/>
                <a:ea typeface="微软雅黑"/>
                <a:cs typeface="微软雅黑"/>
                <a:sym typeface="微软雅黑"/>
              </a:rPr>
              <a:t>为此提供了硬件加速原语：</a:t>
            </a:r>
          </a:p>
          <a:p>
            <a:pPr algn="l" indent="-241300" lvl="1" marL="584200">
              <a:lnSpc>
                <a:spcPct val="91666"/>
              </a:lnSpc>
              <a:spcBef>
                <a:spcPts val="750"/>
              </a:spcBef>
              <a:buClr>
                <a:srgbClr val="404040"/>
              </a:buClr>
              <a:buChar char="•"/>
            </a:pPr>
            <a:r>
              <a:rPr lang="en-US" b="false" i="false" strike="noStrike" u="none" sz="1900">
                <a:solidFill>
                  <a:srgbClr val="404040"/>
                </a:solidFill>
                <a:latin typeface="微软雅黑"/>
                <a:ea typeface="微软雅黑"/>
                <a:cs typeface="微软雅黑"/>
                <a:sym typeface="微软雅黑"/>
              </a:rPr>
              <a:t>语法：</a:t>
            </a:r>
            <a:r>
              <a:rPr lang="en-US" b="false" i="false" strike="noStrike" u="none" sz="1900">
                <a:solidFill>
                  <a:srgbClr val="404040"/>
                </a:solidFill>
                <a:latin typeface="Calibri"/>
                <a:ea typeface="Calibri"/>
                <a:cs typeface="Calibri"/>
                <a:sym typeface="Calibri"/>
              </a:rPr>
              <a:t>accumulator = tl.dot(a_tile, b_tile, accumulator)</a:t>
            </a:r>
          </a:p>
          <a:p>
            <a:pPr algn="l" indent="-241300" lvl="1" marL="584200">
              <a:lnSpc>
                <a:spcPct val="91666"/>
              </a:lnSpc>
              <a:spcBef>
                <a:spcPts val="750"/>
              </a:spcBef>
              <a:buClr>
                <a:srgbClr val="404040"/>
              </a:buClr>
              <a:buChar char="•"/>
            </a:pPr>
            <a:r>
              <a:rPr lang="en-US" b="false" i="false" strike="noStrike" u="none" sz="1900">
                <a:solidFill>
                  <a:srgbClr val="404040"/>
                </a:solidFill>
                <a:latin typeface="微软雅黑"/>
                <a:ea typeface="微软雅黑"/>
                <a:cs typeface="微软雅黑"/>
                <a:sym typeface="微软雅黑"/>
              </a:rPr>
              <a:t>要求：</a:t>
            </a:r>
            <a:r>
              <a:rPr lang="en-US" b="false" i="false" strike="noStrike" u="none" sz="1900">
                <a:solidFill>
                  <a:srgbClr val="404040"/>
                </a:solidFill>
                <a:latin typeface="Calibri"/>
                <a:ea typeface="Calibri"/>
                <a:cs typeface="Calibri"/>
                <a:sym typeface="Calibri"/>
              </a:rPr>
              <a:t>Triton </a:t>
            </a:r>
            <a:r>
              <a:rPr lang="en-US" b="false" i="false" strike="noStrike" u="none" sz="1900">
                <a:solidFill>
                  <a:srgbClr val="404040"/>
                </a:solidFill>
                <a:latin typeface="微软雅黑"/>
                <a:ea typeface="微软雅黑"/>
                <a:cs typeface="微软雅黑"/>
                <a:sym typeface="微软雅黑"/>
              </a:rPr>
              <a:t>的</a:t>
            </a:r>
            <a:r>
              <a:rPr lang="en-US" b="false" i="false" strike="noStrike" u="none" sz="1900">
                <a:solidFill>
                  <a:srgbClr val="404040"/>
                </a:solidFill>
                <a:latin typeface="Calibri"/>
                <a:ea typeface="Calibri"/>
                <a:cs typeface="Calibri"/>
                <a:sym typeface="Calibri"/>
              </a:rPr>
              <a:t> tl.dot </a:t>
            </a:r>
            <a:r>
              <a:rPr lang="en-US" b="false" i="false" strike="noStrike" u="none" sz="1900">
                <a:solidFill>
                  <a:srgbClr val="404040"/>
                </a:solidFill>
                <a:latin typeface="微软雅黑"/>
                <a:ea typeface="微软雅黑"/>
                <a:cs typeface="微软雅黑"/>
                <a:sym typeface="微软雅黑"/>
              </a:rPr>
              <a:t>要求输入分块大小为</a:t>
            </a:r>
            <a:r>
              <a:rPr lang="en-US" b="false" i="false" strike="noStrike" u="none" sz="1900">
                <a:solidFill>
                  <a:srgbClr val="404040"/>
                </a:solidFill>
                <a:latin typeface="Calibri"/>
                <a:ea typeface="Calibri"/>
                <a:cs typeface="Calibri"/>
                <a:sym typeface="Calibri"/>
              </a:rPr>
              <a:t> 2 </a:t>
            </a:r>
            <a:r>
              <a:rPr lang="en-US" b="false" i="false" strike="noStrike" u="none" sz="1900">
                <a:solidFill>
                  <a:srgbClr val="404040"/>
                </a:solidFill>
                <a:latin typeface="微软雅黑"/>
                <a:ea typeface="微软雅黑"/>
                <a:cs typeface="微软雅黑"/>
                <a:sym typeface="微软雅黑"/>
              </a:rPr>
              <a:t>的幂次，且在各维度上通常至少为</a:t>
            </a:r>
            <a:r>
              <a:rPr lang="en-US" b="false" i="false" strike="noStrike" u="none" sz="1900">
                <a:solidFill>
                  <a:srgbClr val="404040"/>
                </a:solidFill>
                <a:latin typeface="Calibri"/>
                <a:ea typeface="Calibri"/>
                <a:cs typeface="Calibri"/>
                <a:sym typeface="Calibri"/>
              </a:rPr>
              <a:t> 16</a:t>
            </a:r>
            <a:r>
              <a:rPr lang="en-US" b="false" i="false" strike="noStrike" u="none" sz="1900">
                <a:solidFill>
                  <a:srgbClr val="404040"/>
                </a:solidFill>
                <a:latin typeface="微软雅黑"/>
                <a:ea typeface="微软雅黑"/>
                <a:cs typeface="微软雅黑"/>
                <a:sym typeface="微软雅黑"/>
              </a:rPr>
              <a:t>（取决于</a:t>
            </a:r>
            <a:r>
              <a:rPr lang="en-US" b="false" i="false" strike="noStrike" u="none" sz="1900">
                <a:solidFill>
                  <a:srgbClr val="404040"/>
                </a:solidFill>
                <a:latin typeface="Calibri"/>
                <a:ea typeface="Calibri"/>
                <a:cs typeface="Calibri"/>
                <a:sym typeface="Calibri"/>
              </a:rPr>
              <a:t> GPU </a:t>
            </a:r>
            <a:r>
              <a:rPr lang="en-US" b="false" i="false" strike="noStrike" u="none" sz="1900">
                <a:solidFill>
                  <a:srgbClr val="404040"/>
                </a:solidFill>
                <a:latin typeface="微软雅黑"/>
                <a:ea typeface="微软雅黑"/>
                <a:cs typeface="微软雅黑"/>
                <a:sym typeface="微软雅黑"/>
              </a:rPr>
              <a:t>架构）。</a:t>
            </a:r>
          </a:p>
          <a:p>
            <a:pPr algn="l" indent="-292100" marL="292100">
              <a:lnSpc>
                <a:spcPct val="91666"/>
              </a:lnSpc>
              <a:spcBef>
                <a:spcPts val="1500"/>
              </a:spcBef>
              <a:buClr>
                <a:srgbClr val="404040"/>
              </a:buClr>
              <a:buChar char="•"/>
            </a:pPr>
            <a:r>
              <a:rPr lang="en-US" b="false" i="false" strike="noStrike" u="none" sz="2300">
                <a:solidFill>
                  <a:srgbClr val="404040"/>
                </a:solidFill>
                <a:latin typeface="微软雅黑"/>
                <a:ea typeface="微软雅黑"/>
                <a:cs typeface="微软雅黑"/>
                <a:sym typeface="微软雅黑"/>
              </a:rPr>
              <a:t>内存布局：步幅（</a:t>
            </a:r>
            <a:r>
              <a:rPr lang="en-US" b="false" i="false" strike="noStrike" u="none" sz="2300">
                <a:solidFill>
                  <a:srgbClr val="404040"/>
                </a:solidFill>
                <a:latin typeface="Calibri"/>
                <a:ea typeface="Calibri"/>
                <a:cs typeface="Calibri"/>
                <a:sym typeface="Calibri"/>
              </a:rPr>
              <a:t>Stride</a:t>
            </a:r>
            <a:r>
              <a:rPr lang="en-US" b="false" i="false" strike="noStrike" u="none" sz="2300">
                <a:solidFill>
                  <a:srgbClr val="404040"/>
                </a:solidFill>
                <a:latin typeface="微软雅黑"/>
                <a:ea typeface="微软雅黑"/>
                <a:cs typeface="微软雅黑"/>
                <a:sym typeface="微软雅黑"/>
              </a:rPr>
              <a:t>）</a:t>
            </a:r>
          </a:p>
          <a:p>
            <a:pPr algn="l" indent="-241300" lvl="1" marL="584200">
              <a:lnSpc>
                <a:spcPct val="91666"/>
              </a:lnSpc>
              <a:spcBef>
                <a:spcPts val="750"/>
              </a:spcBef>
              <a:buClr>
                <a:srgbClr val="404040"/>
              </a:buClr>
              <a:buChar char="•"/>
            </a:pPr>
            <a:r>
              <a:rPr lang="en-US" b="false" i="false" strike="noStrike" u="none" sz="1900">
                <a:solidFill>
                  <a:srgbClr val="404040"/>
                </a:solidFill>
                <a:latin typeface="微软雅黑"/>
                <a:ea typeface="微软雅黑"/>
                <a:cs typeface="微软雅黑"/>
                <a:sym typeface="微软雅黑"/>
              </a:rPr>
              <a:t>在二维内存中导航时，</a:t>
            </a:r>
            <a:r>
              <a:rPr lang="en-US" b="false" i="false" strike="noStrike" u="none" sz="1900">
                <a:solidFill>
                  <a:srgbClr val="404040"/>
                </a:solidFill>
                <a:latin typeface="Calibri"/>
                <a:ea typeface="Calibri"/>
                <a:cs typeface="Calibri"/>
                <a:sym typeface="Calibri"/>
              </a:rPr>
              <a:t>Triton </a:t>
            </a:r>
            <a:r>
              <a:rPr lang="en-US" b="false" i="false" strike="noStrike" u="none" sz="1900">
                <a:solidFill>
                  <a:srgbClr val="404040"/>
                </a:solidFill>
                <a:latin typeface="微软雅黑"/>
                <a:ea typeface="微软雅黑"/>
                <a:cs typeface="微软雅黑"/>
                <a:sym typeface="微软雅黑"/>
              </a:rPr>
              <a:t>使用步幅（</a:t>
            </a:r>
            <a:r>
              <a:rPr lang="en-US" b="false" i="false" strike="noStrike" u="none" sz="1900">
                <a:solidFill>
                  <a:srgbClr val="404040"/>
                </a:solidFill>
                <a:latin typeface="Calibri"/>
                <a:ea typeface="Calibri"/>
                <a:cs typeface="Calibri"/>
                <a:sym typeface="Calibri"/>
              </a:rPr>
              <a:t>Stride</a:t>
            </a:r>
            <a:r>
              <a:rPr lang="en-US" b="false" i="false" strike="noStrike" u="none" sz="1900">
                <a:solidFill>
                  <a:srgbClr val="404040"/>
                </a:solidFill>
                <a:latin typeface="微软雅黑"/>
                <a:ea typeface="微软雅黑"/>
                <a:cs typeface="微软雅黑"/>
                <a:sym typeface="微软雅黑"/>
              </a:rPr>
              <a:t>）。步幅告知核函数在内存中需跳过多少元素才能移动到下一行或下一列。</a:t>
            </a:r>
          </a:p>
          <a:p>
            <a:pPr algn="l" indent="-241300" lvl="1" marL="584200">
              <a:lnSpc>
                <a:spcPct val="91666"/>
              </a:lnSpc>
              <a:spcBef>
                <a:spcPts val="750"/>
              </a:spcBef>
              <a:buClr>
                <a:srgbClr val="404040"/>
              </a:buClr>
              <a:buChar char="•"/>
            </a:pPr>
            <a:r>
              <a:rPr lang="en-US" b="false" i="false" strike="noStrike" u="none" sz="1900">
                <a:solidFill>
                  <a:srgbClr val="404040"/>
                </a:solidFill>
                <a:latin typeface="Calibri"/>
                <a:ea typeface="Calibri"/>
                <a:cs typeface="Calibri"/>
                <a:sym typeface="Calibri"/>
              </a:rPr>
              <a:t>row_major_stride = [Width, 1]</a:t>
            </a:r>
          </a:p>
        </p:txBody>
      </p:sp>
    </p:spTree>
  </p:cSld>
  <p:clrMapOvr>
    <a:masterClrMapping/>
  </p:clrMapOvr>
  <p:transition main:dur="1000">
    <p:fade thruBlk="false"/>
  </p:transition>
</p:sld>
</file>

<file path=ppt/slides/slide17.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10"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理解内存层次结构</a:t>
            </a:r>
          </a:p>
        </p:txBody>
      </p:sp>
      <p:sp>
        <p:nvSpPr>
          <p:cNvPr name="AutoShape 3" id="3"/>
          <p:cNvSpPr/>
          <p:nvPr>
            <p:ph idx="11"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17</a:t>
            </a:r>
          </a:p>
        </p:txBody>
      </p:sp>
      <p:sp>
        <p:nvSpPr>
          <p:cNvPr name="AutoShape 4" id="4"/>
          <p:cNvSpPr/>
          <p:nvPr>
            <p:ph idx="12" type="body" sz="quarter" hasCustomPrompt="true"/>
          </p:nvPr>
        </p:nvSpPr>
        <p:spPr>
          <a:prstGeom prst="rect">
            <a:avLst/>
          </a:prstGeom>
        </p:spPr>
        <p:txBody>
          <a:bodyPr anchor="t" wrap="square" lIns="91440" rIns="91440" tIns="45720" bIns="45720">
            <a:normAutofit lnSpcReduction="20000"/>
          </a:bodyPr>
          <a:lstStyle>
            <a:lvl1pPr algn="l">
              <a:lnSpc>
                <a:spcPct val="83333"/>
              </a:lnSpc>
              <a:defRPr sz="2200" b="false" i="false" u="none" strike="noStrike" spc="0">
                <a:solidFill>
                  <a:srgbClr val="404040">
                    <a:alpha val="100000"/>
                  </a:srgbClr>
                </a:solidFill>
                <a:latin typeface="微软雅黑"/>
              </a:defRPr>
            </a:lvl1pPr>
          </a:lstStyle>
          <a:p>
            <a:pPr algn="l" indent="-279400" marL="279400">
              <a:lnSpc>
                <a:spcPct val="83333"/>
              </a:lnSpc>
              <a:spcBef>
                <a:spcPts val="1500"/>
              </a:spcBef>
              <a:buClr>
                <a:srgbClr val="404040"/>
              </a:buClr>
              <a:buChar char="•"/>
            </a:pPr>
            <a:r>
              <a:rPr lang="en-US" b="false" i="false" strike="noStrike" u="none" sz="2200">
                <a:solidFill>
                  <a:srgbClr val="404040"/>
                </a:solidFill>
                <a:latin typeface="微软雅黑"/>
                <a:ea typeface="微软雅黑"/>
                <a:cs typeface="微软雅黑"/>
                <a:sym typeface="微软雅黑"/>
              </a:rPr>
              <a:t>全局内存（</a:t>
            </a:r>
            <a:r>
              <a:rPr lang="en-US" b="false" i="false" strike="noStrike" u="none" sz="2200">
                <a:solidFill>
                  <a:srgbClr val="404040"/>
                </a:solidFill>
                <a:latin typeface="Calibri"/>
                <a:ea typeface="Calibri"/>
                <a:cs typeface="Calibri"/>
                <a:sym typeface="Calibri"/>
              </a:rPr>
              <a:t>DRAM</a:t>
            </a:r>
            <a:r>
              <a:rPr lang="en-US" b="false" i="false" strike="noStrike" u="none" sz="2200">
                <a:solidFill>
                  <a:srgbClr val="404040"/>
                </a:solidFill>
                <a:latin typeface="微软雅黑"/>
                <a:ea typeface="微软雅黑"/>
                <a:cs typeface="微软雅黑"/>
                <a:sym typeface="微软雅黑"/>
              </a:rPr>
              <a:t>）</a:t>
            </a:r>
          </a:p>
          <a:p>
            <a:pPr algn="l" indent="-228600" lvl="1" marL="571500">
              <a:lnSpc>
                <a:spcPct val="83333"/>
              </a:lnSpc>
              <a:spcBef>
                <a:spcPts val="750"/>
              </a:spcBef>
              <a:buClr>
                <a:srgbClr val="404040"/>
              </a:buClr>
              <a:buChar char="•"/>
            </a:pPr>
            <a:r>
              <a:rPr lang="en-US" b="false" i="false" strike="noStrike" u="none" sz="1800">
                <a:solidFill>
                  <a:srgbClr val="404040"/>
                </a:solidFill>
                <a:latin typeface="微软雅黑"/>
                <a:ea typeface="微软雅黑"/>
                <a:cs typeface="微软雅黑"/>
                <a:sym typeface="微软雅黑"/>
              </a:rPr>
              <a:t>位置：</a:t>
            </a:r>
            <a:r>
              <a:rPr lang="en-US" b="false" i="false" strike="noStrike" u="none" sz="1800">
                <a:solidFill>
                  <a:srgbClr val="404040"/>
                </a:solidFill>
                <a:latin typeface="Calibri"/>
                <a:ea typeface="Calibri"/>
                <a:cs typeface="Calibri"/>
                <a:sym typeface="Calibri"/>
              </a:rPr>
              <a:t>GPU </a:t>
            </a:r>
            <a:r>
              <a:rPr lang="en-US" b="false" i="false" strike="noStrike" u="none" sz="1800">
                <a:solidFill>
                  <a:srgbClr val="404040"/>
                </a:solidFill>
                <a:latin typeface="微软雅黑"/>
                <a:ea typeface="微软雅黑"/>
                <a:cs typeface="微软雅黑"/>
                <a:sym typeface="微软雅黑"/>
              </a:rPr>
              <a:t>上容量大但速度较慢的内存（如</a:t>
            </a:r>
            <a:r>
              <a:rPr lang="en-US" b="false" i="false" strike="noStrike" u="none" sz="1800">
                <a:solidFill>
                  <a:srgbClr val="404040"/>
                </a:solidFill>
                <a:latin typeface="Calibri"/>
                <a:ea typeface="Calibri"/>
                <a:cs typeface="Calibri"/>
                <a:sym typeface="Calibri"/>
              </a:rPr>
              <a:t> 16GB HBM</a:t>
            </a:r>
            <a:r>
              <a:rPr lang="en-US" b="false" i="false" strike="noStrike" u="none" sz="1800">
                <a:solidFill>
                  <a:srgbClr val="404040"/>
                </a:solidFill>
                <a:latin typeface="微软雅黑"/>
                <a:ea typeface="微软雅黑"/>
                <a:cs typeface="微软雅黑"/>
                <a:sym typeface="微软雅黑"/>
              </a:rPr>
              <a:t>）。</a:t>
            </a:r>
          </a:p>
          <a:p>
            <a:pPr algn="l" indent="-228600" lvl="1" marL="571500">
              <a:lnSpc>
                <a:spcPct val="83333"/>
              </a:lnSpc>
              <a:spcBef>
                <a:spcPts val="750"/>
              </a:spcBef>
              <a:buClr>
                <a:srgbClr val="404040"/>
              </a:buClr>
              <a:buChar char="•"/>
            </a:pPr>
            <a:r>
              <a:rPr lang="en-US" b="false" i="false" strike="noStrike" u="none" sz="1800">
                <a:solidFill>
                  <a:srgbClr val="404040"/>
                </a:solidFill>
                <a:latin typeface="微软雅黑"/>
                <a:ea typeface="微软雅黑"/>
                <a:cs typeface="微软雅黑"/>
                <a:sym typeface="微软雅黑"/>
              </a:rPr>
              <a:t>作用：存储输入和输出张量（</a:t>
            </a:r>
            <a:r>
              <a:rPr lang="en-US" b="false" i="false" strike="noStrike" u="none" sz="1800">
                <a:solidFill>
                  <a:srgbClr val="404040"/>
                </a:solidFill>
                <a:latin typeface="Calibri"/>
                <a:ea typeface="Calibri"/>
                <a:cs typeface="Calibri"/>
                <a:sym typeface="Calibri"/>
              </a:rPr>
              <a:t>PyTorch </a:t>
            </a:r>
            <a:r>
              <a:rPr lang="en-US" b="false" i="false" strike="noStrike" u="none" sz="1800">
                <a:solidFill>
                  <a:srgbClr val="404040"/>
                </a:solidFill>
                <a:latin typeface="微软雅黑"/>
                <a:ea typeface="微软雅黑"/>
                <a:cs typeface="微软雅黑"/>
                <a:sym typeface="微软雅黑"/>
              </a:rPr>
              <a:t>张量）。</a:t>
            </a:r>
          </a:p>
          <a:p>
            <a:pPr algn="l" indent="-228600" lvl="1" marL="571500">
              <a:lnSpc>
                <a:spcPct val="83333"/>
              </a:lnSpc>
              <a:spcBef>
                <a:spcPts val="750"/>
              </a:spcBef>
              <a:buClr>
                <a:srgbClr val="404040"/>
              </a:buClr>
              <a:buChar char="•"/>
            </a:pPr>
            <a:r>
              <a:rPr lang="en-US" b="false" i="false" strike="noStrike" u="none" sz="1800">
                <a:solidFill>
                  <a:srgbClr val="404040"/>
                </a:solidFill>
                <a:latin typeface="微软雅黑"/>
                <a:ea typeface="微软雅黑"/>
                <a:cs typeface="微软雅黑"/>
                <a:sym typeface="微软雅黑"/>
              </a:rPr>
              <a:t>访问：代价较高。通过</a:t>
            </a:r>
            <a:r>
              <a:rPr lang="en-US" b="false" i="false" strike="noStrike" u="none" sz="1800">
                <a:solidFill>
                  <a:srgbClr val="404040"/>
                </a:solidFill>
                <a:latin typeface="Calibri"/>
                <a:ea typeface="Calibri"/>
                <a:cs typeface="Calibri"/>
                <a:sym typeface="Calibri"/>
              </a:rPr>
              <a:t> tl.load </a:t>
            </a:r>
            <a:r>
              <a:rPr lang="en-US" b="false" i="false" strike="noStrike" u="none" sz="1800">
                <a:solidFill>
                  <a:srgbClr val="404040"/>
                </a:solidFill>
                <a:latin typeface="微软雅黑"/>
                <a:ea typeface="微软雅黑"/>
                <a:cs typeface="微软雅黑"/>
                <a:sym typeface="微软雅黑"/>
              </a:rPr>
              <a:t>和</a:t>
            </a:r>
            <a:r>
              <a:rPr lang="en-US" b="false" i="false" strike="noStrike" u="none" sz="1800">
                <a:solidFill>
                  <a:srgbClr val="404040"/>
                </a:solidFill>
                <a:latin typeface="Calibri"/>
                <a:ea typeface="Calibri"/>
                <a:cs typeface="Calibri"/>
                <a:sym typeface="Calibri"/>
              </a:rPr>
              <a:t> tl.store </a:t>
            </a:r>
            <a:r>
              <a:rPr lang="en-US" b="false" i="false" strike="noStrike" u="none" sz="1800">
                <a:solidFill>
                  <a:srgbClr val="404040"/>
                </a:solidFill>
                <a:latin typeface="微软雅黑"/>
                <a:ea typeface="微软雅黑"/>
                <a:cs typeface="微软雅黑"/>
                <a:sym typeface="微软雅黑"/>
              </a:rPr>
              <a:t>进行访问。</a:t>
            </a:r>
          </a:p>
          <a:p>
            <a:pPr algn="l" indent="-279400" marL="279400">
              <a:lnSpc>
                <a:spcPct val="83333"/>
              </a:lnSpc>
              <a:spcBef>
                <a:spcPts val="1500"/>
              </a:spcBef>
              <a:buClr>
                <a:srgbClr val="404040"/>
              </a:buClr>
              <a:buChar char="•"/>
            </a:pPr>
            <a:r>
              <a:rPr lang="en-US" b="false" i="false" strike="noStrike" u="none" sz="2200">
                <a:solidFill>
                  <a:srgbClr val="404040"/>
                </a:solidFill>
                <a:latin typeface="微软雅黑"/>
                <a:ea typeface="微软雅黑"/>
                <a:cs typeface="微软雅黑"/>
                <a:sym typeface="微软雅黑"/>
              </a:rPr>
              <a:t>共享内存（</a:t>
            </a:r>
            <a:r>
              <a:rPr lang="en-US" b="false" i="false" strike="noStrike" u="none" sz="2200">
                <a:solidFill>
                  <a:srgbClr val="404040"/>
                </a:solidFill>
                <a:latin typeface="Calibri"/>
                <a:ea typeface="Calibri"/>
                <a:cs typeface="Calibri"/>
                <a:sym typeface="Calibri"/>
              </a:rPr>
              <a:t>SRAM</a:t>
            </a:r>
            <a:r>
              <a:rPr lang="en-US" b="false" i="false" strike="noStrike" u="none" sz="2200">
                <a:solidFill>
                  <a:srgbClr val="404040"/>
                </a:solidFill>
                <a:latin typeface="微软雅黑"/>
                <a:ea typeface="微软雅黑"/>
                <a:cs typeface="微软雅黑"/>
                <a:sym typeface="微软雅黑"/>
              </a:rPr>
              <a:t>）</a:t>
            </a:r>
          </a:p>
          <a:p>
            <a:pPr algn="l" indent="-228600" lvl="1" marL="571500">
              <a:lnSpc>
                <a:spcPct val="83333"/>
              </a:lnSpc>
              <a:spcBef>
                <a:spcPts val="750"/>
              </a:spcBef>
              <a:buClr>
                <a:srgbClr val="404040"/>
              </a:buClr>
              <a:buChar char="•"/>
            </a:pPr>
            <a:r>
              <a:rPr lang="en-US" b="false" i="false" strike="noStrike" u="none" sz="1800">
                <a:solidFill>
                  <a:srgbClr val="404040"/>
                </a:solidFill>
                <a:latin typeface="微软雅黑"/>
                <a:ea typeface="微软雅黑"/>
                <a:cs typeface="微软雅黑"/>
                <a:sym typeface="微软雅黑"/>
              </a:rPr>
              <a:t>位置：由多处理器共享的高速片上内存。</a:t>
            </a:r>
          </a:p>
          <a:p>
            <a:pPr algn="l" indent="-228600" lvl="1" marL="571500">
              <a:lnSpc>
                <a:spcPct val="83333"/>
              </a:lnSpc>
              <a:spcBef>
                <a:spcPts val="750"/>
              </a:spcBef>
              <a:buClr>
                <a:srgbClr val="404040"/>
              </a:buClr>
              <a:buChar char="•"/>
            </a:pPr>
            <a:r>
              <a:rPr lang="en-US" b="false" i="false" strike="noStrike" u="none" sz="1800">
                <a:solidFill>
                  <a:srgbClr val="404040"/>
                </a:solidFill>
                <a:latin typeface="Calibri"/>
                <a:ea typeface="Calibri"/>
                <a:cs typeface="Calibri"/>
                <a:sym typeface="Calibri"/>
              </a:rPr>
              <a:t>Triton</a:t>
            </a:r>
            <a:r>
              <a:rPr lang="en-US" b="false" i="false" strike="noStrike" u="none" sz="1800">
                <a:solidFill>
                  <a:srgbClr val="404040"/>
                </a:solidFill>
                <a:latin typeface="微软雅黑"/>
                <a:ea typeface="微软雅黑"/>
                <a:cs typeface="微软雅黑"/>
                <a:sym typeface="微软雅黑"/>
              </a:rPr>
              <a:t>的优势：在</a:t>
            </a:r>
            <a:r>
              <a:rPr lang="en-US" b="false" i="false" strike="noStrike" u="none" sz="1800">
                <a:solidFill>
                  <a:srgbClr val="404040"/>
                </a:solidFill>
                <a:latin typeface="Calibri"/>
                <a:ea typeface="Calibri"/>
                <a:cs typeface="Calibri"/>
                <a:sym typeface="Calibri"/>
              </a:rPr>
              <a:t> CUDA </a:t>
            </a:r>
            <a:r>
              <a:rPr lang="en-US" b="false" i="false" strike="noStrike" u="none" sz="1800">
                <a:solidFill>
                  <a:srgbClr val="404040"/>
                </a:solidFill>
                <a:latin typeface="微软雅黑"/>
                <a:ea typeface="微软雅黑"/>
                <a:cs typeface="微软雅黑"/>
                <a:sym typeface="微软雅黑"/>
              </a:rPr>
              <a:t>中需手动管理共享内存（</a:t>
            </a:r>
            <a:r>
              <a:rPr lang="en-US" b="false" i="false" strike="noStrike" u="none" sz="1800">
                <a:solidFill>
                  <a:srgbClr val="404040"/>
                </a:solidFill>
                <a:latin typeface="Calibri"/>
                <a:ea typeface="Calibri"/>
                <a:cs typeface="Calibri"/>
                <a:sym typeface="Calibri"/>
              </a:rPr>
              <a:t>__shared__</a:t>
            </a:r>
            <a:r>
              <a:rPr lang="en-US" b="false" i="false" strike="noStrike" u="none" sz="1800">
                <a:solidFill>
                  <a:srgbClr val="404040"/>
                </a:solidFill>
                <a:latin typeface="微软雅黑"/>
                <a:ea typeface="微软雅黑"/>
                <a:cs typeface="微软雅黑"/>
                <a:sym typeface="微软雅黑"/>
              </a:rPr>
              <a:t>）；在</a:t>
            </a:r>
            <a:r>
              <a:rPr lang="en-US" b="false" i="false" strike="noStrike" u="none" sz="1800">
                <a:solidFill>
                  <a:srgbClr val="404040"/>
                </a:solidFill>
                <a:latin typeface="Calibri"/>
                <a:ea typeface="Calibri"/>
                <a:cs typeface="Calibri"/>
                <a:sym typeface="Calibri"/>
              </a:rPr>
              <a:t> Triton </a:t>
            </a:r>
            <a:r>
              <a:rPr lang="en-US" b="false" i="false" strike="noStrike" u="none" sz="1800">
                <a:solidFill>
                  <a:srgbClr val="404040"/>
                </a:solidFill>
                <a:latin typeface="微软雅黑"/>
                <a:ea typeface="微软雅黑"/>
                <a:cs typeface="微软雅黑"/>
                <a:sym typeface="微软雅黑"/>
              </a:rPr>
              <a:t>中，编译器自动使用</a:t>
            </a:r>
            <a:r>
              <a:rPr lang="en-US" b="false" i="false" strike="noStrike" u="none" sz="1800">
                <a:solidFill>
                  <a:srgbClr val="404040"/>
                </a:solidFill>
                <a:latin typeface="Calibri"/>
                <a:ea typeface="Calibri"/>
                <a:cs typeface="Calibri"/>
                <a:sym typeface="Calibri"/>
              </a:rPr>
              <a:t> SRAM </a:t>
            </a:r>
            <a:r>
              <a:rPr lang="en-US" b="false" i="false" strike="noStrike" u="none" sz="1800">
                <a:solidFill>
                  <a:srgbClr val="404040"/>
                </a:solidFill>
                <a:latin typeface="微软雅黑"/>
                <a:ea typeface="微软雅黑"/>
                <a:cs typeface="微软雅黑"/>
                <a:sym typeface="微软雅黑"/>
              </a:rPr>
              <a:t>在</a:t>
            </a:r>
            <a:r>
              <a:rPr lang="en-US" b="false" i="false" strike="noStrike" u="none" sz="1800">
                <a:solidFill>
                  <a:srgbClr val="404040"/>
                </a:solidFill>
                <a:latin typeface="Calibri"/>
                <a:ea typeface="Calibri"/>
                <a:cs typeface="Calibri"/>
                <a:sym typeface="Calibri"/>
              </a:rPr>
              <a:t> tl.dot </a:t>
            </a:r>
            <a:r>
              <a:rPr lang="en-US" b="false" i="false" strike="noStrike" u="none" sz="1800">
                <a:solidFill>
                  <a:srgbClr val="404040"/>
                </a:solidFill>
                <a:latin typeface="微软雅黑"/>
                <a:ea typeface="微软雅黑"/>
                <a:cs typeface="微软雅黑"/>
                <a:sym typeface="微软雅黑"/>
              </a:rPr>
              <a:t>等操作中缓冲数据。</a:t>
            </a:r>
          </a:p>
          <a:p>
            <a:pPr algn="l" indent="-279400" marL="279400">
              <a:lnSpc>
                <a:spcPct val="83333"/>
              </a:lnSpc>
              <a:spcBef>
                <a:spcPts val="1500"/>
              </a:spcBef>
              <a:buClr>
                <a:srgbClr val="404040"/>
              </a:buClr>
              <a:buChar char="•"/>
            </a:pPr>
            <a:r>
              <a:rPr lang="en-US" b="false" i="false" strike="noStrike" u="none" sz="2200">
                <a:solidFill>
                  <a:srgbClr val="404040"/>
                </a:solidFill>
                <a:latin typeface="微软雅黑"/>
                <a:ea typeface="微软雅黑"/>
                <a:cs typeface="微软雅黑"/>
                <a:sym typeface="微软雅黑"/>
              </a:rPr>
              <a:t>寄存器</a:t>
            </a:r>
          </a:p>
          <a:p>
            <a:pPr algn="l" indent="-228600" lvl="1" marL="571500">
              <a:lnSpc>
                <a:spcPct val="83333"/>
              </a:lnSpc>
              <a:spcBef>
                <a:spcPts val="750"/>
              </a:spcBef>
              <a:buClr>
                <a:srgbClr val="404040"/>
              </a:buClr>
              <a:buChar char="•"/>
            </a:pPr>
            <a:r>
              <a:rPr lang="en-US" b="false" i="false" strike="noStrike" u="none" sz="1800">
                <a:solidFill>
                  <a:srgbClr val="404040"/>
                </a:solidFill>
                <a:latin typeface="微软雅黑"/>
                <a:ea typeface="微软雅黑"/>
                <a:cs typeface="微软雅黑"/>
                <a:sym typeface="微软雅黑"/>
              </a:rPr>
              <a:t>位置：</a:t>
            </a:r>
            <a:r>
              <a:rPr lang="en-US" b="false" i="false" strike="noStrike" u="none" sz="1800">
                <a:solidFill>
                  <a:srgbClr val="404040"/>
                </a:solidFill>
                <a:latin typeface="Calibri"/>
                <a:ea typeface="Calibri"/>
                <a:cs typeface="Calibri"/>
                <a:sym typeface="Calibri"/>
              </a:rPr>
              <a:t>“</a:t>
            </a:r>
            <a:r>
              <a:rPr lang="en-US" b="false" i="false" strike="noStrike" u="none" sz="1800">
                <a:solidFill>
                  <a:srgbClr val="404040"/>
                </a:solidFill>
                <a:latin typeface="微软雅黑"/>
                <a:ea typeface="微软雅黑"/>
                <a:cs typeface="微软雅黑"/>
                <a:sym typeface="微软雅黑"/>
              </a:rPr>
              <a:t>程序</a:t>
            </a:r>
            <a:r>
              <a:rPr lang="en-US" b="false" i="false" strike="noStrike" u="none" sz="1800">
                <a:solidFill>
                  <a:srgbClr val="404040"/>
                </a:solidFill>
                <a:latin typeface="Calibri"/>
                <a:ea typeface="Calibri"/>
                <a:cs typeface="Calibri"/>
                <a:sym typeface="Calibri"/>
              </a:rPr>
              <a:t>”</a:t>
            </a:r>
            <a:r>
              <a:rPr lang="en-US" b="false" i="false" strike="noStrike" u="none" sz="1800">
                <a:solidFill>
                  <a:srgbClr val="404040"/>
                </a:solidFill>
                <a:latin typeface="微软雅黑"/>
                <a:ea typeface="微软雅黑"/>
                <a:cs typeface="微软雅黑"/>
                <a:sym typeface="微软雅黑"/>
              </a:rPr>
              <a:t>中速度最快的即时存储单元。</a:t>
            </a:r>
          </a:p>
          <a:p>
            <a:pPr algn="l" indent="-228600" lvl="1" marL="571500">
              <a:lnSpc>
                <a:spcPct val="83333"/>
              </a:lnSpc>
              <a:spcBef>
                <a:spcPts val="750"/>
              </a:spcBef>
              <a:buClr>
                <a:srgbClr val="404040"/>
              </a:buClr>
              <a:buChar char="•"/>
            </a:pPr>
            <a:r>
              <a:rPr lang="en-US" b="false" i="false" strike="noStrike" u="none" sz="1800">
                <a:solidFill>
                  <a:srgbClr val="404040"/>
                </a:solidFill>
                <a:latin typeface="微软雅黑"/>
                <a:ea typeface="微软雅黑"/>
                <a:cs typeface="微软雅黑"/>
                <a:sym typeface="微软雅黑"/>
              </a:rPr>
              <a:t>作用：实际算术运算（</a:t>
            </a:r>
            <a:r>
              <a:rPr lang="en-US" b="false" i="false" strike="noStrike" u="none" sz="1800">
                <a:solidFill>
                  <a:srgbClr val="404040"/>
                </a:solidFill>
                <a:latin typeface="Calibri"/>
                <a:ea typeface="Calibri"/>
                <a:cs typeface="Calibri"/>
                <a:sym typeface="Calibri"/>
              </a:rPr>
              <a:t>+</a:t>
            </a:r>
            <a:r>
              <a:rPr lang="en-US" b="false" i="false" strike="noStrike" u="none" sz="1800">
                <a:solidFill>
                  <a:srgbClr val="404040"/>
                </a:solidFill>
                <a:latin typeface="微软雅黑"/>
                <a:ea typeface="微软雅黑"/>
                <a:cs typeface="微软雅黑"/>
                <a:sym typeface="微软雅黑"/>
              </a:rPr>
              <a:t>、</a:t>
            </a:r>
            <a:r>
              <a:rPr lang="en-US" b="false" i="false" strike="noStrike" u="none" sz="1800">
                <a:solidFill>
                  <a:srgbClr val="404040"/>
                </a:solidFill>
                <a:latin typeface="Calibri"/>
                <a:ea typeface="Calibri"/>
                <a:cs typeface="Calibri"/>
                <a:sym typeface="Calibri"/>
              </a:rPr>
              <a:t>-</a:t>
            </a:r>
            <a:r>
              <a:rPr lang="en-US" b="false" i="false" strike="noStrike" u="none" sz="1800">
                <a:solidFill>
                  <a:srgbClr val="404040"/>
                </a:solidFill>
                <a:latin typeface="微软雅黑"/>
                <a:ea typeface="微软雅黑"/>
                <a:cs typeface="微软雅黑"/>
                <a:sym typeface="微软雅黑"/>
              </a:rPr>
              <a:t>、×）发生之处。容量最小；</a:t>
            </a:r>
            <a:r>
              <a:rPr lang="en-US" b="false" i="false" strike="noStrike" u="none" sz="1800">
                <a:solidFill>
                  <a:srgbClr val="404040"/>
                </a:solidFill>
                <a:latin typeface="Calibri"/>
                <a:ea typeface="Calibri"/>
                <a:cs typeface="Calibri"/>
                <a:sym typeface="Calibri"/>
              </a:rPr>
              <a:t>Triton </a:t>
            </a:r>
            <a:r>
              <a:rPr lang="en-US" b="false" i="false" strike="noStrike" u="none" sz="1800">
                <a:solidFill>
                  <a:srgbClr val="404040"/>
                </a:solidFill>
                <a:latin typeface="微软雅黑"/>
                <a:ea typeface="微软雅黑"/>
                <a:cs typeface="微软雅黑"/>
                <a:sym typeface="微软雅黑"/>
              </a:rPr>
              <a:t>对寄存器分配进行优化以防止</a:t>
            </a:r>
            <a:r>
              <a:rPr lang="en-US" b="false" i="false" strike="noStrike" u="none" sz="1800">
                <a:solidFill>
                  <a:srgbClr val="404040"/>
                </a:solidFill>
                <a:latin typeface="Calibri"/>
                <a:ea typeface="Calibri"/>
                <a:cs typeface="Calibri"/>
                <a:sym typeface="Calibri"/>
              </a:rPr>
              <a:t>“</a:t>
            </a:r>
            <a:r>
              <a:rPr lang="en-US" b="false" i="false" strike="noStrike" u="none" sz="1800">
                <a:solidFill>
                  <a:srgbClr val="404040"/>
                </a:solidFill>
                <a:latin typeface="微软雅黑"/>
                <a:ea typeface="微软雅黑"/>
                <a:cs typeface="微软雅黑"/>
                <a:sym typeface="微软雅黑"/>
              </a:rPr>
              <a:t>寄存器溢出</a:t>
            </a:r>
            <a:r>
              <a:rPr lang="en-US" b="false" i="false" strike="noStrike" u="none" sz="1800">
                <a:solidFill>
                  <a:srgbClr val="404040"/>
                </a:solidFill>
                <a:latin typeface="Calibri"/>
                <a:ea typeface="Calibri"/>
                <a:cs typeface="Calibri"/>
                <a:sym typeface="Calibri"/>
              </a:rPr>
              <a:t>”</a:t>
            </a:r>
            <a:r>
              <a:rPr lang="en-US" b="false" i="false" strike="noStrike" u="none" sz="1800">
                <a:solidFill>
                  <a:srgbClr val="404040"/>
                </a:solidFill>
                <a:latin typeface="微软雅黑"/>
                <a:ea typeface="微软雅黑"/>
                <a:cs typeface="微软雅黑"/>
                <a:sym typeface="微软雅黑"/>
              </a:rPr>
              <a:t>。</a:t>
            </a:r>
          </a:p>
          <a:p>
            <a:pPr algn="l" indent="0">
              <a:lnSpc>
                <a:spcPct val="83333"/>
              </a:lnSpc>
              <a:spcBef>
                <a:spcPts val="1500"/>
              </a:spcBef>
            </a:pPr>
            <a:r>
              <a:rPr lang="en-US" b="false" i="false" strike="noStrike" u="none" sz="2200">
                <a:solidFill>
                  <a:srgbClr val="404040"/>
                </a:solidFill>
                <a:latin typeface="Calibri"/>
                <a:ea typeface="Calibri"/>
                <a:cs typeface="Calibri"/>
                <a:sym typeface="Calibri"/>
              </a:rPr>
              <a:t> </a:t>
            </a:r>
          </a:p>
        </p:txBody>
      </p:sp>
      <p:sp>
        <p:nvSpPr>
          <p:cNvPr name="AutoShape 5" id="5"/>
          <p:cNvSpPr/>
          <p:nvPr>
            <p:ph idx="13"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6" id="6"/>
          <p:cNvSpPr/>
          <p:nvPr>
            <p:ph idx="14"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数据流向</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加载：全局内存</a:t>
            </a:r>
            <a:r>
              <a:rPr lang="en-US" b="false" i="false" strike="noStrike" u="none" sz="2000">
                <a:solidFill>
                  <a:srgbClr val="404040"/>
                </a:solidFill>
                <a:latin typeface="Calibri"/>
                <a:ea typeface="Calibri"/>
                <a:cs typeface="Calibri"/>
                <a:sym typeface="Calibri"/>
              </a:rPr>
              <a:t> → </a:t>
            </a:r>
            <a:r>
              <a:rPr lang="en-US" b="false" i="false" strike="noStrike" u="none" sz="2000">
                <a:solidFill>
                  <a:srgbClr val="404040"/>
                </a:solidFill>
                <a:latin typeface="微软雅黑"/>
                <a:ea typeface="微软雅黑"/>
                <a:cs typeface="微软雅黑"/>
                <a:sym typeface="微软雅黑"/>
              </a:rPr>
              <a:t>寄存器（经由</a:t>
            </a:r>
            <a:r>
              <a:rPr lang="en-US" b="false" i="false" strike="noStrike" u="none" sz="2000">
                <a:solidFill>
                  <a:srgbClr val="404040"/>
                </a:solidFill>
                <a:latin typeface="Calibri"/>
                <a:ea typeface="Calibri"/>
                <a:cs typeface="Calibri"/>
                <a:sym typeface="Calibri"/>
              </a:rPr>
              <a:t> SRAM</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计算：在寄存器上执行算术运算。</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存储：寄存器</a:t>
            </a:r>
            <a:r>
              <a:rPr lang="en-US" b="false" i="false" strike="noStrike" u="none" sz="2000">
                <a:solidFill>
                  <a:srgbClr val="404040"/>
                </a:solidFill>
                <a:latin typeface="Calibri"/>
                <a:ea typeface="Calibri"/>
                <a:cs typeface="Calibri"/>
                <a:sym typeface="Calibri"/>
              </a:rPr>
              <a:t> → </a:t>
            </a:r>
            <a:r>
              <a:rPr lang="en-US" b="false" i="false" strike="noStrike" u="none" sz="2000">
                <a:solidFill>
                  <a:srgbClr val="404040"/>
                </a:solidFill>
                <a:latin typeface="微软雅黑"/>
                <a:ea typeface="微软雅黑"/>
                <a:cs typeface="微软雅黑"/>
                <a:sym typeface="微软雅黑"/>
              </a:rPr>
              <a:t>全局内存。</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spTree>
  </p:cSld>
  <p:clrMapOvr>
    <a:masterClrMapping/>
  </p:clrMapOvr>
  <p:transition main:dur="1000">
    <p:fade thruBlk="false"/>
  </p:transition>
</p:sld>
</file>

<file path=ppt/slides/slide18.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常用内置函数与归约操作</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18</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逐元素数学运算</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算术运算：</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数学函数：</a:t>
            </a:r>
            <a:r>
              <a:rPr lang="en-US" b="false" i="false" strike="noStrike" u="none" sz="2000">
                <a:solidFill>
                  <a:srgbClr val="404040"/>
                </a:solidFill>
                <a:latin typeface="Calibri"/>
                <a:ea typeface="Calibri"/>
                <a:cs typeface="Calibri"/>
                <a:sym typeface="Calibri"/>
              </a:rPr>
              <a:t>tl.exp()</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tl.log()</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tl.sqrt()</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tl.sin()</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tl.cos()</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比较运算：</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&lt;</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&gt;</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tl.where(condition, x, y)</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归约操作</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tl.sum(data, axis=...)</a:t>
            </a:r>
            <a:r>
              <a:rPr lang="en-US" b="false" i="false" strike="noStrike" u="none" sz="2000">
                <a:solidFill>
                  <a:srgbClr val="404040"/>
                </a:solidFill>
                <a:latin typeface="微软雅黑"/>
                <a:ea typeface="微软雅黑"/>
                <a:cs typeface="微软雅黑"/>
                <a:sym typeface="微软雅黑"/>
              </a:rPr>
              <a:t>：沿指定轴计算元素之和。</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tl.max(data, axis=...)</a:t>
            </a:r>
            <a:r>
              <a:rPr lang="en-US" b="false" i="false" strike="noStrike" u="none" sz="2000">
                <a:solidFill>
                  <a:srgbClr val="404040"/>
                </a:solidFill>
                <a:latin typeface="微软雅黑"/>
                <a:ea typeface="微软雅黑"/>
                <a:cs typeface="微软雅黑"/>
                <a:sym typeface="微软雅黑"/>
              </a:rPr>
              <a:t>：求最大值。</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tl.argmin() / tl.argmax()</a:t>
            </a:r>
            <a:r>
              <a:rPr lang="en-US" b="false" i="false" strike="noStrike" u="none" sz="2000">
                <a:solidFill>
                  <a:srgbClr val="404040"/>
                </a:solidFill>
                <a:latin typeface="微软雅黑"/>
                <a:ea typeface="微软雅黑"/>
                <a:cs typeface="微软雅黑"/>
                <a:sym typeface="微软雅黑"/>
              </a:rPr>
              <a:t>：求最小值</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最大值的索引。</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原子操作</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tl.atomic_add(pointer, value, mask)</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tl.atomic_max(pointer, value, mask)</a:t>
            </a:r>
          </a:p>
        </p:txBody>
      </p:sp>
    </p:spTree>
  </p:cSld>
  <p:clrMapOvr>
    <a:masterClrMapping/>
  </p:clrMapOvr>
  <p:transition main:dur="1000">
    <p:fade thruBlk="false"/>
  </p:transition>
</p:sld>
</file>

<file path=ppt/slides/slide19.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案例分析</a:t>
            </a:r>
            <a:r>
              <a:rPr lang="en-US" b="false" i="false" strike="noStrike" u="none" sz="3600">
                <a:solidFill>
                  <a:srgbClr val="262626"/>
                </a:solidFill>
                <a:latin typeface="Calibri"/>
                <a:ea typeface="Calibri"/>
                <a:cs typeface="Calibri"/>
                <a:sym typeface="Calibri"/>
              </a:rPr>
              <a:t>:Softmax </a:t>
            </a:r>
            <a:r>
              <a:rPr lang="en-US" b="false" i="false" strike="noStrike" u="none" sz="3600">
                <a:solidFill>
                  <a:srgbClr val="262626"/>
                </a:solidFill>
                <a:latin typeface="微软雅黑"/>
                <a:ea typeface="微软雅黑"/>
                <a:cs typeface="微软雅黑"/>
                <a:sym typeface="微软雅黑"/>
              </a:rPr>
              <a:t>与维度归约</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19</a:t>
            </a:r>
          </a:p>
        </p:txBody>
      </p:sp>
      <p:sp>
        <p:nvSpPr>
          <p:cNvPr name="AutoShape 5" id="5"/>
          <p:cNvSpPr/>
          <p:nvPr>
            <p:ph idx="9" type="body" sz="quarter"/>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a:endParaRPr/>
          </a:p>
        </p:txBody>
      </p:sp>
      <p:sp>
        <p:nvSpPr>
          <p:cNvPr name="AutoShape 6" id="6"/>
          <p:cNvSpPr/>
          <p:nvPr/>
        </p:nvSpPr>
        <p:spPr>
          <a:xfrm rot="0" flipH="false" flipV="false">
            <a:off x="1776095" y="1132840"/>
            <a:ext cx="8640000" cy="5158741"/>
          </a:xfrm>
          <a:prstGeom prst="rect">
            <a:avLst/>
          </a:prstGeom>
          <a:noFill/>
          <a:ln w="12700">
            <a:solidFill>
              <a:srgbClr val="262626">
                <a:alpha val="100000"/>
              </a:srgbClr>
            </a:solidFill>
            <a:prstDash val="solid"/>
          </a:ln>
        </p:spPr>
        <p:txBody>
          <a:bodyPr anchor="t" rtlCol="false" wrap="square" lIns="91440" rIns="91440" tIns="45720" bIns="45720">
            <a:spAutoFit/>
          </a:bodyPr>
          <a:lstStyle/>
          <a:p>
            <a:pPr algn="l" indent="0">
              <a:lnSpc>
                <a:spcPct val="100000"/>
              </a:lnSpc>
              <a:defRPr/>
            </a:pPr>
            <a:r>
              <a:rPr lang="en-US" b="false" i="false" strike="noStrike" u="none" sz="1600">
                <a:solidFill>
                  <a:srgbClr val="000000"/>
                </a:solidFill>
                <a:latin typeface="Droid Sans Mono"/>
                <a:ea typeface="Droid Sans Mono"/>
                <a:cs typeface="Droid Sans Mono"/>
                <a:sym typeface="Droid Sans Mono"/>
              </a:rPr>
              <a:t>@triton.jit</a:t>
            </a:r>
            <a:endParaRPr lang="en-US" sz="1100"/>
          </a:p>
          <a:p>
            <a:pPr algn="l" indent="0">
              <a:lnSpc>
                <a:spcPct val="100000"/>
              </a:lnSpc>
            </a:pPr>
            <a:r>
              <a:rPr lang="en-US" b="false" i="false" strike="noStrike" u="none" sz="1600">
                <a:solidFill>
                  <a:srgbClr val="000000"/>
                </a:solidFill>
                <a:latin typeface="Droid Sans Mono"/>
                <a:ea typeface="Droid Sans Mono"/>
                <a:cs typeface="Droid Sans Mono"/>
                <a:sym typeface="Droid Sans Mono"/>
              </a:rPr>
              <a:t>def softmax_kernel(output_ptr, input_ptr, row_stride, n_cols, BLOCK_SIZE: tl.constexpr):</a:t>
            </a:r>
          </a:p>
          <a:p>
            <a:pPr algn="l" indent="0">
              <a:lnSpc>
                <a:spcPct val="100000"/>
              </a:lnSpc>
            </a:pPr>
            <a:r>
              <a:rPr lang="en-US" b="false" i="false" strike="noStrike" u="none" sz="1600">
                <a:solidFill>
                  <a:srgbClr val="000000"/>
                </a:solidFill>
                <a:latin typeface="Droid Sans Mono"/>
                <a:ea typeface="Droid Sans Mono"/>
                <a:cs typeface="Droid Sans Mono"/>
                <a:sym typeface="Droid Sans Mono"/>
              </a:rPr>
              <a:t>    row_idx = tl.program_id(0)</a:t>
            </a:r>
          </a:p>
          <a:p>
            <a:pPr algn="l" indent="0">
              <a:lnSpc>
                <a:spcPct val="100000"/>
              </a:lnSpc>
            </a:pPr>
            <a:r>
              <a:rPr lang="en-US" b="false" i="false" strike="noStrike" u="none" sz="1600">
                <a:solidFill>
                  <a:srgbClr val="000000"/>
                </a:solidFill>
                <a:latin typeface="Droid Sans Mono"/>
                <a:ea typeface="Droid Sans Mono"/>
                <a:cs typeface="Droid Sans Mono"/>
                <a:sym typeface="Droid Sans Mono"/>
              </a:rPr>
              <a:t>    # </a:t>
            </a:r>
            <a:r>
              <a:rPr lang="en-US" b="false" i="false" strike="noStrike" u="none" sz="1600">
                <a:solidFill>
                  <a:srgbClr val="000000"/>
                </a:solidFill>
                <a:latin typeface="微软雅黑"/>
                <a:ea typeface="微软雅黑"/>
                <a:cs typeface="微软雅黑"/>
                <a:sym typeface="微软雅黑"/>
              </a:rPr>
              <a:t>将指针移动到当前行的起始位置</a:t>
            </a:r>
          </a:p>
          <a:p>
            <a:pPr algn="l" indent="0">
              <a:lnSpc>
                <a:spcPct val="100000"/>
              </a:lnSpc>
            </a:pPr>
            <a:r>
              <a:rPr lang="en-US" b="false" i="false" strike="noStrike" u="none" sz="1600">
                <a:solidFill>
                  <a:srgbClr val="000000"/>
                </a:solidFill>
                <a:latin typeface="Droid Sans Mono"/>
                <a:ea typeface="Droid Sans Mono"/>
                <a:cs typeface="Droid Sans Mono"/>
                <a:sym typeface="Droid Sans Mono"/>
              </a:rPr>
              <a:t>    row_start_ptr = input_ptr + row_idx * row_stride</a:t>
            </a:r>
          </a:p>
          <a:p>
            <a:pPr algn="l" indent="0">
              <a:lnSpc>
                <a:spcPct val="100000"/>
              </a:lnSpc>
            </a:pPr>
            <a:r>
              <a:rPr lang="en-US" b="false" i="false" strike="noStrike" u="none" sz="1600">
                <a:solidFill>
                  <a:srgbClr val="000000"/>
                </a:solidFill>
                <a:latin typeface="Droid Sans Mono"/>
                <a:ea typeface="Droid Sans Mono"/>
                <a:cs typeface="Droid Sans Mono"/>
                <a:sym typeface="Droid Sans Mono"/>
              </a:rPr>
              <a:t>    offsets = tl.arange(0, BLOCK_SIZE)</a:t>
            </a:r>
          </a:p>
          <a:p>
            <a:pPr algn="l" indent="0">
              <a:lnSpc>
                <a:spcPct val="100000"/>
              </a:lnSpc>
            </a:pPr>
            <a:r>
              <a:rPr lang="en-US" b="false" i="false" strike="noStrike" u="none" sz="1600">
                <a:solidFill>
                  <a:srgbClr val="000000"/>
                </a:solidFill>
                <a:latin typeface="Droid Sans Mono"/>
                <a:ea typeface="Droid Sans Mono"/>
                <a:cs typeface="Droid Sans Mono"/>
                <a:sym typeface="Droid Sans Mono"/>
              </a:rPr>
              <a:t>    mask = offsets &lt; n_cols</a:t>
            </a:r>
          </a:p>
          <a:p>
            <a:pPr algn="l" indent="0">
              <a:lnSpc>
                <a:spcPct val="100000"/>
              </a:lnSpc>
            </a:pPr>
            <a:r>
              <a:rPr lang="en-US" b="false" i="false" strike="noStrike" u="none" sz="1600">
                <a:solidFill>
                  <a:srgbClr val="000000"/>
                </a:solidFill>
                <a:latin typeface="Droid Sans Mono"/>
                <a:ea typeface="Droid Sans Mono"/>
                <a:cs typeface="Droid Sans Mono"/>
                <a:sym typeface="Droid Sans Mono"/>
              </a:rPr>
              <a:t>    </a:t>
            </a:r>
          </a:p>
          <a:p>
            <a:pPr algn="l" indent="0">
              <a:lnSpc>
                <a:spcPct val="100000"/>
              </a:lnSpc>
            </a:pPr>
            <a:r>
              <a:rPr lang="en-US" b="false" i="false" strike="noStrike" u="none" sz="1600">
                <a:solidFill>
                  <a:srgbClr val="000000"/>
                </a:solidFill>
                <a:latin typeface="Droid Sans Mono"/>
                <a:ea typeface="Droid Sans Mono"/>
                <a:cs typeface="Droid Sans Mono"/>
                <a:sym typeface="Droid Sans Mono"/>
              </a:rPr>
              <a:t>    # </a:t>
            </a:r>
            <a:r>
              <a:rPr lang="en-US" b="false" i="false" strike="noStrike" u="none" sz="1600">
                <a:solidFill>
                  <a:srgbClr val="000000"/>
                </a:solidFill>
                <a:latin typeface="微软雅黑"/>
                <a:ea typeface="微软雅黑"/>
                <a:cs typeface="微软雅黑"/>
                <a:sym typeface="微软雅黑"/>
              </a:rPr>
              <a:t>加载数据</a:t>
            </a:r>
          </a:p>
          <a:p>
            <a:pPr algn="l" indent="0">
              <a:lnSpc>
                <a:spcPct val="100000"/>
              </a:lnSpc>
            </a:pPr>
            <a:r>
              <a:rPr lang="en-US" b="false" i="false" strike="noStrike" u="none" sz="1600">
                <a:solidFill>
                  <a:srgbClr val="000000"/>
                </a:solidFill>
                <a:latin typeface="Droid Sans Mono"/>
                <a:ea typeface="Droid Sans Mono"/>
                <a:cs typeface="Droid Sans Mono"/>
                <a:sym typeface="Droid Sans Mono"/>
              </a:rPr>
              <a:t>    x = tl.load(row_start_ptr + offsets, mask=mask, other=-float('inf'))</a:t>
            </a:r>
          </a:p>
          <a:p>
            <a:pPr algn="l" indent="0">
              <a:lnSpc>
                <a:spcPct val="100000"/>
              </a:lnSpc>
            </a:pPr>
            <a:r>
              <a:rPr lang="en-US" b="false" i="false" strike="noStrike" u="none" sz="1600">
                <a:solidFill>
                  <a:srgbClr val="000000"/>
                </a:solidFill>
                <a:latin typeface="Droid Sans Mono"/>
                <a:ea typeface="Droid Sans Mono"/>
                <a:cs typeface="Droid Sans Mono"/>
                <a:sym typeface="Droid Sans Mono"/>
              </a:rPr>
              <a:t>    # </a:t>
            </a:r>
            <a:r>
              <a:rPr lang="en-US" b="false" i="false" strike="noStrike" u="none" sz="1600">
                <a:solidFill>
                  <a:srgbClr val="000000"/>
                </a:solidFill>
                <a:latin typeface="微软雅黑"/>
                <a:ea typeface="微软雅黑"/>
                <a:cs typeface="微软雅黑"/>
                <a:sym typeface="微软雅黑"/>
              </a:rPr>
              <a:t>计算数值稳定的</a:t>
            </a:r>
            <a:r>
              <a:rPr lang="en-US" b="false" i="false" strike="noStrike" u="none" sz="1600">
                <a:solidFill>
                  <a:srgbClr val="000000"/>
                </a:solidFill>
                <a:latin typeface="Droid Sans Mono"/>
                <a:ea typeface="Droid Sans Mono"/>
                <a:cs typeface="Droid Sans Mono"/>
                <a:sym typeface="Droid Sans Mono"/>
              </a:rPr>
              <a:t> Softmax</a:t>
            </a:r>
          </a:p>
          <a:p>
            <a:pPr algn="l" indent="0">
              <a:lnSpc>
                <a:spcPct val="100000"/>
              </a:lnSpc>
            </a:pPr>
            <a:r>
              <a:rPr lang="en-US" b="false" i="false" strike="noStrike" u="none" sz="1600">
                <a:solidFill>
                  <a:srgbClr val="000000"/>
                </a:solidFill>
                <a:latin typeface="Droid Sans Mono"/>
                <a:ea typeface="Droid Sans Mono"/>
                <a:cs typeface="Droid Sans Mono"/>
                <a:sym typeface="Droid Sans Mono"/>
              </a:rPr>
              <a:t>    z = x - tl.max(x, axis=0)</a:t>
            </a:r>
          </a:p>
          <a:p>
            <a:pPr algn="l" indent="0">
              <a:lnSpc>
                <a:spcPct val="100000"/>
              </a:lnSpc>
            </a:pPr>
            <a:r>
              <a:rPr lang="en-US" b="false" i="false" strike="noStrike" u="none" sz="1600">
                <a:solidFill>
                  <a:srgbClr val="000000"/>
                </a:solidFill>
                <a:latin typeface="Droid Sans Mono"/>
                <a:ea typeface="Droid Sans Mono"/>
                <a:cs typeface="Droid Sans Mono"/>
                <a:sym typeface="Droid Sans Mono"/>
              </a:rPr>
              <a:t>    numerator = tl.exp(z)</a:t>
            </a:r>
          </a:p>
          <a:p>
            <a:pPr algn="l" indent="0">
              <a:lnSpc>
                <a:spcPct val="100000"/>
              </a:lnSpc>
            </a:pPr>
            <a:r>
              <a:rPr lang="en-US" b="false" i="false" strike="noStrike" u="none" sz="1600">
                <a:solidFill>
                  <a:srgbClr val="000000"/>
                </a:solidFill>
                <a:latin typeface="Droid Sans Mono"/>
                <a:ea typeface="Droid Sans Mono"/>
                <a:cs typeface="Droid Sans Mono"/>
                <a:sym typeface="Droid Sans Mono"/>
              </a:rPr>
              <a:t>    denominator = tl.sum(numerator, axis=0)</a:t>
            </a:r>
          </a:p>
          <a:p>
            <a:pPr algn="l" indent="0">
              <a:lnSpc>
                <a:spcPct val="100000"/>
              </a:lnSpc>
            </a:pPr>
            <a:r>
              <a:rPr lang="en-US" b="false" i="false" strike="noStrike" u="none" sz="1600">
                <a:solidFill>
                  <a:srgbClr val="000000"/>
                </a:solidFill>
                <a:latin typeface="Droid Sans Mono"/>
                <a:ea typeface="Droid Sans Mono"/>
                <a:cs typeface="Droid Sans Mono"/>
                <a:sym typeface="Droid Sans Mono"/>
              </a:rPr>
              <a:t>    softmax_out = numerator / denominator</a:t>
            </a:r>
          </a:p>
          <a:p>
            <a:pPr algn="l" indent="0">
              <a:lnSpc>
                <a:spcPct val="100000"/>
              </a:lnSpc>
            </a:pPr>
            <a:r>
              <a:rPr lang="en-US" b="false" i="false" strike="noStrike" u="none" sz="1600">
                <a:solidFill>
                  <a:srgbClr val="000000"/>
                </a:solidFill>
                <a:latin typeface="Droid Sans Mono"/>
                <a:ea typeface="Droid Sans Mono"/>
                <a:cs typeface="Droid Sans Mono"/>
                <a:sym typeface="Droid Sans Mono"/>
              </a:rPr>
              <a:t>    </a:t>
            </a:r>
          </a:p>
          <a:p>
            <a:pPr algn="l" indent="0">
              <a:lnSpc>
                <a:spcPct val="100000"/>
              </a:lnSpc>
            </a:pPr>
            <a:r>
              <a:rPr lang="en-US" b="false" i="false" strike="noStrike" u="none" sz="1600">
                <a:solidFill>
                  <a:srgbClr val="000000"/>
                </a:solidFill>
                <a:latin typeface="Droid Sans Mono"/>
                <a:ea typeface="Droid Sans Mono"/>
                <a:cs typeface="Droid Sans Mono"/>
                <a:sym typeface="Droid Sans Mono"/>
              </a:rPr>
              <a:t>    # </a:t>
            </a:r>
            <a:r>
              <a:rPr lang="en-US" b="false" i="false" strike="noStrike" u="none" sz="1600">
                <a:solidFill>
                  <a:srgbClr val="000000"/>
                </a:solidFill>
                <a:latin typeface="微软雅黑"/>
                <a:ea typeface="微软雅黑"/>
                <a:cs typeface="微软雅黑"/>
                <a:sym typeface="微软雅黑"/>
              </a:rPr>
              <a:t>存储结果</a:t>
            </a:r>
          </a:p>
          <a:p>
            <a:pPr algn="l" indent="0">
              <a:lnSpc>
                <a:spcPct val="100000"/>
              </a:lnSpc>
            </a:pPr>
            <a:r>
              <a:rPr lang="en-US" b="false" i="false" strike="noStrike" u="none" sz="1600">
                <a:solidFill>
                  <a:srgbClr val="000000"/>
                </a:solidFill>
                <a:latin typeface="Droid Sans Mono"/>
                <a:ea typeface="Droid Sans Mono"/>
                <a:cs typeface="Droid Sans Mono"/>
                <a:sym typeface="Droid Sans Mono"/>
              </a:rPr>
              <a:t>    tl.store(output_ptr + row_idx * row_stride + offsets, softmax_out, mask=mask)</a:t>
            </a:r>
          </a:p>
        </p:txBody>
      </p:sp>
    </p:spTree>
  </p:cSld>
  <p:clrMapOvr>
    <a:masterClrMapping/>
  </p:clrMapOvr>
  <p:transition main:dur="1000">
    <p:fade thruBlk="false"/>
  </p:transition>
</p:sld>
</file>

<file path=ppt/slides/slide20.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调试与</a:t>
            </a:r>
            <a:r>
              <a:rPr lang="en-US" b="false" i="false" strike="noStrike" u="none" sz="3600">
                <a:solidFill>
                  <a:srgbClr val="262626"/>
                </a:solidFill>
                <a:latin typeface="Calibri"/>
                <a:ea typeface="Calibri"/>
                <a:cs typeface="Calibri"/>
                <a:sym typeface="Calibri"/>
              </a:rPr>
              <a:t> Triton </a:t>
            </a:r>
            <a:r>
              <a:rPr lang="en-US" b="false" i="false" strike="noStrike" u="none" sz="3600">
                <a:solidFill>
                  <a:srgbClr val="262626"/>
                </a:solidFill>
                <a:latin typeface="微软雅黑"/>
                <a:ea typeface="微软雅黑"/>
                <a:cs typeface="微软雅黑"/>
                <a:sym typeface="微软雅黑"/>
              </a:rPr>
              <a:t>解释器</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20</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10000"/>
          </a:bodyPr>
          <a:lstStyle>
            <a:lvl1pPr algn="l">
              <a:lnSpc>
                <a:spcPct val="91666"/>
              </a:lnSpc>
              <a:defRPr sz="2000" b="false" i="false" u="none" strike="noStrike" spc="0">
                <a:solidFill>
                  <a:srgbClr val="404040">
                    <a:alpha val="100000"/>
                  </a:srgbClr>
                </a:solidFill>
                <a:latin typeface="微软雅黑"/>
              </a:defRPr>
            </a:lvl1pPr>
          </a:lstStyle>
          <a:p>
            <a:pPr algn="l" indent="-254000" marL="254000">
              <a:lnSpc>
                <a:spcPct val="91666"/>
              </a:lnSpc>
              <a:spcBef>
                <a:spcPts val="1500"/>
              </a:spcBef>
              <a:buClr>
                <a:srgbClr val="404040"/>
              </a:buClr>
              <a:buChar char="•"/>
            </a:pPr>
            <a:r>
              <a:rPr lang="en-US" b="false" i="false" strike="noStrike" u="none" sz="2000">
                <a:solidFill>
                  <a:srgbClr val="404040"/>
                </a:solidFill>
                <a:latin typeface="微软雅黑"/>
                <a:ea typeface="微软雅黑"/>
                <a:cs typeface="微软雅黑"/>
                <a:sym typeface="微软雅黑"/>
              </a:rPr>
              <a:t>挑战：</a:t>
            </a:r>
            <a:r>
              <a:rPr lang="en-US" b="false" i="false" strike="noStrike" u="none" sz="2000">
                <a:solidFill>
                  <a:srgbClr val="404040"/>
                </a:solidFill>
                <a:latin typeface="Calibri"/>
                <a:ea typeface="Calibri"/>
                <a:cs typeface="Calibri"/>
                <a:sym typeface="Calibri"/>
              </a:rPr>
              <a:t>GPU </a:t>
            </a:r>
            <a:r>
              <a:rPr lang="en-US" b="false" i="false" strike="noStrike" u="none" sz="2000">
                <a:solidFill>
                  <a:srgbClr val="404040"/>
                </a:solidFill>
                <a:latin typeface="微软雅黑"/>
                <a:ea typeface="微软雅黑"/>
                <a:cs typeface="微软雅黑"/>
                <a:sym typeface="微软雅黑"/>
              </a:rPr>
              <a:t>调试</a:t>
            </a:r>
          </a:p>
          <a:p>
            <a:pPr algn="l" indent="-215900" lvl="1" marL="558800">
              <a:lnSpc>
                <a:spcPct val="91666"/>
              </a:lnSpc>
              <a:spcBef>
                <a:spcPts val="750"/>
              </a:spcBef>
              <a:buClr>
                <a:srgbClr val="404040"/>
              </a:buClr>
              <a:buChar char="•"/>
            </a:pPr>
            <a:r>
              <a:rPr lang="en-US" b="false" i="false" strike="noStrike" u="none" sz="1700">
                <a:solidFill>
                  <a:srgbClr val="404040"/>
                </a:solidFill>
                <a:latin typeface="微软雅黑"/>
                <a:ea typeface="微软雅黑"/>
                <a:cs typeface="微软雅黑"/>
                <a:sym typeface="微软雅黑"/>
              </a:rPr>
              <a:t>传统</a:t>
            </a:r>
            <a:r>
              <a:rPr lang="en-US" b="false" i="false" strike="noStrike" u="none" sz="1700">
                <a:solidFill>
                  <a:srgbClr val="404040"/>
                </a:solidFill>
                <a:latin typeface="Calibri"/>
                <a:ea typeface="Calibri"/>
                <a:cs typeface="Calibri"/>
                <a:sym typeface="Calibri"/>
              </a:rPr>
              <a:t> GPU </a:t>
            </a:r>
            <a:r>
              <a:rPr lang="en-US" b="false" i="false" strike="noStrike" u="none" sz="1700">
                <a:solidFill>
                  <a:srgbClr val="404040"/>
                </a:solidFill>
                <a:latin typeface="微软雅黑"/>
                <a:ea typeface="微软雅黑"/>
                <a:cs typeface="微软雅黑"/>
                <a:sym typeface="微软雅黑"/>
              </a:rPr>
              <a:t>调试（如使用</a:t>
            </a:r>
            <a:r>
              <a:rPr lang="en-US" b="false" i="false" strike="noStrike" u="none" sz="1700">
                <a:solidFill>
                  <a:srgbClr val="404040"/>
                </a:solidFill>
                <a:latin typeface="Calibri"/>
                <a:ea typeface="Calibri"/>
                <a:cs typeface="Calibri"/>
                <a:sym typeface="Calibri"/>
              </a:rPr>
              <a:t> cuda-gdb </a:t>
            </a:r>
            <a:r>
              <a:rPr lang="en-US" b="false" i="false" strike="noStrike" u="none" sz="1700">
                <a:solidFill>
                  <a:srgbClr val="404040"/>
                </a:solidFill>
                <a:latin typeface="微软雅黑"/>
                <a:ea typeface="微软雅黑"/>
                <a:cs typeface="微软雅黑"/>
                <a:sym typeface="微软雅黑"/>
              </a:rPr>
              <a:t>或</a:t>
            </a:r>
            <a:r>
              <a:rPr lang="en-US" b="false" i="false" strike="noStrike" u="none" sz="1700">
                <a:solidFill>
                  <a:srgbClr val="404040"/>
                </a:solidFill>
                <a:latin typeface="Calibri"/>
                <a:ea typeface="Calibri"/>
                <a:cs typeface="Calibri"/>
                <a:sym typeface="Calibri"/>
              </a:rPr>
              <a:t> Nsight</a:t>
            </a:r>
            <a:r>
              <a:rPr lang="en-US" b="false" i="false" strike="noStrike" u="none" sz="1700">
                <a:solidFill>
                  <a:srgbClr val="404040"/>
                </a:solidFill>
                <a:latin typeface="微软雅黑"/>
                <a:ea typeface="微软雅黑"/>
                <a:cs typeface="微软雅黑"/>
                <a:sym typeface="微软雅黑"/>
              </a:rPr>
              <a:t>）较为复杂。由于</a:t>
            </a:r>
            <a:r>
              <a:rPr lang="en-US" b="false" i="false" strike="noStrike" u="none" sz="1700">
                <a:solidFill>
                  <a:srgbClr val="404040"/>
                </a:solidFill>
                <a:latin typeface="Calibri"/>
                <a:ea typeface="Calibri"/>
                <a:cs typeface="Calibri"/>
                <a:sym typeface="Calibri"/>
              </a:rPr>
              <a:t> Triton </a:t>
            </a:r>
            <a:r>
              <a:rPr lang="en-US" b="false" i="false" strike="noStrike" u="none" sz="1700">
                <a:solidFill>
                  <a:srgbClr val="404040"/>
                </a:solidFill>
                <a:latin typeface="微软雅黑"/>
                <a:ea typeface="微软雅黑"/>
                <a:cs typeface="微软雅黑"/>
                <a:sym typeface="微软雅黑"/>
              </a:rPr>
              <a:t>核函数经过</a:t>
            </a:r>
            <a:r>
              <a:rPr lang="en-US" b="false" i="false" strike="noStrike" u="none" sz="1700">
                <a:solidFill>
                  <a:srgbClr val="404040"/>
                </a:solidFill>
                <a:latin typeface="Calibri"/>
                <a:ea typeface="Calibri"/>
                <a:cs typeface="Calibri"/>
                <a:sym typeface="Calibri"/>
              </a:rPr>
              <a:t> JIT </a:t>
            </a:r>
            <a:r>
              <a:rPr lang="en-US" b="false" i="false" strike="noStrike" u="none" sz="1700">
                <a:solidFill>
                  <a:srgbClr val="404040"/>
                </a:solidFill>
                <a:latin typeface="微软雅黑"/>
                <a:ea typeface="微软雅黑"/>
                <a:cs typeface="微软雅黑"/>
                <a:sym typeface="微软雅黑"/>
              </a:rPr>
              <a:t>编译且高度并行，在</a:t>
            </a:r>
            <a:r>
              <a:rPr lang="en-US" b="false" i="false" strike="noStrike" u="none" sz="1700">
                <a:solidFill>
                  <a:srgbClr val="404040"/>
                </a:solidFill>
                <a:latin typeface="Calibri"/>
                <a:ea typeface="Calibri"/>
                <a:cs typeface="Calibri"/>
                <a:sym typeface="Calibri"/>
              </a:rPr>
              <a:t> GPU </a:t>
            </a:r>
            <a:r>
              <a:rPr lang="en-US" b="false" i="false" strike="noStrike" u="none" sz="1700">
                <a:solidFill>
                  <a:srgbClr val="404040"/>
                </a:solidFill>
                <a:latin typeface="微软雅黑"/>
                <a:ea typeface="微软雅黑"/>
                <a:cs typeface="微软雅黑"/>
                <a:sym typeface="微软雅黑"/>
              </a:rPr>
              <a:t>内部</a:t>
            </a:r>
            <a:r>
              <a:rPr lang="en-US" b="false" i="false" strike="noStrike" u="none" sz="1700">
                <a:solidFill>
                  <a:srgbClr val="404040"/>
                </a:solidFill>
                <a:latin typeface="Calibri"/>
                <a:ea typeface="Calibri"/>
                <a:cs typeface="Calibri"/>
                <a:sym typeface="Calibri"/>
              </a:rPr>
              <a:t>“</a:t>
            </a:r>
            <a:r>
              <a:rPr lang="en-US" b="false" i="false" strike="noStrike" u="none" sz="1700">
                <a:solidFill>
                  <a:srgbClr val="404040"/>
                </a:solidFill>
                <a:latin typeface="微软雅黑"/>
                <a:ea typeface="微软雅黑"/>
                <a:cs typeface="微软雅黑"/>
                <a:sym typeface="微软雅黑"/>
              </a:rPr>
              <a:t>打印</a:t>
            </a:r>
            <a:r>
              <a:rPr lang="en-US" b="false" i="false" strike="noStrike" u="none" sz="1700">
                <a:solidFill>
                  <a:srgbClr val="404040"/>
                </a:solidFill>
                <a:latin typeface="Calibri"/>
                <a:ea typeface="Calibri"/>
                <a:cs typeface="Calibri"/>
                <a:sym typeface="Calibri"/>
              </a:rPr>
              <a:t>”</a:t>
            </a:r>
            <a:r>
              <a:rPr lang="en-US" b="false" i="false" strike="noStrike" u="none" sz="1700">
                <a:solidFill>
                  <a:srgbClr val="404040"/>
                </a:solidFill>
                <a:latin typeface="微软雅黑"/>
                <a:ea typeface="微软雅黑"/>
                <a:cs typeface="微软雅黑"/>
                <a:sym typeface="微软雅黑"/>
              </a:rPr>
              <a:t>变量并非易事。</a:t>
            </a:r>
          </a:p>
          <a:p>
            <a:pPr algn="l" indent="-254000" marL="254000">
              <a:lnSpc>
                <a:spcPct val="91666"/>
              </a:lnSpc>
              <a:spcBef>
                <a:spcPts val="1500"/>
              </a:spcBef>
              <a:buClr>
                <a:srgbClr val="404040"/>
              </a:buClr>
              <a:buChar char="•"/>
            </a:pPr>
            <a:r>
              <a:rPr lang="en-US" b="false" i="false" strike="noStrike" u="none" sz="2000">
                <a:solidFill>
                  <a:srgbClr val="404040"/>
                </a:solidFill>
                <a:latin typeface="Calibri"/>
                <a:ea typeface="Calibri"/>
                <a:cs typeface="Calibri"/>
                <a:sym typeface="Calibri"/>
              </a:rPr>
              <a:t>Triton </a:t>
            </a:r>
            <a:r>
              <a:rPr lang="en-US" b="false" i="false" strike="noStrike" u="none" sz="2000">
                <a:solidFill>
                  <a:srgbClr val="404040"/>
                </a:solidFill>
                <a:latin typeface="微软雅黑"/>
                <a:ea typeface="微软雅黑"/>
                <a:cs typeface="微软雅黑"/>
                <a:sym typeface="微软雅黑"/>
              </a:rPr>
              <a:t>解释器（</a:t>
            </a:r>
            <a:r>
              <a:rPr lang="en-US" b="false" i="false" strike="noStrike" u="none" sz="2000">
                <a:solidFill>
                  <a:srgbClr val="404040"/>
                </a:solidFill>
                <a:latin typeface="Calibri"/>
                <a:ea typeface="Calibri"/>
                <a:cs typeface="Calibri"/>
                <a:sym typeface="Calibri"/>
              </a:rPr>
              <a:t>CPU </a:t>
            </a:r>
            <a:r>
              <a:rPr lang="en-US" b="false" i="false" strike="noStrike" u="none" sz="2000">
                <a:solidFill>
                  <a:srgbClr val="404040"/>
                </a:solidFill>
                <a:latin typeface="微软雅黑"/>
                <a:ea typeface="微软雅黑"/>
                <a:cs typeface="微软雅黑"/>
                <a:sym typeface="微软雅黑"/>
              </a:rPr>
              <a:t>模式）</a:t>
            </a:r>
          </a:p>
          <a:p>
            <a:pPr algn="l" indent="-215900" lvl="1" marL="558800">
              <a:lnSpc>
                <a:spcPct val="91666"/>
              </a:lnSpc>
              <a:spcBef>
                <a:spcPts val="750"/>
              </a:spcBef>
              <a:buClr>
                <a:srgbClr val="404040"/>
              </a:buClr>
              <a:buChar char="•"/>
            </a:pPr>
            <a:r>
              <a:rPr lang="en-US" b="false" i="false" strike="noStrike" u="none" sz="1700">
                <a:solidFill>
                  <a:srgbClr val="404040"/>
                </a:solidFill>
                <a:latin typeface="Calibri"/>
                <a:ea typeface="Calibri"/>
                <a:cs typeface="Calibri"/>
                <a:sym typeface="Calibri"/>
              </a:rPr>
              <a:t>Triton </a:t>
            </a:r>
            <a:r>
              <a:rPr lang="en-US" b="false" i="false" strike="noStrike" u="none" sz="1700">
                <a:solidFill>
                  <a:srgbClr val="404040"/>
                </a:solidFill>
                <a:latin typeface="微软雅黑"/>
                <a:ea typeface="微软雅黑"/>
                <a:cs typeface="微软雅黑"/>
                <a:sym typeface="微软雅黑"/>
              </a:rPr>
              <a:t>提供了内置解释器，允许在</a:t>
            </a:r>
            <a:r>
              <a:rPr lang="en-US" b="false" i="false" strike="noStrike" u="none" sz="1700">
                <a:solidFill>
                  <a:srgbClr val="404040"/>
                </a:solidFill>
                <a:latin typeface="Calibri"/>
                <a:ea typeface="Calibri"/>
                <a:cs typeface="Calibri"/>
                <a:sym typeface="Calibri"/>
              </a:rPr>
              <a:t> CPU </a:t>
            </a:r>
            <a:r>
              <a:rPr lang="en-US" b="false" i="false" strike="noStrike" u="none" sz="1700">
                <a:solidFill>
                  <a:srgbClr val="404040"/>
                </a:solidFill>
                <a:latin typeface="微软雅黑"/>
                <a:ea typeface="微软雅黑"/>
                <a:cs typeface="微软雅黑"/>
                <a:sym typeface="微软雅黑"/>
              </a:rPr>
              <a:t>上运行核函数以进行调试。</a:t>
            </a:r>
          </a:p>
          <a:p>
            <a:pPr algn="l" indent="-215900" lvl="1" marL="558800">
              <a:lnSpc>
                <a:spcPct val="91666"/>
              </a:lnSpc>
              <a:spcBef>
                <a:spcPts val="750"/>
              </a:spcBef>
              <a:buClr>
                <a:srgbClr val="404040"/>
              </a:buClr>
              <a:buChar char="•"/>
            </a:pPr>
            <a:r>
              <a:rPr lang="en-US" b="false" i="false" strike="noStrike" u="none" sz="1700">
                <a:solidFill>
                  <a:srgbClr val="404040"/>
                </a:solidFill>
                <a:latin typeface="微软雅黑"/>
                <a:ea typeface="微软雅黑"/>
                <a:cs typeface="微软雅黑"/>
                <a:sym typeface="微软雅黑"/>
              </a:rPr>
              <a:t>工作原理：解释器不将代码编译为</a:t>
            </a:r>
            <a:r>
              <a:rPr lang="en-US" b="false" i="false" strike="noStrike" u="none" sz="1700">
                <a:solidFill>
                  <a:srgbClr val="404040"/>
                </a:solidFill>
                <a:latin typeface="Calibri"/>
                <a:ea typeface="Calibri"/>
                <a:cs typeface="Calibri"/>
                <a:sym typeface="Calibri"/>
              </a:rPr>
              <a:t> PTX</a:t>
            </a:r>
            <a:r>
              <a:rPr lang="en-US" b="false" i="false" strike="noStrike" u="none" sz="1700">
                <a:solidFill>
                  <a:srgbClr val="404040"/>
                </a:solidFill>
                <a:latin typeface="微软雅黑"/>
                <a:ea typeface="微软雅黑"/>
                <a:cs typeface="微软雅黑"/>
                <a:sym typeface="微软雅黑"/>
              </a:rPr>
              <a:t>（</a:t>
            </a:r>
            <a:r>
              <a:rPr lang="en-US" b="false" i="false" strike="noStrike" u="none" sz="1700">
                <a:solidFill>
                  <a:srgbClr val="404040"/>
                </a:solidFill>
                <a:latin typeface="Calibri"/>
                <a:ea typeface="Calibri"/>
                <a:cs typeface="Calibri"/>
                <a:sym typeface="Calibri"/>
              </a:rPr>
              <a:t>GPU </a:t>
            </a:r>
            <a:r>
              <a:rPr lang="en-US" b="false" i="false" strike="noStrike" u="none" sz="1700">
                <a:solidFill>
                  <a:srgbClr val="404040"/>
                </a:solidFill>
                <a:latin typeface="微软雅黑"/>
                <a:ea typeface="微软雅黑"/>
                <a:cs typeface="微软雅黑"/>
                <a:sym typeface="微软雅黑"/>
              </a:rPr>
              <a:t>机器码），而是在</a:t>
            </a:r>
            <a:r>
              <a:rPr lang="en-US" b="false" i="false" strike="noStrike" u="none" sz="1700">
                <a:solidFill>
                  <a:srgbClr val="404040"/>
                </a:solidFill>
                <a:latin typeface="Calibri"/>
                <a:ea typeface="Calibri"/>
                <a:cs typeface="Calibri"/>
                <a:sym typeface="Calibri"/>
              </a:rPr>
              <a:t> CPU </a:t>
            </a:r>
            <a:r>
              <a:rPr lang="en-US" b="false" i="false" strike="noStrike" u="none" sz="1700">
                <a:solidFill>
                  <a:srgbClr val="404040"/>
                </a:solidFill>
                <a:latin typeface="微软雅黑"/>
                <a:ea typeface="微软雅黑"/>
                <a:cs typeface="微软雅黑"/>
                <a:sym typeface="微软雅黑"/>
              </a:rPr>
              <a:t>上使用类</a:t>
            </a:r>
            <a:r>
              <a:rPr lang="en-US" b="false" i="false" strike="noStrike" u="none" sz="1700">
                <a:solidFill>
                  <a:srgbClr val="404040"/>
                </a:solidFill>
                <a:latin typeface="Calibri"/>
                <a:ea typeface="Calibri"/>
                <a:cs typeface="Calibri"/>
                <a:sym typeface="Calibri"/>
              </a:rPr>
              <a:t> NumPy </a:t>
            </a:r>
            <a:r>
              <a:rPr lang="en-US" b="false" i="false" strike="noStrike" u="none" sz="1700">
                <a:solidFill>
                  <a:srgbClr val="404040"/>
                </a:solidFill>
                <a:latin typeface="微软雅黑"/>
                <a:ea typeface="微软雅黑"/>
                <a:cs typeface="微软雅黑"/>
                <a:sym typeface="微软雅黑"/>
              </a:rPr>
              <a:t>的操作执行逻辑。</a:t>
            </a:r>
          </a:p>
          <a:p>
            <a:pPr algn="l" indent="-215900" lvl="1" marL="558800">
              <a:lnSpc>
                <a:spcPct val="91666"/>
              </a:lnSpc>
              <a:spcBef>
                <a:spcPts val="750"/>
              </a:spcBef>
              <a:buClr>
                <a:srgbClr val="404040"/>
              </a:buClr>
              <a:buChar char="•"/>
            </a:pPr>
            <a:r>
              <a:rPr lang="en-US" b="false" i="false" strike="noStrike" u="none" sz="1700">
                <a:solidFill>
                  <a:srgbClr val="404040"/>
                </a:solidFill>
                <a:latin typeface="微软雅黑"/>
                <a:ea typeface="微软雅黑"/>
                <a:cs typeface="微软雅黑"/>
                <a:sym typeface="微软雅黑"/>
              </a:rPr>
              <a:t>核心优势：可在</a:t>
            </a:r>
            <a:r>
              <a:rPr lang="en-US" b="false" i="false" strike="noStrike" u="none" sz="1700">
                <a:solidFill>
                  <a:srgbClr val="404040"/>
                </a:solidFill>
                <a:latin typeface="Calibri"/>
                <a:ea typeface="Calibri"/>
                <a:cs typeface="Calibri"/>
                <a:sym typeface="Calibri"/>
              </a:rPr>
              <a:t> @triton.jit </a:t>
            </a:r>
            <a:r>
              <a:rPr lang="en-US" b="false" i="false" strike="noStrike" u="none" sz="1700">
                <a:solidFill>
                  <a:srgbClr val="404040"/>
                </a:solidFill>
                <a:latin typeface="微软雅黑"/>
                <a:ea typeface="微软雅黑"/>
                <a:cs typeface="微软雅黑"/>
                <a:sym typeface="微软雅黑"/>
              </a:rPr>
              <a:t>函数内使用</a:t>
            </a:r>
            <a:r>
              <a:rPr lang="en-US" b="false" i="false" strike="noStrike" u="none" sz="1700">
                <a:solidFill>
                  <a:srgbClr val="404040"/>
                </a:solidFill>
                <a:latin typeface="Calibri"/>
                <a:ea typeface="Calibri"/>
                <a:cs typeface="Calibri"/>
                <a:sym typeface="Calibri"/>
              </a:rPr>
              <a:t> print() </a:t>
            </a:r>
            <a:r>
              <a:rPr lang="en-US" b="false" i="false" strike="noStrike" u="none" sz="1700">
                <a:solidFill>
                  <a:srgbClr val="404040"/>
                </a:solidFill>
                <a:latin typeface="微软雅黑"/>
                <a:ea typeface="微软雅黑"/>
                <a:cs typeface="微软雅黑"/>
                <a:sym typeface="微软雅黑"/>
              </a:rPr>
              <a:t>或</a:t>
            </a:r>
            <a:r>
              <a:rPr lang="en-US" b="false" i="false" strike="noStrike" u="none" sz="1700">
                <a:solidFill>
                  <a:srgbClr val="404040"/>
                </a:solidFill>
                <a:latin typeface="Calibri"/>
                <a:ea typeface="Calibri"/>
                <a:cs typeface="Calibri"/>
                <a:sym typeface="Calibri"/>
              </a:rPr>
              <a:t> pdb.set_trace() </a:t>
            </a:r>
            <a:r>
              <a:rPr lang="en-US" b="false" i="false" strike="noStrike" u="none" sz="1700">
                <a:solidFill>
                  <a:srgbClr val="404040"/>
                </a:solidFill>
                <a:latin typeface="微软雅黑"/>
                <a:ea typeface="微软雅黑"/>
                <a:cs typeface="微软雅黑"/>
                <a:sym typeface="微软雅黑"/>
              </a:rPr>
              <a:t>等标准</a:t>
            </a:r>
            <a:r>
              <a:rPr lang="en-US" b="false" i="false" strike="noStrike" u="none" sz="1700">
                <a:solidFill>
                  <a:srgbClr val="404040"/>
                </a:solidFill>
                <a:latin typeface="Calibri"/>
                <a:ea typeface="Calibri"/>
                <a:cs typeface="Calibri"/>
                <a:sym typeface="Calibri"/>
              </a:rPr>
              <a:t> Python </a:t>
            </a:r>
            <a:r>
              <a:rPr lang="en-US" b="false" i="false" strike="noStrike" u="none" sz="1700">
                <a:solidFill>
                  <a:srgbClr val="404040"/>
                </a:solidFill>
                <a:latin typeface="微软雅黑"/>
                <a:ea typeface="微软雅黑"/>
                <a:cs typeface="微软雅黑"/>
                <a:sym typeface="微软雅黑"/>
              </a:rPr>
              <a:t>工具。启用方式：</a:t>
            </a:r>
            <a:r>
              <a:rPr lang="en-US" b="false" i="false" strike="noStrike" u="none" sz="1700">
                <a:solidFill>
                  <a:srgbClr val="404040"/>
                </a:solidFill>
                <a:latin typeface="Calibri"/>
                <a:ea typeface="Calibri"/>
                <a:cs typeface="Calibri"/>
                <a:sym typeface="Calibri"/>
              </a:rPr>
              <a:t># </a:t>
            </a:r>
            <a:r>
              <a:rPr lang="en-US" b="false" i="false" strike="noStrike" u="none" sz="1700">
                <a:solidFill>
                  <a:srgbClr val="404040"/>
                </a:solidFill>
                <a:latin typeface="微软雅黑"/>
                <a:ea typeface="微软雅黑"/>
                <a:cs typeface="微软雅黑"/>
                <a:sym typeface="微软雅黑"/>
              </a:rPr>
              <a:t>强制在</a:t>
            </a:r>
            <a:r>
              <a:rPr lang="en-US" b="false" i="false" strike="noStrike" u="none" sz="1700">
                <a:solidFill>
                  <a:srgbClr val="404040"/>
                </a:solidFill>
                <a:latin typeface="Calibri"/>
                <a:ea typeface="Calibri"/>
                <a:cs typeface="Calibri"/>
                <a:sym typeface="Calibri"/>
              </a:rPr>
              <a:t> CPU </a:t>
            </a:r>
            <a:r>
              <a:rPr lang="en-US" b="false" i="false" strike="noStrike" u="none" sz="1700">
                <a:solidFill>
                  <a:srgbClr val="404040"/>
                </a:solidFill>
                <a:latin typeface="微软雅黑"/>
                <a:ea typeface="微软雅黑"/>
                <a:cs typeface="微软雅黑"/>
                <a:sym typeface="微软雅黑"/>
              </a:rPr>
              <a:t>解释器上执行</a:t>
            </a:r>
          </a:p>
          <a:p>
            <a:pPr algn="l" indent="0" lvl="1" marL="342900">
              <a:lnSpc>
                <a:spcPct val="91666"/>
              </a:lnSpc>
              <a:spcBef>
                <a:spcPts val="750"/>
              </a:spcBef>
            </a:pPr>
            <a:r>
              <a:rPr lang="en-US" b="false" i="false" strike="noStrike" u="none" sz="1700">
                <a:solidFill>
                  <a:srgbClr val="404040"/>
                </a:solidFill>
                <a:latin typeface="Calibri"/>
                <a:ea typeface="Calibri"/>
                <a:cs typeface="Calibri"/>
                <a:sym typeface="Calibri"/>
              </a:rPr>
              <a:t/>
            </a:r>
          </a:p>
          <a:p>
            <a:pPr algn="l" indent="0" lvl="1" marL="342900">
              <a:lnSpc>
                <a:spcPct val="91666"/>
              </a:lnSpc>
              <a:spcBef>
                <a:spcPts val="750"/>
              </a:spcBef>
            </a:pPr>
            <a:r>
              <a:rPr lang="en-US" b="false" i="false" strike="noStrike" u="none" sz="1700">
                <a:solidFill>
                  <a:srgbClr val="404040"/>
                </a:solidFill>
                <a:latin typeface="Calibri"/>
                <a:ea typeface="Calibri"/>
                <a:cs typeface="Calibri"/>
                <a:sym typeface="Calibri"/>
              </a:rPr>
              <a:t/>
            </a:r>
          </a:p>
          <a:p>
            <a:pPr algn="l" indent="0" lvl="1" marL="342900">
              <a:lnSpc>
                <a:spcPct val="91666"/>
              </a:lnSpc>
              <a:spcBef>
                <a:spcPts val="750"/>
              </a:spcBef>
            </a:pPr>
            <a:r>
              <a:rPr lang="en-US" b="false" i="false" strike="noStrike" u="none" sz="1700">
                <a:solidFill>
                  <a:srgbClr val="404040"/>
                </a:solidFill>
                <a:latin typeface="Calibri"/>
                <a:ea typeface="Calibri"/>
                <a:cs typeface="Calibri"/>
                <a:sym typeface="Calibri"/>
              </a:rPr>
              <a:t/>
            </a:r>
          </a:p>
          <a:p>
            <a:pPr algn="l" indent="-254000" marL="254000">
              <a:lnSpc>
                <a:spcPct val="91666"/>
              </a:lnSpc>
              <a:spcBef>
                <a:spcPts val="1500"/>
              </a:spcBef>
              <a:buClr>
                <a:srgbClr val="404040"/>
              </a:buClr>
              <a:buChar char="•"/>
            </a:pPr>
            <a:r>
              <a:rPr lang="en-US" b="false" i="false" strike="noStrike" u="none" sz="2000">
                <a:solidFill>
                  <a:srgbClr val="404040"/>
                </a:solidFill>
                <a:latin typeface="微软雅黑"/>
                <a:ea typeface="微软雅黑"/>
                <a:cs typeface="微软雅黑"/>
                <a:sym typeface="微软雅黑"/>
              </a:rPr>
              <a:t>调试最佳实践</a:t>
            </a:r>
          </a:p>
          <a:p>
            <a:pPr algn="l" indent="-215900" lvl="1" marL="558800">
              <a:lnSpc>
                <a:spcPct val="91666"/>
              </a:lnSpc>
              <a:spcBef>
                <a:spcPts val="750"/>
              </a:spcBef>
              <a:buClr>
                <a:srgbClr val="404040"/>
              </a:buClr>
              <a:buChar char="•"/>
            </a:pPr>
            <a:r>
              <a:rPr lang="en-US" b="false" i="false" strike="noStrike" u="none" sz="1700">
                <a:solidFill>
                  <a:srgbClr val="404040"/>
                </a:solidFill>
                <a:latin typeface="微软雅黑"/>
                <a:ea typeface="微软雅黑"/>
                <a:cs typeface="微软雅黑"/>
                <a:sym typeface="微软雅黑"/>
              </a:rPr>
              <a:t>从小规模开始：使用较小的</a:t>
            </a:r>
            <a:r>
              <a:rPr lang="en-US" b="false" i="false" strike="noStrike" u="none" sz="1700">
                <a:solidFill>
                  <a:srgbClr val="404040"/>
                </a:solidFill>
                <a:latin typeface="Calibri"/>
                <a:ea typeface="Calibri"/>
                <a:cs typeface="Calibri"/>
                <a:sym typeface="Calibri"/>
              </a:rPr>
              <a:t> BLOCK_SIZE</a:t>
            </a:r>
            <a:r>
              <a:rPr lang="en-US" b="false" i="false" strike="noStrike" u="none" sz="1700">
                <a:solidFill>
                  <a:srgbClr val="404040"/>
                </a:solidFill>
                <a:latin typeface="微软雅黑"/>
                <a:ea typeface="微软雅黑"/>
                <a:cs typeface="微软雅黑"/>
                <a:sym typeface="微软雅黑"/>
              </a:rPr>
              <a:t>（如</a:t>
            </a:r>
            <a:r>
              <a:rPr lang="en-US" b="false" i="false" strike="noStrike" u="none" sz="1700">
                <a:solidFill>
                  <a:srgbClr val="404040"/>
                </a:solidFill>
                <a:latin typeface="Calibri"/>
                <a:ea typeface="Calibri"/>
                <a:cs typeface="Calibri"/>
                <a:sym typeface="Calibri"/>
              </a:rPr>
              <a:t> 8 </a:t>
            </a:r>
            <a:r>
              <a:rPr lang="en-US" b="false" i="false" strike="noStrike" u="none" sz="1700">
                <a:solidFill>
                  <a:srgbClr val="404040"/>
                </a:solidFill>
                <a:latin typeface="微软雅黑"/>
                <a:ea typeface="微软雅黑"/>
                <a:cs typeface="微软雅黑"/>
                <a:sym typeface="微软雅黑"/>
              </a:rPr>
              <a:t>或</a:t>
            </a:r>
            <a:r>
              <a:rPr lang="en-US" b="false" i="false" strike="noStrike" u="none" sz="1700">
                <a:solidFill>
                  <a:srgbClr val="404040"/>
                </a:solidFill>
                <a:latin typeface="Calibri"/>
                <a:ea typeface="Calibri"/>
                <a:cs typeface="Calibri"/>
                <a:sym typeface="Calibri"/>
              </a:rPr>
              <a:t> 16</a:t>
            </a:r>
            <a:r>
              <a:rPr lang="en-US" b="false" i="false" strike="noStrike" u="none" sz="1700">
                <a:solidFill>
                  <a:srgbClr val="404040"/>
                </a:solidFill>
                <a:latin typeface="微软雅黑"/>
                <a:ea typeface="微软雅黑"/>
                <a:cs typeface="微软雅黑"/>
                <a:sym typeface="微软雅黑"/>
              </a:rPr>
              <a:t>）和小规模输入向量。</a:t>
            </a:r>
          </a:p>
          <a:p>
            <a:pPr algn="l" indent="-215900" lvl="1" marL="558800">
              <a:lnSpc>
                <a:spcPct val="91666"/>
              </a:lnSpc>
              <a:spcBef>
                <a:spcPts val="750"/>
              </a:spcBef>
              <a:buClr>
                <a:srgbClr val="404040"/>
              </a:buClr>
              <a:buChar char="•"/>
            </a:pPr>
            <a:r>
              <a:rPr lang="en-US" b="false" i="false" strike="noStrike" u="none" sz="1700">
                <a:solidFill>
                  <a:srgbClr val="404040"/>
                </a:solidFill>
                <a:latin typeface="微软雅黑"/>
                <a:ea typeface="微软雅黑"/>
                <a:cs typeface="微软雅黑"/>
                <a:sym typeface="微软雅黑"/>
              </a:rPr>
              <a:t>验证掩码：检查掩码逻辑是否正确处理了越界索引。</a:t>
            </a:r>
          </a:p>
          <a:p>
            <a:pPr algn="l" indent="-215900" lvl="1" marL="558800">
              <a:lnSpc>
                <a:spcPct val="91666"/>
              </a:lnSpc>
              <a:spcBef>
                <a:spcPts val="750"/>
              </a:spcBef>
              <a:buClr>
                <a:srgbClr val="404040"/>
              </a:buClr>
              <a:buChar char="•"/>
            </a:pPr>
            <a:r>
              <a:rPr lang="en-US" b="false" i="false" strike="noStrike" u="none" sz="1700">
                <a:solidFill>
                  <a:srgbClr val="404040"/>
                </a:solidFill>
                <a:latin typeface="微软雅黑"/>
                <a:ea typeface="微软雅黑"/>
                <a:cs typeface="微软雅黑"/>
                <a:sym typeface="微软雅黑"/>
              </a:rPr>
              <a:t>检查形状：确保二维分块和</a:t>
            </a:r>
            <a:r>
              <a:rPr lang="en-US" b="false" i="false" strike="noStrike" u="none" sz="1700">
                <a:solidFill>
                  <a:srgbClr val="404040"/>
                </a:solidFill>
                <a:latin typeface="Calibri"/>
                <a:ea typeface="Calibri"/>
                <a:cs typeface="Calibri"/>
                <a:sym typeface="Calibri"/>
              </a:rPr>
              <a:t> tl.dot </a:t>
            </a:r>
            <a:r>
              <a:rPr lang="en-US" b="false" i="false" strike="noStrike" u="none" sz="1700">
                <a:solidFill>
                  <a:srgbClr val="404040"/>
                </a:solidFill>
                <a:latin typeface="微软雅黑"/>
                <a:ea typeface="微软雅黑"/>
                <a:cs typeface="微软雅黑"/>
                <a:sym typeface="微软雅黑"/>
              </a:rPr>
              <a:t>输入的维度相互兼容。</a:t>
            </a:r>
          </a:p>
        </p:txBody>
      </p:sp>
      <p:sp>
        <p:nvSpPr>
          <p:cNvPr name="AutoShape 6" id="6"/>
          <p:cNvSpPr/>
          <p:nvPr/>
        </p:nvSpPr>
        <p:spPr>
          <a:xfrm rot="0" flipH="false" flipV="false">
            <a:off x="1172210" y="3822065"/>
            <a:ext cx="4320000" cy="802641"/>
          </a:xfrm>
          <a:prstGeom prst="rect">
            <a:avLst/>
          </a:prstGeom>
          <a:noFill/>
          <a:ln w="12700">
            <a:solidFill>
              <a:srgbClr val="262626">
                <a:alpha val="100000"/>
              </a:srgbClr>
            </a:solidFill>
            <a:prstDash val="solid"/>
          </a:ln>
        </p:spPr>
        <p:txBody>
          <a:bodyPr anchor="t" rtlCol="false" wrap="square" lIns="91440" rIns="91440" tIns="45720" bIns="45720">
            <a:spAutoFit/>
          </a:bodyPr>
          <a:lstStyle/>
          <a:p>
            <a:pPr algn="l" indent="-152400" lvl="1" marL="422400">
              <a:lnSpc>
                <a:spcPct val="100000"/>
              </a:lnSpc>
              <a:buChar char=" "/>
              <a:defRPr/>
            </a:pPr>
            <a:r>
              <a:rPr lang="en-US" b="false" i="false" strike="noStrike" u="none" sz="1200">
                <a:solidFill>
                  <a:srgbClr val="000000"/>
                </a:solidFill>
                <a:latin typeface="Droid Sans Mono"/>
                <a:ea typeface="Droid Sans Mono"/>
                <a:cs typeface="Droid Sans Mono"/>
                <a:sym typeface="Droid Sans Mono"/>
              </a:rPr>
              <a:t>import os</a:t>
            </a:r>
            <a:endParaRPr lang="en-US" sz="1100"/>
          </a:p>
          <a:p>
            <a:pPr algn="l" indent="-152400" lvl="1" marL="422400">
              <a:lnSpc>
                <a:spcPct val="100000"/>
              </a:lnSpc>
              <a:buChar char=" "/>
            </a:pPr>
            <a:r>
              <a:rPr lang="en-US" b="false" i="false" strike="noStrike" u="none" sz="1200">
                <a:solidFill>
                  <a:srgbClr val="000000"/>
                </a:solidFill>
                <a:latin typeface="Droid Sans Mono"/>
                <a:ea typeface="Droid Sans Mono"/>
                <a:cs typeface="Droid Sans Mono"/>
                <a:sym typeface="Droid Sans Mono"/>
              </a:rPr>
              <a:t>os.environ["TRITON_INTERPRET"] = "1"</a:t>
            </a:r>
          </a:p>
          <a:p>
            <a:pPr algn="l" indent="-152400" lvl="1" marL="422400">
              <a:lnSpc>
                <a:spcPct val="100000"/>
              </a:lnSpc>
              <a:buChar char=" "/>
            </a:pPr>
            <a:r>
              <a:rPr lang="en-US" b="false" i="false" strike="noStrike" u="none" sz="1200">
                <a:solidFill>
                  <a:srgbClr val="000000"/>
                </a:solidFill>
                <a:latin typeface="Droid Sans Mono"/>
                <a:ea typeface="Droid Sans Mono"/>
                <a:cs typeface="Droid Sans Mono"/>
                <a:sym typeface="Droid Sans Mono"/>
              </a:rPr>
              <a:t># </a:t>
            </a:r>
            <a:r>
              <a:rPr lang="en-US" b="false" i="false" strike="noStrike" u="none" sz="1200">
                <a:solidFill>
                  <a:srgbClr val="000000"/>
                </a:solidFill>
                <a:latin typeface="微软雅黑"/>
                <a:ea typeface="微软雅黑"/>
                <a:cs typeface="微软雅黑"/>
                <a:sym typeface="微软雅黑"/>
              </a:rPr>
              <a:t>现在调用核函数将在</a:t>
            </a:r>
            <a:r>
              <a:rPr lang="en-US" b="false" i="false" strike="noStrike" u="none" sz="1200">
                <a:solidFill>
                  <a:srgbClr val="000000"/>
                </a:solidFill>
                <a:latin typeface="Droid Sans Mono"/>
                <a:ea typeface="Droid Sans Mono"/>
                <a:cs typeface="Droid Sans Mono"/>
                <a:sym typeface="Droid Sans Mono"/>
              </a:rPr>
              <a:t> CPU </a:t>
            </a:r>
            <a:r>
              <a:rPr lang="en-US" b="false" i="false" strike="noStrike" u="none" sz="1200">
                <a:solidFill>
                  <a:srgbClr val="000000"/>
                </a:solidFill>
                <a:latin typeface="微软雅黑"/>
                <a:ea typeface="微软雅黑"/>
                <a:cs typeface="微软雅黑"/>
                <a:sym typeface="微软雅黑"/>
              </a:rPr>
              <a:t>上运行</a:t>
            </a:r>
          </a:p>
          <a:p>
            <a:pPr algn="l" indent="-152400" lvl="1" marL="422400">
              <a:lnSpc>
                <a:spcPct val="100000"/>
              </a:lnSpc>
              <a:buChar char=" "/>
            </a:pPr>
            <a:r>
              <a:rPr lang="en-US" b="false" i="false" strike="noStrike" u="none" sz="1200">
                <a:solidFill>
                  <a:srgbClr val="000000"/>
                </a:solidFill>
                <a:latin typeface="Droid Sans Mono"/>
                <a:ea typeface="Droid Sans Mono"/>
                <a:cs typeface="Droid Sans Mono"/>
                <a:sym typeface="Droid Sans Mono"/>
              </a:rPr>
              <a:t>add_kernel[grid](...)</a:t>
            </a:r>
          </a:p>
        </p:txBody>
      </p:sp>
    </p:spTree>
  </p:cSld>
  <p:clrMapOvr>
    <a:masterClrMapping/>
  </p:clrMapOvr>
  <p:transition main:dur="1000">
    <p:fade thruBlk="false"/>
  </p:transition>
</p:sld>
</file>

<file path=ppt/slides/slide21.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性能优化与自动调优</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21</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寻找</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最优配置</a:t>
            </a:r>
            <a:r>
              <a:rPr lang="en-US" b="false" i="false" strike="noStrike" u="none" sz="2400">
                <a:solidFill>
                  <a:srgbClr val="404040"/>
                </a:solidFill>
                <a:latin typeface="Calibri"/>
                <a:ea typeface="Calibri"/>
                <a:cs typeface="Calibri"/>
                <a:sym typeface="Calibri"/>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GPU </a:t>
            </a:r>
            <a:r>
              <a:rPr lang="en-US" b="false" i="false" strike="noStrike" u="none" sz="2000">
                <a:solidFill>
                  <a:srgbClr val="404040"/>
                </a:solidFill>
                <a:latin typeface="微软雅黑"/>
                <a:ea typeface="微软雅黑"/>
                <a:cs typeface="微软雅黑"/>
                <a:sym typeface="微软雅黑"/>
              </a:rPr>
              <a:t>上的性能高度依赖于特定硬件参数，如块大小和</a:t>
            </a:r>
            <a:r>
              <a:rPr lang="en-US" b="false" i="false" strike="noStrike" u="none" sz="2000">
                <a:solidFill>
                  <a:srgbClr val="404040"/>
                </a:solidFill>
                <a:latin typeface="Calibri"/>
                <a:ea typeface="Calibri"/>
                <a:cs typeface="Calibri"/>
                <a:sym typeface="Calibri"/>
              </a:rPr>
              <a:t> Warp </a:t>
            </a:r>
            <a:r>
              <a:rPr lang="en-US" b="false" i="false" strike="noStrike" u="none" sz="2000">
                <a:solidFill>
                  <a:srgbClr val="404040"/>
                </a:solidFill>
                <a:latin typeface="微软雅黑"/>
                <a:ea typeface="微软雅黑"/>
                <a:cs typeface="微软雅黑"/>
                <a:sym typeface="微软雅黑"/>
              </a:rPr>
              <a:t>数量。在</a:t>
            </a:r>
            <a:r>
              <a:rPr lang="en-US" b="false" i="false" strike="noStrike" u="none" sz="2000">
                <a:solidFill>
                  <a:srgbClr val="404040"/>
                </a:solidFill>
                <a:latin typeface="Calibri"/>
                <a:ea typeface="Calibri"/>
                <a:cs typeface="Calibri"/>
                <a:sym typeface="Calibri"/>
              </a:rPr>
              <a:t> NVIDIA A100 </a:t>
            </a:r>
            <a:r>
              <a:rPr lang="en-US" b="false" i="false" strike="noStrike" u="none" sz="2000">
                <a:solidFill>
                  <a:srgbClr val="404040"/>
                </a:solidFill>
                <a:latin typeface="微软雅黑"/>
                <a:ea typeface="微软雅黑"/>
                <a:cs typeface="微软雅黑"/>
                <a:sym typeface="微软雅黑"/>
              </a:rPr>
              <a:t>上高效的配置在</a:t>
            </a:r>
            <a:r>
              <a:rPr lang="en-US" b="false" i="false" strike="noStrike" u="none" sz="2000">
                <a:solidFill>
                  <a:srgbClr val="404040"/>
                </a:solidFill>
                <a:latin typeface="Calibri"/>
                <a:ea typeface="Calibri"/>
                <a:cs typeface="Calibri"/>
                <a:sym typeface="Calibri"/>
              </a:rPr>
              <a:t> RTX 4090 </a:t>
            </a:r>
            <a:r>
              <a:rPr lang="en-US" b="false" i="false" strike="noStrike" u="none" sz="2000">
                <a:solidFill>
                  <a:srgbClr val="404040"/>
                </a:solidFill>
                <a:latin typeface="微软雅黑"/>
                <a:ea typeface="微软雅黑"/>
                <a:cs typeface="微软雅黑"/>
                <a:sym typeface="微软雅黑"/>
              </a:rPr>
              <a:t>上可能表现不佳。</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triton.autotune </a:t>
            </a:r>
            <a:r>
              <a:rPr lang="en-US" b="false" i="false" strike="noStrike" u="none" sz="2000">
                <a:solidFill>
                  <a:srgbClr val="404040"/>
                </a:solidFill>
                <a:latin typeface="微软雅黑"/>
                <a:ea typeface="微软雅黑"/>
                <a:cs typeface="微软雅黑"/>
                <a:sym typeface="微软雅黑"/>
              </a:rPr>
              <a:t>装饰器：无需硬编码参数值，只需为</a:t>
            </a:r>
            <a:r>
              <a:rPr lang="en-US" b="false" i="false" strike="noStrike" u="none" sz="2000">
                <a:solidFill>
                  <a:srgbClr val="404040"/>
                </a:solidFill>
                <a:latin typeface="Calibri"/>
                <a:ea typeface="Calibri"/>
                <a:cs typeface="Calibri"/>
                <a:sym typeface="Calibri"/>
              </a:rPr>
              <a:t> Triton </a:t>
            </a:r>
            <a:r>
              <a:rPr lang="en-US" b="false" i="false" strike="noStrike" u="none" sz="2000">
                <a:solidFill>
                  <a:srgbClr val="404040"/>
                </a:solidFill>
                <a:latin typeface="微软雅黑"/>
                <a:ea typeface="微软雅黑"/>
                <a:cs typeface="微软雅黑"/>
                <a:sym typeface="微软雅黑"/>
              </a:rPr>
              <a:t>提供一组待测试的配置列表，</a:t>
            </a:r>
            <a:r>
              <a:rPr lang="en-US" b="false" i="false" strike="noStrike" u="none" sz="2000">
                <a:solidFill>
                  <a:srgbClr val="404040"/>
                </a:solidFill>
                <a:latin typeface="Calibri"/>
                <a:ea typeface="Calibri"/>
                <a:cs typeface="Calibri"/>
                <a:sym typeface="Calibri"/>
              </a:rPr>
              <a:t>Triton </a:t>
            </a:r>
            <a:r>
              <a:rPr lang="en-US" b="false" i="false" strike="noStrike" u="none" sz="2000">
                <a:solidFill>
                  <a:srgbClr val="404040"/>
                </a:solidFill>
                <a:latin typeface="微软雅黑"/>
                <a:ea typeface="微软雅黑"/>
                <a:cs typeface="微软雅黑"/>
                <a:sym typeface="微软雅黑"/>
              </a:rPr>
              <a:t>将自动进行基准测试并选出最优配置。</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t>
            </a:r>
          </a:p>
        </p:txBody>
      </p:sp>
      <p:sp>
        <p:nvSpPr>
          <p:cNvPr name="AutoShape 6" id="6"/>
          <p:cNvSpPr/>
          <p:nvPr/>
        </p:nvSpPr>
        <p:spPr>
          <a:xfrm rot="0" flipH="false" flipV="false">
            <a:off x="523875" y="3721735"/>
            <a:ext cx="5400000" cy="1767841"/>
          </a:xfrm>
          <a:prstGeom prst="rect">
            <a:avLst/>
          </a:prstGeom>
          <a:noFill/>
          <a:ln w="12700">
            <a:solidFill>
              <a:srgbClr val="262626">
                <a:alpha val="100000"/>
              </a:srgbClr>
            </a:solidFill>
            <a:prstDash val="solid"/>
          </a:ln>
        </p:spPr>
        <p:txBody>
          <a:bodyPr anchor="t" rtlCol="false" wrap="square" lIns="91440" rIns="91440" tIns="45720" bIns="45720">
            <a:spAutoFit/>
          </a:bodyPr>
          <a:lstStyle/>
          <a:p>
            <a:pPr algn="l" indent="0">
              <a:lnSpc>
                <a:spcPct val="100000"/>
              </a:lnSpc>
              <a:defRPr/>
            </a:pPr>
            <a:r>
              <a:rPr lang="en-US" b="false" i="false" strike="noStrike" u="none" sz="1000">
                <a:solidFill>
                  <a:srgbClr val="000000"/>
                </a:solidFill>
                <a:latin typeface="Droid Sans Mono"/>
                <a:ea typeface="Droid Sans Mono"/>
                <a:cs typeface="Droid Sans Mono"/>
                <a:sym typeface="Droid Sans Mono"/>
              </a:rPr>
              <a:t>@triton.autotune(</a:t>
            </a:r>
            <a:endParaRPr lang="en-US" sz="1100"/>
          </a:p>
          <a:p>
            <a:pPr algn="l" indent="0">
              <a:lnSpc>
                <a:spcPct val="100000"/>
              </a:lnSpc>
            </a:pPr>
            <a:r>
              <a:rPr lang="en-US" b="false" i="false" strike="noStrike" u="none" sz="1000">
                <a:solidFill>
                  <a:srgbClr val="000000"/>
                </a:solidFill>
                <a:latin typeface="Droid Sans Mono"/>
                <a:ea typeface="Droid Sans Mono"/>
                <a:cs typeface="Droid Sans Mono"/>
                <a:sym typeface="Droid Sans Mono"/>
              </a:rPr>
              <a:t>configs=[</a:t>
            </a:r>
          </a:p>
          <a:p>
            <a:pPr algn="l" indent="0">
              <a:lnSpc>
                <a:spcPct val="100000"/>
              </a:lnSpc>
            </a:pPr>
            <a:r>
              <a:rPr lang="en-US" b="false" i="false" strike="noStrike" u="none" sz="1000">
                <a:solidFill>
                  <a:srgbClr val="000000"/>
                </a:solidFill>
                <a:latin typeface="Droid Sans Mono"/>
                <a:ea typeface="Droid Sans Mono"/>
                <a:cs typeface="Droid Sans Mono"/>
                <a:sym typeface="Droid Sans Mono"/>
              </a:rPr>
              <a:t>        triton.Config({'BLOCK_SIZE': 128}, num_warps=4),</a:t>
            </a:r>
          </a:p>
          <a:p>
            <a:pPr algn="l" indent="0">
              <a:lnSpc>
                <a:spcPct val="100000"/>
              </a:lnSpc>
            </a:pPr>
            <a:r>
              <a:rPr lang="en-US" b="false" i="false" strike="noStrike" u="none" sz="1000">
                <a:solidFill>
                  <a:srgbClr val="000000"/>
                </a:solidFill>
                <a:latin typeface="Droid Sans Mono"/>
                <a:ea typeface="Droid Sans Mono"/>
                <a:cs typeface="Droid Sans Mono"/>
                <a:sym typeface="Droid Sans Mono"/>
              </a:rPr>
              <a:t>        triton.Config({'BLOCK_SIZE': 256}, num_warps=8),</a:t>
            </a:r>
          </a:p>
          <a:p>
            <a:pPr algn="l" indent="0">
              <a:lnSpc>
                <a:spcPct val="100000"/>
              </a:lnSpc>
            </a:pPr>
            <a:r>
              <a:rPr lang="en-US" b="false" i="false" strike="noStrike" u="none" sz="1000">
                <a:solidFill>
                  <a:srgbClr val="000000"/>
                </a:solidFill>
                <a:latin typeface="Droid Sans Mono"/>
                <a:ea typeface="Droid Sans Mono"/>
                <a:cs typeface="Droid Sans Mono"/>
                <a:sym typeface="Droid Sans Mono"/>
              </a:rPr>
              <a:t>        triton.Config({'BLOCK_SIZE': 512}, num_warps=8),</a:t>
            </a:r>
          </a:p>
          <a:p>
            <a:pPr algn="l" indent="0">
              <a:lnSpc>
                <a:spcPct val="100000"/>
              </a:lnSpc>
            </a:pPr>
            <a:r>
              <a:rPr lang="en-US" b="false" i="false" strike="noStrike" u="none" sz="1000">
                <a:solidFill>
                  <a:srgbClr val="000000"/>
                </a:solidFill>
                <a:latin typeface="Droid Sans Mono"/>
                <a:ea typeface="Droid Sans Mono"/>
                <a:cs typeface="Droid Sans Mono"/>
                <a:sym typeface="Droid Sans Mono"/>
              </a:rPr>
              <a:t>    ],</a:t>
            </a:r>
          </a:p>
          <a:p>
            <a:pPr algn="l" indent="0">
              <a:lnSpc>
                <a:spcPct val="100000"/>
              </a:lnSpc>
            </a:pPr>
            <a:r>
              <a:rPr lang="en-US" b="false" i="false" strike="noStrike" u="none" sz="1000">
                <a:solidFill>
                  <a:srgbClr val="000000"/>
                </a:solidFill>
                <a:latin typeface="Droid Sans Mono"/>
                <a:ea typeface="Droid Sans Mono"/>
                <a:cs typeface="Droid Sans Mono"/>
                <a:sym typeface="Droid Sans Mono"/>
              </a:rPr>
              <a:t>    key=['n_elements'], # </a:t>
            </a:r>
            <a:r>
              <a:rPr lang="en-US" b="false" i="false" strike="noStrike" u="none" sz="1000">
                <a:solidFill>
                  <a:srgbClr val="000000"/>
                </a:solidFill>
                <a:latin typeface="微软雅黑"/>
                <a:ea typeface="微软雅黑"/>
                <a:cs typeface="微软雅黑"/>
                <a:sym typeface="微软雅黑"/>
              </a:rPr>
              <a:t>若</a:t>
            </a:r>
            <a:r>
              <a:rPr lang="en-US" b="false" i="false" strike="noStrike" u="none" sz="1000">
                <a:solidFill>
                  <a:srgbClr val="000000"/>
                </a:solidFill>
                <a:latin typeface="Droid Sans Mono"/>
                <a:ea typeface="Droid Sans Mono"/>
                <a:cs typeface="Droid Sans Mono"/>
                <a:sym typeface="Droid Sans Mono"/>
              </a:rPr>
              <a:t> N </a:t>
            </a:r>
            <a:r>
              <a:rPr lang="en-US" b="false" i="false" strike="noStrike" u="none" sz="1000">
                <a:solidFill>
                  <a:srgbClr val="000000"/>
                </a:solidFill>
                <a:latin typeface="微软雅黑"/>
                <a:ea typeface="微软雅黑"/>
                <a:cs typeface="微软雅黑"/>
                <a:sym typeface="微软雅黑"/>
              </a:rPr>
              <a:t>发生较大变化则重新进行调优</a:t>
            </a:r>
          </a:p>
          <a:p>
            <a:pPr algn="l" indent="0">
              <a:lnSpc>
                <a:spcPct val="100000"/>
              </a:lnSpc>
            </a:pPr>
            <a:r>
              <a:rPr lang="en-US" b="false" i="false" strike="noStrike" u="none" sz="1000">
                <a:solidFill>
                  <a:srgbClr val="000000"/>
                </a:solidFill>
                <a:latin typeface="Droid Sans Mono"/>
                <a:ea typeface="Droid Sans Mono"/>
                <a:cs typeface="Droid Sans Mono"/>
                <a:sym typeface="Droid Sans Mono"/>
              </a:rPr>
              <a:t>)</a:t>
            </a:r>
          </a:p>
          <a:p>
            <a:pPr algn="l" indent="0">
              <a:lnSpc>
                <a:spcPct val="100000"/>
              </a:lnSpc>
            </a:pPr>
            <a:r>
              <a:rPr lang="en-US" b="false" i="false" strike="noStrike" u="none" sz="1000">
                <a:solidFill>
                  <a:srgbClr val="000000"/>
                </a:solidFill>
                <a:latin typeface="Droid Sans Mono"/>
                <a:ea typeface="Droid Sans Mono"/>
                <a:cs typeface="Droid Sans Mono"/>
                <a:sym typeface="Droid Sans Mono"/>
              </a:rPr>
              <a:t>@triton.jit</a:t>
            </a:r>
          </a:p>
          <a:p>
            <a:pPr algn="l" indent="0">
              <a:lnSpc>
                <a:spcPct val="100000"/>
              </a:lnSpc>
            </a:pPr>
            <a:r>
              <a:rPr lang="en-US" b="false" i="false" strike="noStrike" u="none" sz="1000">
                <a:solidFill>
                  <a:srgbClr val="000000"/>
                </a:solidFill>
                <a:latin typeface="Droid Sans Mono"/>
                <a:ea typeface="Droid Sans Mono"/>
                <a:cs typeface="Droid Sans Mono"/>
                <a:sym typeface="Droid Sans Mono"/>
              </a:rPr>
              <a:t>def optimized_kernel(..., BLOCK_SIZE: tl.constexpr):</a:t>
            </a:r>
          </a:p>
          <a:p>
            <a:pPr algn="l" indent="0">
              <a:lnSpc>
                <a:spcPct val="100000"/>
              </a:lnSpc>
            </a:pPr>
            <a:r>
              <a:rPr lang="en-US" b="false" i="false" strike="noStrike" u="none" sz="1000">
                <a:solidFill>
                  <a:srgbClr val="000000"/>
                </a:solidFill>
                <a:latin typeface="Droid Sans Mono"/>
                <a:ea typeface="Droid Sans Mono"/>
                <a:cs typeface="Droid Sans Mono"/>
                <a:sym typeface="Droid Sans Mono"/>
              </a:rPr>
              <a:t>    ...</a:t>
            </a:r>
          </a:p>
          <a:p>
            <a:pPr algn="l" indent="0">
              <a:lnSpc>
                <a:spcPct val="100000"/>
              </a:lnSpc>
            </a:pPr>
            <a:r>
              <a:rPr lang="en-US" b="false" i="false" strike="noStrike" u="none" sz="1000">
                <a:solidFill>
                  <a:srgbClr val="000000"/>
                </a:solidFill>
                <a:latin typeface="Arial"/>
                <a:ea typeface="Arial"/>
                <a:cs typeface="Arial"/>
                <a:sym typeface="Arial"/>
              </a:rPr>
              <a:t> </a:t>
            </a:r>
          </a:p>
        </p:txBody>
      </p:sp>
      <p:sp>
        <p:nvSpPr>
          <p:cNvPr name="AutoShape 7" id="7"/>
          <p:cNvSpPr/>
          <p:nvPr/>
        </p:nvSpPr>
        <p:spPr>
          <a:xfrm rot="0" flipH="false" flipV="false">
            <a:off x="6401435" y="3721735"/>
            <a:ext cx="5400000" cy="1844041"/>
          </a:xfrm>
          <a:prstGeom prst="rect">
            <a:avLst/>
          </a:prstGeom>
          <a:noFill/>
          <a:ln w="12700">
            <a:noFill/>
            <a:prstDash val="solid"/>
          </a:ln>
        </p:spPr>
        <p:txBody>
          <a:bodyPr anchor="t" rtlCol="false" wrap="square" lIns="91440" rIns="91440" tIns="45720" bIns="45720">
            <a:spAutoFit/>
          </a:bodyPr>
          <a:lstStyle/>
          <a:p>
            <a:pPr algn="l" indent="0">
              <a:lnSpc>
                <a:spcPct val="100000"/>
              </a:lnSpc>
              <a:defRPr/>
            </a:pPr>
            <a:r>
              <a:rPr lang="en-US" b="false" i="false" strike="noStrike" u="none" sz="2000">
                <a:solidFill>
                  <a:srgbClr val="000000"/>
                </a:solidFill>
                <a:latin typeface="微软雅黑"/>
                <a:ea typeface="微软雅黑"/>
                <a:cs typeface="微软雅黑"/>
                <a:sym typeface="微软雅黑"/>
              </a:rPr>
              <a:t>关键调优参数</a:t>
            </a:r>
            <a:endParaRPr lang="en-US" sz="1100"/>
          </a:p>
          <a:p>
            <a:pPr algn="l" indent="-203200" lvl="1" marL="254000">
              <a:lnSpc>
                <a:spcPct val="100000"/>
              </a:lnSpc>
              <a:buClr>
                <a:srgbClr val="000000"/>
              </a:buClr>
              <a:buChar char="•"/>
            </a:pPr>
            <a:r>
              <a:rPr lang="en-US" b="false" i="false" strike="noStrike" u="none" sz="1600">
                <a:solidFill>
                  <a:srgbClr val="000000"/>
                </a:solidFill>
                <a:latin typeface="Arial"/>
                <a:ea typeface="Arial"/>
                <a:cs typeface="Arial"/>
                <a:sym typeface="Arial"/>
              </a:rPr>
              <a:t>num_warps</a:t>
            </a:r>
            <a:r>
              <a:rPr lang="en-US" b="false" i="false" strike="noStrike" u="none" sz="1600">
                <a:solidFill>
                  <a:srgbClr val="000000"/>
                </a:solidFill>
                <a:latin typeface="微软雅黑"/>
                <a:ea typeface="微软雅黑"/>
                <a:cs typeface="微软雅黑"/>
                <a:sym typeface="微软雅黑"/>
              </a:rPr>
              <a:t>：控制执行该块的</a:t>
            </a:r>
            <a:r>
              <a:rPr lang="en-US" b="false" i="false" strike="noStrike" u="none" sz="1600">
                <a:solidFill>
                  <a:srgbClr val="000000"/>
                </a:solidFill>
                <a:latin typeface="Arial"/>
                <a:ea typeface="Arial"/>
                <a:cs typeface="Arial"/>
                <a:sym typeface="Arial"/>
              </a:rPr>
              <a:t> Warp </a:t>
            </a:r>
            <a:r>
              <a:rPr lang="en-US" b="false" i="false" strike="noStrike" u="none" sz="1600">
                <a:solidFill>
                  <a:srgbClr val="000000"/>
                </a:solidFill>
                <a:latin typeface="微软雅黑"/>
                <a:ea typeface="微软雅黑"/>
                <a:cs typeface="微软雅黑"/>
                <a:sym typeface="微软雅黑"/>
              </a:rPr>
              <a:t>数量（每个</a:t>
            </a:r>
            <a:r>
              <a:rPr lang="en-US" b="false" i="false" strike="noStrike" u="none" sz="1600">
                <a:solidFill>
                  <a:srgbClr val="000000"/>
                </a:solidFill>
                <a:latin typeface="Arial"/>
                <a:ea typeface="Arial"/>
                <a:cs typeface="Arial"/>
                <a:sym typeface="Arial"/>
              </a:rPr>
              <a:t> Warp </a:t>
            </a:r>
            <a:r>
              <a:rPr lang="en-US" b="false" i="false" strike="noStrike" u="none" sz="1600">
                <a:solidFill>
                  <a:srgbClr val="000000"/>
                </a:solidFill>
                <a:latin typeface="微软雅黑"/>
                <a:ea typeface="微软雅黑"/>
                <a:cs typeface="微软雅黑"/>
                <a:sym typeface="微软雅黑"/>
              </a:rPr>
              <a:t>包含</a:t>
            </a:r>
            <a:r>
              <a:rPr lang="en-US" b="false" i="false" strike="noStrike" u="none" sz="1600">
                <a:solidFill>
                  <a:srgbClr val="000000"/>
                </a:solidFill>
                <a:latin typeface="Arial"/>
                <a:ea typeface="Arial"/>
                <a:cs typeface="Arial"/>
                <a:sym typeface="Arial"/>
              </a:rPr>
              <a:t> 32 </a:t>
            </a:r>
            <a:r>
              <a:rPr lang="en-US" b="false" i="false" strike="noStrike" u="none" sz="1600">
                <a:solidFill>
                  <a:srgbClr val="000000"/>
                </a:solidFill>
                <a:latin typeface="微软雅黑"/>
                <a:ea typeface="微软雅黑"/>
                <a:cs typeface="微软雅黑"/>
                <a:sym typeface="微软雅黑"/>
              </a:rPr>
              <a:t>个线程）。更多</a:t>
            </a:r>
            <a:r>
              <a:rPr lang="en-US" b="false" i="false" strike="noStrike" u="none" sz="1600">
                <a:solidFill>
                  <a:srgbClr val="000000"/>
                </a:solidFill>
                <a:latin typeface="Arial"/>
                <a:ea typeface="Arial"/>
                <a:cs typeface="Arial"/>
                <a:sym typeface="Arial"/>
              </a:rPr>
              <a:t> Warp </a:t>
            </a:r>
            <a:r>
              <a:rPr lang="en-US" b="false" i="false" strike="noStrike" u="none" sz="1600">
                <a:solidFill>
                  <a:srgbClr val="000000"/>
                </a:solidFill>
                <a:latin typeface="微软雅黑"/>
                <a:ea typeface="微软雅黑"/>
                <a:cs typeface="微软雅黑"/>
                <a:sym typeface="微软雅黑"/>
              </a:rPr>
              <a:t>可隐藏内存延迟，但会消耗更多寄存器资源。</a:t>
            </a:r>
          </a:p>
          <a:p>
            <a:pPr algn="l" indent="-203200" lvl="1" marL="254000">
              <a:lnSpc>
                <a:spcPct val="100000"/>
              </a:lnSpc>
              <a:buClr>
                <a:srgbClr val="000000"/>
              </a:buClr>
              <a:buChar char="•"/>
            </a:pPr>
            <a:r>
              <a:rPr lang="en-US" b="false" i="false" strike="noStrike" u="none" sz="1600">
                <a:solidFill>
                  <a:srgbClr val="000000"/>
                </a:solidFill>
                <a:latin typeface="Arial"/>
                <a:ea typeface="Arial"/>
                <a:cs typeface="Arial"/>
                <a:sym typeface="Arial"/>
              </a:rPr>
              <a:t>num_stages</a:t>
            </a:r>
            <a:r>
              <a:rPr lang="en-US" b="false" i="false" strike="noStrike" u="none" sz="1600">
                <a:solidFill>
                  <a:srgbClr val="000000"/>
                </a:solidFill>
                <a:latin typeface="微软雅黑"/>
                <a:ea typeface="微软雅黑"/>
                <a:cs typeface="微软雅黑"/>
                <a:sym typeface="微软雅黑"/>
              </a:rPr>
              <a:t>：控制软件流水线级数。较高的值允许</a:t>
            </a:r>
            <a:r>
              <a:rPr lang="en-US" b="false" i="false" strike="noStrike" u="none" sz="1600">
                <a:solidFill>
                  <a:srgbClr val="000000"/>
                </a:solidFill>
                <a:latin typeface="Arial"/>
                <a:ea typeface="Arial"/>
                <a:cs typeface="Arial"/>
                <a:sym typeface="Arial"/>
              </a:rPr>
              <a:t> GPU </a:t>
            </a:r>
            <a:r>
              <a:rPr lang="en-US" b="false" i="false" strike="noStrike" u="none" sz="1600">
                <a:solidFill>
                  <a:srgbClr val="000000"/>
                </a:solidFill>
                <a:latin typeface="微软雅黑"/>
                <a:ea typeface="微软雅黑"/>
                <a:cs typeface="微软雅黑"/>
                <a:sym typeface="微软雅黑"/>
              </a:rPr>
              <a:t>在计算当前块的同时预加载下一块数据。</a:t>
            </a:r>
          </a:p>
        </p:txBody>
      </p:sp>
    </p:spTree>
  </p:cSld>
  <p:clrMapOvr>
    <a:masterClrMapping/>
  </p:clrMapOvr>
  <p:transition main:dur="1000">
    <p:fade thruBlk="false"/>
  </p:transition>
</p:sld>
</file>

<file path=ppt/slides/slide22.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矩阵乘法</a:t>
            </a:r>
            <a:r>
              <a:rPr lang="en-US" b="false" i="false" strike="noStrike" u="none" sz="3600">
                <a:solidFill>
                  <a:srgbClr val="262626"/>
                </a:solidFill>
                <a:latin typeface="Calibri"/>
                <a:ea typeface="Calibri"/>
                <a:cs typeface="Calibri"/>
                <a:sym typeface="Calibri"/>
              </a:rPr>
              <a:t>:</a:t>
            </a:r>
            <a:r>
              <a:rPr lang="en-US" b="false" i="false" strike="noStrike" u="none" sz="3600">
                <a:solidFill>
                  <a:srgbClr val="262626"/>
                </a:solidFill>
                <a:latin typeface="微软雅黑"/>
                <a:ea typeface="微软雅黑"/>
                <a:cs typeface="微软雅黑"/>
                <a:sym typeface="微软雅黑"/>
              </a:rPr>
              <a:t>步幅与内存布局</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22</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构建二维分块指针</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步幅的重要性</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灵活性：步幅使核函数能够处理转置矩阵或子视图（切片），而无需复制数据。</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效率：合适的步幅确保</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合并访问</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，使</a:t>
            </a:r>
            <a:r>
              <a:rPr lang="en-US" b="false" i="false" strike="noStrike" u="none" sz="2000">
                <a:solidFill>
                  <a:srgbClr val="404040"/>
                </a:solidFill>
                <a:latin typeface="Calibri"/>
                <a:ea typeface="Calibri"/>
                <a:cs typeface="Calibri"/>
                <a:sym typeface="Calibri"/>
              </a:rPr>
              <a:t> GPU </a:t>
            </a:r>
            <a:r>
              <a:rPr lang="en-US" b="false" i="false" strike="noStrike" u="none" sz="2000">
                <a:solidFill>
                  <a:srgbClr val="404040"/>
                </a:solidFill>
                <a:latin typeface="微软雅黑"/>
                <a:ea typeface="微软雅黑"/>
                <a:cs typeface="微软雅黑"/>
                <a:sym typeface="微软雅黑"/>
              </a:rPr>
              <a:t>能够读取连续的内存块。</a:t>
            </a:r>
          </a:p>
        </p:txBody>
      </p:sp>
      <p:sp>
        <p:nvSpPr>
          <p:cNvPr name="AutoShape 6" id="6"/>
          <p:cNvSpPr/>
          <p:nvPr/>
        </p:nvSpPr>
        <p:spPr>
          <a:xfrm rot="0" flipH="false" flipV="false">
            <a:off x="997585" y="1736725"/>
            <a:ext cx="7200000" cy="2021841"/>
          </a:xfrm>
          <a:prstGeom prst="rect">
            <a:avLst/>
          </a:prstGeom>
          <a:noFill/>
          <a:ln w="12700">
            <a:solidFill>
              <a:srgbClr val="262626">
                <a:alpha val="100000"/>
              </a:srgbClr>
            </a:solidFill>
            <a:prstDash val="solid"/>
          </a:ln>
        </p:spPr>
        <p:txBody>
          <a:bodyPr anchor="t" rtlCol="false" wrap="square" lIns="91440" rIns="91440" tIns="45720" bIns="45720">
            <a:spAutoFit/>
          </a:bodyPr>
          <a:lstStyle/>
          <a:p>
            <a:pPr algn="l" indent="0">
              <a:lnSpc>
                <a:spcPct val="100000"/>
              </a:lnSpc>
              <a:defRPr/>
            </a:pPr>
            <a:r>
              <a:rPr lang="en-US" b="false" i="false" strike="noStrike" u="none" sz="1600">
                <a:solidFill>
                  <a:srgbClr val="000000"/>
                </a:solidFill>
                <a:latin typeface="Droid Sans Mono"/>
                <a:ea typeface="Droid Sans Mono"/>
                <a:cs typeface="Droid Sans Mono"/>
                <a:sym typeface="Droid Sans Mono"/>
              </a:rPr>
              <a:t># </a:t>
            </a:r>
            <a:r>
              <a:rPr lang="en-US" b="false" i="false" strike="noStrike" u="none" sz="1600">
                <a:solidFill>
                  <a:srgbClr val="000000"/>
                </a:solidFill>
                <a:latin typeface="微软雅黑"/>
                <a:ea typeface="微软雅黑"/>
                <a:cs typeface="微软雅黑"/>
                <a:sym typeface="微软雅黑"/>
              </a:rPr>
              <a:t>创建一维偏移量向量</a:t>
            </a:r>
            <a:endParaRPr lang="en-US" sz="1100"/>
          </a:p>
          <a:p>
            <a:pPr algn="l" indent="0">
              <a:lnSpc>
                <a:spcPct val="100000"/>
              </a:lnSpc>
            </a:pPr>
            <a:r>
              <a:rPr lang="en-US" b="false" i="false" strike="noStrike" u="none" sz="1600">
                <a:solidFill>
                  <a:srgbClr val="000000"/>
                </a:solidFill>
                <a:latin typeface="Droid Sans Mono"/>
                <a:ea typeface="Droid Sans Mono"/>
                <a:cs typeface="Droid Sans Mono"/>
                <a:sym typeface="Droid Sans Mono"/>
              </a:rPr>
              <a:t>offs_m = tl.arange(0, BLOCK_SIZE_M)</a:t>
            </a:r>
          </a:p>
          <a:p>
            <a:pPr algn="l" indent="0">
              <a:lnSpc>
                <a:spcPct val="100000"/>
              </a:lnSpc>
            </a:pPr>
            <a:r>
              <a:rPr lang="en-US" b="false" i="false" strike="noStrike" u="none" sz="1600">
                <a:solidFill>
                  <a:srgbClr val="000000"/>
                </a:solidFill>
                <a:latin typeface="Droid Sans Mono"/>
                <a:ea typeface="Droid Sans Mono"/>
                <a:cs typeface="Droid Sans Mono"/>
                <a:sym typeface="Droid Sans Mono"/>
              </a:rPr>
              <a:t>offs_n = tl.arange(0, BLOCK_SIZE_N)</a:t>
            </a:r>
          </a:p>
          <a:p>
            <a:pPr algn="l" indent="0">
              <a:lnSpc>
                <a:spcPct val="100000"/>
              </a:lnSpc>
            </a:pPr>
            <a:r>
              <a:rPr lang="en-US" b="false" i="false" strike="noStrike" u="none" sz="1600">
                <a:solidFill>
                  <a:srgbClr val="000000"/>
                </a:solidFill>
                <a:latin typeface="Arial"/>
                <a:ea typeface="Arial"/>
                <a:cs typeface="Arial"/>
                <a:sym typeface="Arial"/>
              </a:rPr>
              <a:t/>
            </a:r>
          </a:p>
          <a:p>
            <a:pPr algn="l" indent="0">
              <a:lnSpc>
                <a:spcPct val="100000"/>
              </a:lnSpc>
            </a:pPr>
            <a:r>
              <a:rPr lang="en-US" b="false" i="false" strike="noStrike" u="none" sz="1600">
                <a:solidFill>
                  <a:srgbClr val="000000"/>
                </a:solidFill>
                <a:latin typeface="Droid Sans Mono"/>
                <a:ea typeface="Droid Sans Mono"/>
                <a:cs typeface="Droid Sans Mono"/>
                <a:sym typeface="Droid Sans Mono"/>
              </a:rPr>
              <a:t># </a:t>
            </a:r>
            <a:r>
              <a:rPr lang="en-US" b="false" i="false" strike="noStrike" u="none" sz="1600">
                <a:solidFill>
                  <a:srgbClr val="000000"/>
                </a:solidFill>
                <a:latin typeface="微软雅黑"/>
                <a:ea typeface="微软雅黑"/>
                <a:cs typeface="微软雅黑"/>
                <a:sym typeface="微软雅黑"/>
              </a:rPr>
              <a:t>组合为二维指针网格（</a:t>
            </a:r>
            <a:r>
              <a:rPr lang="en-US" b="false" i="false" strike="noStrike" u="none" sz="1600">
                <a:solidFill>
                  <a:srgbClr val="000000"/>
                </a:solidFill>
                <a:latin typeface="Droid Sans Mono"/>
                <a:ea typeface="Droid Sans Mono"/>
                <a:cs typeface="Droid Sans Mono"/>
                <a:sym typeface="Droid Sans Mono"/>
              </a:rPr>
              <a:t>M, N</a:t>
            </a:r>
            <a:r>
              <a:rPr lang="en-US" b="false" i="false" strike="noStrike" u="none" sz="1600">
                <a:solidFill>
                  <a:srgbClr val="000000"/>
                </a:solidFill>
                <a:latin typeface="微软雅黑"/>
                <a:ea typeface="微软雅黑"/>
                <a:cs typeface="微软雅黑"/>
                <a:sym typeface="微软雅黑"/>
              </a:rPr>
              <a:t>）</a:t>
            </a:r>
          </a:p>
          <a:p>
            <a:pPr algn="l" indent="0">
              <a:lnSpc>
                <a:spcPct val="100000"/>
              </a:lnSpc>
            </a:pPr>
            <a:r>
              <a:rPr lang="en-US" b="false" i="false" strike="noStrike" u="none" sz="1600">
                <a:solidFill>
                  <a:srgbClr val="000000"/>
                </a:solidFill>
                <a:latin typeface="Droid Sans Mono"/>
                <a:ea typeface="Droid Sans Mono"/>
                <a:cs typeface="Droid Sans Mono"/>
                <a:sym typeface="Droid Sans Mono"/>
              </a:rPr>
              <a:t># [M, 1] * stride_m + [1, N] * stride_n</a:t>
            </a:r>
          </a:p>
          <a:p>
            <a:pPr algn="l" indent="0">
              <a:lnSpc>
                <a:spcPct val="100000"/>
              </a:lnSpc>
            </a:pPr>
            <a:r>
              <a:rPr lang="en-US" b="false" i="false" strike="noStrike" u="none" sz="1600">
                <a:solidFill>
                  <a:srgbClr val="000000"/>
                </a:solidFill>
                <a:latin typeface="Droid Sans Mono"/>
                <a:ea typeface="Droid Sans Mono"/>
                <a:cs typeface="Droid Sans Mono"/>
                <a:sym typeface="Droid Sans Mono"/>
              </a:rPr>
              <a:t>tile_ptr = base_ptr + (offs_m[:, None] * stride_m + </a:t>
            </a:r>
          </a:p>
          <a:p>
            <a:pPr algn="l" indent="0">
              <a:lnSpc>
                <a:spcPct val="100000"/>
              </a:lnSpc>
            </a:pPr>
            <a:r>
              <a:rPr lang="en-US" b="false" i="false" strike="noStrike" u="none" sz="1600">
                <a:solidFill>
                  <a:srgbClr val="000000"/>
                </a:solidFill>
                <a:latin typeface="Droid Sans Mono"/>
                <a:ea typeface="Droid Sans Mono"/>
                <a:cs typeface="Droid Sans Mono"/>
                <a:sym typeface="Droid Sans Mono"/>
              </a:rPr>
              <a:t>                       offs_n[None, :] * stride_n)</a:t>
            </a:r>
          </a:p>
        </p:txBody>
      </p:sp>
    </p:spTree>
  </p:cSld>
  <p:clrMapOvr>
    <a:masterClrMapping/>
  </p:clrMapOvr>
  <p:transition main:dur="1000">
    <p:fade thruBlk="false"/>
  </p:transition>
</p:sld>
</file>

<file path=ppt/slides/slide23.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10"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软件流水线与</a:t>
            </a:r>
            <a:r>
              <a:rPr lang="en-US" b="false" i="false" strike="noStrike" u="none" sz="3600">
                <a:solidFill>
                  <a:srgbClr val="262626"/>
                </a:solidFill>
                <a:latin typeface="Calibri"/>
                <a:ea typeface="Calibri"/>
                <a:cs typeface="Calibri"/>
                <a:sym typeface="Calibri"/>
              </a:rPr>
              <a:t> num_stages</a:t>
            </a:r>
          </a:p>
        </p:txBody>
      </p:sp>
      <p:sp>
        <p:nvSpPr>
          <p:cNvPr name="AutoShape 3" id="3"/>
          <p:cNvSpPr/>
          <p:nvPr>
            <p:ph idx="11"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23</a:t>
            </a:r>
          </a:p>
        </p:txBody>
      </p:sp>
      <p:sp>
        <p:nvSpPr>
          <p:cNvPr name="AutoShape 4" id="4"/>
          <p:cNvSpPr/>
          <p:nvPr>
            <p:ph idx="12"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突破内存墙</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GPU </a:t>
            </a:r>
            <a:r>
              <a:rPr lang="en-US" b="false" i="false" strike="noStrike" u="none" sz="2000">
                <a:solidFill>
                  <a:srgbClr val="404040"/>
                </a:solidFill>
                <a:latin typeface="微软雅黑"/>
                <a:ea typeface="微软雅黑"/>
                <a:cs typeface="微软雅黑"/>
                <a:sym typeface="微软雅黑"/>
              </a:rPr>
              <a:t>上的算术运算（如浮点加法）比从全局内存取数据要快得多。为防止</a:t>
            </a:r>
            <a:r>
              <a:rPr lang="en-US" b="false" i="false" strike="noStrike" u="none" sz="2000">
                <a:solidFill>
                  <a:srgbClr val="404040"/>
                </a:solidFill>
                <a:latin typeface="Calibri"/>
                <a:ea typeface="Calibri"/>
                <a:cs typeface="Calibri"/>
                <a:sym typeface="Calibri"/>
              </a:rPr>
              <a:t> GPU </a:t>
            </a:r>
            <a:r>
              <a:rPr lang="en-US" b="false" i="false" strike="noStrike" u="none" sz="2000">
                <a:solidFill>
                  <a:srgbClr val="404040"/>
                </a:solidFill>
                <a:latin typeface="微软雅黑"/>
                <a:ea typeface="微软雅黑"/>
                <a:cs typeface="微软雅黑"/>
                <a:sym typeface="微软雅黑"/>
              </a:rPr>
              <a:t>在等待数据时空闲，我们使用软件流水线技术。</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什么是软件流水线？</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编译器不再采用</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先加载再计算</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的串行方式，而是将二者交叠执行</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在计算当前迭代的同时加载下一迭代的数据</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优势：通过持续保持算术逻辑单元（</a:t>
            </a:r>
            <a:r>
              <a:rPr lang="en-US" b="false" i="false" strike="noStrike" u="none" sz="2000">
                <a:solidFill>
                  <a:srgbClr val="404040"/>
                </a:solidFill>
                <a:latin typeface="Calibri"/>
                <a:ea typeface="Calibri"/>
                <a:cs typeface="Calibri"/>
                <a:sym typeface="Calibri"/>
              </a:rPr>
              <a:t>ALU</a:t>
            </a:r>
            <a:r>
              <a:rPr lang="en-US" b="false" i="false" strike="noStrike" u="none" sz="2000">
                <a:solidFill>
                  <a:srgbClr val="404040"/>
                </a:solidFill>
                <a:latin typeface="微软雅黑"/>
                <a:ea typeface="微软雅黑"/>
                <a:cs typeface="微软雅黑"/>
                <a:sym typeface="微软雅黑"/>
              </a:rPr>
              <a:t>）繁忙来隐藏内存延迟。</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sp>
        <p:nvSpPr>
          <p:cNvPr name="AutoShape 5" id="5"/>
          <p:cNvSpPr/>
          <p:nvPr>
            <p:ph idx="13"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6" id="6"/>
          <p:cNvSpPr/>
          <p:nvPr>
            <p:ph idx="14" type="body" sz="quarter" hasCustomPrompt="true"/>
          </p:nvPr>
        </p:nvSpPr>
        <p:spPr>
          <a:prstGeom prst="rect">
            <a:avLst/>
          </a:prstGeom>
        </p:spPr>
        <p:txBody>
          <a:bodyPr anchor="t" wrap="square" lIns="91440" rIns="91440" tIns="45720" bIns="45720">
            <a:normAutofit lnSpcReduction="10000"/>
          </a:bodyPr>
          <a:lstStyle>
            <a:lvl1pPr algn="l">
              <a:lnSpc>
                <a:spcPct val="91666"/>
              </a:lnSpc>
              <a:defRPr sz="2300" b="false" i="false" u="none" strike="noStrike" spc="0">
                <a:solidFill>
                  <a:srgbClr val="404040">
                    <a:alpha val="100000"/>
                  </a:srgbClr>
                </a:solidFill>
                <a:latin typeface="Calibri"/>
              </a:defRPr>
            </a:lvl1pPr>
          </a:lstStyle>
          <a:p>
            <a:pPr algn="l" indent="-292100" marL="292100">
              <a:lnSpc>
                <a:spcPct val="91666"/>
              </a:lnSpc>
              <a:spcBef>
                <a:spcPts val="1500"/>
              </a:spcBef>
              <a:buClr>
                <a:srgbClr val="404040"/>
              </a:buClr>
              <a:buChar char="•"/>
            </a:pPr>
            <a:r>
              <a:rPr lang="en-US" b="false" i="false" strike="noStrike" u="none" sz="2300">
                <a:solidFill>
                  <a:srgbClr val="404040"/>
                </a:solidFill>
                <a:latin typeface="Calibri"/>
                <a:ea typeface="Calibri"/>
                <a:cs typeface="Calibri"/>
                <a:sym typeface="Calibri"/>
              </a:rPr>
              <a:t>num_stages </a:t>
            </a:r>
            <a:r>
              <a:rPr lang="en-US" b="false" i="false" strike="noStrike" u="none" sz="2300">
                <a:solidFill>
                  <a:srgbClr val="404040"/>
                </a:solidFill>
                <a:latin typeface="微软雅黑"/>
                <a:ea typeface="微软雅黑"/>
                <a:cs typeface="微软雅黑"/>
                <a:sym typeface="微软雅黑"/>
              </a:rPr>
              <a:t>参数</a:t>
            </a:r>
          </a:p>
          <a:p>
            <a:pPr algn="l" indent="-254000" lvl="1" marL="596900">
              <a:lnSpc>
                <a:spcPct val="91666"/>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在</a:t>
            </a:r>
            <a:r>
              <a:rPr lang="en-US" b="false" i="false" strike="noStrike" u="none" sz="2000">
                <a:solidFill>
                  <a:srgbClr val="404040"/>
                </a:solidFill>
                <a:latin typeface="Calibri"/>
                <a:ea typeface="Calibri"/>
                <a:cs typeface="Calibri"/>
                <a:sym typeface="Calibri"/>
              </a:rPr>
              <a:t> Triton </a:t>
            </a:r>
            <a:r>
              <a:rPr lang="en-US" b="false" i="false" strike="noStrike" u="none" sz="2000">
                <a:solidFill>
                  <a:srgbClr val="404040"/>
                </a:solidFill>
                <a:latin typeface="微软雅黑"/>
                <a:ea typeface="微软雅黑"/>
                <a:cs typeface="微软雅黑"/>
                <a:sym typeface="微软雅黑"/>
              </a:rPr>
              <a:t>中，此参数是控制流水线深度的调优旋钮。</a:t>
            </a:r>
          </a:p>
          <a:p>
            <a:pPr algn="l" indent="-254000" lvl="1" marL="596900">
              <a:lnSpc>
                <a:spcPct val="91666"/>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num_stages=2</a:t>
            </a:r>
            <a:r>
              <a:rPr lang="en-US" b="false" i="false" strike="noStrike" u="none" sz="2000">
                <a:solidFill>
                  <a:srgbClr val="404040"/>
                </a:solidFill>
                <a:latin typeface="微软雅黑"/>
                <a:ea typeface="微软雅黑"/>
                <a:cs typeface="微软雅黑"/>
                <a:sym typeface="微软雅黑"/>
              </a:rPr>
              <a:t>：标准双缓冲模式。</a:t>
            </a:r>
          </a:p>
          <a:p>
            <a:pPr algn="l" indent="-254000" lvl="1" marL="596900">
              <a:lnSpc>
                <a:spcPct val="91666"/>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num_stages=3+</a:t>
            </a:r>
            <a:r>
              <a:rPr lang="en-US" b="false" i="false" strike="noStrike" u="none" sz="2000">
                <a:solidFill>
                  <a:srgbClr val="404040"/>
                </a:solidFill>
                <a:latin typeface="微软雅黑"/>
                <a:ea typeface="微软雅黑"/>
                <a:cs typeface="微软雅黑"/>
                <a:sym typeface="微软雅黑"/>
              </a:rPr>
              <a:t>：用于复杂核函数（如</a:t>
            </a:r>
            <a:r>
              <a:rPr lang="en-US" b="false" i="false" strike="noStrike" u="none" sz="2000">
                <a:solidFill>
                  <a:srgbClr val="404040"/>
                </a:solidFill>
                <a:latin typeface="Calibri"/>
                <a:ea typeface="Calibri"/>
                <a:cs typeface="Calibri"/>
                <a:sym typeface="Calibri"/>
              </a:rPr>
              <a:t> FlashAttention</a:t>
            </a:r>
            <a:r>
              <a:rPr lang="en-US" b="false" i="false" strike="noStrike" u="none" sz="2000">
                <a:solidFill>
                  <a:srgbClr val="404040"/>
                </a:solidFill>
                <a:latin typeface="微软雅黑"/>
                <a:ea typeface="微软雅黑"/>
                <a:cs typeface="微软雅黑"/>
                <a:sym typeface="微软雅黑"/>
              </a:rPr>
              <a:t>），以更提前地预取数据。</a:t>
            </a:r>
          </a:p>
          <a:p>
            <a:pPr algn="l" indent="-254000" lvl="1" marL="596900">
              <a:lnSpc>
                <a:spcPct val="91666"/>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硬件要求：此功能依赖</a:t>
            </a:r>
            <a:r>
              <a:rPr lang="en-US" b="false" i="false" strike="noStrike" u="none" sz="2000">
                <a:solidFill>
                  <a:srgbClr val="404040"/>
                </a:solidFill>
                <a:latin typeface="Calibri"/>
                <a:ea typeface="Calibri"/>
                <a:cs typeface="Calibri"/>
                <a:sym typeface="Calibri"/>
              </a:rPr>
              <a:t> NVIDIA </a:t>
            </a:r>
            <a:r>
              <a:rPr lang="en-US" b="false" i="false" strike="noStrike" u="none" sz="2000">
                <a:solidFill>
                  <a:srgbClr val="404040"/>
                </a:solidFill>
                <a:latin typeface="微软雅黑"/>
                <a:ea typeface="微软雅黑"/>
                <a:cs typeface="微软雅黑"/>
                <a:sym typeface="微软雅黑"/>
              </a:rPr>
              <a:t>的</a:t>
            </a:r>
            <a:r>
              <a:rPr lang="en-US" b="false" i="false" strike="noStrike" u="none" sz="2000">
                <a:solidFill>
                  <a:srgbClr val="404040"/>
                </a:solidFill>
                <a:latin typeface="Calibri"/>
                <a:ea typeface="Calibri"/>
                <a:cs typeface="Calibri"/>
                <a:sym typeface="Calibri"/>
              </a:rPr>
              <a:t> cp.async </a:t>
            </a:r>
            <a:r>
              <a:rPr lang="en-US" b="false" i="false" strike="noStrike" u="none" sz="2000">
                <a:solidFill>
                  <a:srgbClr val="404040"/>
                </a:solidFill>
                <a:latin typeface="微软雅黑"/>
                <a:ea typeface="微软雅黑"/>
                <a:cs typeface="微软雅黑"/>
                <a:sym typeface="微软雅黑"/>
              </a:rPr>
              <a:t>指令，使硬件能够异步地将数据从全局内存搬移至</a:t>
            </a:r>
            <a:r>
              <a:rPr lang="en-US" b="false" i="false" strike="noStrike" u="none" sz="2000">
                <a:solidFill>
                  <a:srgbClr val="404040"/>
                </a:solidFill>
                <a:latin typeface="Calibri"/>
                <a:ea typeface="Calibri"/>
                <a:cs typeface="Calibri"/>
                <a:sym typeface="Calibri"/>
              </a:rPr>
              <a:t> SRAM</a:t>
            </a:r>
            <a:r>
              <a:rPr lang="en-US" b="false" i="false" strike="noStrike" u="none" sz="2000">
                <a:solidFill>
                  <a:srgbClr val="404040"/>
                </a:solidFill>
                <a:latin typeface="微软雅黑"/>
                <a:ea typeface="微软雅黑"/>
                <a:cs typeface="微软雅黑"/>
                <a:sym typeface="微软雅黑"/>
              </a:rPr>
              <a:t>。</a:t>
            </a:r>
          </a:p>
          <a:p>
            <a:pPr algn="l" indent="-292100" marL="292100">
              <a:lnSpc>
                <a:spcPct val="91666"/>
              </a:lnSpc>
              <a:spcBef>
                <a:spcPts val="1500"/>
              </a:spcBef>
              <a:buClr>
                <a:srgbClr val="404040"/>
              </a:buClr>
              <a:buChar char="•"/>
            </a:pPr>
            <a:r>
              <a:rPr lang="en-US" b="false" i="false" strike="noStrike" u="none" sz="2300">
                <a:solidFill>
                  <a:srgbClr val="404040"/>
                </a:solidFill>
                <a:latin typeface="微软雅黑"/>
                <a:ea typeface="微软雅黑"/>
                <a:cs typeface="微软雅黑"/>
                <a:sym typeface="微软雅黑"/>
              </a:rPr>
              <a:t>平衡取舍</a:t>
            </a:r>
          </a:p>
          <a:p>
            <a:pPr algn="l" indent="-254000" lvl="1" marL="596900">
              <a:lnSpc>
                <a:spcPct val="91666"/>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num_stages </a:t>
            </a:r>
            <a:r>
              <a:rPr lang="en-US" b="false" i="false" strike="noStrike" u="none" sz="2000">
                <a:solidFill>
                  <a:srgbClr val="404040"/>
                </a:solidFill>
                <a:latin typeface="微软雅黑"/>
                <a:ea typeface="微软雅黑"/>
                <a:cs typeface="微软雅黑"/>
                <a:sym typeface="微软雅黑"/>
              </a:rPr>
              <a:t>较大：延迟隐藏效果更好，但占用更多</a:t>
            </a:r>
            <a:r>
              <a:rPr lang="en-US" b="false" i="false" strike="noStrike" u="none" sz="2000">
                <a:solidFill>
                  <a:srgbClr val="404040"/>
                </a:solidFill>
                <a:latin typeface="Calibri"/>
                <a:ea typeface="Calibri"/>
                <a:cs typeface="Calibri"/>
                <a:sym typeface="Calibri"/>
              </a:rPr>
              <a:t> SRAM</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91666"/>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num_stages </a:t>
            </a:r>
            <a:r>
              <a:rPr lang="en-US" b="false" i="false" strike="noStrike" u="none" sz="2000">
                <a:solidFill>
                  <a:srgbClr val="404040"/>
                </a:solidFill>
                <a:latin typeface="微软雅黑"/>
                <a:ea typeface="微软雅黑"/>
                <a:cs typeface="微软雅黑"/>
                <a:sym typeface="微软雅黑"/>
              </a:rPr>
              <a:t>较小：节省内存，但可能导致</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流水线停顿</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，使计算单元等待数据。</a:t>
            </a:r>
          </a:p>
        </p:txBody>
      </p:sp>
    </p:spTree>
  </p:cSld>
  <p:clrMapOvr>
    <a:masterClrMapping/>
  </p:clrMapOvr>
  <p:transition main:dur="1000">
    <p:fade thruBlk="false"/>
  </p:transition>
</p:sld>
</file>

<file path=ppt/slides/slide24.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Triton </a:t>
            </a:r>
            <a:r>
              <a:rPr lang="en-US" b="false" i="false" strike="noStrike" u="none" sz="3600">
                <a:solidFill>
                  <a:srgbClr val="262626"/>
                </a:solidFill>
                <a:latin typeface="微软雅黑"/>
                <a:ea typeface="微软雅黑"/>
                <a:cs typeface="微软雅黑"/>
                <a:sym typeface="微软雅黑"/>
              </a:rPr>
              <a:t>与</a:t>
            </a:r>
            <a:r>
              <a:rPr lang="en-US" b="false" i="false" strike="noStrike" u="none" sz="3600">
                <a:solidFill>
                  <a:srgbClr val="262626"/>
                </a:solidFill>
                <a:latin typeface="Calibri"/>
                <a:ea typeface="Calibri"/>
                <a:cs typeface="Calibri"/>
                <a:sym typeface="Calibri"/>
              </a:rPr>
              <a:t> CUDA </a:t>
            </a:r>
            <a:r>
              <a:rPr lang="en-US" b="false" i="false" strike="noStrike" u="none" sz="3600">
                <a:solidFill>
                  <a:srgbClr val="262626"/>
                </a:solidFill>
                <a:latin typeface="微软雅黑"/>
                <a:ea typeface="微软雅黑"/>
                <a:cs typeface="微软雅黑"/>
                <a:sym typeface="微软雅黑"/>
              </a:rPr>
              <a:t>对比</a:t>
            </a:r>
            <a:r>
              <a:rPr lang="en-US" b="false" i="false" strike="noStrike" u="none" sz="3600">
                <a:solidFill>
                  <a:srgbClr val="262626"/>
                </a:solidFill>
                <a:latin typeface="Calibri"/>
                <a:ea typeface="Calibri"/>
                <a:cs typeface="Calibri"/>
                <a:sym typeface="Calibri"/>
              </a:rPr>
              <a:t>——</a:t>
            </a:r>
            <a:r>
              <a:rPr lang="en-US" b="false" i="false" strike="noStrike" u="none" sz="3600">
                <a:solidFill>
                  <a:srgbClr val="262626"/>
                </a:solidFill>
                <a:latin typeface="微软雅黑"/>
                <a:ea typeface="微软雅黑"/>
                <a:cs typeface="微软雅黑"/>
                <a:sym typeface="微软雅黑"/>
              </a:rPr>
              <a:t>思维模式的转变</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24</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10000"/>
          </a:bodyPr>
          <a:lstStyle>
            <a:lvl1pPr algn="l">
              <a:lnSpc>
                <a:spcPct val="91666"/>
              </a:lnSpc>
              <a:defRPr sz="2300" b="false" i="false" u="none" strike="noStrike" spc="0">
                <a:solidFill>
                  <a:srgbClr val="404040">
                    <a:alpha val="100000"/>
                  </a:srgbClr>
                </a:solidFill>
                <a:latin typeface="微软雅黑"/>
              </a:defRPr>
            </a:lvl1pPr>
          </a:lstStyle>
          <a:p>
            <a:pPr algn="l" indent="-292100" marL="292100">
              <a:lnSpc>
                <a:spcPct val="91666"/>
              </a:lnSpc>
              <a:spcBef>
                <a:spcPts val="1500"/>
              </a:spcBef>
              <a:buClr>
                <a:srgbClr val="404040"/>
              </a:buClr>
              <a:buChar char="•"/>
            </a:pPr>
            <a:r>
              <a:rPr lang="en-US" b="false" i="false" strike="noStrike" u="none" sz="2300">
                <a:solidFill>
                  <a:srgbClr val="404040"/>
                </a:solidFill>
                <a:latin typeface="微软雅黑"/>
                <a:ea typeface="微软雅黑"/>
                <a:cs typeface="微软雅黑"/>
                <a:sym typeface="微软雅黑"/>
              </a:rPr>
              <a:t>理念上的转变</a:t>
            </a:r>
          </a:p>
          <a:p>
            <a:pPr algn="l" indent="0" lvl="1" marL="342900">
              <a:lnSpc>
                <a:spcPct val="91666"/>
              </a:lnSpc>
              <a:spcBef>
                <a:spcPts val="750"/>
              </a:spcBef>
            </a:pPr>
            <a:r>
              <a:rPr lang="en-US" b="false" i="false" strike="noStrike" u="none" sz="1900">
                <a:solidFill>
                  <a:srgbClr val="404040"/>
                </a:solidFill>
                <a:latin typeface="Calibri"/>
                <a:ea typeface="Calibri"/>
                <a:cs typeface="Calibri"/>
                <a:sym typeface="Calibri"/>
              </a:rPr>
              <a:t/>
            </a:r>
          </a:p>
          <a:p>
            <a:pPr algn="l" indent="0" lvl="1" marL="342900">
              <a:lnSpc>
                <a:spcPct val="91666"/>
              </a:lnSpc>
              <a:spcBef>
                <a:spcPts val="750"/>
              </a:spcBef>
            </a:pPr>
            <a:r>
              <a:rPr lang="en-US" b="false" i="false" strike="noStrike" u="none" sz="1900">
                <a:solidFill>
                  <a:srgbClr val="404040"/>
                </a:solidFill>
                <a:latin typeface="Calibri"/>
                <a:ea typeface="Calibri"/>
                <a:cs typeface="Calibri"/>
                <a:sym typeface="Calibri"/>
              </a:rPr>
              <a:t/>
            </a:r>
          </a:p>
          <a:p>
            <a:pPr algn="l" indent="0" lvl="1" marL="342900">
              <a:lnSpc>
                <a:spcPct val="91666"/>
              </a:lnSpc>
              <a:spcBef>
                <a:spcPts val="750"/>
              </a:spcBef>
            </a:pPr>
            <a:r>
              <a:rPr lang="en-US" b="false" i="false" strike="noStrike" u="none" sz="1900">
                <a:solidFill>
                  <a:srgbClr val="404040"/>
                </a:solidFill>
                <a:latin typeface="Calibri"/>
                <a:ea typeface="Calibri"/>
                <a:cs typeface="Calibri"/>
                <a:sym typeface="Calibri"/>
              </a:rPr>
              <a:t/>
            </a:r>
          </a:p>
          <a:p>
            <a:pPr algn="l" indent="0" lvl="1" marL="342900">
              <a:lnSpc>
                <a:spcPct val="91666"/>
              </a:lnSpc>
              <a:spcBef>
                <a:spcPts val="750"/>
              </a:spcBef>
            </a:pPr>
            <a:r>
              <a:rPr lang="en-US" b="false" i="false" strike="noStrike" u="none" sz="1900">
                <a:solidFill>
                  <a:srgbClr val="404040"/>
                </a:solidFill>
                <a:latin typeface="Calibri"/>
                <a:ea typeface="Calibri"/>
                <a:cs typeface="Calibri"/>
                <a:sym typeface="Calibri"/>
              </a:rPr>
              <a:t/>
            </a:r>
          </a:p>
          <a:p>
            <a:pPr algn="l" indent="0" lvl="1" marL="342900">
              <a:lnSpc>
                <a:spcPct val="91666"/>
              </a:lnSpc>
              <a:spcBef>
                <a:spcPts val="750"/>
              </a:spcBef>
            </a:pPr>
            <a:r>
              <a:rPr lang="en-US" b="false" i="false" strike="noStrike" u="none" sz="1900">
                <a:solidFill>
                  <a:srgbClr val="404040"/>
                </a:solidFill>
                <a:latin typeface="Calibri"/>
                <a:ea typeface="Calibri"/>
                <a:cs typeface="Calibri"/>
                <a:sym typeface="Calibri"/>
              </a:rPr>
              <a:t/>
            </a:r>
          </a:p>
          <a:p>
            <a:pPr algn="l" indent="0" lvl="1" marL="342900">
              <a:lnSpc>
                <a:spcPct val="91666"/>
              </a:lnSpc>
              <a:spcBef>
                <a:spcPts val="750"/>
              </a:spcBef>
            </a:pPr>
            <a:r>
              <a:rPr lang="en-US" b="false" i="false" strike="noStrike" u="none" sz="1900">
                <a:solidFill>
                  <a:srgbClr val="404040"/>
                </a:solidFill>
                <a:latin typeface="Calibri"/>
                <a:ea typeface="Calibri"/>
                <a:cs typeface="Calibri"/>
                <a:sym typeface="Calibri"/>
              </a:rPr>
              <a:t/>
            </a:r>
          </a:p>
          <a:p>
            <a:pPr algn="l" indent="0" lvl="1" marL="342900">
              <a:lnSpc>
                <a:spcPct val="91666"/>
              </a:lnSpc>
              <a:spcBef>
                <a:spcPts val="750"/>
              </a:spcBef>
            </a:pPr>
            <a:r>
              <a:rPr lang="en-US" b="false" i="false" strike="noStrike" u="none" sz="1900">
                <a:solidFill>
                  <a:srgbClr val="404040"/>
                </a:solidFill>
                <a:latin typeface="Calibri"/>
                <a:ea typeface="Calibri"/>
                <a:cs typeface="Calibri"/>
                <a:sym typeface="Calibri"/>
              </a:rPr>
              <a:t/>
            </a:r>
          </a:p>
          <a:p>
            <a:pPr algn="l" indent="0" lvl="1" marL="342900">
              <a:lnSpc>
                <a:spcPct val="91666"/>
              </a:lnSpc>
              <a:spcBef>
                <a:spcPts val="750"/>
              </a:spcBef>
            </a:pPr>
            <a:r>
              <a:rPr lang="en-US" b="false" i="false" strike="noStrike" u="none" sz="1900">
                <a:solidFill>
                  <a:srgbClr val="404040"/>
                </a:solidFill>
                <a:latin typeface="Calibri"/>
                <a:ea typeface="Calibri"/>
                <a:cs typeface="Calibri"/>
                <a:sym typeface="Calibri"/>
              </a:rPr>
              <a:t/>
            </a:r>
          </a:p>
          <a:p>
            <a:pPr algn="l" indent="-292100" marL="292100">
              <a:lnSpc>
                <a:spcPct val="91666"/>
              </a:lnSpc>
              <a:spcBef>
                <a:spcPts val="1500"/>
              </a:spcBef>
              <a:buClr>
                <a:srgbClr val="404040"/>
              </a:buClr>
              <a:buChar char="•"/>
            </a:pPr>
            <a:r>
              <a:rPr lang="en-US" b="false" i="false" strike="noStrike" u="none" sz="2300">
                <a:solidFill>
                  <a:srgbClr val="404040"/>
                </a:solidFill>
                <a:latin typeface="微软雅黑"/>
                <a:ea typeface="微软雅黑"/>
                <a:cs typeface="微软雅黑"/>
                <a:sym typeface="微软雅黑"/>
              </a:rPr>
              <a:t>如何选择？</a:t>
            </a:r>
          </a:p>
          <a:p>
            <a:pPr algn="l" indent="-241300" lvl="1" marL="584200">
              <a:lnSpc>
                <a:spcPct val="91666"/>
              </a:lnSpc>
              <a:spcBef>
                <a:spcPts val="750"/>
              </a:spcBef>
              <a:buClr>
                <a:srgbClr val="404040"/>
              </a:buClr>
              <a:buChar char="•"/>
            </a:pPr>
            <a:r>
              <a:rPr lang="en-US" b="false" i="false" strike="noStrike" u="none" sz="1900">
                <a:solidFill>
                  <a:srgbClr val="404040"/>
                </a:solidFill>
                <a:latin typeface="微软雅黑"/>
                <a:ea typeface="微软雅黑"/>
                <a:cs typeface="微软雅黑"/>
                <a:sym typeface="微软雅黑"/>
              </a:rPr>
              <a:t>选择</a:t>
            </a:r>
            <a:r>
              <a:rPr lang="en-US" b="false" i="false" strike="noStrike" u="none" sz="1900">
                <a:solidFill>
                  <a:srgbClr val="404040"/>
                </a:solidFill>
                <a:latin typeface="Calibri"/>
                <a:ea typeface="Calibri"/>
                <a:cs typeface="Calibri"/>
                <a:sym typeface="Calibri"/>
              </a:rPr>
              <a:t> CUDA</a:t>
            </a:r>
            <a:r>
              <a:rPr lang="en-US" b="false" i="false" strike="noStrike" u="none" sz="1900">
                <a:solidFill>
                  <a:srgbClr val="404040"/>
                </a:solidFill>
                <a:latin typeface="微软雅黑"/>
                <a:ea typeface="微软雅黑"/>
                <a:cs typeface="微软雅黑"/>
                <a:sym typeface="微软雅黑"/>
              </a:rPr>
              <a:t>：需要极端的位级操作、不规则数据结构或遗留硬件支持时。</a:t>
            </a:r>
          </a:p>
          <a:p>
            <a:pPr algn="l" indent="-241300" lvl="1" marL="584200">
              <a:lnSpc>
                <a:spcPct val="91666"/>
              </a:lnSpc>
              <a:spcBef>
                <a:spcPts val="750"/>
              </a:spcBef>
              <a:buClr>
                <a:srgbClr val="404040"/>
              </a:buClr>
              <a:buChar char="•"/>
            </a:pPr>
            <a:r>
              <a:rPr lang="en-US" b="false" i="false" strike="noStrike" u="none" sz="1900">
                <a:solidFill>
                  <a:srgbClr val="404040"/>
                </a:solidFill>
                <a:latin typeface="微软雅黑"/>
                <a:ea typeface="微软雅黑"/>
                <a:cs typeface="微软雅黑"/>
                <a:sym typeface="微软雅黑"/>
              </a:rPr>
              <a:t>选择</a:t>
            </a:r>
            <a:r>
              <a:rPr lang="en-US" b="false" i="false" strike="noStrike" u="none" sz="1900">
                <a:solidFill>
                  <a:srgbClr val="404040"/>
                </a:solidFill>
                <a:latin typeface="Calibri"/>
                <a:ea typeface="Calibri"/>
                <a:cs typeface="Calibri"/>
                <a:sym typeface="Calibri"/>
              </a:rPr>
              <a:t> Triton</a:t>
            </a:r>
            <a:r>
              <a:rPr lang="en-US" b="false" i="false" strike="noStrike" u="none" sz="1900">
                <a:solidFill>
                  <a:srgbClr val="404040"/>
                </a:solidFill>
                <a:latin typeface="微软雅黑"/>
                <a:ea typeface="微软雅黑"/>
                <a:cs typeface="微软雅黑"/>
                <a:sym typeface="微软雅黑"/>
              </a:rPr>
              <a:t>：构建深度学习算子（</a:t>
            </a:r>
            <a:r>
              <a:rPr lang="en-US" b="false" i="false" strike="noStrike" u="none" sz="1900">
                <a:solidFill>
                  <a:srgbClr val="404040"/>
                </a:solidFill>
                <a:latin typeface="Calibri"/>
                <a:ea typeface="Calibri"/>
                <a:cs typeface="Calibri"/>
                <a:sym typeface="Calibri"/>
              </a:rPr>
              <a:t>MatMul</a:t>
            </a:r>
            <a:r>
              <a:rPr lang="en-US" b="false" i="false" strike="noStrike" u="none" sz="1900">
                <a:solidFill>
                  <a:srgbClr val="404040"/>
                </a:solidFill>
                <a:latin typeface="微软雅黑"/>
                <a:ea typeface="微软雅黑"/>
                <a:cs typeface="微软雅黑"/>
                <a:sym typeface="微软雅黑"/>
              </a:rPr>
              <a:t>、</a:t>
            </a:r>
            <a:r>
              <a:rPr lang="en-US" b="false" i="false" strike="noStrike" u="none" sz="1900">
                <a:solidFill>
                  <a:srgbClr val="404040"/>
                </a:solidFill>
                <a:latin typeface="Calibri"/>
                <a:ea typeface="Calibri"/>
                <a:cs typeface="Calibri"/>
                <a:sym typeface="Calibri"/>
              </a:rPr>
              <a:t>Attention</a:t>
            </a:r>
            <a:r>
              <a:rPr lang="en-US" b="false" i="false" strike="noStrike" u="none" sz="1900">
                <a:solidFill>
                  <a:srgbClr val="404040"/>
                </a:solidFill>
                <a:latin typeface="微软雅黑"/>
                <a:ea typeface="微软雅黑"/>
                <a:cs typeface="微软雅黑"/>
                <a:sym typeface="微软雅黑"/>
              </a:rPr>
              <a:t>、</a:t>
            </a:r>
            <a:r>
              <a:rPr lang="en-US" b="false" i="false" strike="noStrike" u="none" sz="1900">
                <a:solidFill>
                  <a:srgbClr val="404040"/>
                </a:solidFill>
                <a:latin typeface="Calibri"/>
                <a:ea typeface="Calibri"/>
                <a:cs typeface="Calibri"/>
                <a:sym typeface="Calibri"/>
              </a:rPr>
              <a:t>Normalization</a:t>
            </a:r>
            <a:r>
              <a:rPr lang="en-US" b="false" i="false" strike="noStrike" u="none" sz="1900">
                <a:solidFill>
                  <a:srgbClr val="404040"/>
                </a:solidFill>
                <a:latin typeface="微软雅黑"/>
                <a:ea typeface="微软雅黑"/>
                <a:cs typeface="微软雅黑"/>
                <a:sym typeface="微软雅黑"/>
              </a:rPr>
              <a:t>），且希望以</a:t>
            </a:r>
            <a:r>
              <a:rPr lang="en-US" b="false" i="false" strike="noStrike" u="none" sz="1900">
                <a:solidFill>
                  <a:srgbClr val="404040"/>
                </a:solidFill>
                <a:latin typeface="Calibri"/>
                <a:ea typeface="Calibri"/>
                <a:cs typeface="Calibri"/>
                <a:sym typeface="Calibri"/>
              </a:rPr>
              <a:t>10 </a:t>
            </a:r>
            <a:r>
              <a:rPr lang="en-US" b="false" i="false" strike="noStrike" u="none" sz="1900">
                <a:solidFill>
                  <a:srgbClr val="404040"/>
                </a:solidFill>
                <a:latin typeface="微软雅黑"/>
                <a:ea typeface="微软雅黑"/>
                <a:cs typeface="微软雅黑"/>
                <a:sym typeface="微软雅黑"/>
              </a:rPr>
              <a:t>倍的开发速度获得接近最优性能时。</a:t>
            </a:r>
          </a:p>
        </p:txBody>
      </p:sp>
      <p:graphicFrame>
        <p:nvGraphicFramePr>
          <p:cNvPr name="Table 6" id="6"/>
          <p:cNvGraphicFramePr>
            <a:graphicFrameLocks noGrp="true"/>
          </p:cNvGraphicFramePr>
          <p:nvPr/>
        </p:nvGraphicFramePr>
        <p:xfrm>
          <a:off x="1018540" y="1908175"/>
          <a:ext cx="8280000" cy="2286000"/>
        </p:xfrm>
        <a:graphic>
          <a:graphicData uri="http://schemas.openxmlformats.org/drawingml/2006/table">
            <a:tbl>
              <a:tblPr>
                <a:effectLst/>
              </a:tblPr>
              <a:tblGrid>
                <a:gridCol w="1800000"/>
                <a:gridCol w="3240000"/>
                <a:gridCol w="3240000"/>
              </a:tblGrid>
              <a:tr h="381000">
                <a:tc>
                  <a:txBody>
                    <a:bodyPr anchor="t" rtlCol="false"/>
                    <a:lstStyle/>
                    <a:p>
                      <a:pPr algn="l" indent="0">
                        <a:lnSpc>
                          <a:spcPct val="100000"/>
                        </a:lnSpc>
                        <a:defRPr/>
                      </a:pPr>
                      <a:r>
                        <a:rPr lang="en-US" b="false" i="false" strike="noStrike" u="none" sz="2000">
                          <a:solidFill>
                            <a:srgbClr val="000000"/>
                          </a:solidFill>
                          <a:latin typeface="微软雅黑"/>
                          <a:ea typeface="微软雅黑"/>
                          <a:cs typeface="微软雅黑"/>
                          <a:sym typeface="微软雅黑"/>
                        </a:rPr>
                        <a:t>特性</a:t>
                      </a:r>
                      <a:endParaRPr lang="en-US" sz="1100"/>
                    </a:p>
                  </a:txBody>
                  <a:tcPr anchor="ctr" marL="91440" marR="91440" marT="45720" marB="45720">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2000">
                          <a:solidFill>
                            <a:srgbClr val="000000"/>
                          </a:solidFill>
                          <a:latin typeface="Arial"/>
                          <a:ea typeface="Arial"/>
                          <a:cs typeface="Arial"/>
                          <a:sym typeface="Arial"/>
                        </a:rPr>
                        <a:t>CUDA C++</a:t>
                      </a:r>
                      <a:r>
                        <a:rPr lang="en-US" b="false" i="false" strike="noStrike" u="none" sz="2000">
                          <a:solidFill>
                            <a:srgbClr val="000000"/>
                          </a:solidFill>
                          <a:latin typeface="微软雅黑"/>
                          <a:ea typeface="微软雅黑"/>
                          <a:cs typeface="微软雅黑"/>
                          <a:sym typeface="微软雅黑"/>
                        </a:rPr>
                        <a:t>（以线程为中心）</a:t>
                      </a:r>
                      <a:endParaRPr lang="en-US" sz="1100"/>
                    </a:p>
                  </a:txBody>
                  <a:tcPr anchor="ctr" marL="91440" marR="91440" marT="45720" marB="45720">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2000">
                          <a:solidFill>
                            <a:srgbClr val="000000"/>
                          </a:solidFill>
                          <a:latin typeface="Arial"/>
                          <a:ea typeface="Arial"/>
                          <a:cs typeface="Arial"/>
                          <a:sym typeface="Arial"/>
                        </a:rPr>
                        <a:t>Triton</a:t>
                      </a:r>
                      <a:r>
                        <a:rPr lang="en-US" b="false" i="false" strike="noStrike" u="none" sz="2000">
                          <a:solidFill>
                            <a:srgbClr val="000000"/>
                          </a:solidFill>
                          <a:latin typeface="微软雅黑"/>
                          <a:ea typeface="微软雅黑"/>
                          <a:cs typeface="微软雅黑"/>
                          <a:sym typeface="微软雅黑"/>
                        </a:rPr>
                        <a:t>（以块为中心）</a:t>
                      </a:r>
                      <a:endParaRPr lang="en-US" sz="1100"/>
                    </a:p>
                  </a:txBody>
                  <a:tcPr anchor="ctr" marL="91440" marR="91440" marT="45720" marB="45720">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noFill/>
                  </a:tcPr>
                </a:tc>
              </a:tr>
              <a:tr h="381000">
                <a:tc>
                  <a:txBody>
                    <a:bodyPr anchor="t" rtlCol="false"/>
                    <a:lstStyle/>
                    <a:p>
                      <a:pPr algn="l" indent="0">
                        <a:lnSpc>
                          <a:spcPct val="100000"/>
                        </a:lnSpc>
                        <a:defRPr/>
                      </a:pPr>
                      <a:r>
                        <a:rPr lang="en-US" b="false" i="false" strike="noStrike" u="none" sz="1600">
                          <a:solidFill>
                            <a:srgbClr val="000000"/>
                          </a:solidFill>
                          <a:latin typeface="微软雅黑"/>
                          <a:ea typeface="微软雅黑"/>
                          <a:cs typeface="微软雅黑"/>
                          <a:sym typeface="微软雅黑"/>
                        </a:rPr>
                        <a:t>工作单元</a:t>
                      </a:r>
                      <a:endParaRPr lang="en-US" sz="1100"/>
                    </a:p>
                  </a:txBody>
                  <a:tcPr anchor="ctr" marL="91440" marR="91440" marT="45720" marB="45720">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600">
                          <a:solidFill>
                            <a:srgbClr val="000000"/>
                          </a:solidFill>
                          <a:latin typeface="微软雅黑"/>
                          <a:ea typeface="微软雅黑"/>
                          <a:cs typeface="微软雅黑"/>
                          <a:sym typeface="微软雅黑"/>
                        </a:rPr>
                        <a:t>单个线程</a:t>
                      </a:r>
                      <a:endParaRPr lang="en-US" sz="1100"/>
                    </a:p>
                  </a:txBody>
                  <a:tcPr anchor="ctr" marL="91440" marR="91440" marT="45720" marB="45720">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600">
                          <a:solidFill>
                            <a:srgbClr val="000000"/>
                          </a:solidFill>
                          <a:latin typeface="微软雅黑"/>
                          <a:ea typeface="微软雅黑"/>
                          <a:cs typeface="微软雅黑"/>
                          <a:sym typeface="微软雅黑"/>
                        </a:rPr>
                        <a:t>块</a:t>
                      </a:r>
                      <a:r>
                        <a:rPr lang="en-US" b="false" i="false" strike="noStrike" u="none" sz="1600">
                          <a:solidFill>
                            <a:srgbClr val="000000"/>
                          </a:solidFill>
                          <a:latin typeface="Arial"/>
                          <a:ea typeface="Arial"/>
                          <a:cs typeface="Arial"/>
                          <a:sym typeface="Arial"/>
                        </a:rPr>
                        <a:t> / </a:t>
                      </a:r>
                      <a:r>
                        <a:rPr lang="en-US" b="false" i="false" strike="noStrike" u="none" sz="1600">
                          <a:solidFill>
                            <a:srgbClr val="000000"/>
                          </a:solidFill>
                          <a:latin typeface="微软雅黑"/>
                          <a:ea typeface="微软雅黑"/>
                          <a:cs typeface="微软雅黑"/>
                          <a:sym typeface="微软雅黑"/>
                        </a:rPr>
                        <a:t>分块（如</a:t>
                      </a:r>
                      <a:r>
                        <a:rPr lang="en-US" b="false" i="false" strike="noStrike" u="none" sz="1600">
                          <a:solidFill>
                            <a:srgbClr val="000000"/>
                          </a:solidFill>
                          <a:latin typeface="Arial"/>
                          <a:ea typeface="Arial"/>
                          <a:cs typeface="Arial"/>
                          <a:sym typeface="Arial"/>
                        </a:rPr>
                        <a:t> 128</a:t>
                      </a:r>
                      <a:r>
                        <a:rPr lang="en-US" b="false" i="false" strike="noStrike" u="none" sz="1600">
                          <a:solidFill>
                            <a:srgbClr val="000000"/>
                          </a:solidFill>
                          <a:latin typeface="微软雅黑"/>
                          <a:ea typeface="微软雅黑"/>
                          <a:cs typeface="微软雅黑"/>
                          <a:sym typeface="微软雅黑"/>
                        </a:rPr>
                        <a:t>×</a:t>
                      </a:r>
                      <a:r>
                        <a:rPr lang="en-US" b="false" i="false" strike="noStrike" u="none" sz="1600">
                          <a:solidFill>
                            <a:srgbClr val="000000"/>
                          </a:solidFill>
                          <a:latin typeface="Arial"/>
                          <a:ea typeface="Arial"/>
                          <a:cs typeface="Arial"/>
                          <a:sym typeface="Arial"/>
                        </a:rPr>
                        <a:t>128</a:t>
                      </a:r>
                      <a:r>
                        <a:rPr lang="en-US" b="false" i="false" strike="noStrike" u="none" sz="1600">
                          <a:solidFill>
                            <a:srgbClr val="000000"/>
                          </a:solidFill>
                          <a:latin typeface="微软雅黑"/>
                          <a:ea typeface="微软雅黑"/>
                          <a:cs typeface="微软雅黑"/>
                          <a:sym typeface="微软雅黑"/>
                        </a:rPr>
                        <a:t>）</a:t>
                      </a:r>
                      <a:endParaRPr lang="en-US" sz="1100"/>
                    </a:p>
                  </a:txBody>
                  <a:tcPr anchor="ctr" marL="91440" marR="91440" marT="45720" marB="45720">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noFill/>
                  </a:tcPr>
                </a:tc>
              </a:tr>
              <a:tr h="381000">
                <a:tc>
                  <a:txBody>
                    <a:bodyPr anchor="t" rtlCol="false"/>
                    <a:lstStyle/>
                    <a:p>
                      <a:pPr algn="l" indent="0">
                        <a:lnSpc>
                          <a:spcPct val="100000"/>
                        </a:lnSpc>
                        <a:defRPr/>
                      </a:pPr>
                      <a:r>
                        <a:rPr lang="en-US" b="false" i="false" strike="noStrike" u="none" sz="1600">
                          <a:solidFill>
                            <a:srgbClr val="000000"/>
                          </a:solidFill>
                          <a:latin typeface="微软雅黑"/>
                          <a:ea typeface="微软雅黑"/>
                          <a:cs typeface="微软雅黑"/>
                          <a:sym typeface="微软雅黑"/>
                        </a:rPr>
                        <a:t>索引方式</a:t>
                      </a:r>
                      <a:endParaRPr lang="en-US" sz="1100"/>
                    </a:p>
                  </a:txBody>
                  <a:tcPr anchor="ctr" marL="91440" marR="91440" marT="45720" marB="45720">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600">
                          <a:solidFill>
                            <a:srgbClr val="000000"/>
                          </a:solidFill>
                          <a:latin typeface="Arial"/>
                          <a:ea typeface="Arial"/>
                          <a:cs typeface="Arial"/>
                          <a:sym typeface="Arial"/>
                        </a:rPr>
                        <a:t>threadIdx, blockIdx</a:t>
                      </a:r>
                      <a:endParaRPr lang="en-US" sz="1100"/>
                    </a:p>
                  </a:txBody>
                  <a:tcPr anchor="ctr" marL="91440" marR="91440" marT="45720" marB="45720">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600">
                          <a:solidFill>
                            <a:srgbClr val="000000"/>
                          </a:solidFill>
                          <a:latin typeface="Arial"/>
                          <a:ea typeface="Arial"/>
                          <a:cs typeface="Arial"/>
                          <a:sym typeface="Arial"/>
                        </a:rPr>
                        <a:t>tl.program_id, tl.arange</a:t>
                      </a:r>
                      <a:endParaRPr lang="en-US" sz="1100"/>
                    </a:p>
                  </a:txBody>
                  <a:tcPr anchor="ctr" marL="91440" marR="91440" marT="45720" marB="45720">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noFill/>
                  </a:tcPr>
                </a:tc>
              </a:tr>
              <a:tr h="381000">
                <a:tc>
                  <a:txBody>
                    <a:bodyPr anchor="t" rtlCol="false"/>
                    <a:lstStyle/>
                    <a:p>
                      <a:pPr algn="l" indent="0">
                        <a:lnSpc>
                          <a:spcPct val="100000"/>
                        </a:lnSpc>
                        <a:defRPr/>
                      </a:pPr>
                      <a:r>
                        <a:rPr lang="en-US" b="false" i="false" strike="noStrike" u="none" sz="1600">
                          <a:solidFill>
                            <a:srgbClr val="000000"/>
                          </a:solidFill>
                          <a:latin typeface="微软雅黑"/>
                          <a:ea typeface="微软雅黑"/>
                          <a:cs typeface="微软雅黑"/>
                          <a:sym typeface="微软雅黑"/>
                        </a:rPr>
                        <a:t>通信方式</a:t>
                      </a:r>
                      <a:endParaRPr lang="en-US" sz="1100"/>
                    </a:p>
                  </a:txBody>
                  <a:tcPr anchor="ctr" marL="91440" marR="91440" marT="45720" marB="45720">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600">
                          <a:solidFill>
                            <a:srgbClr val="000000"/>
                          </a:solidFill>
                          <a:latin typeface="微软雅黑"/>
                          <a:ea typeface="微软雅黑"/>
                          <a:cs typeface="微软雅黑"/>
                          <a:sym typeface="微软雅黑"/>
                        </a:rPr>
                        <a:t>隐式（由编译器处理）</a:t>
                      </a:r>
                      <a:endParaRPr lang="en-US" sz="1100"/>
                    </a:p>
                  </a:txBody>
                  <a:tcPr anchor="ctr" marL="91440" marR="91440" marT="45720" marB="45720">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600">
                          <a:solidFill>
                            <a:srgbClr val="000000"/>
                          </a:solidFill>
                          <a:latin typeface="微软雅黑"/>
                          <a:ea typeface="微软雅黑"/>
                          <a:cs typeface="微软雅黑"/>
                          <a:sym typeface="微软雅黑"/>
                        </a:rPr>
                        <a:t>隐式（由编译器处理）</a:t>
                      </a:r>
                      <a:endParaRPr lang="en-US" sz="1100"/>
                    </a:p>
                  </a:txBody>
                  <a:tcPr anchor="ctr" marL="91440" marR="91440" marT="45720" marB="45720">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noFill/>
                  </a:tcPr>
                </a:tc>
              </a:tr>
              <a:tr h="381000">
                <a:tc>
                  <a:txBody>
                    <a:bodyPr anchor="t" rtlCol="false"/>
                    <a:lstStyle/>
                    <a:p>
                      <a:pPr algn="l" indent="0">
                        <a:lnSpc>
                          <a:spcPct val="100000"/>
                        </a:lnSpc>
                        <a:defRPr/>
                      </a:pPr>
                      <a:r>
                        <a:rPr lang="en-US" b="false" i="false" strike="noStrike" u="none" sz="1600">
                          <a:solidFill>
                            <a:srgbClr val="000000"/>
                          </a:solidFill>
                          <a:latin typeface="微软雅黑"/>
                          <a:ea typeface="微软雅黑"/>
                          <a:cs typeface="微软雅黑"/>
                          <a:sym typeface="微软雅黑"/>
                        </a:rPr>
                        <a:t>优化方式</a:t>
                      </a:r>
                      <a:endParaRPr lang="en-US" sz="1100"/>
                    </a:p>
                  </a:txBody>
                  <a:tcPr anchor="ctr" marL="91440" marR="91440" marT="45720" marB="45720">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600">
                          <a:solidFill>
                            <a:srgbClr val="000000"/>
                          </a:solidFill>
                          <a:latin typeface="微软雅黑"/>
                          <a:ea typeface="微软雅黑"/>
                          <a:cs typeface="微软雅黑"/>
                          <a:sym typeface="微软雅黑"/>
                        </a:rPr>
                        <a:t>通过分块抽象自动完成</a:t>
                      </a:r>
                      <a:endParaRPr lang="en-US" sz="1100"/>
                    </a:p>
                  </a:txBody>
                  <a:tcPr anchor="ctr" marL="91440" marR="91440" marT="45720" marB="45720">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600">
                          <a:solidFill>
                            <a:srgbClr val="000000"/>
                          </a:solidFill>
                          <a:latin typeface="微软雅黑"/>
                          <a:ea typeface="微软雅黑"/>
                          <a:cs typeface="微软雅黑"/>
                          <a:sym typeface="微软雅黑"/>
                        </a:rPr>
                        <a:t>通过分块抽象自动完成</a:t>
                      </a:r>
                      <a:endParaRPr lang="en-US" sz="1100"/>
                    </a:p>
                  </a:txBody>
                  <a:tcPr anchor="ctr" marL="91440" marR="91440" marT="45720" marB="45720">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noFill/>
                  </a:tcPr>
                </a:tc>
              </a:tr>
              <a:tr h="381000">
                <a:tc>
                  <a:txBody>
                    <a:bodyPr anchor="t" rtlCol="false"/>
                    <a:lstStyle/>
                    <a:p>
                      <a:pPr algn="l" indent="0">
                        <a:lnSpc>
                          <a:spcPct val="100000"/>
                        </a:lnSpc>
                        <a:defRPr/>
                      </a:pPr>
                      <a:r>
                        <a:rPr lang="en-US" b="false" i="false" strike="noStrike" u="none" sz="1600">
                          <a:solidFill>
                            <a:srgbClr val="000000"/>
                          </a:solidFill>
                          <a:latin typeface="微软雅黑"/>
                          <a:ea typeface="微软雅黑"/>
                          <a:cs typeface="微软雅黑"/>
                          <a:sym typeface="微软雅黑"/>
                        </a:rPr>
                        <a:t>可移植性</a:t>
                      </a:r>
                      <a:endParaRPr lang="en-US" sz="1100"/>
                    </a:p>
                  </a:txBody>
                  <a:tcPr anchor="ctr" marL="91440" marR="91440" marT="45720" marB="45720">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600">
                          <a:solidFill>
                            <a:srgbClr val="000000"/>
                          </a:solidFill>
                          <a:latin typeface="微软雅黑"/>
                          <a:ea typeface="微软雅黑"/>
                          <a:cs typeface="微软雅黑"/>
                          <a:sym typeface="微软雅黑"/>
                        </a:rPr>
                        <a:t>面向特定目标（</a:t>
                      </a:r>
                      <a:r>
                        <a:rPr lang="en-US" b="false" i="false" strike="noStrike" u="none" sz="1600">
                          <a:solidFill>
                            <a:srgbClr val="000000"/>
                          </a:solidFill>
                          <a:latin typeface="Arial"/>
                          <a:ea typeface="Arial"/>
                          <a:cs typeface="Arial"/>
                          <a:sym typeface="Arial"/>
                        </a:rPr>
                        <a:t>PTX/SASS</a:t>
                      </a:r>
                      <a:r>
                        <a:rPr lang="en-US" b="false" i="false" strike="noStrike" u="none" sz="1600">
                          <a:solidFill>
                            <a:srgbClr val="000000"/>
                          </a:solidFill>
                          <a:latin typeface="微软雅黑"/>
                          <a:ea typeface="微软雅黑"/>
                          <a:cs typeface="微软雅黑"/>
                          <a:sym typeface="微软雅黑"/>
                        </a:rPr>
                        <a:t>）</a:t>
                      </a:r>
                      <a:endParaRPr lang="en-US" sz="1100"/>
                    </a:p>
                  </a:txBody>
                  <a:tcPr anchor="ctr" marL="91440" marR="91440" marT="45720" marB="45720">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noFill/>
                  </a:tcPr>
                </a:tc>
                <a:tc>
                  <a:txBody>
                    <a:bodyPr anchor="t" rtlCol="false"/>
                    <a:lstStyle/>
                    <a:p>
                      <a:pPr algn="l" indent="0">
                        <a:lnSpc>
                          <a:spcPct val="100000"/>
                        </a:lnSpc>
                        <a:defRPr/>
                      </a:pPr>
                      <a:r>
                        <a:rPr lang="en-US" b="false" i="false" strike="noStrike" u="none" sz="1600">
                          <a:solidFill>
                            <a:srgbClr val="000000"/>
                          </a:solidFill>
                          <a:latin typeface="微软雅黑"/>
                          <a:ea typeface="微软雅黑"/>
                          <a:cs typeface="微软雅黑"/>
                          <a:sym typeface="微软雅黑"/>
                        </a:rPr>
                        <a:t>高级</a:t>
                      </a:r>
                      <a:r>
                        <a:rPr lang="en-US" b="false" i="false" strike="noStrike" u="none" sz="1600">
                          <a:solidFill>
                            <a:srgbClr val="000000"/>
                          </a:solidFill>
                          <a:latin typeface="Arial"/>
                          <a:ea typeface="Arial"/>
                          <a:cs typeface="Arial"/>
                          <a:sym typeface="Arial"/>
                        </a:rPr>
                        <a:t> IR</a:t>
                      </a:r>
                      <a:r>
                        <a:rPr lang="en-US" b="false" i="false" strike="noStrike" u="none" sz="1600">
                          <a:solidFill>
                            <a:srgbClr val="000000"/>
                          </a:solidFill>
                          <a:latin typeface="微软雅黑"/>
                          <a:ea typeface="微软雅黑"/>
                          <a:cs typeface="微软雅黑"/>
                          <a:sym typeface="微软雅黑"/>
                        </a:rPr>
                        <a:t>（更易于适配新目标）</a:t>
                      </a:r>
                      <a:endParaRPr lang="en-US" sz="1100"/>
                    </a:p>
                  </a:txBody>
                  <a:tcPr anchor="ctr" marL="91440" marR="91440" marT="45720" marB="45720">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noFill/>
                  </a:tcPr>
                </a:tc>
              </a:tr>
            </a:tbl>
          </a:graphicData>
        </a:graphic>
      </p:graphicFrame>
    </p:spTree>
  </p:cSld>
  <p:clrMapOvr>
    <a:masterClrMapping/>
  </p:clrMapOvr>
  <p:transition main:dur="1000">
    <p:fade thruBlk="false"/>
  </p:transition>
</p:sld>
</file>

<file path=ppt/slides/slide25.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局限性与当前约束</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25</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10000"/>
          </a:bodyPr>
          <a:lstStyle>
            <a:lvl1pPr algn="l">
              <a:lnSpc>
                <a:spcPct val="91666"/>
              </a:lnSpc>
              <a:defRPr sz="2300" b="false" i="false" u="none" strike="noStrike" spc="0">
                <a:solidFill>
                  <a:srgbClr val="404040">
                    <a:alpha val="100000"/>
                  </a:srgbClr>
                </a:solidFill>
                <a:latin typeface="微软雅黑"/>
              </a:defRPr>
            </a:lvl1pPr>
          </a:lstStyle>
          <a:p>
            <a:pPr algn="l" indent="-292100" marL="292100">
              <a:lnSpc>
                <a:spcPct val="91666"/>
              </a:lnSpc>
              <a:spcBef>
                <a:spcPts val="1500"/>
              </a:spcBef>
              <a:buClr>
                <a:srgbClr val="404040"/>
              </a:buClr>
              <a:buChar char="•"/>
            </a:pPr>
            <a:r>
              <a:rPr lang="en-US" b="false" i="false" strike="noStrike" u="none" sz="2300">
                <a:solidFill>
                  <a:srgbClr val="404040"/>
                </a:solidFill>
                <a:latin typeface="微软雅黑"/>
                <a:ea typeface="微软雅黑"/>
                <a:cs typeface="微软雅黑"/>
                <a:sym typeface="微软雅黑"/>
              </a:rPr>
              <a:t>结构性约束</a:t>
            </a:r>
          </a:p>
          <a:p>
            <a:pPr algn="l" indent="-241300" lvl="1" marL="584200">
              <a:lnSpc>
                <a:spcPct val="91666"/>
              </a:lnSpc>
              <a:spcBef>
                <a:spcPts val="750"/>
              </a:spcBef>
              <a:buClr>
                <a:srgbClr val="404040"/>
              </a:buClr>
              <a:buChar char="•"/>
            </a:pPr>
            <a:r>
              <a:rPr lang="en-US" b="false" i="false" strike="noStrike" u="none" sz="1900">
                <a:solidFill>
                  <a:srgbClr val="404040"/>
                </a:solidFill>
                <a:latin typeface="Calibri"/>
                <a:ea typeface="Calibri"/>
                <a:cs typeface="Calibri"/>
                <a:sym typeface="Calibri"/>
              </a:rPr>
              <a:t>2 </a:t>
            </a:r>
            <a:r>
              <a:rPr lang="en-US" b="false" i="false" strike="noStrike" u="none" sz="1900">
                <a:solidFill>
                  <a:srgbClr val="404040"/>
                </a:solidFill>
                <a:latin typeface="微软雅黑"/>
                <a:ea typeface="微软雅黑"/>
                <a:cs typeface="微软雅黑"/>
                <a:sym typeface="微软雅黑"/>
              </a:rPr>
              <a:t>的幂次要求：块大小（</a:t>
            </a:r>
            <a:r>
              <a:rPr lang="en-US" b="false" i="false" strike="noStrike" u="none" sz="1900">
                <a:solidFill>
                  <a:srgbClr val="404040"/>
                </a:solidFill>
                <a:latin typeface="Calibri"/>
                <a:ea typeface="Calibri"/>
                <a:cs typeface="Calibri"/>
                <a:sym typeface="Calibri"/>
              </a:rPr>
              <a:t>M</a:t>
            </a:r>
            <a:r>
              <a:rPr lang="en-US" b="false" i="false" strike="noStrike" u="none" sz="1900">
                <a:solidFill>
                  <a:srgbClr val="404040"/>
                </a:solidFill>
                <a:latin typeface="微软雅黑"/>
                <a:ea typeface="微软雅黑"/>
                <a:cs typeface="微软雅黑"/>
                <a:sym typeface="微软雅黑"/>
              </a:rPr>
              <a:t>、</a:t>
            </a:r>
            <a:r>
              <a:rPr lang="en-US" b="false" i="false" strike="noStrike" u="none" sz="1900">
                <a:solidFill>
                  <a:srgbClr val="404040"/>
                </a:solidFill>
                <a:latin typeface="Calibri"/>
                <a:ea typeface="Calibri"/>
                <a:cs typeface="Calibri"/>
                <a:sym typeface="Calibri"/>
              </a:rPr>
              <a:t>N</a:t>
            </a:r>
            <a:r>
              <a:rPr lang="en-US" b="false" i="false" strike="noStrike" u="none" sz="1900">
                <a:solidFill>
                  <a:srgbClr val="404040"/>
                </a:solidFill>
                <a:latin typeface="微软雅黑"/>
                <a:ea typeface="微软雅黑"/>
                <a:cs typeface="微软雅黑"/>
                <a:sym typeface="微软雅黑"/>
              </a:rPr>
              <a:t>、</a:t>
            </a:r>
            <a:r>
              <a:rPr lang="en-US" b="false" i="false" strike="noStrike" u="none" sz="1900">
                <a:solidFill>
                  <a:srgbClr val="404040"/>
                </a:solidFill>
                <a:latin typeface="Calibri"/>
                <a:ea typeface="Calibri"/>
                <a:cs typeface="Calibri"/>
                <a:sym typeface="Calibri"/>
              </a:rPr>
              <a:t>K</a:t>
            </a:r>
            <a:r>
              <a:rPr lang="en-US" b="false" i="false" strike="noStrike" u="none" sz="1900">
                <a:solidFill>
                  <a:srgbClr val="404040"/>
                </a:solidFill>
                <a:latin typeface="微软雅黑"/>
                <a:ea typeface="微软雅黑"/>
                <a:cs typeface="微软雅黑"/>
                <a:sym typeface="微软雅黑"/>
              </a:rPr>
              <a:t>）必须为</a:t>
            </a:r>
            <a:r>
              <a:rPr lang="en-US" b="false" i="false" strike="noStrike" u="none" sz="1900">
                <a:solidFill>
                  <a:srgbClr val="404040"/>
                </a:solidFill>
                <a:latin typeface="Calibri"/>
                <a:ea typeface="Calibri"/>
                <a:cs typeface="Calibri"/>
                <a:sym typeface="Calibri"/>
              </a:rPr>
              <a:t> 2 </a:t>
            </a:r>
            <a:r>
              <a:rPr lang="en-US" b="false" i="false" strike="noStrike" u="none" sz="1900">
                <a:solidFill>
                  <a:srgbClr val="404040"/>
                </a:solidFill>
                <a:latin typeface="微软雅黑"/>
                <a:ea typeface="微软雅黑"/>
                <a:cs typeface="微软雅黑"/>
                <a:sym typeface="微软雅黑"/>
              </a:rPr>
              <a:t>的幂次（如</a:t>
            </a:r>
            <a:r>
              <a:rPr lang="en-US" b="false" i="false" strike="noStrike" u="none" sz="1900">
                <a:solidFill>
                  <a:srgbClr val="404040"/>
                </a:solidFill>
                <a:latin typeface="Calibri"/>
                <a:ea typeface="Calibri"/>
                <a:cs typeface="Calibri"/>
                <a:sym typeface="Calibri"/>
              </a:rPr>
              <a:t> 64</a:t>
            </a:r>
            <a:r>
              <a:rPr lang="en-US" b="false" i="false" strike="noStrike" u="none" sz="1900">
                <a:solidFill>
                  <a:srgbClr val="404040"/>
                </a:solidFill>
                <a:latin typeface="微软雅黑"/>
                <a:ea typeface="微软雅黑"/>
                <a:cs typeface="微软雅黑"/>
                <a:sym typeface="微软雅黑"/>
              </a:rPr>
              <a:t>、</a:t>
            </a:r>
            <a:r>
              <a:rPr lang="en-US" b="false" i="false" strike="noStrike" u="none" sz="1900">
                <a:solidFill>
                  <a:srgbClr val="404040"/>
                </a:solidFill>
                <a:latin typeface="Calibri"/>
                <a:ea typeface="Calibri"/>
                <a:cs typeface="Calibri"/>
                <a:sym typeface="Calibri"/>
              </a:rPr>
              <a:t>128</a:t>
            </a:r>
            <a:r>
              <a:rPr lang="en-US" b="false" i="false" strike="noStrike" u="none" sz="1900">
                <a:solidFill>
                  <a:srgbClr val="404040"/>
                </a:solidFill>
                <a:latin typeface="微软雅黑"/>
                <a:ea typeface="微软雅黑"/>
                <a:cs typeface="微软雅黑"/>
                <a:sym typeface="微软雅黑"/>
              </a:rPr>
              <a:t>、</a:t>
            </a:r>
            <a:r>
              <a:rPr lang="en-US" b="false" i="false" strike="noStrike" u="none" sz="1900">
                <a:solidFill>
                  <a:srgbClr val="404040"/>
                </a:solidFill>
                <a:latin typeface="Calibri"/>
                <a:ea typeface="Calibri"/>
                <a:cs typeface="Calibri"/>
                <a:sym typeface="Calibri"/>
              </a:rPr>
              <a:t>1024</a:t>
            </a:r>
            <a:r>
              <a:rPr lang="en-US" b="false" i="false" strike="noStrike" u="none" sz="1900">
                <a:solidFill>
                  <a:srgbClr val="404040"/>
                </a:solidFill>
                <a:latin typeface="微软雅黑"/>
                <a:ea typeface="微软雅黑"/>
                <a:cs typeface="微软雅黑"/>
                <a:sym typeface="微软雅黑"/>
              </a:rPr>
              <a:t>），这是编译器分块逻辑的硬性要求。</a:t>
            </a:r>
          </a:p>
          <a:p>
            <a:pPr algn="l" indent="-241300" lvl="1" marL="584200">
              <a:lnSpc>
                <a:spcPct val="91666"/>
              </a:lnSpc>
              <a:spcBef>
                <a:spcPts val="750"/>
              </a:spcBef>
              <a:buClr>
                <a:srgbClr val="404040"/>
              </a:buClr>
              <a:buChar char="•"/>
            </a:pPr>
            <a:r>
              <a:rPr lang="en-US" b="false" i="false" strike="noStrike" u="none" sz="1900">
                <a:solidFill>
                  <a:srgbClr val="404040"/>
                </a:solidFill>
                <a:latin typeface="微软雅黑"/>
                <a:ea typeface="微软雅黑"/>
                <a:cs typeface="微软雅黑"/>
                <a:sym typeface="微软雅黑"/>
              </a:rPr>
              <a:t>静态形状：虽然张量可以具有动态大小，但</a:t>
            </a:r>
            <a:r>
              <a:rPr lang="en-US" b="false" i="false" strike="noStrike" u="none" sz="1900">
                <a:solidFill>
                  <a:srgbClr val="404040"/>
                </a:solidFill>
                <a:latin typeface="Calibri"/>
                <a:ea typeface="Calibri"/>
                <a:cs typeface="Calibri"/>
                <a:sym typeface="Calibri"/>
              </a:rPr>
              <a:t> BLOCK_SIZE </a:t>
            </a:r>
            <a:r>
              <a:rPr lang="en-US" b="false" i="false" strike="noStrike" u="none" sz="1900">
                <a:solidFill>
                  <a:srgbClr val="404040"/>
                </a:solidFill>
                <a:latin typeface="微软雅黑"/>
                <a:ea typeface="微软雅黑"/>
                <a:cs typeface="微软雅黑"/>
                <a:sym typeface="微软雅黑"/>
              </a:rPr>
              <a:t>必须是</a:t>
            </a:r>
            <a:r>
              <a:rPr lang="en-US" b="false" i="false" strike="noStrike" u="none" sz="1900">
                <a:solidFill>
                  <a:srgbClr val="404040"/>
                </a:solidFill>
                <a:latin typeface="Calibri"/>
                <a:ea typeface="Calibri"/>
                <a:cs typeface="Calibri"/>
                <a:sym typeface="Calibri"/>
              </a:rPr>
              <a:t> tl.constexpr</a:t>
            </a:r>
            <a:r>
              <a:rPr lang="en-US" b="false" i="false" strike="noStrike" u="none" sz="1900">
                <a:solidFill>
                  <a:srgbClr val="404040"/>
                </a:solidFill>
                <a:latin typeface="微软雅黑"/>
                <a:ea typeface="微软雅黑"/>
                <a:cs typeface="微软雅黑"/>
                <a:sym typeface="微软雅黑"/>
              </a:rPr>
              <a:t>（在每个特化版本的编译时固定）。</a:t>
            </a:r>
          </a:p>
          <a:p>
            <a:pPr algn="l" indent="-292100" marL="292100">
              <a:lnSpc>
                <a:spcPct val="91666"/>
              </a:lnSpc>
              <a:spcBef>
                <a:spcPts val="1500"/>
              </a:spcBef>
              <a:buClr>
                <a:srgbClr val="404040"/>
              </a:buClr>
              <a:buChar char="•"/>
            </a:pPr>
            <a:r>
              <a:rPr lang="en-US" b="false" i="false" strike="noStrike" u="none" sz="2300">
                <a:solidFill>
                  <a:srgbClr val="404040"/>
                </a:solidFill>
                <a:latin typeface="微软雅黑"/>
                <a:ea typeface="微软雅黑"/>
                <a:cs typeface="微软雅黑"/>
                <a:sym typeface="微软雅黑"/>
              </a:rPr>
              <a:t>控制流限制</a:t>
            </a:r>
          </a:p>
          <a:p>
            <a:pPr algn="l" indent="-241300" lvl="1" marL="584200">
              <a:lnSpc>
                <a:spcPct val="91666"/>
              </a:lnSpc>
              <a:spcBef>
                <a:spcPts val="750"/>
              </a:spcBef>
              <a:buClr>
                <a:srgbClr val="404040"/>
              </a:buClr>
              <a:buChar char="•"/>
            </a:pPr>
            <a:r>
              <a:rPr lang="en-US" b="false" i="false" strike="noStrike" u="none" sz="1900">
                <a:solidFill>
                  <a:srgbClr val="404040"/>
                </a:solidFill>
                <a:latin typeface="微软雅黑"/>
                <a:ea typeface="微软雅黑"/>
                <a:cs typeface="微软雅黑"/>
                <a:sym typeface="微软雅黑"/>
              </a:rPr>
              <a:t>不支持非结构化跳转：</a:t>
            </a:r>
            <a:r>
              <a:rPr lang="en-US" b="false" i="false" strike="noStrike" u="none" sz="1900">
                <a:solidFill>
                  <a:srgbClr val="404040"/>
                </a:solidFill>
                <a:latin typeface="Calibri"/>
                <a:ea typeface="Calibri"/>
                <a:cs typeface="Calibri"/>
                <a:sym typeface="Calibri"/>
              </a:rPr>
              <a:t>Triton </a:t>
            </a:r>
            <a:r>
              <a:rPr lang="en-US" b="false" i="false" strike="noStrike" u="none" sz="1900">
                <a:solidFill>
                  <a:srgbClr val="404040"/>
                </a:solidFill>
                <a:latin typeface="微软雅黑"/>
                <a:ea typeface="微软雅黑"/>
                <a:cs typeface="微软雅黑"/>
                <a:sym typeface="微软雅黑"/>
              </a:rPr>
              <a:t>支持</a:t>
            </a:r>
            <a:r>
              <a:rPr lang="en-US" b="false" i="false" strike="noStrike" u="none" sz="1900">
                <a:solidFill>
                  <a:srgbClr val="404040"/>
                </a:solidFill>
                <a:latin typeface="Calibri"/>
                <a:ea typeface="Calibri"/>
                <a:cs typeface="Calibri"/>
                <a:sym typeface="Calibri"/>
              </a:rPr>
              <a:t> if </a:t>
            </a:r>
            <a:r>
              <a:rPr lang="en-US" b="false" i="false" strike="noStrike" u="none" sz="1900">
                <a:solidFill>
                  <a:srgbClr val="404040"/>
                </a:solidFill>
                <a:latin typeface="微软雅黑"/>
                <a:ea typeface="微软雅黑"/>
                <a:cs typeface="微软雅黑"/>
                <a:sym typeface="微软雅黑"/>
              </a:rPr>
              <a:t>和</a:t>
            </a:r>
            <a:r>
              <a:rPr lang="en-US" b="false" i="false" strike="noStrike" u="none" sz="1900">
                <a:solidFill>
                  <a:srgbClr val="404040"/>
                </a:solidFill>
                <a:latin typeface="Calibri"/>
                <a:ea typeface="Calibri"/>
                <a:cs typeface="Calibri"/>
                <a:sym typeface="Calibri"/>
              </a:rPr>
              <a:t> else</a:t>
            </a:r>
            <a:r>
              <a:rPr lang="en-US" b="false" i="false" strike="noStrike" u="none" sz="1900">
                <a:solidFill>
                  <a:srgbClr val="404040"/>
                </a:solidFill>
                <a:latin typeface="微软雅黑"/>
                <a:ea typeface="微软雅黑"/>
                <a:cs typeface="微软雅黑"/>
                <a:sym typeface="微软雅黑"/>
              </a:rPr>
              <a:t>，但复杂、高度发散的分支（常见于图算法）可能导致严重的性能下降。</a:t>
            </a:r>
          </a:p>
          <a:p>
            <a:pPr algn="l" indent="-241300" lvl="1" marL="584200">
              <a:lnSpc>
                <a:spcPct val="91666"/>
              </a:lnSpc>
              <a:spcBef>
                <a:spcPts val="750"/>
              </a:spcBef>
              <a:buClr>
                <a:srgbClr val="404040"/>
              </a:buClr>
              <a:buChar char="•"/>
            </a:pPr>
            <a:r>
              <a:rPr lang="en-US" b="false" i="false" strike="noStrike" u="none" sz="1900">
                <a:solidFill>
                  <a:srgbClr val="404040"/>
                </a:solidFill>
                <a:latin typeface="微软雅黑"/>
                <a:ea typeface="微软雅黑"/>
                <a:cs typeface="微软雅黑"/>
                <a:sym typeface="微软雅黑"/>
              </a:rPr>
              <a:t>有限的递归支持：高性能核函数通常采用扁平结构，不支持递归逻辑。</a:t>
            </a:r>
          </a:p>
          <a:p>
            <a:pPr algn="l" indent="-292100" marL="292100">
              <a:lnSpc>
                <a:spcPct val="91666"/>
              </a:lnSpc>
              <a:spcBef>
                <a:spcPts val="1500"/>
              </a:spcBef>
              <a:buClr>
                <a:srgbClr val="404040"/>
              </a:buClr>
              <a:buChar char="•"/>
            </a:pPr>
            <a:r>
              <a:rPr lang="en-US" b="false" i="false" strike="noStrike" u="none" sz="2300">
                <a:solidFill>
                  <a:srgbClr val="404040"/>
                </a:solidFill>
                <a:latin typeface="微软雅黑"/>
                <a:ea typeface="微软雅黑"/>
                <a:cs typeface="微软雅黑"/>
                <a:sym typeface="微软雅黑"/>
              </a:rPr>
              <a:t>硬件支持</a:t>
            </a:r>
          </a:p>
          <a:p>
            <a:pPr algn="l" indent="-241300" lvl="1" marL="584200">
              <a:lnSpc>
                <a:spcPct val="91666"/>
              </a:lnSpc>
              <a:spcBef>
                <a:spcPts val="750"/>
              </a:spcBef>
              <a:buClr>
                <a:srgbClr val="404040"/>
              </a:buClr>
              <a:buChar char="•"/>
            </a:pPr>
            <a:r>
              <a:rPr lang="en-US" b="false" i="false" strike="noStrike" u="none" sz="1900">
                <a:solidFill>
                  <a:srgbClr val="404040"/>
                </a:solidFill>
                <a:latin typeface="微软雅黑"/>
                <a:ea typeface="微软雅黑"/>
                <a:cs typeface="微软雅黑"/>
                <a:sym typeface="微软雅黑"/>
              </a:rPr>
              <a:t>主要平台：针对</a:t>
            </a:r>
            <a:r>
              <a:rPr lang="en-US" b="false" i="false" strike="noStrike" u="none" sz="1900">
                <a:solidFill>
                  <a:srgbClr val="404040"/>
                </a:solidFill>
                <a:latin typeface="Calibri"/>
                <a:ea typeface="Calibri"/>
                <a:cs typeface="Calibri"/>
                <a:sym typeface="Calibri"/>
              </a:rPr>
              <a:t> NVIDIA GPU</a:t>
            </a:r>
            <a:r>
              <a:rPr lang="en-US" b="false" i="false" strike="noStrike" u="none" sz="1900">
                <a:solidFill>
                  <a:srgbClr val="404040"/>
                </a:solidFill>
                <a:latin typeface="微软雅黑"/>
                <a:ea typeface="微软雅黑"/>
                <a:cs typeface="微软雅黑"/>
                <a:sym typeface="微软雅黑"/>
              </a:rPr>
              <a:t>（</a:t>
            </a:r>
            <a:r>
              <a:rPr lang="en-US" b="false" i="false" strike="noStrike" u="none" sz="1900">
                <a:solidFill>
                  <a:srgbClr val="404040"/>
                </a:solidFill>
                <a:latin typeface="Calibri"/>
                <a:ea typeface="Calibri"/>
                <a:cs typeface="Calibri"/>
                <a:sym typeface="Calibri"/>
              </a:rPr>
              <a:t>Ampere</a:t>
            </a:r>
            <a:r>
              <a:rPr lang="en-US" b="false" i="false" strike="noStrike" u="none" sz="1900">
                <a:solidFill>
                  <a:srgbClr val="404040"/>
                </a:solidFill>
                <a:latin typeface="微软雅黑"/>
                <a:ea typeface="微软雅黑"/>
                <a:cs typeface="微软雅黑"/>
                <a:sym typeface="微软雅黑"/>
              </a:rPr>
              <a:t>、</a:t>
            </a:r>
            <a:r>
              <a:rPr lang="en-US" b="false" i="false" strike="noStrike" u="none" sz="1900">
                <a:solidFill>
                  <a:srgbClr val="404040"/>
                </a:solidFill>
                <a:latin typeface="Calibri"/>
                <a:ea typeface="Calibri"/>
                <a:cs typeface="Calibri"/>
                <a:sym typeface="Calibri"/>
              </a:rPr>
              <a:t>Hopper </a:t>
            </a:r>
            <a:r>
              <a:rPr lang="en-US" b="false" i="false" strike="noStrike" u="none" sz="1900">
                <a:solidFill>
                  <a:srgbClr val="404040"/>
                </a:solidFill>
                <a:latin typeface="微软雅黑"/>
                <a:ea typeface="微软雅黑"/>
                <a:cs typeface="微软雅黑"/>
                <a:sym typeface="微软雅黑"/>
              </a:rPr>
              <a:t>等架构）进行了深度优化。</a:t>
            </a:r>
          </a:p>
          <a:p>
            <a:pPr algn="l" indent="-241300" lvl="1" marL="584200">
              <a:lnSpc>
                <a:spcPct val="91666"/>
              </a:lnSpc>
              <a:spcBef>
                <a:spcPts val="750"/>
              </a:spcBef>
              <a:buClr>
                <a:srgbClr val="404040"/>
              </a:buClr>
              <a:buChar char="•"/>
            </a:pPr>
            <a:r>
              <a:rPr lang="en-US" b="false" i="false" strike="noStrike" u="none" sz="1900">
                <a:solidFill>
                  <a:srgbClr val="404040"/>
                </a:solidFill>
                <a:latin typeface="微软雅黑"/>
                <a:ea typeface="微软雅黑"/>
                <a:cs typeface="微软雅黑"/>
                <a:sym typeface="微软雅黑"/>
              </a:rPr>
              <a:t>持续演进的支持：对</a:t>
            </a:r>
            <a:r>
              <a:rPr lang="en-US" b="false" i="false" strike="noStrike" u="none" sz="1900">
                <a:solidFill>
                  <a:srgbClr val="404040"/>
                </a:solidFill>
                <a:latin typeface="Calibri"/>
                <a:ea typeface="Calibri"/>
                <a:cs typeface="Calibri"/>
                <a:sym typeface="Calibri"/>
              </a:rPr>
              <a:t> AMD</a:t>
            </a:r>
            <a:r>
              <a:rPr lang="en-US" b="false" i="false" strike="noStrike" u="none" sz="1900">
                <a:solidFill>
                  <a:srgbClr val="404040"/>
                </a:solidFill>
                <a:latin typeface="微软雅黑"/>
                <a:ea typeface="微软雅黑"/>
                <a:cs typeface="微软雅黑"/>
                <a:sym typeface="微软雅黑"/>
              </a:rPr>
              <a:t>（</a:t>
            </a:r>
            <a:r>
              <a:rPr lang="en-US" b="false" i="false" strike="noStrike" u="none" sz="1900">
                <a:solidFill>
                  <a:srgbClr val="404040"/>
                </a:solidFill>
                <a:latin typeface="Calibri"/>
                <a:ea typeface="Calibri"/>
                <a:cs typeface="Calibri"/>
                <a:sym typeface="Calibri"/>
              </a:rPr>
              <a:t>ROCm</a:t>
            </a:r>
            <a:r>
              <a:rPr lang="en-US" b="false" i="false" strike="noStrike" u="none" sz="1900">
                <a:solidFill>
                  <a:srgbClr val="404040"/>
                </a:solidFill>
                <a:latin typeface="微软雅黑"/>
                <a:ea typeface="微软雅黑"/>
                <a:cs typeface="微软雅黑"/>
                <a:sym typeface="微软雅黑"/>
              </a:rPr>
              <a:t>）和</a:t>
            </a:r>
            <a:r>
              <a:rPr lang="en-US" b="false" i="false" strike="noStrike" u="none" sz="1900">
                <a:solidFill>
                  <a:srgbClr val="404040"/>
                </a:solidFill>
                <a:latin typeface="Calibri"/>
                <a:ea typeface="Calibri"/>
                <a:cs typeface="Calibri"/>
                <a:sym typeface="Calibri"/>
              </a:rPr>
              <a:t> Intel GPU </a:t>
            </a:r>
            <a:r>
              <a:rPr lang="en-US" b="false" i="false" strike="noStrike" u="none" sz="1900">
                <a:solidFill>
                  <a:srgbClr val="404040"/>
                </a:solidFill>
                <a:latin typeface="微软雅黑"/>
                <a:ea typeface="微软雅黑"/>
                <a:cs typeface="微软雅黑"/>
                <a:sym typeface="微软雅黑"/>
              </a:rPr>
              <a:t>的支持正在持续改进，但在功能完整性或专用性能原语方面可能仍有差距。</a:t>
            </a:r>
          </a:p>
        </p:txBody>
      </p:sp>
    </p:spTree>
  </p:cSld>
  <p:clrMapOvr>
    <a:masterClrMapping/>
  </p:clrMapOvr>
  <p:transition main:dur="1000">
    <p:fade thruBlk="false"/>
  </p:transition>
</p:sld>
</file>

<file path=ppt/slides/slide26.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10"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学习路径</a:t>
            </a:r>
            <a:r>
              <a:rPr lang="en-US" b="false" i="false" strike="noStrike" u="none" sz="3600">
                <a:solidFill>
                  <a:srgbClr val="262626"/>
                </a:solidFill>
                <a:latin typeface="Calibri"/>
                <a:ea typeface="Calibri"/>
                <a:cs typeface="Calibri"/>
                <a:sym typeface="Calibri"/>
              </a:rPr>
              <a:t>: </a:t>
            </a:r>
            <a:r>
              <a:rPr lang="en-US" b="false" i="false" strike="noStrike" u="none" sz="3600">
                <a:solidFill>
                  <a:srgbClr val="262626"/>
                </a:solidFill>
                <a:latin typeface="微软雅黑"/>
                <a:ea typeface="微软雅黑"/>
                <a:cs typeface="微软雅黑"/>
                <a:sym typeface="微软雅黑"/>
              </a:rPr>
              <a:t>四阶段成长路线图</a:t>
            </a:r>
          </a:p>
        </p:txBody>
      </p:sp>
      <p:sp>
        <p:nvSpPr>
          <p:cNvPr name="AutoShape 3" id="3"/>
          <p:cNvSpPr/>
          <p:nvPr>
            <p:ph idx="11"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26</a:t>
            </a:r>
          </a:p>
        </p:txBody>
      </p:sp>
      <p:sp>
        <p:nvSpPr>
          <p:cNvPr name="AutoShape 4" id="4"/>
          <p:cNvSpPr/>
          <p:nvPr>
            <p:ph idx="12"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第一阶段：基础入门（一维）</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目标：掌握</a:t>
            </a:r>
            <a:r>
              <a:rPr lang="en-US" b="false" i="false" strike="noStrike" u="none" sz="2000">
                <a:solidFill>
                  <a:srgbClr val="404040"/>
                </a:solidFill>
                <a:latin typeface="Calibri"/>
                <a:ea typeface="Calibri"/>
                <a:cs typeface="Calibri"/>
                <a:sym typeface="Calibri"/>
              </a:rPr>
              <a:t>“Triton </a:t>
            </a:r>
            <a:r>
              <a:rPr lang="en-US" b="false" i="false" strike="noStrike" u="none" sz="2000">
                <a:solidFill>
                  <a:srgbClr val="404040"/>
                </a:solidFill>
                <a:latin typeface="微软雅黑"/>
                <a:ea typeface="微软雅黑"/>
                <a:cs typeface="微软雅黑"/>
                <a:sym typeface="微软雅黑"/>
              </a:rPr>
              <a:t>思维模式</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实践：实现向量加法和层归一化（</a:t>
            </a:r>
            <a:r>
              <a:rPr lang="en-US" b="false" i="false" strike="noStrike" u="none" sz="2000">
                <a:solidFill>
                  <a:srgbClr val="404040"/>
                </a:solidFill>
                <a:latin typeface="Calibri"/>
                <a:ea typeface="Calibri"/>
                <a:cs typeface="Calibri"/>
                <a:sym typeface="Calibri"/>
              </a:rPr>
              <a:t>Layer Normalization</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重点：指针算术、</a:t>
            </a:r>
            <a:r>
              <a:rPr lang="en-US" b="false" i="false" strike="noStrike" u="none" sz="2000">
                <a:solidFill>
                  <a:srgbClr val="404040"/>
                </a:solidFill>
                <a:latin typeface="Calibri"/>
                <a:ea typeface="Calibri"/>
                <a:cs typeface="Calibri"/>
                <a:sym typeface="Calibri"/>
              </a:rPr>
              <a:t>tl.arange</a:t>
            </a:r>
            <a:r>
              <a:rPr lang="en-US" b="false" i="false" strike="noStrike" u="none" sz="2000">
                <a:solidFill>
                  <a:srgbClr val="404040"/>
                </a:solidFill>
                <a:latin typeface="微软雅黑"/>
                <a:ea typeface="微软雅黑"/>
                <a:cs typeface="微软雅黑"/>
                <a:sym typeface="微软雅黑"/>
              </a:rPr>
              <a:t>，以及掌握掩码（</a:t>
            </a:r>
            <a:r>
              <a:rPr lang="en-US" b="false" i="false" strike="noStrike" u="none" sz="2000">
                <a:solidFill>
                  <a:srgbClr val="404040"/>
                </a:solidFill>
                <a:latin typeface="Calibri"/>
                <a:ea typeface="Calibri"/>
                <a:cs typeface="Calibri"/>
                <a:sym typeface="Calibri"/>
              </a:rPr>
              <a:t>Masking</a:t>
            </a:r>
            <a:r>
              <a:rPr lang="en-US" b="false" i="false" strike="noStrike" u="none" sz="2000">
                <a:solidFill>
                  <a:srgbClr val="404040"/>
                </a:solidFill>
                <a:latin typeface="微软雅黑"/>
                <a:ea typeface="微软雅黑"/>
                <a:cs typeface="微软雅黑"/>
                <a:sym typeface="微软雅黑"/>
              </a:rPr>
              <a:t>）的关键重要性。</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第二阶段：归约与内存（进阶）</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目标：理解块内部的通信机制。</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实践：实现</a:t>
            </a:r>
            <a:r>
              <a:rPr lang="en-US" b="false" i="false" strike="noStrike" u="none" sz="2000">
                <a:solidFill>
                  <a:srgbClr val="404040"/>
                </a:solidFill>
                <a:latin typeface="Calibri"/>
                <a:ea typeface="Calibri"/>
                <a:cs typeface="Calibri"/>
                <a:sym typeface="Calibri"/>
              </a:rPr>
              <a:t> Softmax </a:t>
            </a:r>
            <a:r>
              <a:rPr lang="en-US" b="false" i="false" strike="noStrike" u="none" sz="2000">
                <a:solidFill>
                  <a:srgbClr val="404040"/>
                </a:solidFill>
                <a:latin typeface="微软雅黑"/>
                <a:ea typeface="微软雅黑"/>
                <a:cs typeface="微软雅黑"/>
                <a:sym typeface="微软雅黑"/>
              </a:rPr>
              <a:t>或高速</a:t>
            </a:r>
            <a:r>
              <a:rPr lang="en-US" b="false" i="false" strike="noStrike" u="none" sz="2000">
                <a:solidFill>
                  <a:srgbClr val="404040"/>
                </a:solidFill>
                <a:latin typeface="Calibri"/>
                <a:ea typeface="Calibri"/>
                <a:cs typeface="Calibri"/>
                <a:sym typeface="Calibri"/>
              </a:rPr>
              <a:t> Dropout </a:t>
            </a:r>
            <a:r>
              <a:rPr lang="en-US" b="false" i="false" strike="noStrike" u="none" sz="2000">
                <a:solidFill>
                  <a:srgbClr val="404040"/>
                </a:solidFill>
                <a:latin typeface="微软雅黑"/>
                <a:ea typeface="微软雅黑"/>
                <a:cs typeface="微软雅黑"/>
                <a:sym typeface="微软雅黑"/>
              </a:rPr>
              <a:t>核函数。</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重点：</a:t>
            </a:r>
            <a:r>
              <a:rPr lang="en-US" b="false" i="false" strike="noStrike" u="none" sz="2000">
                <a:solidFill>
                  <a:srgbClr val="404040"/>
                </a:solidFill>
                <a:latin typeface="Calibri"/>
                <a:ea typeface="Calibri"/>
                <a:cs typeface="Calibri"/>
                <a:sym typeface="Calibri"/>
              </a:rPr>
              <a:t>tl.sum</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tl.max</a:t>
            </a:r>
            <a:r>
              <a:rPr lang="en-US" b="false" i="false" strike="noStrike" u="none" sz="2000">
                <a:solidFill>
                  <a:srgbClr val="404040"/>
                </a:solidFill>
                <a:latin typeface="微软雅黑"/>
                <a:ea typeface="微软雅黑"/>
                <a:cs typeface="微软雅黑"/>
                <a:sym typeface="微软雅黑"/>
              </a:rPr>
              <a:t>，以及在加载时使用其他值以确保数值稳定性。</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sp>
        <p:nvSpPr>
          <p:cNvPr name="AutoShape 5" id="5"/>
          <p:cNvSpPr/>
          <p:nvPr>
            <p:ph idx="13"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6" id="6"/>
          <p:cNvSpPr/>
          <p:nvPr>
            <p:ph idx="14"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第三阶段：分块与步幅（高级）</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目标：实现高性能二维运算。</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实践：从零构建矩阵乘法（</a:t>
            </a:r>
            <a:r>
              <a:rPr lang="en-US" b="false" i="false" strike="noStrike" u="none" sz="2000">
                <a:solidFill>
                  <a:srgbClr val="404040"/>
                </a:solidFill>
                <a:latin typeface="Calibri"/>
                <a:ea typeface="Calibri"/>
                <a:cs typeface="Calibri"/>
                <a:sym typeface="Calibri"/>
              </a:rPr>
              <a:t>MatMul</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重点：二维广播、</a:t>
            </a:r>
            <a:r>
              <a:rPr lang="en-US" b="false" i="false" strike="noStrike" u="none" sz="2000">
                <a:solidFill>
                  <a:srgbClr val="404040"/>
                </a:solidFill>
                <a:latin typeface="Calibri"/>
                <a:ea typeface="Calibri"/>
                <a:cs typeface="Calibri"/>
                <a:sym typeface="Calibri"/>
              </a:rPr>
              <a:t>tl.dot</a:t>
            </a:r>
            <a:r>
              <a:rPr lang="en-US" b="false" i="false" strike="noStrike" u="none" sz="2000">
                <a:solidFill>
                  <a:srgbClr val="404040"/>
                </a:solidFill>
                <a:latin typeface="微软雅黑"/>
                <a:ea typeface="微软雅黑"/>
                <a:cs typeface="微软雅黑"/>
                <a:sym typeface="微软雅黑"/>
              </a:rPr>
              <a:t>，以及针对内存合并访问优化步幅。</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第四阶段：生产优化（专家级）</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目标：榨取硬件的每一个</a:t>
            </a:r>
            <a:r>
              <a:rPr lang="en-US" b="false" i="false" strike="noStrike" u="none" sz="2000">
                <a:solidFill>
                  <a:srgbClr val="404040"/>
                </a:solidFill>
                <a:latin typeface="Calibri"/>
                <a:ea typeface="Calibri"/>
                <a:cs typeface="Calibri"/>
                <a:sym typeface="Calibri"/>
              </a:rPr>
              <a:t> TFLOPS </a:t>
            </a:r>
            <a:r>
              <a:rPr lang="en-US" b="false" i="false" strike="noStrike" u="none" sz="2000">
                <a:solidFill>
                  <a:srgbClr val="404040"/>
                </a:solidFill>
                <a:latin typeface="微软雅黑"/>
                <a:ea typeface="微软雅黑"/>
                <a:cs typeface="微软雅黑"/>
                <a:sym typeface="微软雅黑"/>
              </a:rPr>
              <a:t>算力。</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实践：实现</a:t>
            </a:r>
            <a:r>
              <a:rPr lang="en-US" b="false" i="false" strike="noStrike" u="none" sz="2000">
                <a:solidFill>
                  <a:srgbClr val="404040"/>
                </a:solidFill>
                <a:latin typeface="Calibri"/>
                <a:ea typeface="Calibri"/>
                <a:cs typeface="Calibri"/>
                <a:sym typeface="Calibri"/>
              </a:rPr>
              <a:t> FlashAttention </a:t>
            </a:r>
            <a:r>
              <a:rPr lang="en-US" b="false" i="false" strike="noStrike" u="none" sz="2000">
                <a:solidFill>
                  <a:srgbClr val="404040"/>
                </a:solidFill>
                <a:latin typeface="微软雅黑"/>
                <a:ea typeface="微软雅黑"/>
                <a:cs typeface="微软雅黑"/>
                <a:sym typeface="微软雅黑"/>
              </a:rPr>
              <a:t>或融合</a:t>
            </a:r>
            <a:r>
              <a:rPr lang="en-US" b="false" i="false" strike="noStrike" u="none" sz="2000">
                <a:solidFill>
                  <a:srgbClr val="404040"/>
                </a:solidFill>
                <a:latin typeface="Calibri"/>
                <a:ea typeface="Calibri"/>
                <a:cs typeface="Calibri"/>
                <a:sym typeface="Calibri"/>
              </a:rPr>
              <a:t> Transformer </a:t>
            </a:r>
            <a:r>
              <a:rPr lang="en-US" b="false" i="false" strike="noStrike" u="none" sz="2000">
                <a:solidFill>
                  <a:srgbClr val="404040"/>
                </a:solidFill>
                <a:latin typeface="微软雅黑"/>
                <a:ea typeface="微软雅黑"/>
                <a:cs typeface="微软雅黑"/>
                <a:sym typeface="微软雅黑"/>
              </a:rPr>
              <a:t>块。</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重点：自动调优（</a:t>
            </a:r>
            <a:r>
              <a:rPr lang="en-US" b="false" i="false" strike="noStrike" u="none" sz="2000">
                <a:solidFill>
                  <a:srgbClr val="404040"/>
                </a:solidFill>
                <a:latin typeface="Calibri"/>
                <a:ea typeface="Calibri"/>
                <a:cs typeface="Calibri"/>
                <a:sym typeface="Calibri"/>
              </a:rPr>
              <a:t>autotune</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num_stages</a:t>
            </a:r>
            <a:r>
              <a:rPr lang="en-US" b="false" i="false" strike="noStrike" u="none" sz="2000">
                <a:solidFill>
                  <a:srgbClr val="404040"/>
                </a:solidFill>
                <a:latin typeface="微软雅黑"/>
                <a:ea typeface="微软雅黑"/>
                <a:cs typeface="微软雅黑"/>
                <a:sym typeface="微软雅黑"/>
              </a:rPr>
              <a:t>（流水线）和</a:t>
            </a:r>
            <a:r>
              <a:rPr lang="en-US" b="false" i="false" strike="noStrike" u="none" sz="2000">
                <a:solidFill>
                  <a:srgbClr val="404040"/>
                </a:solidFill>
                <a:latin typeface="Calibri"/>
                <a:ea typeface="Calibri"/>
                <a:cs typeface="Calibri"/>
                <a:sym typeface="Calibri"/>
              </a:rPr>
              <a:t> num_warps</a:t>
            </a:r>
            <a:r>
              <a:rPr lang="en-US" b="false" i="false" strike="noStrike" u="none" sz="2000">
                <a:solidFill>
                  <a:srgbClr val="404040"/>
                </a:solidFill>
                <a:latin typeface="微软雅黑"/>
                <a:ea typeface="微软雅黑"/>
                <a:cs typeface="微软雅黑"/>
                <a:sym typeface="微软雅黑"/>
              </a:rPr>
              <a:t>。</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spTree>
  </p:cSld>
  <p:clrMapOvr>
    <a:masterClrMapping/>
  </p:clrMapOvr>
  <p:transition main:dur="1000">
    <p:fade thruBlk="false"/>
  </p:transition>
</p:sld>
</file>

<file path=ppt/slides/slide27.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总结与后续步骤</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27</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10000"/>
          </a:bodyPr>
          <a:lstStyle>
            <a:lvl1pPr algn="l">
              <a:lnSpc>
                <a:spcPct val="91666"/>
              </a:lnSpc>
              <a:defRPr sz="2300" b="false" i="false" u="none" strike="noStrike" spc="0">
                <a:solidFill>
                  <a:srgbClr val="404040">
                    <a:alpha val="100000"/>
                  </a:srgbClr>
                </a:solidFill>
                <a:latin typeface="Calibri"/>
              </a:defRPr>
            </a:lvl1pPr>
          </a:lstStyle>
          <a:p>
            <a:pPr algn="l" indent="-292100" marL="292100">
              <a:lnSpc>
                <a:spcPct val="91666"/>
              </a:lnSpc>
              <a:spcBef>
                <a:spcPts val="1500"/>
              </a:spcBef>
              <a:buClr>
                <a:srgbClr val="404040"/>
              </a:buClr>
              <a:buChar char="•"/>
            </a:pPr>
            <a:r>
              <a:rPr lang="en-US" b="false" i="false" strike="noStrike" u="none" sz="2300">
                <a:solidFill>
                  <a:srgbClr val="404040"/>
                </a:solidFill>
                <a:latin typeface="Calibri"/>
                <a:ea typeface="Calibri"/>
                <a:cs typeface="Calibri"/>
                <a:sym typeface="Calibri"/>
              </a:rPr>
              <a:t>Triton </a:t>
            </a:r>
            <a:r>
              <a:rPr lang="en-US" b="false" i="false" strike="noStrike" u="none" sz="2300">
                <a:solidFill>
                  <a:srgbClr val="404040"/>
                </a:solidFill>
                <a:latin typeface="微软雅黑"/>
                <a:ea typeface="微软雅黑"/>
                <a:cs typeface="微软雅黑"/>
                <a:sym typeface="微软雅黑"/>
              </a:rPr>
              <a:t>的革命性意义</a:t>
            </a:r>
          </a:p>
          <a:p>
            <a:pPr algn="l" indent="-254000" lvl="1" marL="596900">
              <a:lnSpc>
                <a:spcPct val="91666"/>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性能：以极低的代码复杂度实现接近</a:t>
            </a:r>
            <a:r>
              <a:rPr lang="en-US" b="false" i="false" strike="noStrike" u="none" sz="2000">
                <a:solidFill>
                  <a:srgbClr val="404040"/>
                </a:solidFill>
                <a:latin typeface="Calibri"/>
                <a:ea typeface="Calibri"/>
                <a:cs typeface="Calibri"/>
                <a:sym typeface="Calibri"/>
              </a:rPr>
              <a:t> CUDA </a:t>
            </a:r>
            <a:r>
              <a:rPr lang="en-US" b="false" i="false" strike="noStrike" u="none" sz="2000">
                <a:solidFill>
                  <a:srgbClr val="404040"/>
                </a:solidFill>
                <a:latin typeface="微软雅黑"/>
                <a:ea typeface="微软雅黑"/>
                <a:cs typeface="微软雅黑"/>
                <a:sym typeface="微软雅黑"/>
              </a:rPr>
              <a:t>的运行速度。</a:t>
            </a:r>
          </a:p>
          <a:p>
            <a:pPr algn="l" indent="-254000" lvl="1" marL="596900">
              <a:lnSpc>
                <a:spcPct val="91666"/>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易用性：只要能编写</a:t>
            </a:r>
            <a:r>
              <a:rPr lang="en-US" b="false" i="false" strike="noStrike" u="none" sz="2000">
                <a:solidFill>
                  <a:srgbClr val="404040"/>
                </a:solidFill>
                <a:latin typeface="Calibri"/>
                <a:ea typeface="Calibri"/>
                <a:cs typeface="Calibri"/>
                <a:sym typeface="Calibri"/>
              </a:rPr>
              <a:t> Python </a:t>
            </a:r>
            <a:r>
              <a:rPr lang="en-US" b="false" i="false" strike="noStrike" u="none" sz="2000">
                <a:solidFill>
                  <a:srgbClr val="404040"/>
                </a:solidFill>
                <a:latin typeface="微软雅黑"/>
                <a:ea typeface="微软雅黑"/>
                <a:cs typeface="微软雅黑"/>
                <a:sym typeface="微软雅黑"/>
              </a:rPr>
              <a:t>并理解</a:t>
            </a:r>
            <a:r>
              <a:rPr lang="en-US" b="false" i="false" strike="noStrike" u="none" sz="2000">
                <a:solidFill>
                  <a:srgbClr val="404040"/>
                </a:solidFill>
                <a:latin typeface="Calibri"/>
                <a:ea typeface="Calibri"/>
                <a:cs typeface="Calibri"/>
                <a:sym typeface="Calibri"/>
              </a:rPr>
              <a:t> NumPy</a:t>
            </a:r>
            <a:r>
              <a:rPr lang="en-US" b="false" i="false" strike="noStrike" u="none" sz="2000">
                <a:solidFill>
                  <a:srgbClr val="404040"/>
                </a:solidFill>
                <a:latin typeface="微软雅黑"/>
                <a:ea typeface="微软雅黑"/>
                <a:cs typeface="微软雅黑"/>
                <a:sym typeface="微软雅黑"/>
              </a:rPr>
              <a:t>，即可编写</a:t>
            </a:r>
            <a:r>
              <a:rPr lang="en-US" b="false" i="false" strike="noStrike" u="none" sz="2000">
                <a:solidFill>
                  <a:srgbClr val="404040"/>
                </a:solidFill>
                <a:latin typeface="Calibri"/>
                <a:ea typeface="Calibri"/>
                <a:cs typeface="Calibri"/>
                <a:sym typeface="Calibri"/>
              </a:rPr>
              <a:t> GPU </a:t>
            </a:r>
            <a:r>
              <a:rPr lang="en-US" b="false" i="false" strike="noStrike" u="none" sz="2000">
                <a:solidFill>
                  <a:srgbClr val="404040"/>
                </a:solidFill>
                <a:latin typeface="微软雅黑"/>
                <a:ea typeface="微软雅黑"/>
                <a:cs typeface="微软雅黑"/>
                <a:sym typeface="微软雅黑"/>
              </a:rPr>
              <a:t>核函数。</a:t>
            </a:r>
          </a:p>
          <a:p>
            <a:pPr algn="l" indent="-254000" lvl="1" marL="596900">
              <a:lnSpc>
                <a:spcPct val="91666"/>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优化：让编译器承担内存管理、同步以及硬件专用指令等</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繁重工作</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a:t>
            </a:r>
          </a:p>
          <a:p>
            <a:pPr algn="l" indent="-292100" marL="292100">
              <a:lnSpc>
                <a:spcPct val="91666"/>
              </a:lnSpc>
              <a:spcBef>
                <a:spcPts val="1500"/>
              </a:spcBef>
              <a:buClr>
                <a:srgbClr val="404040"/>
              </a:buClr>
              <a:buChar char="•"/>
            </a:pPr>
            <a:r>
              <a:rPr lang="en-US" b="false" i="false" strike="noStrike" u="none" sz="2300">
                <a:solidFill>
                  <a:srgbClr val="404040"/>
                </a:solidFill>
                <a:latin typeface="微软雅黑"/>
                <a:ea typeface="微软雅黑"/>
                <a:cs typeface="微软雅黑"/>
                <a:sym typeface="微软雅黑"/>
              </a:rPr>
              <a:t>延伸学习资源</a:t>
            </a:r>
          </a:p>
          <a:p>
            <a:pPr algn="l" indent="-254000" lvl="1" marL="596900">
              <a:lnSpc>
                <a:spcPct val="91666"/>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官方文档</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Calibri"/>
                <a:ea typeface="Calibri"/>
                <a:cs typeface="Calibri"/>
                <a:sym typeface="Calibri"/>
                <a:hlinkClick r:id="rId2" tooltip="https://triton-lang.org/main/index.html">
                  <a:extLst>
                    <a:ext uri="{A12FA001-AC4F-418D-AE19-62706E023703}">
                      <ahyp:hlinkClr xmlns:ahyp="http://schemas.microsoft.com/office/drawing/2018/hyperlinkcolor" val="tx"/>
                    </a:ext>
                  </a:extLst>
                </a:hlinkClick>
              </a:rPr>
              <a:t>https://triton-lang.org/main/index.html</a:t>
            </a:r>
          </a:p>
          <a:p>
            <a:pPr algn="l" indent="-254000" lvl="1" marL="596900">
              <a:lnSpc>
                <a:spcPct val="91666"/>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Triton </a:t>
            </a:r>
            <a:r>
              <a:rPr lang="en-US" b="false" i="false" strike="noStrike" u="none" sz="2000">
                <a:solidFill>
                  <a:srgbClr val="404040"/>
                </a:solidFill>
                <a:latin typeface="微软雅黑"/>
                <a:ea typeface="微软雅黑"/>
                <a:cs typeface="微软雅黑"/>
                <a:sym typeface="微软雅黑"/>
              </a:rPr>
              <a:t>社区会议纪要</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Calibri"/>
                <a:ea typeface="Calibri"/>
                <a:cs typeface="Calibri"/>
                <a:sym typeface="Calibri"/>
                <a:hlinkClick r:id="rId3" tooltip="https://github.com/triton-lang/triton/tree/main/docs/meetups">
                  <a:extLst>
                    <a:ext uri="{A12FA001-AC4F-418D-AE19-62706E023703}">
                      <ahyp:hlinkClr xmlns:ahyp="http://schemas.microsoft.com/office/drawing/2018/hyperlinkcolor" val="tx"/>
                    </a:ext>
                  </a:extLst>
                </a:hlinkClick>
              </a:rPr>
              <a:t>https://github.com/triton-lang/triton/tree/main/docs/meetups</a:t>
            </a:r>
          </a:p>
          <a:p>
            <a:pPr algn="l" indent="-254000" lvl="1" marL="596900">
              <a:lnSpc>
                <a:spcPct val="91666"/>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Triton </a:t>
            </a:r>
            <a:r>
              <a:rPr lang="en-US" b="false" i="false" strike="noStrike" u="none" sz="2000">
                <a:solidFill>
                  <a:srgbClr val="404040"/>
                </a:solidFill>
                <a:latin typeface="微软雅黑"/>
                <a:ea typeface="微软雅黑"/>
                <a:cs typeface="微软雅黑"/>
                <a:sym typeface="微软雅黑"/>
              </a:rPr>
              <a:t>博客（</a:t>
            </a:r>
            <a:r>
              <a:rPr lang="en-US" b="false" i="false" strike="noStrike" u="none" sz="2000">
                <a:solidFill>
                  <a:srgbClr val="404040"/>
                </a:solidFill>
                <a:latin typeface="Calibri"/>
                <a:ea typeface="Calibri"/>
                <a:cs typeface="Calibri"/>
                <a:sym typeface="Calibri"/>
              </a:rPr>
              <a:t>OpenAI</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 https://openai.com/index/triton/</a:t>
            </a:r>
          </a:p>
          <a:p>
            <a:pPr algn="l" indent="-254000" lvl="1" marL="596900">
              <a:lnSpc>
                <a:spcPct val="91666"/>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示例：</a:t>
            </a:r>
            <a:r>
              <a:rPr lang="en-US" b="false" i="false" strike="noStrike" u="none" sz="2000">
                <a:solidFill>
                  <a:srgbClr val="404040"/>
                </a:solidFill>
                <a:latin typeface="Calibri"/>
                <a:ea typeface="Calibri"/>
                <a:cs typeface="Calibri"/>
                <a:sym typeface="Calibri"/>
              </a:rPr>
              <a:t>Triton </a:t>
            </a:r>
            <a:r>
              <a:rPr lang="en-US" b="false" i="false" strike="noStrike" u="none" sz="2000">
                <a:solidFill>
                  <a:srgbClr val="404040"/>
                </a:solidFill>
                <a:latin typeface="微软雅黑"/>
                <a:ea typeface="微软雅黑"/>
                <a:cs typeface="微软雅黑"/>
                <a:sym typeface="微软雅黑"/>
              </a:rPr>
              <a:t>中的</a:t>
            </a:r>
            <a:r>
              <a:rPr lang="en-US" b="false" i="false" strike="noStrike" u="none" sz="2000">
                <a:solidFill>
                  <a:srgbClr val="404040"/>
                </a:solidFill>
                <a:latin typeface="Calibri"/>
                <a:ea typeface="Calibri"/>
                <a:cs typeface="Calibri"/>
                <a:sym typeface="Calibri"/>
              </a:rPr>
              <a:t> FlashAttention </a:t>
            </a:r>
            <a:r>
              <a:rPr lang="en-US" b="false" i="false" strike="noStrike" u="none" sz="2000">
                <a:solidFill>
                  <a:srgbClr val="404040"/>
                </a:solidFill>
                <a:latin typeface="Calibri"/>
                <a:ea typeface="Calibri"/>
                <a:cs typeface="Calibri"/>
                <a:sym typeface="Calibri"/>
                <a:hlinkClick r:id="rId4" tooltip="https://github.com/dao-ailab/flash-attention/blob/main/flash_attn/flash_attn_triton.py">
                  <a:extLst>
                    <a:ext uri="{A12FA001-AC4F-418D-AE19-62706E023703}">
                      <ahyp:hlinkClr xmlns:ahyp="http://schemas.microsoft.com/office/drawing/2018/hyperlinkcolor" val="tx"/>
                    </a:ext>
                  </a:extLst>
                </a:hlinkClick>
              </a:rPr>
              <a:t>https://github.com/Dao-AILab/flash-attention/blob/main/flash_attn/flash_attn_triton.py</a:t>
            </a:r>
          </a:p>
          <a:p>
            <a:pPr algn="l" indent="-292100" marL="292100">
              <a:lnSpc>
                <a:spcPct val="91666"/>
              </a:lnSpc>
              <a:spcBef>
                <a:spcPts val="1500"/>
              </a:spcBef>
              <a:buClr>
                <a:srgbClr val="404040"/>
              </a:buClr>
              <a:buChar char="•"/>
            </a:pPr>
            <a:r>
              <a:rPr lang="en-US" b="false" i="false" strike="noStrike" u="none" sz="2300">
                <a:solidFill>
                  <a:srgbClr val="404040"/>
                </a:solidFill>
                <a:latin typeface="微软雅黑"/>
                <a:ea typeface="微软雅黑"/>
                <a:cs typeface="微软雅黑"/>
                <a:sym typeface="微软雅黑"/>
              </a:rPr>
              <a:t>结语：</a:t>
            </a:r>
            <a:r>
              <a:rPr lang="en-US" b="false" i="false" strike="noStrike" u="none" sz="2300">
                <a:solidFill>
                  <a:srgbClr val="404040"/>
                </a:solidFill>
                <a:latin typeface="Calibri"/>
                <a:ea typeface="Calibri"/>
                <a:cs typeface="Calibri"/>
                <a:sym typeface="Calibri"/>
              </a:rPr>
              <a:t>“Triton </a:t>
            </a:r>
            <a:r>
              <a:rPr lang="en-US" b="false" i="false" strike="noStrike" u="none" sz="2300">
                <a:solidFill>
                  <a:srgbClr val="404040"/>
                </a:solidFill>
                <a:latin typeface="微软雅黑"/>
                <a:ea typeface="微软雅黑"/>
                <a:cs typeface="微软雅黑"/>
                <a:sym typeface="微软雅黑"/>
              </a:rPr>
              <a:t>的目标不仅仅是让</a:t>
            </a:r>
            <a:r>
              <a:rPr lang="en-US" b="false" i="false" strike="noStrike" u="none" sz="2300">
                <a:solidFill>
                  <a:srgbClr val="404040"/>
                </a:solidFill>
                <a:latin typeface="Calibri"/>
                <a:ea typeface="Calibri"/>
                <a:cs typeface="Calibri"/>
                <a:sym typeface="Calibri"/>
              </a:rPr>
              <a:t> GPU </a:t>
            </a:r>
            <a:r>
              <a:rPr lang="en-US" b="false" i="false" strike="noStrike" u="none" sz="2300">
                <a:solidFill>
                  <a:srgbClr val="404040"/>
                </a:solidFill>
                <a:latin typeface="微软雅黑"/>
                <a:ea typeface="微软雅黑"/>
                <a:cs typeface="微软雅黑"/>
                <a:sym typeface="微软雅黑"/>
              </a:rPr>
              <a:t>编程更快，而是让真正设计模型的研究人员也能进行编程。</a:t>
            </a:r>
            <a:r>
              <a:rPr lang="en-US" b="false" i="false" strike="noStrike" u="none" sz="2300">
                <a:solidFill>
                  <a:srgbClr val="404040"/>
                </a:solidFill>
                <a:latin typeface="Calibri"/>
                <a:ea typeface="Calibri"/>
                <a:cs typeface="Calibri"/>
                <a:sym typeface="Calibri"/>
              </a:rPr>
              <a:t>”</a:t>
            </a:r>
          </a:p>
        </p:txBody>
      </p:sp>
    </p:spTree>
  </p:cSld>
  <p:clrMapOvr>
    <a:masterClrMapping/>
  </p:clrMapOvr>
  <p:transition main:dur="1000">
    <p:fade thruBlk="false"/>
  </p:transition>
</p:sld>
</file>

<file path=ppt/slides/slide28.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解决方案：</a:t>
            </a:r>
            <a:r>
              <a:rPr lang="en-US" b="false" i="false" strike="noStrike" u="none" sz="3600">
                <a:solidFill>
                  <a:srgbClr val="262626"/>
                </a:solidFill>
                <a:latin typeface="Calibri"/>
                <a:ea typeface="Calibri"/>
                <a:cs typeface="Calibri"/>
                <a:sym typeface="Calibri"/>
              </a:rPr>
              <a:t> FlagOS</a:t>
            </a:r>
            <a:r>
              <a:rPr lang="en-US" b="false" i="false" strike="noStrike" u="none" sz="3600">
                <a:solidFill>
                  <a:srgbClr val="262626"/>
                </a:solidFill>
                <a:latin typeface="微软雅黑"/>
                <a:ea typeface="微软雅黑"/>
                <a:cs typeface="微软雅黑"/>
                <a:sym typeface="微软雅黑"/>
              </a:rPr>
              <a:t>，</a:t>
            </a:r>
            <a:r>
              <a:rPr lang="en-US" b="false" i="false" strike="noStrike" u="none" sz="3600">
                <a:solidFill>
                  <a:srgbClr val="262626"/>
                </a:solidFill>
                <a:latin typeface="Calibri"/>
                <a:ea typeface="Calibri"/>
                <a:cs typeface="Calibri"/>
                <a:sym typeface="Calibri"/>
              </a:rPr>
              <a:t> </a:t>
            </a:r>
            <a:r>
              <a:rPr lang="en-US" b="false" i="false" strike="noStrike" u="none" sz="3600">
                <a:solidFill>
                  <a:srgbClr val="262626"/>
                </a:solidFill>
                <a:latin typeface="微软雅黑"/>
                <a:ea typeface="微软雅黑"/>
                <a:cs typeface="微软雅黑"/>
                <a:sym typeface="微软雅黑"/>
              </a:rPr>
              <a:t>统一</a:t>
            </a:r>
            <a:r>
              <a:rPr lang="en-US" b="false" i="false" strike="noStrike" u="none" sz="3600">
                <a:solidFill>
                  <a:srgbClr val="262626"/>
                </a:solidFill>
                <a:latin typeface="Calibri"/>
                <a:ea typeface="Calibri"/>
                <a:cs typeface="Calibri"/>
                <a:sym typeface="Calibri"/>
              </a:rPr>
              <a:t>AI</a:t>
            </a:r>
            <a:r>
              <a:rPr lang="en-US" b="false" i="false" strike="noStrike" u="none" sz="3600">
                <a:solidFill>
                  <a:srgbClr val="262626"/>
                </a:solidFill>
                <a:latin typeface="微软雅黑"/>
                <a:ea typeface="微软雅黑"/>
                <a:cs typeface="微软雅黑"/>
                <a:sym typeface="微软雅黑"/>
              </a:rPr>
              <a:t>系统软件栈</a:t>
            </a:r>
          </a:p>
        </p:txBody>
      </p:sp>
      <p:sp>
        <p:nvSpPr>
          <p:cNvPr name="AutoShape 3" id="3"/>
          <p:cNvSpPr/>
          <p:nvPr>
            <p:ph idx="7" type="body" sz="quarter"/>
          </p:nvPr>
        </p:nvSpPr>
        <p:spPr>
          <a:xfrm rot="0" flipH="false" flipV="false">
            <a:off x="724535" y="6356350"/>
            <a:ext cx="11076940" cy="365125"/>
          </a:xfrm>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pic>
        <p:nvPicPr>
          <p:cNvPr name="Picture 4" id="4"/>
          <p:cNvPicPr>
            <a:picLocks noChangeAspect="true"/>
          </p:cNvPicPr>
          <p:nvPr>
            <p:ph idx="9" type="body" sz="quarter"/>
          </p:nvPr>
        </p:nvPicPr>
        <p:blipFill>
          <a:blip r:embed="rId2"/>
          <a:srcRect l="3" r="3" t="0" b="0"/>
          <a:stretch>
            <a:fillRect/>
          </a:stretch>
        </p:blipFill>
        <p:spPr>
          <a:xfrm rot="0" flipH="false" flipV="false">
            <a:off x="741493" y="1256030"/>
            <a:ext cx="9408534" cy="4852988"/>
          </a:xfrm>
          <a:prstGeom prst="rect">
            <a:avLst/>
          </a:prstGeom>
        </p:spPr>
      </p:pic>
    </p:spTree>
  </p:cSld>
  <p:clrMapOvr>
    <a:masterClrMapping/>
  </p:clrMapOvr>
  <p:transition main:dur="1000">
    <p:fade thruBlk="false"/>
  </p:transition>
</p:sld>
</file>

<file path=ppt/slides/slide29.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nvSpPr>
        <p:spPr>
          <a:xfrm rot="0" flipH="false" flipV="false">
            <a:off x="89535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3" id="3"/>
          <p:cNvSpPr/>
          <p:nvPr/>
        </p:nvSpPr>
        <p:spPr>
          <a:xfrm rot="0" flipH="false" flipV="false">
            <a:off x="440023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4" id="4"/>
          <p:cNvSpPr/>
          <p:nvPr/>
        </p:nvSpPr>
        <p:spPr>
          <a:xfrm rot="0" flipH="false" flipV="false">
            <a:off x="790511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5" id="5"/>
          <p:cNvSpPr/>
          <p:nvPr/>
        </p:nvSpPr>
        <p:spPr>
          <a:xfrm rot="0" flipH="false" flipV="false">
            <a:off x="89535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6" id="6"/>
          <p:cNvSpPr/>
          <p:nvPr/>
        </p:nvSpPr>
        <p:spPr>
          <a:xfrm rot="0" flipH="false" flipV="false">
            <a:off x="440023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7" id="7"/>
          <p:cNvSpPr/>
          <p:nvPr/>
        </p:nvSpPr>
        <p:spPr>
          <a:xfrm rot="0" flipH="false" flipV="false">
            <a:off x="790511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8" id="8"/>
          <p:cNvSpPr/>
          <p:nvPr/>
        </p:nvSpPr>
        <p:spPr>
          <a:xfrm rot="0" flipH="false" flipV="false">
            <a:off x="2298364" y="1689569"/>
            <a:ext cx="356915" cy="356915"/>
          </a:xfrm>
          <a:prstGeom prst="ellipse">
            <a:avLst/>
          </a:prstGeom>
          <a:blipFill rotWithShape="true">
            <a:blip r:embed="rId2"/>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9" id="9"/>
          <p:cNvSpPr/>
          <p:nvPr/>
        </p:nvSpPr>
        <p:spPr>
          <a:xfrm rot="0" flipH="false" flipV="false">
            <a:off x="5803244" y="1689569"/>
            <a:ext cx="356915" cy="356915"/>
          </a:xfrm>
          <a:prstGeom prst="ellipse">
            <a:avLst/>
          </a:prstGeom>
          <a:blipFill rotWithShape="true">
            <a:blip r:embed="rId3"/>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0" id="10"/>
          <p:cNvSpPr/>
          <p:nvPr/>
        </p:nvSpPr>
        <p:spPr>
          <a:xfrm rot="0" flipH="false" flipV="false">
            <a:off x="9308124" y="1689569"/>
            <a:ext cx="356915" cy="356915"/>
          </a:xfrm>
          <a:prstGeom prst="ellipse">
            <a:avLst/>
          </a:prstGeom>
          <a:blipFill rotWithShape="true">
            <a:blip r:embed="rId4"/>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1" id="11"/>
          <p:cNvSpPr/>
          <p:nvPr/>
        </p:nvSpPr>
        <p:spPr>
          <a:xfrm rot="0" flipH="false" flipV="false">
            <a:off x="2298364" y="3577269"/>
            <a:ext cx="356915" cy="356915"/>
          </a:xfrm>
          <a:prstGeom prst="ellipse">
            <a:avLst/>
          </a:prstGeom>
          <a:blipFill rotWithShape="true">
            <a:blip r:embed="rId5"/>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2" id="12"/>
          <p:cNvSpPr/>
          <p:nvPr/>
        </p:nvSpPr>
        <p:spPr>
          <a:xfrm rot="0" flipH="false" flipV="false">
            <a:off x="5803244" y="3577269"/>
            <a:ext cx="356915" cy="356915"/>
          </a:xfrm>
          <a:prstGeom prst="ellipse">
            <a:avLst/>
          </a:prstGeom>
          <a:blipFill rotWithShape="true">
            <a:blip r:embed="rId6"/>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3" id="13"/>
          <p:cNvSpPr/>
          <p:nvPr/>
        </p:nvSpPr>
        <p:spPr>
          <a:xfrm rot="0" flipH="false" flipV="false">
            <a:off x="9308124" y="3577269"/>
            <a:ext cx="356915" cy="356915"/>
          </a:xfrm>
          <a:prstGeom prst="ellipse">
            <a:avLst/>
          </a:prstGeom>
          <a:blipFill rotWithShape="true">
            <a:blip r:embed="rId7"/>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4" id="14"/>
          <p:cNvSpPr/>
          <p:nvPr/>
        </p:nvSpPr>
        <p:spPr>
          <a:xfrm rot="0" flipH="false" flipV="false">
            <a:off x="1219842" y="2517904"/>
            <a:ext cx="2513958"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8" tooltip="https://github.com/flagos-ai">
                  <a:extLst>
                    <a:ext uri="{A12FA001-AC4F-418D-AE19-62706E023703}">
                      <ahyp:hlinkClr xmlns:ahyp="http://schemas.microsoft.com/office/drawing/2018/hyperlinkcolor" val="tx"/>
                    </a:ext>
                  </a:extLst>
                </a:hlinkClick>
              </a:rPr>
              <a:t>https://github.com/flagos-ai</a:t>
            </a:r>
            <a:endParaRPr lang="en-US" sz="1100"/>
          </a:p>
          <a:p>
            <a:pPr algn="l" indent="0">
              <a:lnSpc>
                <a:spcPct val="150000"/>
              </a:lnSpc>
            </a:pPr>
            <a:r>
              <a:rPr lang="en-US" b="false" i="false" strike="noStrike" u="none" sz="1600">
                <a:solidFill>
                  <a:srgbClr val="767171"/>
                </a:solidFill>
                <a:latin typeface="Arial"/>
                <a:ea typeface="Arial"/>
                <a:cs typeface="Arial"/>
                <a:sym typeface="Arial"/>
              </a:rPr>
              <a:t> </a:t>
            </a:r>
          </a:p>
        </p:txBody>
      </p:sp>
      <p:sp>
        <p:nvSpPr>
          <p:cNvPr name="AutoShape 15" id="15"/>
          <p:cNvSpPr/>
          <p:nvPr/>
        </p:nvSpPr>
        <p:spPr>
          <a:xfrm rot="0" flipH="false" flipV="false">
            <a:off x="8015605" y="2341245"/>
            <a:ext cx="2882265"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9" tooltip="https://space.bilibili.com/3546791834290849">
                  <a:extLst>
                    <a:ext uri="{A12FA001-AC4F-418D-AE19-62706E023703}">
                      <ahyp:hlinkClr xmlns:ahyp="http://schemas.microsoft.com/office/drawing/2018/hyperlinkcolor" val="tx"/>
                    </a:ext>
                  </a:extLst>
                </a:hlinkClick>
              </a:rPr>
              <a:t>https://space.bilibili.com/3546791834290849</a:t>
            </a:r>
            <a:endParaRPr lang="en-US" sz="1100"/>
          </a:p>
        </p:txBody>
      </p:sp>
      <p:sp>
        <p:nvSpPr>
          <p:cNvPr name="AutoShape 16" id="16"/>
          <p:cNvSpPr/>
          <p:nvPr/>
        </p:nvSpPr>
        <p:spPr>
          <a:xfrm rot="0" flipH="false" flipV="false">
            <a:off x="1219842" y="4403854"/>
            <a:ext cx="2513958"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10" tooltip="https://www.zhihu.com/people/95-22-20-18/posts">
                  <a:extLst>
                    <a:ext uri="{A12FA001-AC4F-418D-AE19-62706E023703}">
                      <ahyp:hlinkClr xmlns:ahyp="http://schemas.microsoft.com/office/drawing/2018/hyperlinkcolor" val="tx"/>
                    </a:ext>
                  </a:extLst>
                </a:hlinkClick>
              </a:rPr>
              <a:t>https://www.zhihu.com/people/95-22-20-18/posts</a:t>
            </a:r>
            <a:endParaRPr lang="en-US" sz="1100"/>
          </a:p>
        </p:txBody>
      </p:sp>
      <p:sp>
        <p:nvSpPr>
          <p:cNvPr name="AutoShape 17" id="17"/>
          <p:cNvSpPr/>
          <p:nvPr/>
        </p:nvSpPr>
        <p:spPr>
          <a:xfrm rot="0" flipH="false" flipV="false">
            <a:off x="4724722" y="4403854"/>
            <a:ext cx="2513958" cy="39687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11" tooltip="https://flagos.io/Home">
                  <a:extLst>
                    <a:ext uri="{A12FA001-AC4F-418D-AE19-62706E023703}">
                      <ahyp:hlinkClr xmlns:ahyp="http://schemas.microsoft.com/office/drawing/2018/hyperlinkcolor" val="tx"/>
                    </a:ext>
                  </a:extLst>
                </a:hlinkClick>
              </a:rPr>
              <a:t>https://flagos.io/Home</a:t>
            </a:r>
            <a:endParaRPr lang="en-US" sz="1100"/>
          </a:p>
        </p:txBody>
      </p:sp>
      <p:pic>
        <p:nvPicPr>
          <p:cNvPr name="Picture 18" id="18"/>
          <p:cNvPicPr>
            <a:picLocks noChangeAspect="true"/>
          </p:cNvPicPr>
          <p:nvPr/>
        </p:nvPicPr>
        <p:blipFill>
          <a:blip r:embed="rId12"/>
          <a:srcRect l="0" r="0" t="0" b="0"/>
          <a:stretch>
            <a:fillRect/>
          </a:stretch>
        </p:blipFill>
        <p:spPr>
          <a:xfrm rot="0" flipH="false" flipV="false">
            <a:off x="5408930" y="2046605"/>
            <a:ext cx="1255395" cy="1255395"/>
          </a:xfrm>
          <a:prstGeom prst="rect">
            <a:avLst/>
          </a:prstGeom>
          <a:ln w="12700">
            <a:noFill/>
            <a:prstDash val="solid"/>
          </a:ln>
        </p:spPr>
      </p:pic>
      <p:pic>
        <p:nvPicPr>
          <p:cNvPr name="Picture 19" id="19"/>
          <p:cNvPicPr>
            <a:picLocks noChangeAspect="true"/>
          </p:cNvPicPr>
          <p:nvPr/>
        </p:nvPicPr>
        <p:blipFill>
          <a:blip r:embed="rId13"/>
          <a:srcRect l="0" r="0" t="0" b="0"/>
          <a:stretch>
            <a:fillRect/>
          </a:stretch>
        </p:blipFill>
        <p:spPr>
          <a:xfrm rot="0" flipH="false" flipV="false">
            <a:off x="8903970" y="3953510"/>
            <a:ext cx="1299210" cy="1308735"/>
          </a:xfrm>
          <a:prstGeom prst="rect">
            <a:avLst/>
          </a:prstGeom>
          <a:ln w="12700">
            <a:noFill/>
            <a:prstDash val="solid"/>
          </a:ln>
        </p:spPr>
      </p:pic>
    </p:spTree>
  </p:cSld>
  <p:clrMapOvr>
    <a:masterClrMapping/>
  </p:clrMapOvr>
  <p:transition main:dur="1000">
    <p:fade thruBlk="false"/>
  </p:transition>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ph idx="27" type="pic" sz="quarter"/>
          </p:nvPr>
        </p:nvPicPr>
        <p:blipFill>
          <a:blip r:embed="rId2"/>
          <a:srcRect l="2306" r="2305" t="0" b="0"/>
          <a:stretch>
            <a:fillRect/>
          </a:stretch>
        </p:blipFill>
        <p:spPr>
          <a:xfrm rot="0" flipH="false" flipV="false">
            <a:off x="0" y="1"/>
            <a:ext cx="12192000" cy="6858000"/>
          </a:xfrm>
          <a:prstGeom prst="rect">
            <a:avLst/>
          </a:prstGeom>
        </p:spPr>
      </p:pic>
      <p:sp>
        <p:nvSpPr>
          <p:cNvPr name="AutoShape 3" id="3"/>
          <p:cNvSpPr/>
          <p:nvPr>
            <p:ph idx="28" type="body" sz="quarter" hasCustomPrompt="true"/>
          </p:nvPr>
        </p:nvSpPr>
        <p:spPr>
          <a:xfrm rot="0" flipH="false" flipV="false">
            <a:off x="6069661" y="2424583"/>
            <a:ext cx="4670511" cy="2664541"/>
          </a:xfrm>
          <a:prstGeom prst="rect">
            <a:avLst/>
          </a:prstGeom>
        </p:spPr>
        <p:txBody>
          <a:bodyPr anchor="ctr" wrap="square" lIns="91440" rIns="91440" tIns="45720" bIns="45720">
            <a:noAutofit/>
          </a:bodyPr>
          <a:lstStyle>
            <a:lvl1pPr algn="ctr">
              <a:lnSpc>
                <a:spcPct val="91666"/>
              </a:lnSpc>
              <a:defRPr sz="4400" b="false" i="false" u="none" strike="noStrike" spc="0">
                <a:solidFill>
                  <a:srgbClr val="44546A">
                    <a:alpha val="100000"/>
                  </a:srgbClr>
                </a:solidFill>
                <a:latin typeface="微软雅黑"/>
              </a:defRPr>
            </a:lvl1pPr>
          </a:lstStyle>
          <a:p>
            <a:pPr algn="ctr" indent="0">
              <a:lnSpc>
                <a:spcPct val="91666"/>
              </a:lnSpc>
            </a:pPr>
            <a:r>
              <a:rPr lang="en-US" b="false" i="false" strike="noStrike" u="none" sz="4400">
                <a:solidFill>
                  <a:srgbClr val="44546A"/>
                </a:solidFill>
                <a:latin typeface="微软雅黑"/>
                <a:ea typeface="微软雅黑"/>
                <a:cs typeface="微软雅黑"/>
                <a:sym typeface="微软雅黑"/>
              </a:rPr>
              <a:t>感谢观看！</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3"/>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4"/>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母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