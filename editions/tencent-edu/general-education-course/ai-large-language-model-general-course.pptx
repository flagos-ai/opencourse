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573" userDrawn="1">
          <p15:clr>
            <a:srgbClr val="747775"/>
          </p15:clr>
        </p15:guide>
        <p15:guide id="2" pos="293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85" d="100"/>
          <a:sy n="85" d="100"/>
        </p:scale>
        <p:origin x="332" y="60"/>
      </p:cViewPr>
      <p:guideLst>
        <p:guide orient="horz" pos="1573"/>
        <p:guide pos="293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4" Type="http://schemas.openxmlformats.org/officeDocument/2006/relationships/tableStyles" Target="tableStyles.xml"/><Relationship Id="rId63" Type="http://schemas.openxmlformats.org/officeDocument/2006/relationships/viewProps" Target="viewProps.xml"/><Relationship Id="rId62" Type="http://schemas.openxmlformats.org/officeDocument/2006/relationships/presProps" Target="presProps.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This course focuses on AI large language models, aiming to explore their core principles and introduce local deployment methods based on FlagOS. The era of large language models has arrived; they are like librarians of a super library, storing and understanding human knowledge. Mastering the core principles of large language models enables us to understand how they achieve various powerful functions. Local deployment of large language models based on FlagOS can meet specific scenario requirements, improve usage efficiency and data security. Let us embark on this journey of exploring large language models together.</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Many of you may have used DeepSeek or ChatGPT. They can engage in conversation, writing, and Q&amp;A, with functions that seem powerful. In our daily work and life, we are accustomed to using them to get information and seek advice. But in reality, they are just AI that can "converse." This means they mostly provide suggestions at a passive response level, unable to actively execute tasks, and have certain limitations.</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At 2 AM in the office, employees face immense work pressure. At this moment, conversational AI assistants demonstrate powerful capabilities. An employee requests "Help me generate a complete report package, including PPT outline and data analysis," and within just 10 minutes, the AI completes the material generation. Moreover, it also drafts 6 email replies. This fully reflects the significant role of conversational AI in improving work efficiency, providing timely support when employees are exhausted late at night, enabling work to proceed efficiently.</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Conversational AI, while widely used, has clear limitations—it can only provide advice but cannot directly take action. Just like when we ask it how to write an email, it gives us ideas and methods, but cannot actually write and send the email for us.</a:t>
            </a:r>
            <a:br/>
            <a:r>
              <a:t>Action-oriented AI, however, represents a qualitative leap, capable of automatically executing tasks. From sending emails and booking meeting rooms to organizing data, action-oriented AI can complete all of these independently. This means we've shifted from merely asking AI for advice to letting AI directly carry out work, greatly improving efficiency and expanding the boundaries of AI applications.</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Intelligent agents represented by OpenClaw demonstrate the powerful capability of AI to autonomously execute tasks. When receiving the instruction to "research the latest AI industry trends, generate a report and send it to the team," it acts step by step. First, it searches for relevant materials, broadly finding information, then filters out key information to prepare for report generation. Next, it writes a complete report and performs data visualization analysis. Finally, it sends automatic email notifications to complete the task closed-loop.</a:t>
            </a:r>
            <a:br/>
            <a:r>
              <a:t>This shows that AI Agent is not just an AI that can chat - it can call tools to complete actual actions, achieving automatic task execution and opening a new era of AI moving from providing suggestions to autonomous action.</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Previously, we introduced conversational applications, such as DeepSeek and ChatGPT - conversational AI capable of writing reports, which belong to the application layer. Now we move to the advanced layer, focusing on AI Agents represented by OpenClaw - intelligent agents that can autonomously execute tasks like digital employees.</a:t>
            </a:r>
            <a:br/>
            <a:r>
              <a:t>Although conversational applications and AI Agents differ in functionality - one emphasizing dialogue and interaction, the other highlighting autonomous task execution - they both rely on the same "brain": the large model. The large model serves as a powerful central hub, providing core support for different types of AI applications.</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This course focuses on large models and consists of five main parts. First, we introduce "omnipotent" AI and the arrival of the large model era; then we explore the principles behind AI implementation, namely large model inference; next, we explain how to train an "omnipotent" AI; afterwards, we analyze the computing power behind large models and the open source AI system software stack FlagOS; finally, we conduct hands-on demonstrations. The appendix provides reference resources, and we conclude by thanking all contributors.</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Previously, we learned about AI application cases and related principles in dialogue and task execution. Now, we will enter a new chapter—"Omnipotent" AI: The Era of Large Models Has Arrived. Large models are like librarians in a super library. What charm and capabilities do they possess? Let us explore this together.</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To understand large models, imagine a super library that contains almost all the knowledge and information in human history. A large model is like the librarian of this library, who can not only remember all the content but also discern the connections and patterns within it.</a:t>
            </a:r>
            <a:br/>
            <a:br/>
            <a:r>
              <a:t>The parameter scale of a large model reaches 671 billion. These parameters are adjustable variables in the model, like the connection strength between neurons in the brain, and they determine the large model's ability to master and apply knowledge. The larger the parameter scale, the more precisely the large model can understand and process complex information, providing us with more accurate and valuable services.</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Generative AI is like an all-powerful magician with amazing capabilities. In the realm of text generation, it can create articles, code, poetry, emails, and more—whether it's rigorous academic papers or beautiful poetry, it can produce them effortlessly.</a:t>
            </a:r>
            <a:br/>
            <a:br/>
            <a:r>
              <a:t>In terms of image generation, painting, design, photography, and illustration are all within its reach, meeting various creative needs. For audio generation, music, voiceovers, sound effects, and speech can all be easily produced, adding unique auditory experiences to works. In the video generation domain, animation, short films, special effects, and editing can also be perfectly presented.</a:t>
            </a:r>
            <a:br/>
            <a:br/>
            <a:r>
              <a:t>This multimodal capability enables generative AI to simultaneously understand and generate text, images, audio, video, and other types of content, greatly expanding its application scope and value.</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The core principle of large models is like a prediction game, essentially "word chaining" — predicting the next most likely word. Taking "Artificial Intelligence is defined as" as an example, there are three candidate words: "computer", "a type of", and "by", with probabilities of 45%, 30%, and 25% respectively. "Computer" has the highest probability and is most likely to be the next word.</a:t>
            </a:r>
            <a:br/>
            <a:br/>
            <a:r>
              <a:t>This prediction method is called autoregressive generation, where each prediction is based on previously generated content to predict the next word. This principle may seem simple, but it gives large models powerful capabilities, enabling them to generate coherent and logical text, which is key to many applications like text generation.</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The impressive capability of large models lies not only in 'word chaining,' but more importantly in their ability to understand long-distance semantic associations. For example, in 'He raised a cat, and that cat silently accompanied him during his loneliest days and was really adorable,' the model can understand that the two 'cats' refer to the same entity, and can also associate 'adorable' with 'cat.' This demonstrates long-distance dependency understanding. This capability is achieved through the self-attention mechanism, which allows the model to automatically associate context words when processing each word, thus precisely grasping the semantics - like giving the model an eye that can see the whole picture.</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The Transformer architecture of large models is multi-layer stacked, with each layer extracting higher-level features based on the previous layer. At Layer 1, the model focuses on surface features such as part of speech and syntactic structure, which form the foundation for understanding text. By Layer 5, the model can understand short semantic units and begin to grasp local semantic information.</a:t>
            </a:r>
            <a:br/>
            <a:r>
              <a:t>When reaching Layer 10, the model achieves sentence understanding and masters complete semantics, marking an important milestone. By Layer 20, the model possesses abstract reasoning capabilities and can understand logic, emotion, and intent, enabling large models to handle complex tasks.</a:t>
            </a:r>
            <a:br/>
            <a:r>
              <a:t>This progressive layer-by-layer architecture allows large models to gradually deepen their understanding of language, much like how we acquire knowledge - from basics to depth - ultimately developing powerful semantic understanding and processing capabilities.</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Previously, we learned that large models possess powerful capabilities including text generation, multimodal abilities, conversational applications, and Agent workflows. So how do large models actually operate? In reality, the process of applying large models is essentially the process of large model inference. Next, we will use concrete examples to deeply analyze the workflow of large models and see how it progresses step by step from input information to output results.</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Previously, we learned about the text generation and multimodal capabilities of large models. Now we focus on the question 'How does AI actually do it?' to deeply explore the mysteries of large model inference. Large model inference is an important process of using large models to process information and generate results. Its implementation is like a precise computation. Next, we will gradually break down the large model inference process and unveil the mystery behind AI.</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The large model inference process can be summarized into four key steps. The first step is input processing, which essentially converts text into numbers. This serves as the foundation for all subsequent calculations, preparing the model to understand semantics.</a:t>
            </a:r>
            <a:br/>
            <a:br/>
            <a:r>
              <a:t>The second step is layer-by-layer computation, aimed at understanding semantics. The large model, through the multi-layer stacking of the Transformer architecture, progressively extracts abstract reasoning from surface-level features, continuously deepening its understanding of the input content.</a:t>
            </a:r>
            <a:br/>
            <a:br/>
            <a:r>
              <a:t>The third step is prediction, which involves calculating probabilities. Based on the already generated content, the large model predicts the most likely next word to appear. This embodies the core capability of "word concatenation."</a:t>
            </a:r>
            <a:br/>
            <a:br/>
            <a:r>
              <a:t>The fourth step is generation, using an iterative loop approach. The above steps are repeated continuously to generate new content until specific conditions are met. These four steps are interconnected, collectively forming the inference process of large models.</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The first step in large model inference is input processing, which converts text into numbers. This process consists of four key steps. First is tokenization, which splits text into tokens, like breaking sentences into meaningful small units. Next is embedding, mapping tokens to high-dimensional vectors to capture semantic, syntactic, and contextual features. Then comes positional encoding, providing the model with word order information to distinguish identical words at different positions. Finally, the final representation combines semantic features and positional information. Taking "What is AI?" as an example, after these four steps, the input is converted into a machine-readable numerical representation.</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In the first step of large model inference - input processing, tokenization is a crucial initial step. It splits sentences into Tokens and looks up the vocabulary to get Token IDs. As shown in the example "What is AI?", it is split into the Tokens "What", "is", "AI", "?", each corresponding to a unique numeric ID.</a:t>
            </a:r>
            <a:br/>
            <a:br/>
            <a:r>
              <a:t>The mainstream vocabulary size reaches over 100,000 Tokens, and each Token has a dedicated ID, ensuring that the large model can accurately identify and process text. A Token is the basic unit of text processing in large models, and tokenization is the process of splitting raw text into Token sequences.</a:t>
            </a:r>
            <a:br/>
            <a:br/>
            <a:r>
              <a:t>You can visit https://tiktokenizer.vercel.app/ to experience tokenization and intuitively see how text is split into tokens.</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During the input processing stage of large model inference, after tokenization is complete, the next step is vectorization. This step maps Tokens to high-dimensional vectors to capture semantic features.</a:t>
            </a:r>
            <a:br/>
            <a:r>
              <a:t>Different dimensions of the high-dimensional vector correspond to different features. Dimensions 1-512 represent semantic features, which quantify the inherent meaning of words; dimensions 513-1024 are syntactic features, reflecting the grammatical rules of words in sentences; dimensions 1025-4096 are contextual features, capturing the meaning of words in specific contexts.</a:t>
            </a:r>
            <a:br/>
            <a:r>
              <a:t>Through vectorization, the original Tokens are transformed into high-dimensional vectors with greater information-carrying capacity, laying the foundation for subsequent semantic understanding by the model.</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In the input processing stage of large model inference, positional encoding is a crucial step that provides word order information to the model, enabling it to distinguish identical words at different positions. Taking "What is AI?" and "Is What AI" as examples, the same words have different meanings due to different word orders, and positional encoding allows the model to recognize this difference. Specifically, positional encoding assigns a position vector to each word, which is added to the word vector to obtain the final vector. This enables the model to consider positional information during input processing, thereby understanding semantics more accurately. Positional encoding technology significantly enhances the model's ability to grasp text order and semantics.</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In the input processing stage of the large model inference workflow, after tokenization, vectorization, and positional encoding, we arrive at the critical final representation step. This step fuses the semantic features carried by word vectors with the sequential information contained in positional vectors, thereby forming the final vector. This fusion is significant - it gives the input information a complete representation, just like putting a 'complete coat' on the information, enabling the machine to better understand it. At this point, Step 1 input processing is successfully completed, with input converted to machine-understandable numerical representation, laying a solid foundation for subsequent layer-by-layer computation, prediction, and generation.</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After completing input processing, the model enters Step 2, the layer-by-layer computation stage, which aims to understand the semantics of the input. This stage mainly includes four aspects. Multi-angle understanding uses the Self-Attention mechanism to let each word attend to all other words, enabling comprehensive semantic understanding. Deep processing uses the feedforward network to perform independent nonlinear transformations on each word, extracting high-level semantics and abstracting surface forms into more meaningful representations. Progressive layering relies on multi-layer stacking, starting from surface features and progressively extracting higher-level features, ultimately achieving understanding of complete semantics and abstract reasoning. Cache acceleration uses KV caching to avoid redundant computations, significantly improving generation speed. Through multi-layer neural network computation, the model can progressively understand the input's semantics, grammar, and contextual relationships.</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During the model's layer-by-layer computation process, the multi-perspective understanding step is crucial. It leverages the Self-Attention mechanism to allow each word to "see" all other words. Taking "What is AI?" as an example, "What" can relate to "is" and "AI", "is" can attend to both "What" and "AI", and the same applies to "AI".</a:t>
            </a:r>
            <a:br/>
            <a:r>
              <a:t>The Self-Attention mechanism uses three core matrices—Q (Query), K (Key), and V (Value)—to compute attention weights and output. This mechanism enables the model to more comprehensively capture relationships between words, just as we consider the interactions of various words when understanding sentences. This multi-perspective understanding approach lays the foundation for subsequent deep processing and progressive layering in the model.</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In the AI layer-by-layer computation process, deep processing is a crucial step. This step uses a feed forward network to process input vectors, transforming the basic semantics contained in input features into high-level abstractions in output features.</a:t>
            </a:r>
            <a:br/>
            <a:br/>
            <a:r>
              <a:t>The feed forward network performs independent nonlinear transformations on each word to extract high-level semantics. For example, facing the surface form "What is AI", the model performs independent and deep processing, ultimately extracting the abstract representation "User is asking for the definition of a technical concept." This process achieves a leap from concrete to abstract, enabling the model to better understand the input content.</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In the layer-by-layer computation stage of the AI model processing flow, the "progressive layering" step is crucial. It extracts higher-level features progressively through multi-layer stacking.</a:t>
            </a:r>
            <a:br/>
            <a:r>
              <a:t>From Layer 1 to Layer 20, the model achieves a leap from surface features to abstract reasoning. At Layer 1, the model primarily identifies nouns and verbs, understanding parts of speech and grammar; by Layer 5, it begins to understand phrase relationships and comprehend phrases; at Layer 10, it can grasp the main idea of sentences and achieve sentence comprehension; by Layer 20, it can perform abstract reasoning, identifying logic, emotion, and intent, and inferring deeper meanings.</a:t>
            </a:r>
            <a:br/>
            <a:r>
              <a:t>The significance of multi-layer stacking lies in the fact that each layer further refines and abstracts based on the previous layer, enabling the model to have a deeper and more comprehensive understanding of the input content.</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During the model's layer-by-layer computation process, KV cache acceleration is a key component for improving efficiency. Without KV cache, generating each word requires re-computing the entire history, resulting in substantial redundant operations with 100% time consumption. With KV cache, the first word generation stores K and V in the cache, and subsequent word generations only need to read the cache and compute the new word, reducing time consumption to just 20%.</a:t>
            </a:r>
            <a:br/>
            <a:br/>
            <a:r>
              <a:t>KV cache significantly increases generation speed by avoiding redundant calculations, making model execution more efficient. It's like equipping the model with a memory assistant that can quickly retrieve past information, avoiding unnecessary repetitive work and thereby improving overall operational efficiency.</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After completing the layer-by-layer calculation, the model enters the prediction phase, which requires calculating probabilities. Prediction involves two aspects: word selection strategy, which employs chain-of-thought reasoning; and technical implementation, which utilizes probability sampling. Based on the semantic features extracted from previous steps, the model calculates the probability distribution for each candidate word. Chain-of-thought reasoning enables the model to generate intermediate reasoning steps before providing the final answer, improving accuracy for complex questions. For technical implementation, Softmax converts scores to probabilities, and Top-k/p Sampling controls generation diversity, ultimately selecting an appropriate word.</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In the word selection strategy phase of large model prediction, the Chain of Thought (CoT) method plays an important role. It enables the model to generate intermediate reasoning steps before providing the final answer. Taking 'What is AI? Let's think step by step' as an example, the model first clarifies that AI stands for Artificial Intelligence, then points out that it refers to machines simulating human intelligence, including learning, reasoning, and problem-solving, and finally concludes that AI is the simulation of human intelligence in machines. Compared to regular responses, CoT responses can more clearly demonstrate the thinking process, improving the model's accuracy in handling complex problems. This approach of step-by-step reasoning before reaching conclusions makes the model's responses more logical and persuasive.</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In the prediction phase of the large model workflow, technical implementation involves candidate word probability distribution. Here are several candidate words and their probabilities: 'AI' accounts for 45%, 'Artificial' for 30%, 'a' for 15%, and 'an' for 10%. The Softmax function is used to convert scores to probabilities.</a:t>
            </a:r>
            <a:br/>
            <a:r>
              <a:t>Meanwhile, to control generation diversity, the Top-k/p Sampling strategy is adopted. These two complement each other: the Softmax function provides the probability foundation for subsequent sampling, while Top-k/p Sampling filters among numerous candidate words to ensure that the generated content both follows the probability distribution and exhibits diversity.</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In the large model workflow, the generation phase uses autoregressive generation, where the next word is predicted iteratively based on already generated content. Taking the question "What is AI?" as an example, the first prediction result is "Artificial", then "Artificial" is added to the input for the second prediction, yielding the result "Intelligence".</a:t>
            </a:r>
            <a:br/>
            <a:r>
              <a:t>This continuous prediction process is like building a knowledge tower, where each newly generated word is a brick that progressively constructs a complete answer. The model continues to loop until a complete and accurate answer is generated, finally outputting complete content such as "Artificial Intelligence is..."</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Let's summarize the workflow of large language models. Taking "What is AI?" as an example, the first step is input processing: tokenizing the input text, converting it to vectors, and applying positional encoding—just like assigning each word its proper position for subsequent processing. Next comes the layer-wise computation stage, where the input information undergoes multi-perspective understanding, deep processing, and multi-layer stacking, enabling the model to gain a deeper understanding of the information. Finally, in the prediction stage, chain-of-thought reasoning is applied, the probability of each candidate word is calculated, and a suitable word is selected through sampling. After these steps, the model outputs a response like "Artificial Intelligence is..."</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Through AI applications, we have come to know AI's capabilities, and from large model workflows, we have learned that behind AI's powerful abilities lies the large model's reasoning capability. So, where exactly does the large model's powerful reasoning capability originate? This is a question worth exploring in depth. Investigating its source helps us further understand the operational mechanisms of large models, uncover more of their potential, and provide stronger theoretical support and practical guidance for AI development and applications.</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Previously, we understood the workflow and reasoning capabilities of large models. So how can we make AI "omnipotent"? This involves large model training. Large model training is a key part of enhancing AI capabilities - it's like training interns, requiring gradual learning and growth. Next, let's look at the main process of large model training together.</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The main process of large model training can be compared to developing an intern, going through 6 stages: data collection, vocabulary construction, architecture design, pre-training, supervised fine-tuning, and adjustment based on feedback. Pre-training, supervised fine-tuning, and adjustment based on feedback are the main stages of training. In the pre-training stage, the model learns general knowledge like an intern, learning general language representations on large-scale data, laying the foundation for subsequent development. The SFT stage, or supervised fine-tuning, is like specialized training for an intern, allowing the model to focus on specific tasks and domains, improving its performance in specific scenarios. The RLHF stage introduces human feedback, just like adjusting an intern working style based on actual work feedback, enabling the model to continuously optimize to better meet human needs and expectations. These three stages are interconnected, working together to enable large models to possess powerful capabilities.</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The first step in training large models is data collection, which serves as the foundation of the entire training process. The training data scale reaches trillions of tokens, providing rich materials for model learning.</a:t>
            </a:r>
            <a:br/>
            <a:br/>
            <a:r>
              <a:t>The data types cover web pages, books, papers, code, and other text formats. Web page data has real-time nature and diversity, allowing the model to access current popular information; books contain systematic knowledge systems; papers represent professional research achievements; code reflects specific logic and rules. Multiple types of data complement each other, enabling the model to learn comprehensive and complex language patterns and knowledge.</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The second step in training a large language model is building the vocabulary, which is a fundamental and critical task. The vocabulary is like a dictionary for the large language model, containing all tokens the model can recognize along with their corresponding IDs. When building the vocabulary, token statistics are first gathered to count the occurrence frequency of various words, then the words are sorted by frequency, and finally each word is assigned a unique ID.</a:t>
            </a:r>
            <a:br/>
            <a:r>
              <a:t>This vocabulary is massive, containing over 100K tokens, covering common words like "the," "is," and "AI," as well as specialized terms like "learn" and "intelligent." With this vocabulary, the large language model can convert input text into numerical IDs that computers can understand, laying a solid foundation for subsequent training and computation.</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The third step in large model training is architecture design, which primarily involves Transformer and MoE. Transformer, as the core architecture, has become the standard configuration for today's large language models. With its Self-Attention mechanism, it can precisely capture relationships between words in text; the multi-layer stacking design enhances the model's representational capacity; and its parallel computation capability significantly accelerates training speed.</a:t>
            </a:r>
            <a:br/>
            <a:r>
              <a:t>MoE is an optional Mixture of Experts system that serves as a conditional computation architecture, activating only a portion of parameters. This approach effectively improves computational efficiency and supports the construction of larger-scale models. In summary, Transformer establishes the foundational capabilities of large models, while MoE provides assistance for performance enhancement and scale expansion when needed.</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The fourth step in training large models is pre-training, and its core task is to predict masked words. For example, given "AI is [MASK] of computer science", the model must infer the most suitable word-here, "a" has a probability as high as 85%. Pre-training requires trillion-level Tokens of training data, covering various text types such as web pages and books. Training at such a massive scale is costly, requiring millions of dollars and relying on GPU/TPU computing power to complete. Pre-training is conducted on large-scale unlabeled data. Its purpose is to enable the model to learn general language representations, much like an intern learning general knowledge, laying the foundation for subsequent specialized training and fine-tuning.</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The fifth step in large model training is supervised fine-tuning, which is important for making model responses more aligned with human expectations. As shown in the example, before fine-tuning, the AI's response is too academic - when a user says "Hello", it merely explains that "Hello" is a common greeting. After fine-tuning, the response becomes friendly and natural, such as "Hello! Nice to meet you. How can I help you?"</a:t>
            </a:r>
            <a:br/>
            <a:br/>
            <a:r>
              <a:t>Supervised fine-tuning uses high-quality instruction-response data pairs to fine-tune the model, aligning it with human intentions. This is like giving the model a "navigation" so that when responding, it can move in the direction humans expect, thereby better meeting user needs.</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In the sixth step of large model training, RLHF (Reinforcement Learning from Human Feedback), the purpose is to make the model generate content that better aligns with human preferences. Taking writing a spring poem as an example, a poetic verse like "The spring breeze brushes my face, willow branches sway, Peach blossoms in the sun fill the garden with fragrance" receives a high score, while a simple expression like "Spring is here, flowers have bloomed" receives a low score. The reward model learns human preferences to optimize the objective, enabling the model to generate responses that are helpful, honest, and harmless, so that the model's content better meets human needs and truly aligns with human preferences.</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Developing the model chain-of-thought capability essentially means teaching it to reason step-by-step. The specific steps include understanding the problem, analyzing steps, solving step-by-step, and verifying the answer. Understanding the problem requires precisely grasping the problem requirements and given conditions, which forms the foundation of reasoning. Analyzing steps involves breaking down complex problems into sub-problems to reduce reasoning difficulty. Solving step-by-step addresses each sub-problem sequentially to advance the reasoning process. Finally, verifying the answer ensures the correctness of the result. During the development process, the pre-training stage uses large-scale reasoning text data to help the model initially become familiar with reasoning patterns. The fine-tuning stage employs step-by-step annotated data to further strengthen its step-by-step reasoning capability. Through these two training stages, the model can better master step-by-step reasoning methods and enhance its chain-of-thought capability.</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This course focuses on large models, covering AI applications, large model capabilities, inference processes, and training processes. The large model applications we see are like the part above the iceberg—the visible portion. The computing infrastructure supporting large models is like the part below the iceberg—though not directly visible, it plays a crucial role.</a:t>
            </a:r>
            <a:br/>
            <a:r>
              <a:t>So, what exactly is supporting large models? This is a question we need to think deeply about. Computing infrastructure is the cornerstone of large model operation, providing powerful computational capabilities for model training and inference. Only by deeply understanding the supporting factors behind it can we better promote the development and application of large models.</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Previously, we learned about the training process of large models and the development of chain-of-thought capabilities, understanding the powerful functions of large models. Next, we will focus on the computing power behind large models. The open source AI system software stack FlagOS being introduced here is the key enabler for large model operation. So, what is the ecosystem positioning and role of FlagOS? Let us explore further.</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FlagOS holds an important position in the ecosystem, with its architecture consisting of three parts: ecosystem enablement, core libraries, and tools. The ecosystem enablement includes Megatron-EL, vLLM-plugin-FL, and TransformerEngine-FL, which provide foundational support for the FlagOS ecosystem's operation.</a:t>
            </a:r>
            <a:br/>
            <a:br/>
            <a:r>
              <a:t>The core libraries are the key components of FlagOS. FlagGems, as a high-performance general-purpose AI operator library, can efficiently handle AI computing tasks; FlagTree, a unified AI compiler, can overcome chip "dialect" barriers; FlagScale, a unified parallel training and inference framework, improves training and inference efficiency; FlagCX, a unified communication library, ensures efficient communication within the system.</a:t>
            </a:r>
            <a:br/>
            <a:br/>
            <a:r>
              <a:t>The tools section is also significant. KernelGen is an AI-powered operator development tool that accelerates operator development; FlagRelease is a large model release platform that facilitates model distribution; FlagPerf, as an AI hardware evaluation engine, can precisely evaluate hardware performance.</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Now we enter the hands-on session to explore how to run large models locally on Huawei NPU based on FlagOS, using Qwen3-4B as an example. This hands-on exercise is significant: on one hand, it allows us to more intuitively experience the operational mechanism of large models; on the other hand, we can experience the advantages of FlagOS when running large models locally.</a:t>
            </a:r>
            <a:br/>
            <a:r>
              <a:t>Huawei NPU provides powerful computing support for large model execution, while Qwen3-4B is an outstanding model in the large model field. By combining the two and leveraging FlagOS capabilities, we can achieve efficient and stable local large model execution, laying the foundation for subsequent application development and research.</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This hands-on deployment creates a chatbot via FlagOS, consisting of six steps. First, perform environment check and model installation to ensure data security; then install the FlagGems operator library for computation and FlagTree compiler to unify chip languages; next, install the vLLM plugin to connect all components; after that, configure and start the inference service, and finally perform client configuration and chat. Each step is interconnected.</a:t>
            </a:r>
            <a:endPar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During the practical deployment of creating a chatbot through FlagOS, we encountered a situation where importing content is not supported, but this is also a common challenge in technical practice. This reminds us that practical implementation is not always smooth sailing and we may face various unknown issues. However, this is exactly where the charm of technical exploration lies—every obstacle is a key node on the path to success. We need to remain patient, actively solve problems, and ensure the subsequent steps of building the chatbot proceed smoothly.</a:t>
            </a:r>
            <a:endPar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The first step in creating a conversational AI is environment check and model download. First check the NPU status using the 'npu-smi info' command. If both Ascend cards show normal status, with temperature and power consumption within safe limits, NPU version compatible, and chip health OK, you have a solid hardware foundation. Meanwhile, downloading open-source model weights instead of using API calls ensures data stays completely local, adding a layer of data security without privacy concerns. Then use 'pip install modelscope' to install the tool, and 'modelscope download --model Qwen/Qwen3-4B --local_dir ./Qwen3-4B' to download the Qwen3-4B model to the root directory, preparing for subsequent operations.</a:t>
            </a:r>
            <a:endPar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In the hands-on practice of running large models locally based on FlagOS, the second step is to install the FlagGems high-performance operator library. This step consists of four key stages. First, install dependencies via the build toolchain, using the command 'pip install -U scikit-build-core==0.11 pybind11 ninja cmake'. Next, clone the repository to get the source code from 'https://github.com/flagos-ai/FlagGems'. Then, install the package in development mode using 'pip install --no-build-isolation -e .'. Finally, verify the installation by running tests with 'pytest test_unary_pointwise_ops.py' to enable FlagGems operators. If operators pass, use 'pip show flag_gems' to confirm FlagGems is running correctly. This process requires zero code changes and enables automatically.</a:t>
            </a:r>
            <a:endPar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Next, proceed with the FlagTree cross-chip unified compiler installation. Download from the FlagOS official resource repository using specific commands. This compiler is pre-compiled for Huawei Ascend 3.2. Specifically, first set the resource address variable RES, then install using python3 -m pip install flagtree==0.4.0+ascend3.2 $RES. After installation, verify by using the pip show flagtree command to confirm the version number and installation path are correct. This step is critical as it ensures the compiler is properly installed and ready for subsequent use, laying the foundation for creating chatbots.</a:t>
            </a:r>
            <a:endPar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In the practical deployment of creating a conversational bot through FlagOS, Step 4 is to install the vLLM-Plugin-FL cross-chip unified plugin. This step is crucial as it enables the tight integration of the "brain", FlagOS, and computing hardware. The specific operation consists of three steps. First, clone the plugin repository using the command "git clone https://github.com/flagos-ai/vllm-plugin-FL" to obtain the required plugin code. Second, execute "pip install -r requirements.txt" to install dependencies and prepare the environment for the plugin to run. Third, use "pip install --no-build-isolation -e ." to install the plugin. After completing these three steps, the plugin will work properly, laying the foundation for the smooth operation of subsequent inference services.</a:t>
            </a:r>
            <a:endPar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Configuring and starting the inference service is a crucial step, where environment variable configuration involves two key variables. The first variable "export VLLM_PLUGINS=fl" tells vLLM to use the FlagOS backend plugin, laying the foundation for service operation. The second variable "export TRITON_ALL_BLOCKS_PARALLEL=1" enables Triton parallel optimization, significantly improving inference speed.</a:t>
            </a:r>
            <a:br/>
            <a:r>
              <a:t>After starting the inference service, if "Platform plugin fl is activated" is displayed, it indicates successful startup. At this point, the service status is running, and the listening address is 127.0.0.1:30000, meaning the Huawei NPU has successfully transformed into an AI inference server. When the inference service starts, it also automatically launches FlagGems operators, which can be queried using "cat /tmp/flaggems_enable_oplist.txt" to view the activated operators.</a:t>
            </a:r>
            <a:endPar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After completing the previous installation and configuration steps, we arrive at Step 6—Client Configuration and Conversation. This step requires configuring the model address and name. Run "vllm serve --model /root/Qwen3-4B --served-model-name qwen --enforce-eager --port 30000" to specify the model weights path, service name, disable CUDA Graph for NPU compatibility, and the service port. Additionally, set Base URL to Service URL/v1 and Chat Model Name to qwen. These configurations enable the client to establish a valid connection with the model and initiate smooth conversations, laying the foundation for subsequent interactions with the model.</a:t>
            </a:r>
            <a:endPar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Earlier, we completed environment checks, model downloads, installation of relevant libraries and plugins, and the configuration and startup of the inference service. Now we come to Step 6 – Client Configuration and Dialogue. This step is crucial as it allows us to actually experience interacting with the model. After configuring the client, we can start a dialogue with the model – let us wait and see what interesting interactions we will have.</a:t>
            </a:r>
            <a:endPar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t>FlagOS is designed for various AI chips as a unified, open-source system software stack that makes domestic computing power usable, easy to use, and powerful, laying the foundation for autonomous and controllable AI infrastructure in China. Its core values are significant:</a:t>
            </a:r>
            <a:br/>
            <a:r>
              <a:t>First, autonomous controllability: breaking free from dependency on APIs and ecosystems, with local data deployment ensuring data security.</a:t>
            </a:r>
            <a:br/>
            <a:r>
              <a:t>Second, improved development efficiency: no need to rewrite operators for NPUs, one codebase running across platforms, reducing development costs.</a:t>
            </a:r>
            <a:br/>
            <a:r>
              <a:t>Third, performance assurance: Triton language delivers performance close to hand-written CUDA while maintaining code readability and maintainability.</a:t>
            </a:r>
            <a:br/>
            <a:r>
              <a:t>Fourth, future extensibility: the same code can run on more domestic chips, with the community ecosystem continuing to expand.</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To help everyone learn and research more effectively, here is a collection of reference resources and tools. The interactive Transformer architecture resources allow you to gain a deeper understanding of the principles and mechanisms of the Transformer architecture through hands-on interaction. The large model architecture visualization tool intuitively displays complex large model architectures, making them easier to understand. The animated Attention mechanism demonstration presents the Attention mechanism through vivid animations, transforming abstract concepts into something easy to grasp. The word embedding visualization tool helps you intuitively see the distribution and relationships of word embeddings. The FlagOS documentation is essential material for understanding the FlagOS system software stack. There is also a tool to experience how text is tokenized, allowing you to personally experience the text processing workflow. Making good use of these resources and tools can improve the efficiency of your learning and research.</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Dear friends, today we have gained a deep understanding of the installation process of the FlagOS system software stack and the core value it brings. From environment checks and model downloads to client configuration and dialogue, every step demonstrates FlagOS's powerful capabilities and broad prospects. It brings advantages such as autonomy and controllability, efficient development, performance assurance, and future scalability to the development of domestic computing power, making domestic computing power truly usable, easy to use, and effective.</a:t>
            </a:r>
            <a:br/>
            <a:br/>
            <a:r>
              <a:t>Here, I would like to extend special thanks to Cao Zhou, Teng Qiming, Wang Yunbo, and others who supported this course. It is through their efforts that we have the opportunity to deeply learn about FlagOS. At the same time, I hope everyone will take action and actively try using FlagOS to jointly promote the autonomous and controllable development of China's AI infrastructure.</a:t>
            </a:r>
            <a:br/>
            <a:br/>
            <a:r>
              <a:t>Looking ahead, we have every reason to believe that FlagOS will play an even greater role in the domestic chip field and contribute to the rise of China's AI industry. Let us work together to meet the challenges and opportunities of the AI era!</a:t>
            </a:r>
            <a:br/>
            <a:br/>
            <a:r>
              <a:t>Thank you all for your attention!</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DEFAULT">
    <p:bg>
      <p:bgPr>
        <a:solidFill>
          <a:srgbClr val="FFFFFF">
            <a:alpha val="100000"/>
          </a:srgbClr>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PPTIST_MASTER">
    <p:bg>
      <p:bgPr>
        <a:solidFill>
          <a:srgbClr val="FFFFFF">
            <a:alpha val="100000"/>
          </a:srgbClr>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image" Target="../media/image1.png"/><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ltLang="zh-CN"/>
            </a:fld>
            <a:endParaRPr lang="zh-CN"/>
          </a:p>
        </p:txBody>
      </p:sp>
      <p:pic>
        <p:nvPicPr>
          <p:cNvPr id="2" name="Picture 1"/>
          <p:cNvPicPr>
            <a:picLocks noChangeAspect="1"/>
          </p:cNvPicPr>
          <p:nvPr/>
        </p:nvPicPr>
        <p:blipFill>
          <a:blip r:embed="rId12"/>
          <a:stretch>
            <a:fillRect/>
          </a:stretch>
        </p:blipFill>
        <p:spPr>
          <a:xfrm>
            <a:off x="9017000" y="5029200"/>
            <a:ext cx="2286000" cy="1371600"/>
          </a:xfrm>
          <a:prstGeom prst="rect">
            <a:avLst/>
          </a:prstGeom>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9017000" y="5029200"/>
            <a:ext cx="2286000" cy="1371600"/>
          </a:xfrm>
          <a:prstGeom prst="rect">
            <a:avLst/>
          </a:prstGeom>
        </p:spPr>
      </p:pic>
    </p:spTree>
  </p:cSld>
  <p:clrMap bg1="lt1" tx1="dk1" bg2="dk2" tx2="lt2" accent1="accent1" accent2="accent2" accent3="accent3" accent4="accent4" accent5="accent5" accent6="accent6" hlink="hlink" folHlink="folHlink"/>
  <p:sldLayoutIdLst>
    <p:sldLayoutId id="2147483661" r:id="rId1"/>
    <p:sldLayoutId id="2147483662"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image" Target="../media/image9.png"/><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1" Type="http://schemas.openxmlformats.org/officeDocument/2006/relationships/notesSlide" Target="../notesSlides/notesSlide2.xml"/><Relationship Id="rId10" Type="http://schemas.openxmlformats.org/officeDocument/2006/relationships/slideLayout" Target="../slideLayouts/slideLayout1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11.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8" Type="http://schemas.openxmlformats.org/officeDocument/2006/relationships/notesSlide" Target="../notesSlides/notesSlide34.xml"/><Relationship Id="rId37" Type="http://schemas.openxmlformats.org/officeDocument/2006/relationships/slideLayout" Target="../slideLayouts/slideLayout12.xml"/><Relationship Id="rId36" Type="http://schemas.openxmlformats.org/officeDocument/2006/relationships/image" Target="../media/image14.png"/><Relationship Id="rId35" Type="http://schemas.openxmlformats.org/officeDocument/2006/relationships/tags" Target="../tags/tag33.xml"/><Relationship Id="rId34" Type="http://schemas.openxmlformats.org/officeDocument/2006/relationships/image" Target="../media/image13.png"/><Relationship Id="rId33" Type="http://schemas.openxmlformats.org/officeDocument/2006/relationships/tags" Target="../tags/tag32.xml"/><Relationship Id="rId32" Type="http://schemas.openxmlformats.org/officeDocument/2006/relationships/tags" Target="../tags/tag31.xml"/><Relationship Id="rId31" Type="http://schemas.openxmlformats.org/officeDocument/2006/relationships/tags" Target="../tags/tag30.xml"/><Relationship Id="rId30" Type="http://schemas.openxmlformats.org/officeDocument/2006/relationships/tags" Target="../tags/tag29.xml"/><Relationship Id="rId3" Type="http://schemas.openxmlformats.org/officeDocument/2006/relationships/tags" Target="../tags/tag3.xml"/><Relationship Id="rId29" Type="http://schemas.openxmlformats.org/officeDocument/2006/relationships/tags" Target="../tags/tag28.xml"/><Relationship Id="rId28" Type="http://schemas.openxmlformats.org/officeDocument/2006/relationships/tags" Target="../tags/tag27.xml"/><Relationship Id="rId27" Type="http://schemas.openxmlformats.org/officeDocument/2006/relationships/tags" Target="../tags/tag26.xml"/><Relationship Id="rId26" Type="http://schemas.openxmlformats.org/officeDocument/2006/relationships/tags" Target="../tags/tag25.xml"/><Relationship Id="rId25" Type="http://schemas.openxmlformats.org/officeDocument/2006/relationships/tags" Target="../tags/tag24.xml"/><Relationship Id="rId24" Type="http://schemas.openxmlformats.org/officeDocument/2006/relationships/tags" Target="../tags/tag23.xml"/><Relationship Id="rId23" Type="http://schemas.openxmlformats.org/officeDocument/2006/relationships/tags" Target="../tags/tag22.xml"/><Relationship Id="rId22" Type="http://schemas.openxmlformats.org/officeDocument/2006/relationships/tags" Target="../tags/tag21.xml"/><Relationship Id="rId21" Type="http://schemas.openxmlformats.org/officeDocument/2006/relationships/tags" Target="../tags/tag20.xml"/><Relationship Id="rId20" Type="http://schemas.openxmlformats.org/officeDocument/2006/relationships/tags" Target="../tags/tag19.xml"/><Relationship Id="rId2" Type="http://schemas.openxmlformats.org/officeDocument/2006/relationships/tags" Target="../tags/tag2.xml"/><Relationship Id="rId19" Type="http://schemas.openxmlformats.org/officeDocument/2006/relationships/tags" Target="../tags/tag18.xml"/><Relationship Id="rId18" Type="http://schemas.openxmlformats.org/officeDocument/2006/relationships/image" Target="../media/image12.png"/><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9" Type="http://schemas.openxmlformats.org/officeDocument/2006/relationships/tags" Target="../tags/tag42.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tags" Target="../tags/tag36.xml"/><Relationship Id="rId20" Type="http://schemas.openxmlformats.org/officeDocument/2006/relationships/notesSlide" Target="../notesSlides/notesSlide39.xml"/><Relationship Id="rId2" Type="http://schemas.openxmlformats.org/officeDocument/2006/relationships/tags" Target="../tags/tag35.xml"/><Relationship Id="rId19" Type="http://schemas.openxmlformats.org/officeDocument/2006/relationships/slideLayout" Target="../slideLayouts/slideLayout12.xml"/><Relationship Id="rId18" Type="http://schemas.openxmlformats.org/officeDocument/2006/relationships/tags" Target="../tags/tag51.xml"/><Relationship Id="rId17" Type="http://schemas.openxmlformats.org/officeDocument/2006/relationships/tags" Target="../tags/tag50.xml"/><Relationship Id="rId16" Type="http://schemas.openxmlformats.org/officeDocument/2006/relationships/tags" Target="../tags/tag49.xml"/><Relationship Id="rId15" Type="http://schemas.openxmlformats.org/officeDocument/2006/relationships/tags" Target="../tags/tag48.xml"/><Relationship Id="rId14" Type="http://schemas.openxmlformats.org/officeDocument/2006/relationships/tags" Target="../tags/tag47.xml"/><Relationship Id="rId13" Type="http://schemas.openxmlformats.org/officeDocument/2006/relationships/tags" Target="../tags/tag46.xml"/><Relationship Id="rId12" Type="http://schemas.openxmlformats.org/officeDocument/2006/relationships/tags" Target="../tags/tag45.xml"/><Relationship Id="rId11" Type="http://schemas.openxmlformats.org/officeDocument/2006/relationships/tags" Target="../tags/tag44.xml"/><Relationship Id="rId10" Type="http://schemas.openxmlformats.org/officeDocument/2006/relationships/tags" Target="../tags/tag43.xml"/><Relationship Id="rId1" Type="http://schemas.openxmlformats.org/officeDocument/2006/relationships/tags" Target="../tags/tag3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9" Type="http://schemas.openxmlformats.org/officeDocument/2006/relationships/tags" Target="../tags/tag60.xml"/><Relationship Id="rId8" Type="http://schemas.openxmlformats.org/officeDocument/2006/relationships/tags" Target="../tags/tag59.xml"/><Relationship Id="rId7" Type="http://schemas.openxmlformats.org/officeDocument/2006/relationships/tags" Target="../tags/tag58.xml"/><Relationship Id="rId6" Type="http://schemas.openxmlformats.org/officeDocument/2006/relationships/tags" Target="../tags/tag57.xml"/><Relationship Id="rId5" Type="http://schemas.openxmlformats.org/officeDocument/2006/relationships/tags" Target="../tags/tag56.xml"/><Relationship Id="rId4" Type="http://schemas.openxmlformats.org/officeDocument/2006/relationships/tags" Target="../tags/tag55.xml"/><Relationship Id="rId3" Type="http://schemas.openxmlformats.org/officeDocument/2006/relationships/tags" Target="../tags/tag54.xml"/><Relationship Id="rId2" Type="http://schemas.openxmlformats.org/officeDocument/2006/relationships/tags" Target="../tags/tag53.xml"/><Relationship Id="rId14" Type="http://schemas.openxmlformats.org/officeDocument/2006/relationships/notesSlide" Target="../notesSlides/notesSlide41.xml"/><Relationship Id="rId13" Type="http://schemas.openxmlformats.org/officeDocument/2006/relationships/slideLayout" Target="../slideLayouts/slideLayout12.xml"/><Relationship Id="rId12" Type="http://schemas.openxmlformats.org/officeDocument/2006/relationships/tags" Target="../tags/tag63.xml"/><Relationship Id="rId11" Type="http://schemas.openxmlformats.org/officeDocument/2006/relationships/tags" Target="../tags/tag62.xml"/><Relationship Id="rId10" Type="http://schemas.openxmlformats.org/officeDocument/2006/relationships/tags" Target="../tags/tag61.xml"/><Relationship Id="rId1" Type="http://schemas.openxmlformats.org/officeDocument/2006/relationships/tags" Target="../tags/tag5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2.xml"/><Relationship Id="rId1" Type="http://schemas.openxmlformats.org/officeDocument/2006/relationships/image" Target="../media/image15.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6" Type="http://schemas.openxmlformats.org/officeDocument/2006/relationships/notesSlide" Target="../notesSlides/notesSlide47.xml"/><Relationship Id="rId5" Type="http://schemas.openxmlformats.org/officeDocument/2006/relationships/vmlDrawing" Target="../drawings/vmlDrawing1.vml"/><Relationship Id="rId4" Type="http://schemas.openxmlformats.org/officeDocument/2006/relationships/slideLayout" Target="../slideLayouts/slideLayout12.xml"/><Relationship Id="rId3" Type="http://schemas.openxmlformats.org/officeDocument/2006/relationships/image" Target="../media/image17.emf"/><Relationship Id="rId2" Type="http://schemas.openxmlformats.org/officeDocument/2006/relationships/oleObject" Target="../embeddings/oleObject1.bin"/><Relationship Id="rId1" Type="http://schemas.openxmlformats.org/officeDocument/2006/relationships/image" Target="../media/image16.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2.xml"/><Relationship Id="rId1" Type="http://schemas.openxmlformats.org/officeDocument/2006/relationships/image" Target="../media/image18.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2.xml"/><Relationship Id="rId1" Type="http://schemas.openxmlformats.org/officeDocument/2006/relationships/image" Target="../media/image19.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2.xml"/><Relationship Id="rId1" Type="http://schemas.openxmlformats.org/officeDocument/2006/relationships/image" Target="../media/image20.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4" Type="http://schemas.openxmlformats.org/officeDocument/2006/relationships/notesSlide" Target="../notesSlides/notesSlide53.xml"/><Relationship Id="rId3" Type="http://schemas.openxmlformats.org/officeDocument/2006/relationships/slideLayout" Target="../slideLayouts/slideLayout12.xml"/><Relationship Id="rId2" Type="http://schemas.openxmlformats.org/officeDocument/2006/relationships/image" Target="../media/image22.png"/><Relationship Id="rId1" Type="http://schemas.openxmlformats.org/officeDocument/2006/relationships/image" Target="../media/image21.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2.xml"/><Relationship Id="rId1" Type="http://schemas.openxmlformats.org/officeDocument/2006/relationships/image" Target="../media/image23.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5B92E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52220" y="2286000"/>
            <a:ext cx="9773920" cy="9144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4800" b="1" i="0" u="none" strike="noStrike">
                <a:solidFill>
                  <a:srgbClr val="FFFFFF"/>
                </a:solidFill>
                <a:latin typeface="Alimama ShuHeiTi"/>
                <a:ea typeface="Alimama ShuHeiTi"/>
                <a:cs typeface="Alimama ShuHeiTi"/>
                <a:sym typeface="Alimama ShuHeiTi"/>
              </a:rPr>
              <a:t>AI Large Language Model General Course</a:t>
            </a:r>
            <a:endParaRPr lang="en-US" sz="4800" b="1" i="0" u="none" strike="noStrike">
              <a:solidFill>
                <a:srgbClr val="FFFFFF"/>
              </a:solidFill>
              <a:latin typeface="Alimama ShuHeiTi"/>
              <a:ea typeface="Alimama ShuHeiTi"/>
              <a:cs typeface="Alimama ShuHeiTi"/>
              <a:sym typeface="Alimama ShuHeiTi"/>
            </a:endParaRPr>
          </a:p>
        </p:txBody>
      </p:sp>
      <p:sp>
        <p:nvSpPr>
          <p:cNvPr id="3" name="AutoShape 3"/>
          <p:cNvSpPr/>
          <p:nvPr/>
        </p:nvSpPr>
        <p:spPr>
          <a:xfrm>
            <a:off x="1424940" y="4596765"/>
            <a:ext cx="8096250" cy="457200"/>
          </a:xfrm>
          <a:prstGeom prst="rect">
            <a:avLst/>
          </a:prstGeom>
          <a:noFill/>
          <a:ln w="12700">
            <a:noFill/>
            <a:prstDash val="solid"/>
          </a:ln>
        </p:spPr>
        <p:txBody>
          <a:bodyPr wrap="square" lIns="0" tIns="0" rIns="0" bIns="0" rtlCol="0" anchor="ctr">
            <a:noAutofit/>
          </a:bodyPr>
          <a:lstStyle/>
          <a:p>
            <a:pPr algn="l">
              <a:lnSpc>
                <a:spcPct val="133000"/>
              </a:lnSpc>
              <a:buSzTx/>
              <a:defRPr/>
            </a:pPr>
            <a:r>
              <a:rPr lang="en-US" sz="2800" dirty="0" err="1">
                <a:solidFill>
                  <a:srgbClr val="333333"/>
                </a:solidFill>
                <a:latin typeface="MiSans" panose="00000500000000000000" charset="-122"/>
                <a:ea typeface="MiSans" panose="00000500000000000000" charset="-122"/>
                <a:cs typeface="MiSans" panose="00000500000000000000" charset="-122"/>
              </a:rPr>
              <a:t>Large Language Models Made Simple &amp; </a:t>
            </a:r>
            <a:endParaRPr lang="en-US" sz="2800" dirty="0" err="1">
              <a:solidFill>
                <a:srgbClr val="333333"/>
              </a:solidFill>
              <a:latin typeface="MiSans" panose="00000500000000000000" charset="-122"/>
              <a:ea typeface="MiSans" panose="00000500000000000000" charset="-122"/>
              <a:cs typeface="MiSans" panose="00000500000000000000" charset="-122"/>
            </a:endParaRPr>
          </a:p>
          <a:p>
            <a:pPr algn="l">
              <a:lnSpc>
                <a:spcPct val="133000"/>
              </a:lnSpc>
              <a:buSzTx/>
              <a:defRPr/>
            </a:pPr>
            <a:r>
              <a:rPr lang="en-US" sz="2800" dirty="0" err="1">
                <a:solidFill>
                  <a:srgbClr val="333333"/>
                </a:solidFill>
                <a:latin typeface="MiSans" panose="00000500000000000000" charset="-122"/>
                <a:ea typeface="MiSans" panose="00000500000000000000" charset="-122"/>
                <a:cs typeface="MiSans" panose="00000500000000000000" charset="-122"/>
              </a:rPr>
              <a:t>Your First Local Deployment with FlagOS</a:t>
            </a:r>
            <a:endParaRPr lang="en-US" sz="2800" dirty="0" err="1">
              <a:solidFill>
                <a:srgbClr val="333333"/>
              </a:solidFill>
              <a:latin typeface="MiSans" panose="00000500000000000000" charset="-122"/>
              <a:ea typeface="MiSans" panose="00000500000000000000" charset="-122"/>
              <a:cs typeface="MiSans" panose="00000500000000000000" charset="-122"/>
            </a:endParaRPr>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254000" y="381000"/>
            <a:ext cx="11684000" cy="7620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3385" b="0" i="0" u="none" strike="noStrike">
                <a:solidFill>
                  <a:srgbClr val="5B92E5"/>
                </a:solidFill>
                <a:latin typeface="Alimama ShuHeiTi"/>
                <a:ea typeface="Alimama ShuHeiTi"/>
                <a:cs typeface="Alimama ShuHeiTi"/>
                <a:sym typeface="Alimama ShuHeiTi"/>
              </a:rPr>
              <a:t>Have you ever used the following?</a:t>
            </a:r>
            <a:endParaRPr lang="en-US" sz="1100"/>
          </a:p>
        </p:txBody>
      </p:sp>
      <p:sp>
        <p:nvSpPr>
          <p:cNvPr id="3" name="Freeform 3"/>
          <p:cNvSpPr/>
          <p:nvPr/>
        </p:nvSpPr>
        <p:spPr>
          <a:xfrm>
            <a:off x="3810135" y="4463388"/>
            <a:ext cx="914400" cy="914400"/>
          </a:xfrm>
          <a:custGeom>
            <a:avLst/>
            <a:gdLst/>
            <a:ahLst/>
            <a:cxnLst/>
            <a:rect l="l" t="t" r="r" b="b"/>
            <a:pathLst>
              <a:path w="914400" h="914400">
                <a:moveTo>
                  <a:pt x="457200" y="0"/>
                </a:moveTo>
                <a:lnTo>
                  <a:pt x="457200" y="0"/>
                </a:lnTo>
                <a:cubicBezTo>
                  <a:pt x="709536" y="0"/>
                  <a:pt x="914400" y="204864"/>
                  <a:pt x="914400" y="457200"/>
                </a:cubicBezTo>
                <a:lnTo>
                  <a:pt x="914400" y="457200"/>
                </a:lnTo>
                <a:cubicBezTo>
                  <a:pt x="914400" y="709536"/>
                  <a:pt x="709536" y="914400"/>
                  <a:pt x="457200" y="914400"/>
                </a:cubicBezTo>
                <a:lnTo>
                  <a:pt x="457200" y="914400"/>
                </a:lnTo>
                <a:cubicBezTo>
                  <a:pt x="204864" y="914400"/>
                  <a:pt x="0" y="709536"/>
                  <a:pt x="0" y="457200"/>
                </a:cubicBezTo>
                <a:lnTo>
                  <a:pt x="0" y="457200"/>
                </a:lnTo>
                <a:cubicBezTo>
                  <a:pt x="0" y="204864"/>
                  <a:pt x="204864" y="0"/>
                  <a:pt x="4572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4008168" y="4663331"/>
            <a:ext cx="518189" cy="516315"/>
          </a:xfrm>
          <a:custGeom>
            <a:avLst/>
            <a:gdLst/>
            <a:ahLst/>
            <a:cxnLst/>
            <a:rect l="l" t="t" r="r" b="b"/>
            <a:pathLst>
              <a:path w="518189" h="516315">
                <a:moveTo>
                  <a:pt x="344865" y="157162"/>
                </a:moveTo>
                <a:cubicBezTo>
                  <a:pt x="344865" y="243959"/>
                  <a:pt x="268069" y="314325"/>
                  <a:pt x="173415" y="314325"/>
                </a:cubicBezTo>
                <a:cubicBezTo>
                  <a:pt x="149573" y="314325"/>
                  <a:pt x="126891" y="309860"/>
                  <a:pt x="106264" y="301823"/>
                </a:cubicBezTo>
                <a:lnTo>
                  <a:pt x="33398" y="340399"/>
                </a:lnTo>
                <a:cubicBezTo>
                  <a:pt x="25093" y="344775"/>
                  <a:pt x="14913" y="343257"/>
                  <a:pt x="8216" y="336649"/>
                </a:cubicBezTo>
                <a:cubicBezTo>
                  <a:pt x="1519" y="330041"/>
                  <a:pt x="0" y="319772"/>
                  <a:pt x="4466" y="311467"/>
                </a:cubicBezTo>
                <a:lnTo>
                  <a:pt x="36255" y="251460"/>
                </a:lnTo>
                <a:cubicBezTo>
                  <a:pt x="14734" y="225207"/>
                  <a:pt x="1965" y="192524"/>
                  <a:pt x="1965" y="157162"/>
                </a:cubicBezTo>
                <a:cubicBezTo>
                  <a:pt x="1965" y="70366"/>
                  <a:pt x="78761" y="0"/>
                  <a:pt x="173415" y="0"/>
                </a:cubicBezTo>
                <a:cubicBezTo>
                  <a:pt x="268069" y="0"/>
                  <a:pt x="344865" y="70366"/>
                  <a:pt x="344865" y="157162"/>
                </a:cubicBezTo>
                <a:close/>
                <a:moveTo>
                  <a:pt x="344865" y="485775"/>
                </a:moveTo>
                <a:cubicBezTo>
                  <a:pt x="260837" y="485775"/>
                  <a:pt x="190917" y="430322"/>
                  <a:pt x="176273" y="357188"/>
                </a:cubicBezTo>
                <a:cubicBezTo>
                  <a:pt x="283429" y="355848"/>
                  <a:pt x="376565" y="279589"/>
                  <a:pt x="386835" y="176183"/>
                </a:cubicBezTo>
                <a:cubicBezTo>
                  <a:pt x="461219" y="193328"/>
                  <a:pt x="516315" y="255033"/>
                  <a:pt x="516315" y="328612"/>
                </a:cubicBezTo>
                <a:cubicBezTo>
                  <a:pt x="516315" y="363974"/>
                  <a:pt x="503546" y="396657"/>
                  <a:pt x="482025" y="422910"/>
                </a:cubicBezTo>
                <a:lnTo>
                  <a:pt x="513814" y="482917"/>
                </a:lnTo>
                <a:cubicBezTo>
                  <a:pt x="518190" y="491222"/>
                  <a:pt x="516672" y="501402"/>
                  <a:pt x="510064" y="508099"/>
                </a:cubicBezTo>
                <a:cubicBezTo>
                  <a:pt x="503456" y="514796"/>
                  <a:pt x="493187" y="516315"/>
                  <a:pt x="484882" y="511849"/>
                </a:cubicBezTo>
                <a:lnTo>
                  <a:pt x="412016" y="473273"/>
                </a:lnTo>
                <a:cubicBezTo>
                  <a:pt x="391389" y="481310"/>
                  <a:pt x="368707" y="485775"/>
                  <a:pt x="344865" y="485775"/>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3909060" y="5606415"/>
            <a:ext cx="81534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78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Conversation</a:t>
            </a:r>
            <a:endParaRPr lang="en-US" sz="1100"/>
          </a:p>
        </p:txBody>
      </p:sp>
      <p:sp>
        <p:nvSpPr>
          <p:cNvPr id="6" name="Freeform 6"/>
          <p:cNvSpPr/>
          <p:nvPr/>
        </p:nvSpPr>
        <p:spPr>
          <a:xfrm>
            <a:off x="5638827" y="4463388"/>
            <a:ext cx="914400" cy="914400"/>
          </a:xfrm>
          <a:custGeom>
            <a:avLst/>
            <a:gdLst/>
            <a:ahLst/>
            <a:cxnLst/>
            <a:rect l="l" t="t" r="r" b="b"/>
            <a:pathLst>
              <a:path w="914400" h="914400">
                <a:moveTo>
                  <a:pt x="457200" y="0"/>
                </a:moveTo>
                <a:lnTo>
                  <a:pt x="457200" y="0"/>
                </a:lnTo>
                <a:cubicBezTo>
                  <a:pt x="709536" y="0"/>
                  <a:pt x="914400" y="204864"/>
                  <a:pt x="914400" y="457200"/>
                </a:cubicBezTo>
                <a:lnTo>
                  <a:pt x="914400" y="457200"/>
                </a:lnTo>
                <a:cubicBezTo>
                  <a:pt x="914400" y="709536"/>
                  <a:pt x="709536" y="914400"/>
                  <a:pt x="457200" y="914400"/>
                </a:cubicBezTo>
                <a:lnTo>
                  <a:pt x="457200" y="914400"/>
                </a:lnTo>
                <a:cubicBezTo>
                  <a:pt x="204864" y="914400"/>
                  <a:pt x="0" y="709536"/>
                  <a:pt x="0" y="457200"/>
                </a:cubicBezTo>
                <a:lnTo>
                  <a:pt x="0" y="457200"/>
                </a:lnTo>
                <a:cubicBezTo>
                  <a:pt x="0" y="204864"/>
                  <a:pt x="204864" y="0"/>
                  <a:pt x="4572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5870884" y="4691906"/>
            <a:ext cx="453805" cy="453627"/>
          </a:xfrm>
          <a:custGeom>
            <a:avLst/>
            <a:gdLst/>
            <a:ahLst/>
            <a:cxnLst/>
            <a:rect l="l" t="t" r="r" b="b"/>
            <a:pathLst>
              <a:path w="453805" h="453627">
                <a:moveTo>
                  <a:pt x="330040" y="24199"/>
                </a:moveTo>
                <a:cubicBezTo>
                  <a:pt x="343434" y="8840"/>
                  <a:pt x="362812" y="0"/>
                  <a:pt x="383261" y="0"/>
                </a:cubicBezTo>
                <a:cubicBezTo>
                  <a:pt x="422195" y="0"/>
                  <a:pt x="453805" y="31612"/>
                  <a:pt x="453805" y="70545"/>
                </a:cubicBezTo>
                <a:cubicBezTo>
                  <a:pt x="453805" y="90904"/>
                  <a:pt x="444964" y="110371"/>
                  <a:pt x="429606" y="123765"/>
                </a:cubicBezTo>
                <a:lnTo>
                  <a:pt x="249851" y="280214"/>
                </a:lnTo>
                <a:lnTo>
                  <a:pt x="240296" y="270570"/>
                </a:lnTo>
                <a:lnTo>
                  <a:pt x="183146" y="213420"/>
                </a:lnTo>
                <a:lnTo>
                  <a:pt x="173502" y="203865"/>
                </a:lnTo>
                <a:lnTo>
                  <a:pt x="330040" y="24199"/>
                </a:lnTo>
                <a:close/>
                <a:moveTo>
                  <a:pt x="140373" y="231278"/>
                </a:moveTo>
                <a:cubicBezTo>
                  <a:pt x="141177" y="232173"/>
                  <a:pt x="164393" y="255389"/>
                  <a:pt x="209936" y="300930"/>
                </a:cubicBezTo>
                <a:lnTo>
                  <a:pt x="222347" y="313343"/>
                </a:lnTo>
                <a:lnTo>
                  <a:pt x="207078" y="379600"/>
                </a:lnTo>
                <a:cubicBezTo>
                  <a:pt x="203595" y="394871"/>
                  <a:pt x="191987" y="407015"/>
                  <a:pt x="176895" y="411212"/>
                </a:cubicBezTo>
                <a:lnTo>
                  <a:pt x="25270" y="453627"/>
                </a:lnTo>
                <a:lnTo>
                  <a:pt x="107691" y="371207"/>
                </a:lnTo>
                <a:cubicBezTo>
                  <a:pt x="108762" y="371296"/>
                  <a:pt x="109744" y="371386"/>
                  <a:pt x="110816" y="371386"/>
                </a:cubicBezTo>
                <a:cubicBezTo>
                  <a:pt x="126622" y="371386"/>
                  <a:pt x="139391" y="358616"/>
                  <a:pt x="139391" y="342811"/>
                </a:cubicBezTo>
                <a:cubicBezTo>
                  <a:pt x="139391" y="327005"/>
                  <a:pt x="126622" y="314236"/>
                  <a:pt x="110816" y="314236"/>
                </a:cubicBezTo>
                <a:cubicBezTo>
                  <a:pt x="95010" y="314236"/>
                  <a:pt x="82241" y="327005"/>
                  <a:pt x="82241" y="342811"/>
                </a:cubicBezTo>
                <a:cubicBezTo>
                  <a:pt x="82241" y="343882"/>
                  <a:pt x="82330" y="344954"/>
                  <a:pt x="82420" y="345937"/>
                </a:cubicBezTo>
                <a:lnTo>
                  <a:pt x="0" y="428446"/>
                </a:lnTo>
                <a:lnTo>
                  <a:pt x="42504" y="276821"/>
                </a:lnTo>
                <a:cubicBezTo>
                  <a:pt x="46701" y="261729"/>
                  <a:pt x="58845" y="250121"/>
                  <a:pt x="74116" y="246638"/>
                </a:cubicBezTo>
                <a:lnTo>
                  <a:pt x="140373" y="231278"/>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5867346" y="5606253"/>
            <a:ext cx="5715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99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Writing</a:t>
            </a:r>
            <a:endParaRPr lang="en-US" sz="1100"/>
          </a:p>
        </p:txBody>
      </p:sp>
      <p:sp>
        <p:nvSpPr>
          <p:cNvPr id="9" name="Freeform 9"/>
          <p:cNvSpPr/>
          <p:nvPr/>
        </p:nvSpPr>
        <p:spPr>
          <a:xfrm>
            <a:off x="7467519" y="4463388"/>
            <a:ext cx="914400" cy="914400"/>
          </a:xfrm>
          <a:custGeom>
            <a:avLst/>
            <a:gdLst/>
            <a:ahLst/>
            <a:cxnLst/>
            <a:rect l="l" t="t" r="r" b="b"/>
            <a:pathLst>
              <a:path w="914400" h="914400">
                <a:moveTo>
                  <a:pt x="457200" y="0"/>
                </a:moveTo>
                <a:lnTo>
                  <a:pt x="457200" y="0"/>
                </a:lnTo>
                <a:cubicBezTo>
                  <a:pt x="709536" y="0"/>
                  <a:pt x="914400" y="204864"/>
                  <a:pt x="914400" y="457200"/>
                </a:cubicBezTo>
                <a:lnTo>
                  <a:pt x="914400" y="457200"/>
                </a:lnTo>
                <a:cubicBezTo>
                  <a:pt x="914400" y="709536"/>
                  <a:pt x="709536" y="914400"/>
                  <a:pt x="457200" y="914400"/>
                </a:cubicBezTo>
                <a:lnTo>
                  <a:pt x="457200" y="914400"/>
                </a:lnTo>
                <a:cubicBezTo>
                  <a:pt x="204864" y="914400"/>
                  <a:pt x="0" y="709536"/>
                  <a:pt x="0" y="457200"/>
                </a:cubicBezTo>
                <a:lnTo>
                  <a:pt x="0" y="457200"/>
                </a:lnTo>
                <a:cubicBezTo>
                  <a:pt x="0" y="204864"/>
                  <a:pt x="204864" y="0"/>
                  <a:pt x="4572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7696091" y="4691906"/>
            <a:ext cx="457200" cy="457200"/>
          </a:xfrm>
          <a:custGeom>
            <a:avLst/>
            <a:gdLst/>
            <a:ahLst/>
            <a:cxnLst/>
            <a:rect l="l" t="t" r="r" b="b"/>
            <a:pathLst>
              <a:path w="457200" h="457200">
                <a:moveTo>
                  <a:pt x="228600" y="457200"/>
                </a:moveTo>
                <a:cubicBezTo>
                  <a:pt x="354768" y="457200"/>
                  <a:pt x="457200" y="354768"/>
                  <a:pt x="457200" y="228600"/>
                </a:cubicBezTo>
                <a:cubicBezTo>
                  <a:pt x="457200" y="102432"/>
                  <a:pt x="354768" y="0"/>
                  <a:pt x="228600" y="0"/>
                </a:cubicBezTo>
                <a:cubicBezTo>
                  <a:pt x="102432" y="0"/>
                  <a:pt x="0" y="102432"/>
                  <a:pt x="0" y="228600"/>
                </a:cubicBezTo>
                <a:cubicBezTo>
                  <a:pt x="0" y="354768"/>
                  <a:pt x="102432" y="457200"/>
                  <a:pt x="228600" y="457200"/>
                </a:cubicBezTo>
                <a:close/>
                <a:moveTo>
                  <a:pt x="228600" y="157163"/>
                </a:moveTo>
                <a:cubicBezTo>
                  <a:pt x="212794" y="157163"/>
                  <a:pt x="200025" y="169932"/>
                  <a:pt x="200025" y="185737"/>
                </a:cubicBezTo>
                <a:cubicBezTo>
                  <a:pt x="200025" y="197615"/>
                  <a:pt x="190470" y="207169"/>
                  <a:pt x="178594" y="207169"/>
                </a:cubicBezTo>
                <a:cubicBezTo>
                  <a:pt x="166717" y="207169"/>
                  <a:pt x="157163" y="197615"/>
                  <a:pt x="157163" y="185737"/>
                </a:cubicBezTo>
                <a:cubicBezTo>
                  <a:pt x="157163" y="146268"/>
                  <a:pt x="189131" y="114300"/>
                  <a:pt x="228600" y="114300"/>
                </a:cubicBezTo>
                <a:cubicBezTo>
                  <a:pt x="268069" y="114300"/>
                  <a:pt x="300037" y="146268"/>
                  <a:pt x="300037" y="185737"/>
                </a:cubicBezTo>
                <a:cubicBezTo>
                  <a:pt x="300037" y="227886"/>
                  <a:pt x="267891" y="245745"/>
                  <a:pt x="250031" y="252264"/>
                </a:cubicBezTo>
                <a:lnTo>
                  <a:pt x="250031" y="255657"/>
                </a:lnTo>
                <a:cubicBezTo>
                  <a:pt x="250031" y="267533"/>
                  <a:pt x="240476" y="277089"/>
                  <a:pt x="228600" y="277089"/>
                </a:cubicBezTo>
                <a:cubicBezTo>
                  <a:pt x="216724" y="277089"/>
                  <a:pt x="207169" y="267533"/>
                  <a:pt x="207169" y="255657"/>
                </a:cubicBezTo>
                <a:lnTo>
                  <a:pt x="207169" y="248423"/>
                </a:lnTo>
                <a:cubicBezTo>
                  <a:pt x="207169" y="230118"/>
                  <a:pt x="220384" y="216991"/>
                  <a:pt x="234047" y="212527"/>
                </a:cubicBezTo>
                <a:cubicBezTo>
                  <a:pt x="239762" y="210651"/>
                  <a:pt x="245834" y="207615"/>
                  <a:pt x="250299" y="203330"/>
                </a:cubicBezTo>
                <a:cubicBezTo>
                  <a:pt x="254138" y="199579"/>
                  <a:pt x="257175" y="194399"/>
                  <a:pt x="257175" y="185826"/>
                </a:cubicBezTo>
                <a:cubicBezTo>
                  <a:pt x="257175" y="170021"/>
                  <a:pt x="244406" y="157251"/>
                  <a:pt x="228600" y="157251"/>
                </a:cubicBezTo>
                <a:close/>
                <a:moveTo>
                  <a:pt x="200025" y="328613"/>
                </a:moveTo>
                <a:cubicBezTo>
                  <a:pt x="200025" y="312842"/>
                  <a:pt x="212829" y="300037"/>
                  <a:pt x="228600" y="300037"/>
                </a:cubicBezTo>
                <a:cubicBezTo>
                  <a:pt x="244371" y="300037"/>
                  <a:pt x="257175" y="312842"/>
                  <a:pt x="257175" y="328613"/>
                </a:cubicBezTo>
                <a:cubicBezTo>
                  <a:pt x="257175" y="344383"/>
                  <a:pt x="244371" y="357187"/>
                  <a:pt x="228600" y="357187"/>
                </a:cubicBezTo>
                <a:cubicBezTo>
                  <a:pt x="212829" y="357187"/>
                  <a:pt x="200025" y="344383"/>
                  <a:pt x="200025" y="328613"/>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7696037" y="5606253"/>
            <a:ext cx="5715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Q&amp;A</a:t>
            </a:r>
            <a:endParaRPr lang="en-US" sz="1100"/>
          </a:p>
        </p:txBody>
      </p:sp>
      <p:sp>
        <p:nvSpPr>
          <p:cNvPr id="12" name="AutoShape 12"/>
          <p:cNvSpPr/>
          <p:nvPr/>
        </p:nvSpPr>
        <p:spPr>
          <a:xfrm>
            <a:off x="304800" y="6019827"/>
            <a:ext cx="11582400" cy="4572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84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But they are just AI that can "converse"</a:t>
            </a:r>
            <a:endParaRPr lang="en-US" sz="1100"/>
          </a:p>
        </p:txBody>
      </p:sp>
      <p:pic>
        <p:nvPicPr>
          <p:cNvPr id="21" name="图片 20" descr="deepseek-color"/>
          <p:cNvPicPr>
            <a:picLocks noChangeAspect="1"/>
          </p:cNvPicPr>
          <p:nvPr/>
        </p:nvPicPr>
        <p:blipFill>
          <a:blip r:embed="rId1"/>
          <a:stretch>
            <a:fillRect/>
          </a:stretch>
        </p:blipFill>
        <p:spPr>
          <a:xfrm>
            <a:off x="1597025" y="1525270"/>
            <a:ext cx="774700" cy="774700"/>
          </a:xfrm>
          <a:prstGeom prst="rect">
            <a:avLst/>
          </a:prstGeom>
        </p:spPr>
      </p:pic>
      <p:pic>
        <p:nvPicPr>
          <p:cNvPr id="22" name="图片 21" descr="claude-color"/>
          <p:cNvPicPr>
            <a:picLocks noChangeAspect="1"/>
          </p:cNvPicPr>
          <p:nvPr/>
        </p:nvPicPr>
        <p:blipFill>
          <a:blip r:embed="rId2"/>
          <a:stretch>
            <a:fillRect/>
          </a:stretch>
        </p:blipFill>
        <p:spPr>
          <a:xfrm>
            <a:off x="3060065" y="1516380"/>
            <a:ext cx="749935" cy="749935"/>
          </a:xfrm>
          <a:prstGeom prst="rect">
            <a:avLst/>
          </a:prstGeom>
        </p:spPr>
      </p:pic>
      <p:pic>
        <p:nvPicPr>
          <p:cNvPr id="23" name="图片 22" descr="openai"/>
          <p:cNvPicPr>
            <a:picLocks noChangeAspect="1"/>
          </p:cNvPicPr>
          <p:nvPr/>
        </p:nvPicPr>
        <p:blipFill>
          <a:blip r:embed="rId3"/>
          <a:stretch>
            <a:fillRect/>
          </a:stretch>
        </p:blipFill>
        <p:spPr>
          <a:xfrm>
            <a:off x="4604385" y="1516380"/>
            <a:ext cx="749935" cy="749935"/>
          </a:xfrm>
          <a:prstGeom prst="rect">
            <a:avLst/>
          </a:prstGeom>
        </p:spPr>
      </p:pic>
      <p:pic>
        <p:nvPicPr>
          <p:cNvPr id="24" name="图片 23" descr="gemini-color"/>
          <p:cNvPicPr>
            <a:picLocks noChangeAspect="1"/>
          </p:cNvPicPr>
          <p:nvPr/>
        </p:nvPicPr>
        <p:blipFill>
          <a:blip r:embed="rId4"/>
          <a:stretch>
            <a:fillRect/>
          </a:stretch>
        </p:blipFill>
        <p:spPr>
          <a:xfrm>
            <a:off x="6121400" y="1516380"/>
            <a:ext cx="749935" cy="749935"/>
          </a:xfrm>
          <a:prstGeom prst="rect">
            <a:avLst/>
          </a:prstGeom>
        </p:spPr>
      </p:pic>
      <p:pic>
        <p:nvPicPr>
          <p:cNvPr id="25" name="图片 24" descr="kimi-text"/>
          <p:cNvPicPr>
            <a:picLocks noChangeAspect="1"/>
          </p:cNvPicPr>
          <p:nvPr/>
        </p:nvPicPr>
        <p:blipFill>
          <a:blip r:embed="rId5"/>
          <a:stretch>
            <a:fillRect/>
          </a:stretch>
        </p:blipFill>
        <p:spPr>
          <a:xfrm>
            <a:off x="7696835" y="1516380"/>
            <a:ext cx="2000250" cy="749935"/>
          </a:xfrm>
          <a:prstGeom prst="rect">
            <a:avLst/>
          </a:prstGeom>
        </p:spPr>
      </p:pic>
      <p:pic>
        <p:nvPicPr>
          <p:cNvPr id="26" name="图片 25" descr="qwen-color"/>
          <p:cNvPicPr>
            <a:picLocks noChangeAspect="1"/>
          </p:cNvPicPr>
          <p:nvPr/>
        </p:nvPicPr>
        <p:blipFill>
          <a:blip r:embed="rId6"/>
          <a:stretch>
            <a:fillRect/>
          </a:stretch>
        </p:blipFill>
        <p:spPr>
          <a:xfrm>
            <a:off x="3387090" y="2781935"/>
            <a:ext cx="749935" cy="749935"/>
          </a:xfrm>
          <a:prstGeom prst="rect">
            <a:avLst/>
          </a:prstGeom>
        </p:spPr>
      </p:pic>
      <p:pic>
        <p:nvPicPr>
          <p:cNvPr id="27" name="图片 26" descr="doubao-color"/>
          <p:cNvPicPr>
            <a:picLocks noChangeAspect="1"/>
          </p:cNvPicPr>
          <p:nvPr/>
        </p:nvPicPr>
        <p:blipFill>
          <a:blip r:embed="rId7"/>
          <a:stretch>
            <a:fillRect/>
          </a:stretch>
        </p:blipFill>
        <p:spPr>
          <a:xfrm>
            <a:off x="4888865" y="2778125"/>
            <a:ext cx="749935" cy="749935"/>
          </a:xfrm>
          <a:prstGeom prst="rect">
            <a:avLst/>
          </a:prstGeom>
        </p:spPr>
      </p:pic>
      <p:pic>
        <p:nvPicPr>
          <p:cNvPr id="28" name="图片 27" descr="grok"/>
          <p:cNvPicPr>
            <a:picLocks noChangeAspect="1"/>
          </p:cNvPicPr>
          <p:nvPr/>
        </p:nvPicPr>
        <p:blipFill>
          <a:blip r:embed="rId8"/>
          <a:stretch>
            <a:fillRect/>
          </a:stretch>
        </p:blipFill>
        <p:spPr>
          <a:xfrm>
            <a:off x="6350000" y="2757170"/>
            <a:ext cx="749935" cy="749935"/>
          </a:xfrm>
          <a:prstGeom prst="rect">
            <a:avLst/>
          </a:prstGeom>
        </p:spPr>
      </p:pic>
      <p:pic>
        <p:nvPicPr>
          <p:cNvPr id="29" name="图片 28" descr="chatglm-color"/>
          <p:cNvPicPr>
            <a:picLocks noChangeAspect="1"/>
          </p:cNvPicPr>
          <p:nvPr/>
        </p:nvPicPr>
        <p:blipFill>
          <a:blip r:embed="rId9"/>
          <a:stretch>
            <a:fillRect/>
          </a:stretch>
        </p:blipFill>
        <p:spPr>
          <a:xfrm>
            <a:off x="8021955" y="2788920"/>
            <a:ext cx="749935" cy="749935"/>
          </a:xfrm>
          <a:prstGeom prst="rect">
            <a:avLst/>
          </a:prstGeom>
        </p:spPr>
      </p:pic>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07800" cy="5334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2230" b="0" i="0" u="none" strike="noStrike">
                <a:solidFill>
                  <a:srgbClr val="5B92E5"/>
                </a:solidFill>
                <a:latin typeface="Alimama ShuHeiTi"/>
                <a:ea typeface="Alimama ShuHeiTi"/>
                <a:cs typeface="Alimama ShuHeiTi"/>
                <a:sym typeface="Alimama ShuHeiTi"/>
              </a:rPr>
              <a:t>Case 1: Late-Night Office Dialogue Assistant</a:t>
            </a:r>
            <a:endParaRPr lang="en-US" sz="1100"/>
          </a:p>
        </p:txBody>
      </p:sp>
      <p:sp>
        <p:nvSpPr>
          <p:cNvPr id="3" name="Freeform 3"/>
          <p:cNvSpPr/>
          <p:nvPr/>
        </p:nvSpPr>
        <p:spPr>
          <a:xfrm>
            <a:off x="409575" y="1161806"/>
            <a:ext cx="197659" cy="228600"/>
          </a:xfrm>
          <a:custGeom>
            <a:avLst/>
            <a:gdLst/>
            <a:ahLst/>
            <a:cxnLst/>
            <a:rect l="l" t="t" r="r" b="b"/>
            <a:pathLst>
              <a:path w="197659" h="228600">
                <a:moveTo>
                  <a:pt x="114300" y="0"/>
                </a:moveTo>
                <a:cubicBezTo>
                  <a:pt x="51167" y="0"/>
                  <a:pt x="0" y="51167"/>
                  <a:pt x="0" y="114300"/>
                </a:cubicBezTo>
                <a:cubicBezTo>
                  <a:pt x="0" y="177433"/>
                  <a:pt x="51167" y="228600"/>
                  <a:pt x="114300" y="228600"/>
                </a:cubicBezTo>
                <a:cubicBezTo>
                  <a:pt x="145017" y="228600"/>
                  <a:pt x="172923" y="216456"/>
                  <a:pt x="193462" y="196720"/>
                </a:cubicBezTo>
                <a:cubicBezTo>
                  <a:pt x="196720" y="193596"/>
                  <a:pt x="197659" y="188730"/>
                  <a:pt x="195828" y="184621"/>
                </a:cubicBezTo>
                <a:cubicBezTo>
                  <a:pt x="193998" y="180514"/>
                  <a:pt x="189711" y="177969"/>
                  <a:pt x="185202" y="178326"/>
                </a:cubicBezTo>
                <a:cubicBezTo>
                  <a:pt x="183015" y="178504"/>
                  <a:pt x="180826" y="178594"/>
                  <a:pt x="178594" y="178594"/>
                </a:cubicBezTo>
                <a:cubicBezTo>
                  <a:pt x="133231" y="178594"/>
                  <a:pt x="96441" y="141803"/>
                  <a:pt x="96441" y="96441"/>
                </a:cubicBezTo>
                <a:cubicBezTo>
                  <a:pt x="96441" y="64249"/>
                  <a:pt x="114971" y="36344"/>
                  <a:pt x="142027" y="22860"/>
                </a:cubicBezTo>
                <a:cubicBezTo>
                  <a:pt x="146089" y="20851"/>
                  <a:pt x="148411" y="16474"/>
                  <a:pt x="147876" y="11966"/>
                </a:cubicBezTo>
                <a:cubicBezTo>
                  <a:pt x="147340" y="7456"/>
                  <a:pt x="144036" y="3795"/>
                  <a:pt x="139616" y="2813"/>
                </a:cubicBezTo>
                <a:cubicBezTo>
                  <a:pt x="131445" y="982"/>
                  <a:pt x="122961" y="0"/>
                  <a:pt x="1143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780942" y="1142865"/>
            <a:ext cx="6953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85"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2 AM</a:t>
            </a:r>
            <a:endParaRPr lang="en-US" sz="1100"/>
          </a:p>
        </p:txBody>
      </p:sp>
      <p:sp>
        <p:nvSpPr>
          <p:cNvPr id="5" name="Freeform 5"/>
          <p:cNvSpPr/>
          <p:nvPr/>
        </p:nvSpPr>
        <p:spPr>
          <a:xfrm>
            <a:off x="2455664" y="2214833"/>
            <a:ext cx="7283160" cy="901410"/>
          </a:xfrm>
          <a:custGeom>
            <a:avLst/>
            <a:gdLst/>
            <a:ahLst/>
            <a:cxnLst/>
            <a:rect l="l" t="t" r="r" b="b"/>
            <a:pathLst>
              <a:path w="7283160" h="901410">
                <a:moveTo>
                  <a:pt x="152403" y="0"/>
                </a:moveTo>
                <a:lnTo>
                  <a:pt x="7130760" y="0"/>
                </a:lnTo>
                <a:cubicBezTo>
                  <a:pt x="7214928" y="0"/>
                  <a:pt x="7283160" y="68233"/>
                  <a:pt x="7283160" y="152403"/>
                </a:cubicBezTo>
                <a:lnTo>
                  <a:pt x="7283160" y="749010"/>
                </a:lnTo>
                <a:cubicBezTo>
                  <a:pt x="7283160" y="833178"/>
                  <a:pt x="7214928" y="901410"/>
                  <a:pt x="7130760" y="901410"/>
                </a:cubicBezTo>
                <a:lnTo>
                  <a:pt x="152403" y="901410"/>
                </a:lnTo>
                <a:cubicBezTo>
                  <a:pt x="68233" y="901410"/>
                  <a:pt x="0" y="833178"/>
                  <a:pt x="0" y="749010"/>
                </a:cubicBezTo>
                <a:lnTo>
                  <a:pt x="0" y="152403"/>
                </a:lnTo>
                <a:cubicBezTo>
                  <a:pt x="0" y="68289"/>
                  <a:pt x="68289" y="0"/>
                  <a:pt x="152403" y="0"/>
                </a:cubicBezTo>
                <a:close/>
              </a:path>
            </a:pathLst>
          </a:custGeom>
          <a:solidFill>
            <a:srgbClr val="FFFFFF">
              <a:alpha val="100000"/>
            </a:srgbClr>
          </a:solidFill>
          <a:ln w="38100">
            <a:solidFill>
              <a:srgbClr val="1E90FF">
                <a:alpha val="100000"/>
              </a:srgbClr>
            </a:solidFill>
            <a:prstDash val="solid"/>
          </a:ln>
        </p:spPr>
        <p:txBody>
          <a:bodyPr wrap="square" lIns="91440" tIns="45720" rIns="91440" bIns="45720" rtlCol="0" anchor="t">
            <a:noAutofit/>
          </a:bodyPr>
          <a:lstStyle/>
          <a:p>
            <a:pPr algn="ctr">
              <a:defRPr/>
            </a:pPr>
          </a:p>
        </p:txBody>
      </p:sp>
      <p:sp>
        <p:nvSpPr>
          <p:cNvPr id="6" name="AutoShape 6"/>
          <p:cNvSpPr/>
          <p:nvPr/>
        </p:nvSpPr>
        <p:spPr>
          <a:xfrm>
            <a:off x="2638001" y="2460671"/>
            <a:ext cx="6918325" cy="409575"/>
          </a:xfrm>
          <a:prstGeom prst="rect">
            <a:avLst/>
          </a:prstGeom>
          <a:noFill/>
          <a:ln w="12700">
            <a:noFill/>
            <a:prstDash val="solid"/>
          </a:ln>
        </p:spPr>
        <p:txBody>
          <a:bodyPr wrap="square" lIns="0" tIns="0" rIns="0" bIns="0" rtlCol="0" anchor="ctr">
            <a:noAutofit/>
          </a:bodyPr>
          <a:lstStyle/>
          <a:p>
            <a:pPr indent="0" algn="ctr">
              <a:lnSpc>
                <a:spcPct val="142000"/>
              </a:lnSpc>
              <a:defRPr/>
            </a:pPr>
            <a:r>
              <a:rPr lang="en-US" sz="134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"Help me generate a complete report package, including PPT outline and data analysis"</a:t>
            </a:r>
            <a:endParaRPr lang="en-US" sz="1100"/>
          </a:p>
        </p:txBody>
      </p:sp>
      <p:sp>
        <p:nvSpPr>
          <p:cNvPr id="7" name="Freeform 7"/>
          <p:cNvSpPr/>
          <p:nvPr/>
        </p:nvSpPr>
        <p:spPr>
          <a:xfrm>
            <a:off x="2438346" y="3365004"/>
            <a:ext cx="7315200" cy="1638300"/>
          </a:xfrm>
          <a:custGeom>
            <a:avLst/>
            <a:gdLst/>
            <a:ahLst/>
            <a:cxnLst/>
            <a:rect l="l" t="t" r="r" b="b"/>
            <a:pathLst>
              <a:path w="7315200" h="1638300">
                <a:moveTo>
                  <a:pt x="114304" y="0"/>
                </a:moveTo>
                <a:lnTo>
                  <a:pt x="7200896" y="0"/>
                </a:lnTo>
                <a:cubicBezTo>
                  <a:pt x="7264024" y="0"/>
                  <a:pt x="7315200" y="51176"/>
                  <a:pt x="7315200" y="114304"/>
                </a:cubicBezTo>
                <a:lnTo>
                  <a:pt x="7315200" y="1523996"/>
                </a:lnTo>
                <a:cubicBezTo>
                  <a:pt x="7315200" y="1587124"/>
                  <a:pt x="7264024" y="1638300"/>
                  <a:pt x="7200896" y="1638300"/>
                </a:cubicBezTo>
                <a:lnTo>
                  <a:pt x="114304" y="1638300"/>
                </a:lnTo>
                <a:cubicBezTo>
                  <a:pt x="51176" y="1638300"/>
                  <a:pt x="0" y="1587124"/>
                  <a:pt x="0" y="1523996"/>
                </a:cubicBezTo>
                <a:lnTo>
                  <a:pt x="0" y="114304"/>
                </a:lnTo>
                <a:cubicBezTo>
                  <a:pt x="0" y="51218"/>
                  <a:pt x="51218" y="0"/>
                  <a:pt x="114304"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3177540" y="3593465"/>
            <a:ext cx="4350385" cy="9144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344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10 minutes</a:t>
            </a:r>
            <a:endParaRPr lang="en-US" sz="1100"/>
          </a:p>
        </p:txBody>
      </p:sp>
      <p:sp>
        <p:nvSpPr>
          <p:cNvPr id="9" name="AutoShape 9"/>
          <p:cNvSpPr/>
          <p:nvPr/>
        </p:nvSpPr>
        <p:spPr>
          <a:xfrm>
            <a:off x="3287099" y="4508004"/>
            <a:ext cx="19240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6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Material generation completed</a:t>
            </a:r>
            <a:endParaRPr lang="en-US" sz="1100"/>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58600" cy="6858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2615" b="0" i="0" u="none" strike="noStrike">
                <a:solidFill>
                  <a:srgbClr val="5B92E5"/>
                </a:solidFill>
                <a:latin typeface="Alimama ShuHeiTi"/>
                <a:ea typeface="Alimama ShuHeiTi"/>
                <a:cs typeface="Alimama ShuHeiTi"/>
                <a:sym typeface="Alimama ShuHeiTi"/>
              </a:rPr>
              <a:t>Limitations of Conversation: Can Only Give Advice, Cannot Take Action</a:t>
            </a:r>
            <a:endParaRPr lang="en-US" sz="1100"/>
          </a:p>
        </p:txBody>
      </p:sp>
      <p:sp>
        <p:nvSpPr>
          <p:cNvPr id="3" name="Freeform 3"/>
          <p:cNvSpPr/>
          <p:nvPr/>
        </p:nvSpPr>
        <p:spPr>
          <a:xfrm>
            <a:off x="1989020" y="1795274"/>
            <a:ext cx="3206460" cy="3206460"/>
          </a:xfrm>
          <a:custGeom>
            <a:avLst/>
            <a:gdLst/>
            <a:ahLst/>
            <a:cxnLst/>
            <a:rect l="l" t="t" r="r" b="b"/>
            <a:pathLst>
              <a:path w="3206460" h="3206460">
                <a:moveTo>
                  <a:pt x="228589" y="0"/>
                </a:moveTo>
                <a:lnTo>
                  <a:pt x="2977873" y="0"/>
                </a:lnTo>
                <a:cubicBezTo>
                  <a:pt x="3104119" y="0"/>
                  <a:pt x="3206460" y="102343"/>
                  <a:pt x="3206460" y="228589"/>
                </a:cubicBezTo>
                <a:lnTo>
                  <a:pt x="3206460" y="2977873"/>
                </a:lnTo>
                <a:cubicBezTo>
                  <a:pt x="3206460" y="3104119"/>
                  <a:pt x="3104119" y="3206460"/>
                  <a:pt x="2977873" y="3206460"/>
                </a:cubicBezTo>
                <a:lnTo>
                  <a:pt x="228589" y="3206460"/>
                </a:lnTo>
                <a:cubicBezTo>
                  <a:pt x="102343" y="3206460"/>
                  <a:pt x="0" y="3104119"/>
                  <a:pt x="0" y="2977873"/>
                </a:cubicBezTo>
                <a:lnTo>
                  <a:pt x="0" y="228589"/>
                </a:lnTo>
                <a:cubicBezTo>
                  <a:pt x="0" y="102427"/>
                  <a:pt x="102427" y="0"/>
                  <a:pt x="228589" y="0"/>
                </a:cubicBezTo>
                <a:close/>
              </a:path>
            </a:pathLst>
          </a:custGeom>
          <a:solidFill>
            <a:srgbClr val="F5F5F5">
              <a:alpha val="100000"/>
            </a:srgbClr>
          </a:solidFill>
          <a:ln w="38100">
            <a:solidFill>
              <a:srgbClr val="5B92E5">
                <a:alpha val="100000"/>
              </a:srgbClr>
            </a:solidFill>
            <a:prstDash val="solid"/>
          </a:ln>
        </p:spPr>
        <p:txBody>
          <a:bodyPr wrap="square" lIns="91440" tIns="45720" rIns="91440" bIns="45720" rtlCol="0" anchor="t">
            <a:noAutofit/>
          </a:bodyPr>
          <a:lstStyle/>
          <a:p>
            <a:pPr algn="ctr">
              <a:defRPr/>
            </a:pPr>
          </a:p>
        </p:txBody>
      </p:sp>
      <p:sp>
        <p:nvSpPr>
          <p:cNvPr id="4" name="Freeform 4"/>
          <p:cNvSpPr/>
          <p:nvPr/>
        </p:nvSpPr>
        <p:spPr>
          <a:xfrm>
            <a:off x="3130179" y="2482995"/>
            <a:ext cx="917973" cy="918150"/>
          </a:xfrm>
          <a:custGeom>
            <a:avLst/>
            <a:gdLst/>
            <a:ahLst/>
            <a:cxnLst/>
            <a:rect l="l" t="t" r="r" b="b"/>
            <a:pathLst>
              <a:path w="917973" h="918150">
                <a:moveTo>
                  <a:pt x="460773" y="857250"/>
                </a:moveTo>
                <a:cubicBezTo>
                  <a:pt x="713305" y="857250"/>
                  <a:pt x="917973" y="665262"/>
                  <a:pt x="917973" y="428625"/>
                </a:cubicBezTo>
                <a:cubicBezTo>
                  <a:pt x="917973" y="191988"/>
                  <a:pt x="713305" y="0"/>
                  <a:pt x="460773" y="0"/>
                </a:cubicBezTo>
                <a:cubicBezTo>
                  <a:pt x="208241" y="0"/>
                  <a:pt x="3573" y="191988"/>
                  <a:pt x="3573" y="428625"/>
                </a:cubicBezTo>
                <a:cubicBezTo>
                  <a:pt x="3573" y="525601"/>
                  <a:pt x="37863" y="614898"/>
                  <a:pt x="95727" y="686693"/>
                </a:cubicBezTo>
                <a:lnTo>
                  <a:pt x="8574" y="851535"/>
                </a:lnTo>
                <a:cubicBezTo>
                  <a:pt x="0" y="867608"/>
                  <a:pt x="2680" y="887254"/>
                  <a:pt x="15003" y="900648"/>
                </a:cubicBezTo>
                <a:cubicBezTo>
                  <a:pt x="27326" y="914043"/>
                  <a:pt x="46792" y="918150"/>
                  <a:pt x="63401" y="911007"/>
                </a:cubicBezTo>
                <a:lnTo>
                  <a:pt x="274856" y="820459"/>
                </a:lnTo>
                <a:cubicBezTo>
                  <a:pt x="331650" y="844034"/>
                  <a:pt x="394515" y="857250"/>
                  <a:pt x="460773" y="857250"/>
                </a:cubicBezTo>
                <a:close/>
                <a:moveTo>
                  <a:pt x="232173" y="371475"/>
                </a:moveTo>
                <a:cubicBezTo>
                  <a:pt x="263715" y="371475"/>
                  <a:pt x="289323" y="397083"/>
                  <a:pt x="289323" y="428625"/>
                </a:cubicBezTo>
                <a:cubicBezTo>
                  <a:pt x="289323" y="460167"/>
                  <a:pt x="263715" y="485775"/>
                  <a:pt x="232173" y="485775"/>
                </a:cubicBezTo>
                <a:cubicBezTo>
                  <a:pt x="200631" y="485775"/>
                  <a:pt x="175023" y="460167"/>
                  <a:pt x="175023" y="428625"/>
                </a:cubicBezTo>
                <a:cubicBezTo>
                  <a:pt x="175023" y="397083"/>
                  <a:pt x="200631" y="371475"/>
                  <a:pt x="232173" y="371475"/>
                </a:cubicBezTo>
                <a:close/>
                <a:moveTo>
                  <a:pt x="460773" y="371475"/>
                </a:moveTo>
                <a:cubicBezTo>
                  <a:pt x="492315" y="371475"/>
                  <a:pt x="517923" y="397083"/>
                  <a:pt x="517923" y="428625"/>
                </a:cubicBezTo>
                <a:cubicBezTo>
                  <a:pt x="517923" y="460167"/>
                  <a:pt x="492315" y="485775"/>
                  <a:pt x="460773" y="485775"/>
                </a:cubicBezTo>
                <a:cubicBezTo>
                  <a:pt x="429231" y="485775"/>
                  <a:pt x="403623" y="460167"/>
                  <a:pt x="403623" y="428625"/>
                </a:cubicBezTo>
                <a:cubicBezTo>
                  <a:pt x="403623" y="397083"/>
                  <a:pt x="429231" y="371475"/>
                  <a:pt x="460773" y="371475"/>
                </a:cubicBezTo>
                <a:close/>
                <a:moveTo>
                  <a:pt x="632223" y="428625"/>
                </a:moveTo>
                <a:cubicBezTo>
                  <a:pt x="632223" y="397083"/>
                  <a:pt x="657831" y="371475"/>
                  <a:pt x="689373" y="371475"/>
                </a:cubicBezTo>
                <a:cubicBezTo>
                  <a:pt x="720915" y="371475"/>
                  <a:pt x="746523" y="397083"/>
                  <a:pt x="746523" y="428625"/>
                </a:cubicBezTo>
                <a:cubicBezTo>
                  <a:pt x="746523" y="460167"/>
                  <a:pt x="720915" y="485775"/>
                  <a:pt x="689373" y="485775"/>
                </a:cubicBezTo>
                <a:cubicBezTo>
                  <a:pt x="657831" y="485775"/>
                  <a:pt x="632223" y="460167"/>
                  <a:pt x="632223" y="428625"/>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3145685" y="3625859"/>
            <a:ext cx="100012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88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Conversational AI</a:t>
            </a:r>
            <a:endParaRPr lang="en-US" sz="1100"/>
          </a:p>
        </p:txBody>
      </p:sp>
      <p:sp>
        <p:nvSpPr>
          <p:cNvPr id="6" name="AutoShape 6"/>
          <p:cNvSpPr/>
          <p:nvPr/>
        </p:nvSpPr>
        <p:spPr>
          <a:xfrm>
            <a:off x="3247971" y="4044879"/>
            <a:ext cx="771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45"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Provides Advice</a:t>
            </a:r>
            <a:endParaRPr lang="en-US" sz="1100"/>
          </a:p>
        </p:txBody>
      </p:sp>
      <p:sp>
        <p:nvSpPr>
          <p:cNvPr id="7" name="Freeform 7"/>
          <p:cNvSpPr/>
          <p:nvPr/>
        </p:nvSpPr>
        <p:spPr>
          <a:xfrm>
            <a:off x="5753100" y="3135663"/>
            <a:ext cx="689952" cy="522922"/>
          </a:xfrm>
          <a:custGeom>
            <a:avLst/>
            <a:gdLst/>
            <a:ahLst/>
            <a:cxnLst/>
            <a:rect l="l" t="t" r="r" b="b"/>
            <a:pathLst>
              <a:path w="689952" h="522922">
                <a:moveTo>
                  <a:pt x="673209" y="291733"/>
                </a:moveTo>
                <a:cubicBezTo>
                  <a:pt x="689952" y="274989"/>
                  <a:pt x="689952" y="247800"/>
                  <a:pt x="673209" y="231055"/>
                </a:cubicBezTo>
                <a:lnTo>
                  <a:pt x="458897" y="16743"/>
                </a:lnTo>
                <a:cubicBezTo>
                  <a:pt x="442153" y="0"/>
                  <a:pt x="414964" y="0"/>
                  <a:pt x="398219" y="16743"/>
                </a:cubicBezTo>
                <a:cubicBezTo>
                  <a:pt x="381476" y="33486"/>
                  <a:pt x="381476" y="60677"/>
                  <a:pt x="398219" y="77420"/>
                </a:cubicBezTo>
                <a:lnTo>
                  <a:pt x="539398" y="218599"/>
                </a:lnTo>
                <a:lnTo>
                  <a:pt x="42862" y="218599"/>
                </a:lnTo>
                <a:cubicBezTo>
                  <a:pt x="19154" y="218599"/>
                  <a:pt x="0" y="237753"/>
                  <a:pt x="0" y="261461"/>
                </a:cubicBezTo>
                <a:cubicBezTo>
                  <a:pt x="0" y="285169"/>
                  <a:pt x="19154" y="304324"/>
                  <a:pt x="42862" y="304324"/>
                </a:cubicBezTo>
                <a:lnTo>
                  <a:pt x="539398" y="304324"/>
                </a:lnTo>
                <a:lnTo>
                  <a:pt x="398219" y="445502"/>
                </a:lnTo>
                <a:cubicBezTo>
                  <a:pt x="381476" y="462245"/>
                  <a:pt x="381476" y="489436"/>
                  <a:pt x="398219" y="506179"/>
                </a:cubicBezTo>
                <a:cubicBezTo>
                  <a:pt x="414964" y="522922"/>
                  <a:pt x="442153" y="522922"/>
                  <a:pt x="458897" y="506179"/>
                </a:cubicBezTo>
                <a:lnTo>
                  <a:pt x="673209" y="291867"/>
                </a:ln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6999116" y="1795274"/>
            <a:ext cx="3206460" cy="3206460"/>
          </a:xfrm>
          <a:custGeom>
            <a:avLst/>
            <a:gdLst/>
            <a:ahLst/>
            <a:cxnLst/>
            <a:rect l="l" t="t" r="r" b="b"/>
            <a:pathLst>
              <a:path w="3206460" h="3206460">
                <a:moveTo>
                  <a:pt x="228589" y="0"/>
                </a:moveTo>
                <a:lnTo>
                  <a:pt x="2977873" y="0"/>
                </a:lnTo>
                <a:cubicBezTo>
                  <a:pt x="3104119" y="0"/>
                  <a:pt x="3206460" y="102343"/>
                  <a:pt x="3206460" y="228589"/>
                </a:cubicBezTo>
                <a:lnTo>
                  <a:pt x="3206460" y="2977873"/>
                </a:lnTo>
                <a:cubicBezTo>
                  <a:pt x="3206460" y="3104119"/>
                  <a:pt x="3104119" y="3206460"/>
                  <a:pt x="2977873" y="3206460"/>
                </a:cubicBezTo>
                <a:lnTo>
                  <a:pt x="228589" y="3206460"/>
                </a:lnTo>
                <a:cubicBezTo>
                  <a:pt x="102343" y="3206460"/>
                  <a:pt x="0" y="3104119"/>
                  <a:pt x="0" y="2977873"/>
                </a:cubicBezTo>
                <a:lnTo>
                  <a:pt x="0" y="228589"/>
                </a:lnTo>
                <a:cubicBezTo>
                  <a:pt x="0" y="102427"/>
                  <a:pt x="102427" y="0"/>
                  <a:pt x="228589" y="0"/>
                </a:cubicBezTo>
                <a:close/>
              </a:path>
            </a:pathLst>
          </a:custGeom>
          <a:solidFill>
            <a:srgbClr val="FFFFFF">
              <a:alpha val="100000"/>
            </a:srgbClr>
          </a:solidFill>
          <a:ln w="38100">
            <a:solidFill>
              <a:srgbClr val="1E90FF">
                <a:alpha val="100000"/>
              </a:srgbClr>
            </a:solidFill>
            <a:prstDash val="solid"/>
          </a:ln>
        </p:spPr>
        <p:txBody>
          <a:bodyPr wrap="square" lIns="91440" tIns="45720" rIns="91440" bIns="45720" rtlCol="0" anchor="t">
            <a:noAutofit/>
          </a:bodyPr>
          <a:lstStyle/>
          <a:p>
            <a:pPr algn="ctr">
              <a:defRPr/>
            </a:pPr>
          </a:p>
        </p:txBody>
      </p:sp>
      <p:sp>
        <p:nvSpPr>
          <p:cNvPr id="9" name="Freeform 9"/>
          <p:cNvSpPr/>
          <p:nvPr/>
        </p:nvSpPr>
        <p:spPr>
          <a:xfrm>
            <a:off x="8143848" y="2482995"/>
            <a:ext cx="914400" cy="857250"/>
          </a:xfrm>
          <a:custGeom>
            <a:avLst/>
            <a:gdLst/>
            <a:ahLst/>
            <a:cxnLst/>
            <a:rect l="l" t="t" r="r" b="b"/>
            <a:pathLst>
              <a:path w="914400" h="857250">
                <a:moveTo>
                  <a:pt x="314325" y="100013"/>
                </a:moveTo>
                <a:lnTo>
                  <a:pt x="314325" y="171450"/>
                </a:lnTo>
                <a:lnTo>
                  <a:pt x="600075" y="171450"/>
                </a:lnTo>
                <a:lnTo>
                  <a:pt x="600075" y="100013"/>
                </a:lnTo>
                <a:cubicBezTo>
                  <a:pt x="600075" y="92154"/>
                  <a:pt x="593646" y="85725"/>
                  <a:pt x="585788" y="85725"/>
                </a:cubicBezTo>
                <a:lnTo>
                  <a:pt x="328612" y="85725"/>
                </a:lnTo>
                <a:cubicBezTo>
                  <a:pt x="320754" y="85725"/>
                  <a:pt x="314325" y="92154"/>
                  <a:pt x="314325" y="100013"/>
                </a:cubicBezTo>
                <a:close/>
                <a:moveTo>
                  <a:pt x="228600" y="171450"/>
                </a:moveTo>
                <a:lnTo>
                  <a:pt x="228600" y="100013"/>
                </a:lnTo>
                <a:cubicBezTo>
                  <a:pt x="228600" y="44827"/>
                  <a:pt x="273427" y="0"/>
                  <a:pt x="328612" y="0"/>
                </a:cubicBezTo>
                <a:lnTo>
                  <a:pt x="585788" y="0"/>
                </a:lnTo>
                <a:cubicBezTo>
                  <a:pt x="640973" y="0"/>
                  <a:pt x="685800" y="44827"/>
                  <a:pt x="685800" y="100013"/>
                </a:cubicBezTo>
                <a:lnTo>
                  <a:pt x="685800" y="171450"/>
                </a:lnTo>
                <a:lnTo>
                  <a:pt x="735985" y="171450"/>
                </a:lnTo>
                <a:cubicBezTo>
                  <a:pt x="758666" y="171450"/>
                  <a:pt x="780454" y="180558"/>
                  <a:pt x="796527" y="196632"/>
                </a:cubicBezTo>
                <a:lnTo>
                  <a:pt x="889218" y="289323"/>
                </a:lnTo>
                <a:cubicBezTo>
                  <a:pt x="905292" y="305396"/>
                  <a:pt x="914400" y="327184"/>
                  <a:pt x="914400" y="349865"/>
                </a:cubicBezTo>
                <a:lnTo>
                  <a:pt x="914400" y="485775"/>
                </a:lnTo>
                <a:lnTo>
                  <a:pt x="671512" y="485775"/>
                </a:lnTo>
                <a:lnTo>
                  <a:pt x="671512" y="457200"/>
                </a:lnTo>
                <a:cubicBezTo>
                  <a:pt x="671512" y="433447"/>
                  <a:pt x="652403" y="414337"/>
                  <a:pt x="628650" y="414337"/>
                </a:cubicBezTo>
                <a:cubicBezTo>
                  <a:pt x="604897" y="414337"/>
                  <a:pt x="585788" y="433447"/>
                  <a:pt x="585788" y="457200"/>
                </a:cubicBezTo>
                <a:lnTo>
                  <a:pt x="585788" y="485775"/>
                </a:lnTo>
                <a:lnTo>
                  <a:pt x="328612" y="485775"/>
                </a:lnTo>
                <a:lnTo>
                  <a:pt x="328612" y="457200"/>
                </a:lnTo>
                <a:cubicBezTo>
                  <a:pt x="328612" y="433447"/>
                  <a:pt x="309503" y="414337"/>
                  <a:pt x="285750" y="414337"/>
                </a:cubicBezTo>
                <a:cubicBezTo>
                  <a:pt x="261997" y="414337"/>
                  <a:pt x="242888" y="433447"/>
                  <a:pt x="242888" y="457200"/>
                </a:cubicBezTo>
                <a:lnTo>
                  <a:pt x="242888" y="485775"/>
                </a:lnTo>
                <a:lnTo>
                  <a:pt x="0" y="485775"/>
                </a:lnTo>
                <a:lnTo>
                  <a:pt x="0" y="349865"/>
                </a:lnTo>
                <a:cubicBezTo>
                  <a:pt x="0" y="327184"/>
                  <a:pt x="9108" y="305396"/>
                  <a:pt x="25182" y="289323"/>
                </a:cubicBezTo>
                <a:lnTo>
                  <a:pt x="117873" y="196632"/>
                </a:lnTo>
                <a:cubicBezTo>
                  <a:pt x="133946" y="180558"/>
                  <a:pt x="155734" y="171450"/>
                  <a:pt x="178415" y="171450"/>
                </a:cubicBezTo>
                <a:lnTo>
                  <a:pt x="228600" y="171450"/>
                </a:lnTo>
                <a:close/>
                <a:moveTo>
                  <a:pt x="0" y="742950"/>
                </a:moveTo>
                <a:lnTo>
                  <a:pt x="0" y="571500"/>
                </a:lnTo>
                <a:lnTo>
                  <a:pt x="242888" y="571500"/>
                </a:lnTo>
                <a:lnTo>
                  <a:pt x="242888" y="600075"/>
                </a:lnTo>
                <a:cubicBezTo>
                  <a:pt x="242888" y="623828"/>
                  <a:pt x="261997" y="642937"/>
                  <a:pt x="285750" y="642937"/>
                </a:cubicBezTo>
                <a:cubicBezTo>
                  <a:pt x="309503" y="642937"/>
                  <a:pt x="328612" y="623828"/>
                  <a:pt x="328612" y="600075"/>
                </a:cubicBezTo>
                <a:lnTo>
                  <a:pt x="328612" y="571500"/>
                </a:lnTo>
                <a:lnTo>
                  <a:pt x="585788" y="571500"/>
                </a:lnTo>
                <a:lnTo>
                  <a:pt x="585788" y="600075"/>
                </a:lnTo>
                <a:cubicBezTo>
                  <a:pt x="585788" y="623828"/>
                  <a:pt x="604897" y="642937"/>
                  <a:pt x="628650" y="642937"/>
                </a:cubicBezTo>
                <a:cubicBezTo>
                  <a:pt x="652403" y="642937"/>
                  <a:pt x="671512" y="623828"/>
                  <a:pt x="671512" y="600075"/>
                </a:cubicBezTo>
                <a:lnTo>
                  <a:pt x="671512" y="571500"/>
                </a:lnTo>
                <a:lnTo>
                  <a:pt x="914400" y="571500"/>
                </a:lnTo>
                <a:lnTo>
                  <a:pt x="914400" y="742950"/>
                </a:lnTo>
                <a:cubicBezTo>
                  <a:pt x="914400" y="805994"/>
                  <a:pt x="863144" y="857250"/>
                  <a:pt x="800100" y="857250"/>
                </a:cubicBezTo>
                <a:lnTo>
                  <a:pt x="114300" y="857250"/>
                </a:lnTo>
                <a:cubicBezTo>
                  <a:pt x="51256" y="857250"/>
                  <a:pt x="0" y="805994"/>
                  <a:pt x="0" y="74295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8155781" y="3625859"/>
            <a:ext cx="100012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86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Action-Oriented AI</a:t>
            </a:r>
            <a:endParaRPr lang="en-US" sz="1100"/>
          </a:p>
        </p:txBody>
      </p:sp>
      <p:sp>
        <p:nvSpPr>
          <p:cNvPr id="11" name="AutoShape 11"/>
          <p:cNvSpPr/>
          <p:nvPr/>
        </p:nvSpPr>
        <p:spPr>
          <a:xfrm>
            <a:off x="8258066" y="4044879"/>
            <a:ext cx="771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Executes Automatically</a:t>
            </a:r>
            <a:endParaRPr lang="en-US" sz="1100"/>
          </a:p>
        </p:txBody>
      </p:sp>
      <p:sp>
        <p:nvSpPr>
          <p:cNvPr id="12" name="AutoShape 12"/>
          <p:cNvSpPr/>
          <p:nvPr/>
        </p:nvSpPr>
        <p:spPr>
          <a:xfrm>
            <a:off x="317500" y="5651681"/>
            <a:ext cx="11557000" cy="828675"/>
          </a:xfrm>
          <a:prstGeom prst="rect">
            <a:avLst/>
          </a:prstGeom>
          <a:noFill/>
          <a:ln w="12700">
            <a:noFill/>
            <a:prstDash val="solid"/>
          </a:ln>
        </p:spPr>
        <p:txBody>
          <a:bodyPr wrap="square" lIns="0" tIns="0" rIns="0" bIns="0" rtlCol="0" anchor="ctr">
            <a:noAutofit/>
          </a:bodyPr>
          <a:lstStyle/>
          <a:p>
            <a:pPr indent="0" algn="ctr">
              <a:lnSpc>
                <a:spcPct val="142000"/>
              </a:lnSpc>
              <a:defRPr/>
            </a:pPr>
            <a:r>
              <a:rPr lang="en-US" sz="186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From "Asking AI How to Write an Email"</a:t>
            </a:r>
            <a:endParaRPr lang="en-US" sz="1100"/>
          </a:p>
          <a:p>
            <a:pPr indent="0" algn="ctr">
              <a:lnSpc>
                <a:spcPct val="142000"/>
              </a:lnSpc>
            </a:pPr>
            <a:r>
              <a:rPr lang="en-US" sz="186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to "AI </a:t>
            </a:r>
            <a:r>
              <a:rPr lang="en-US" sz="186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Itself</a:t>
            </a:r>
            <a:r>
              <a:rPr lang="en-US" sz="186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Sends Emails, Books Meeting Rooms, Organizes Data, ..."</a:t>
            </a:r>
            <a:endPar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endParaRPr>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66700" y="381000"/>
            <a:ext cx="11658600" cy="6858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30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Case 2: Intelligent Agents Represented by OpenClaw</a:t>
            </a:r>
            <a:endParaRPr lang="en-US" sz="1100"/>
          </a:p>
        </p:txBody>
      </p:sp>
      <p:sp>
        <p:nvSpPr>
          <p:cNvPr id="3" name="Freeform 3"/>
          <p:cNvSpPr/>
          <p:nvPr/>
        </p:nvSpPr>
        <p:spPr>
          <a:xfrm>
            <a:off x="381000" y="1371565"/>
            <a:ext cx="3657600" cy="1638300"/>
          </a:xfrm>
          <a:custGeom>
            <a:avLst/>
            <a:gdLst/>
            <a:ahLst/>
            <a:cxnLst/>
            <a:rect l="l" t="t" r="r" b="b"/>
            <a:pathLst>
              <a:path w="3657600" h="1638300">
                <a:moveTo>
                  <a:pt x="114304" y="0"/>
                </a:moveTo>
                <a:lnTo>
                  <a:pt x="3543296" y="0"/>
                </a:lnTo>
                <a:cubicBezTo>
                  <a:pt x="3606424" y="0"/>
                  <a:pt x="3657600" y="51176"/>
                  <a:pt x="3657600" y="114304"/>
                </a:cubicBezTo>
                <a:lnTo>
                  <a:pt x="3657600" y="1523996"/>
                </a:lnTo>
                <a:cubicBezTo>
                  <a:pt x="3657600" y="1587124"/>
                  <a:pt x="3606424" y="1638300"/>
                  <a:pt x="3543296" y="1638300"/>
                </a:cubicBezTo>
                <a:lnTo>
                  <a:pt x="114304" y="1638300"/>
                </a:lnTo>
                <a:cubicBezTo>
                  <a:pt x="51176" y="1638300"/>
                  <a:pt x="0" y="1587124"/>
                  <a:pt x="0" y="1523996"/>
                </a:cubicBezTo>
                <a:lnTo>
                  <a:pt x="0" y="114304"/>
                </a:lnTo>
                <a:cubicBezTo>
                  <a:pt x="0" y="51218"/>
                  <a:pt x="51218" y="0"/>
                  <a:pt x="114304"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1981182" y="1600128"/>
            <a:ext cx="459969" cy="460057"/>
          </a:xfrm>
          <a:custGeom>
            <a:avLst/>
            <a:gdLst/>
            <a:ahLst/>
            <a:cxnLst/>
            <a:rect l="l" t="t" r="r" b="b"/>
            <a:pathLst>
              <a:path w="459969" h="460057">
                <a:moveTo>
                  <a:pt x="371475" y="185738"/>
                </a:moveTo>
                <a:cubicBezTo>
                  <a:pt x="371475" y="226725"/>
                  <a:pt x="358170" y="264587"/>
                  <a:pt x="335756" y="295305"/>
                </a:cubicBezTo>
                <a:lnTo>
                  <a:pt x="448807" y="408443"/>
                </a:lnTo>
                <a:cubicBezTo>
                  <a:pt x="459969" y="419605"/>
                  <a:pt x="459969" y="437733"/>
                  <a:pt x="448807" y="448895"/>
                </a:cubicBezTo>
                <a:cubicBezTo>
                  <a:pt x="437645" y="460058"/>
                  <a:pt x="419517" y="460058"/>
                  <a:pt x="408355" y="448895"/>
                </a:cubicBezTo>
                <a:lnTo>
                  <a:pt x="295305" y="335756"/>
                </a:lnTo>
                <a:cubicBezTo>
                  <a:pt x="264587" y="358170"/>
                  <a:pt x="226725" y="371475"/>
                  <a:pt x="185738" y="371475"/>
                </a:cubicBezTo>
                <a:cubicBezTo>
                  <a:pt x="83135" y="371475"/>
                  <a:pt x="0" y="288340"/>
                  <a:pt x="0" y="185738"/>
                </a:cubicBezTo>
                <a:cubicBezTo>
                  <a:pt x="0" y="83135"/>
                  <a:pt x="83135" y="0"/>
                  <a:pt x="185738" y="0"/>
                </a:cubicBezTo>
                <a:cubicBezTo>
                  <a:pt x="288340" y="0"/>
                  <a:pt x="371475" y="83135"/>
                  <a:pt x="371475" y="185738"/>
                </a:cubicBezTo>
                <a:close/>
                <a:moveTo>
                  <a:pt x="185738" y="314325"/>
                </a:moveTo>
                <a:cubicBezTo>
                  <a:pt x="256706" y="314325"/>
                  <a:pt x="314325" y="256706"/>
                  <a:pt x="314325" y="185738"/>
                </a:cubicBezTo>
                <a:cubicBezTo>
                  <a:pt x="314325" y="114769"/>
                  <a:pt x="256706" y="57150"/>
                  <a:pt x="185738" y="57150"/>
                </a:cubicBezTo>
                <a:cubicBezTo>
                  <a:pt x="114769" y="57150"/>
                  <a:pt x="57150" y="114769"/>
                  <a:pt x="57150" y="185738"/>
                </a:cubicBezTo>
                <a:cubicBezTo>
                  <a:pt x="57150" y="256706"/>
                  <a:pt x="114769" y="314325"/>
                  <a:pt x="185738" y="314325"/>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561939" y="2209693"/>
            <a:ext cx="3295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8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Step 1: Search</a:t>
            </a:r>
            <a:endParaRPr lang="en-US" sz="1100"/>
          </a:p>
        </p:txBody>
      </p:sp>
      <p:sp>
        <p:nvSpPr>
          <p:cNvPr id="6" name="AutoShape 6"/>
          <p:cNvSpPr/>
          <p:nvPr/>
        </p:nvSpPr>
        <p:spPr>
          <a:xfrm>
            <a:off x="571464" y="2552447"/>
            <a:ext cx="32766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Find relevant materials</a:t>
            </a:r>
            <a:endParaRPr lang="en-US" sz="1100"/>
          </a:p>
        </p:txBody>
      </p:sp>
      <p:sp>
        <p:nvSpPr>
          <p:cNvPr id="7" name="Freeform 7"/>
          <p:cNvSpPr/>
          <p:nvPr/>
        </p:nvSpPr>
        <p:spPr>
          <a:xfrm>
            <a:off x="4267128" y="1371565"/>
            <a:ext cx="3657600" cy="1638300"/>
          </a:xfrm>
          <a:custGeom>
            <a:avLst/>
            <a:gdLst/>
            <a:ahLst/>
            <a:cxnLst/>
            <a:rect l="l" t="t" r="r" b="b"/>
            <a:pathLst>
              <a:path w="3657600" h="1638300">
                <a:moveTo>
                  <a:pt x="114304" y="0"/>
                </a:moveTo>
                <a:lnTo>
                  <a:pt x="3543296" y="0"/>
                </a:lnTo>
                <a:cubicBezTo>
                  <a:pt x="3606424" y="0"/>
                  <a:pt x="3657600" y="51176"/>
                  <a:pt x="3657600" y="114304"/>
                </a:cubicBezTo>
                <a:lnTo>
                  <a:pt x="3657600" y="1523996"/>
                </a:lnTo>
                <a:cubicBezTo>
                  <a:pt x="3657600" y="1587124"/>
                  <a:pt x="3606424" y="1638300"/>
                  <a:pt x="3543296" y="1638300"/>
                </a:cubicBezTo>
                <a:lnTo>
                  <a:pt x="114304" y="1638300"/>
                </a:lnTo>
                <a:cubicBezTo>
                  <a:pt x="51176" y="1638300"/>
                  <a:pt x="0" y="1587124"/>
                  <a:pt x="0" y="1523996"/>
                </a:cubicBezTo>
                <a:lnTo>
                  <a:pt x="0" y="114304"/>
                </a:lnTo>
                <a:cubicBezTo>
                  <a:pt x="0" y="51218"/>
                  <a:pt x="51218" y="0"/>
                  <a:pt x="114304"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5864987" y="1657278"/>
            <a:ext cx="461753" cy="402281"/>
          </a:xfrm>
          <a:custGeom>
            <a:avLst/>
            <a:gdLst/>
            <a:ahLst/>
            <a:cxnLst/>
            <a:rect l="l" t="t" r="r" b="b"/>
            <a:pathLst>
              <a:path w="461753" h="402281">
                <a:moveTo>
                  <a:pt x="30897" y="0"/>
                </a:moveTo>
                <a:cubicBezTo>
                  <a:pt x="19378" y="0"/>
                  <a:pt x="8930" y="6965"/>
                  <a:pt x="4464" y="17681"/>
                </a:cubicBezTo>
                <a:cubicBezTo>
                  <a:pt x="0" y="28396"/>
                  <a:pt x="2501" y="40630"/>
                  <a:pt x="10715" y="48757"/>
                </a:cubicBezTo>
                <a:lnTo>
                  <a:pt x="173772" y="211901"/>
                </a:lnTo>
                <a:lnTo>
                  <a:pt x="173772" y="314325"/>
                </a:lnTo>
                <a:cubicBezTo>
                  <a:pt x="173772" y="321915"/>
                  <a:pt x="176809" y="329148"/>
                  <a:pt x="182165" y="334507"/>
                </a:cubicBezTo>
                <a:lnTo>
                  <a:pt x="239315" y="391657"/>
                </a:lnTo>
                <a:cubicBezTo>
                  <a:pt x="247531" y="399871"/>
                  <a:pt x="259765" y="402281"/>
                  <a:pt x="270481" y="397819"/>
                </a:cubicBezTo>
                <a:cubicBezTo>
                  <a:pt x="281196" y="393353"/>
                  <a:pt x="288072" y="382994"/>
                  <a:pt x="288072" y="371475"/>
                </a:cubicBezTo>
                <a:lnTo>
                  <a:pt x="288072" y="211901"/>
                </a:lnTo>
                <a:lnTo>
                  <a:pt x="451129" y="48845"/>
                </a:lnTo>
                <a:cubicBezTo>
                  <a:pt x="459343" y="40630"/>
                  <a:pt x="461753" y="28396"/>
                  <a:pt x="457291" y="17681"/>
                </a:cubicBezTo>
                <a:cubicBezTo>
                  <a:pt x="452825" y="6965"/>
                  <a:pt x="442466" y="0"/>
                  <a:pt x="430947" y="0"/>
                </a:cubicBezTo>
                <a:lnTo>
                  <a:pt x="30897"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4448067" y="2209693"/>
            <a:ext cx="3295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8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Step 2: Filter</a:t>
            </a:r>
            <a:endParaRPr lang="en-US" sz="1100"/>
          </a:p>
        </p:txBody>
      </p:sp>
      <p:sp>
        <p:nvSpPr>
          <p:cNvPr id="10" name="AutoShape 10"/>
          <p:cNvSpPr/>
          <p:nvPr/>
        </p:nvSpPr>
        <p:spPr>
          <a:xfrm>
            <a:off x="4457592" y="2552447"/>
            <a:ext cx="32766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Extract key information</a:t>
            </a:r>
            <a:endParaRPr lang="en-US" sz="1100"/>
          </a:p>
        </p:txBody>
      </p:sp>
      <p:sp>
        <p:nvSpPr>
          <p:cNvPr id="11" name="Freeform 11"/>
          <p:cNvSpPr/>
          <p:nvPr/>
        </p:nvSpPr>
        <p:spPr>
          <a:xfrm>
            <a:off x="8153345" y="1371565"/>
            <a:ext cx="3657600" cy="1638300"/>
          </a:xfrm>
          <a:custGeom>
            <a:avLst/>
            <a:gdLst/>
            <a:ahLst/>
            <a:cxnLst/>
            <a:rect l="l" t="t" r="r" b="b"/>
            <a:pathLst>
              <a:path w="3657600" h="1638300">
                <a:moveTo>
                  <a:pt x="114304" y="0"/>
                </a:moveTo>
                <a:lnTo>
                  <a:pt x="3543296" y="0"/>
                </a:lnTo>
                <a:cubicBezTo>
                  <a:pt x="3606424" y="0"/>
                  <a:pt x="3657600" y="51176"/>
                  <a:pt x="3657600" y="114304"/>
                </a:cubicBezTo>
                <a:lnTo>
                  <a:pt x="3657600" y="1523996"/>
                </a:lnTo>
                <a:cubicBezTo>
                  <a:pt x="3657600" y="1587124"/>
                  <a:pt x="3606424" y="1638300"/>
                  <a:pt x="3543296" y="1638300"/>
                </a:cubicBezTo>
                <a:lnTo>
                  <a:pt x="114304" y="1638300"/>
                </a:lnTo>
                <a:cubicBezTo>
                  <a:pt x="51176" y="1638300"/>
                  <a:pt x="0" y="1587124"/>
                  <a:pt x="0" y="1523996"/>
                </a:cubicBezTo>
                <a:lnTo>
                  <a:pt x="0" y="114304"/>
                </a:lnTo>
                <a:cubicBezTo>
                  <a:pt x="0" y="51218"/>
                  <a:pt x="51218" y="0"/>
                  <a:pt x="114304"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9810677" y="1600128"/>
            <a:ext cx="342900" cy="457200"/>
          </a:xfrm>
          <a:custGeom>
            <a:avLst/>
            <a:gdLst/>
            <a:ahLst/>
            <a:cxnLst/>
            <a:rect l="l" t="t" r="r" b="b"/>
            <a:pathLst>
              <a:path w="342900" h="457200">
                <a:moveTo>
                  <a:pt x="0" y="57150"/>
                </a:moveTo>
                <a:cubicBezTo>
                  <a:pt x="0" y="25629"/>
                  <a:pt x="25629" y="0"/>
                  <a:pt x="57150" y="0"/>
                </a:cubicBezTo>
                <a:lnTo>
                  <a:pt x="190649" y="0"/>
                </a:lnTo>
                <a:cubicBezTo>
                  <a:pt x="205829" y="0"/>
                  <a:pt x="220384" y="5983"/>
                  <a:pt x="231101" y="16699"/>
                </a:cubicBezTo>
                <a:lnTo>
                  <a:pt x="326201" y="111890"/>
                </a:lnTo>
                <a:cubicBezTo>
                  <a:pt x="336917" y="122605"/>
                  <a:pt x="342900" y="137160"/>
                  <a:pt x="342900" y="152340"/>
                </a:cubicBezTo>
                <a:lnTo>
                  <a:pt x="342900" y="400050"/>
                </a:lnTo>
                <a:cubicBezTo>
                  <a:pt x="342900" y="431571"/>
                  <a:pt x="317271" y="457200"/>
                  <a:pt x="285750" y="457200"/>
                </a:cubicBezTo>
                <a:lnTo>
                  <a:pt x="57150" y="457200"/>
                </a:lnTo>
                <a:cubicBezTo>
                  <a:pt x="25629" y="457200"/>
                  <a:pt x="0" y="431571"/>
                  <a:pt x="0" y="400050"/>
                </a:cubicBezTo>
                <a:lnTo>
                  <a:pt x="0" y="57150"/>
                </a:lnTo>
                <a:close/>
                <a:moveTo>
                  <a:pt x="185737" y="52239"/>
                </a:moveTo>
                <a:lnTo>
                  <a:pt x="185737" y="135731"/>
                </a:lnTo>
                <a:cubicBezTo>
                  <a:pt x="185737" y="147608"/>
                  <a:pt x="195292" y="157163"/>
                  <a:pt x="207169" y="157163"/>
                </a:cubicBezTo>
                <a:lnTo>
                  <a:pt x="290661" y="157163"/>
                </a:lnTo>
                <a:lnTo>
                  <a:pt x="185737" y="52239"/>
                </a:lnTo>
                <a:close/>
                <a:moveTo>
                  <a:pt x="107156" y="228600"/>
                </a:moveTo>
                <a:cubicBezTo>
                  <a:pt x="95280" y="228600"/>
                  <a:pt x="85725" y="238155"/>
                  <a:pt x="85725" y="250031"/>
                </a:cubicBezTo>
                <a:cubicBezTo>
                  <a:pt x="85725" y="261908"/>
                  <a:pt x="95280" y="271463"/>
                  <a:pt x="107156" y="271463"/>
                </a:cubicBezTo>
                <a:lnTo>
                  <a:pt x="235744" y="271463"/>
                </a:lnTo>
                <a:cubicBezTo>
                  <a:pt x="247620" y="271463"/>
                  <a:pt x="257175" y="261908"/>
                  <a:pt x="257175" y="250031"/>
                </a:cubicBezTo>
                <a:cubicBezTo>
                  <a:pt x="257175" y="238155"/>
                  <a:pt x="247620" y="228600"/>
                  <a:pt x="235744" y="228600"/>
                </a:cubicBezTo>
                <a:lnTo>
                  <a:pt x="107156" y="228600"/>
                </a:lnTo>
                <a:close/>
                <a:moveTo>
                  <a:pt x="107156" y="314325"/>
                </a:moveTo>
                <a:cubicBezTo>
                  <a:pt x="95280" y="314325"/>
                  <a:pt x="85725" y="323880"/>
                  <a:pt x="85725" y="335756"/>
                </a:cubicBezTo>
                <a:cubicBezTo>
                  <a:pt x="85725" y="347633"/>
                  <a:pt x="95280" y="357188"/>
                  <a:pt x="107156" y="357188"/>
                </a:cubicBezTo>
                <a:lnTo>
                  <a:pt x="235744" y="357188"/>
                </a:lnTo>
                <a:cubicBezTo>
                  <a:pt x="247620" y="357188"/>
                  <a:pt x="257175" y="347633"/>
                  <a:pt x="257175" y="335756"/>
                </a:cubicBezTo>
                <a:cubicBezTo>
                  <a:pt x="257175" y="323880"/>
                  <a:pt x="247620" y="314325"/>
                  <a:pt x="235744" y="314325"/>
                </a:cubicBezTo>
                <a:lnTo>
                  <a:pt x="107156" y="314325"/>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8334284" y="2209693"/>
            <a:ext cx="3295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8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Step 3: Generate</a:t>
            </a:r>
            <a:endParaRPr lang="en-US" sz="1100"/>
          </a:p>
        </p:txBody>
      </p:sp>
      <p:sp>
        <p:nvSpPr>
          <p:cNvPr id="14" name="AutoShape 14"/>
          <p:cNvSpPr/>
          <p:nvPr/>
        </p:nvSpPr>
        <p:spPr>
          <a:xfrm>
            <a:off x="8343809" y="2552447"/>
            <a:ext cx="32766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Write complete report</a:t>
            </a:r>
            <a:endParaRPr lang="en-US" sz="1100"/>
          </a:p>
        </p:txBody>
      </p:sp>
      <p:sp>
        <p:nvSpPr>
          <p:cNvPr id="15" name="Freeform 15"/>
          <p:cNvSpPr/>
          <p:nvPr/>
        </p:nvSpPr>
        <p:spPr>
          <a:xfrm>
            <a:off x="381000" y="3238228"/>
            <a:ext cx="3657600" cy="1638300"/>
          </a:xfrm>
          <a:custGeom>
            <a:avLst/>
            <a:gdLst/>
            <a:ahLst/>
            <a:cxnLst/>
            <a:rect l="l" t="t" r="r" b="b"/>
            <a:pathLst>
              <a:path w="3657600" h="1638300">
                <a:moveTo>
                  <a:pt x="114304" y="0"/>
                </a:moveTo>
                <a:lnTo>
                  <a:pt x="3543296" y="0"/>
                </a:lnTo>
                <a:cubicBezTo>
                  <a:pt x="3606424" y="0"/>
                  <a:pt x="3657600" y="51176"/>
                  <a:pt x="3657600" y="114304"/>
                </a:cubicBezTo>
                <a:lnTo>
                  <a:pt x="3657600" y="1523996"/>
                </a:lnTo>
                <a:cubicBezTo>
                  <a:pt x="3657600" y="1587124"/>
                  <a:pt x="3606424" y="1638300"/>
                  <a:pt x="3543296" y="1638300"/>
                </a:cubicBezTo>
                <a:lnTo>
                  <a:pt x="114304" y="1638300"/>
                </a:lnTo>
                <a:cubicBezTo>
                  <a:pt x="51176" y="1638300"/>
                  <a:pt x="0" y="1587124"/>
                  <a:pt x="0" y="1523996"/>
                </a:cubicBezTo>
                <a:lnTo>
                  <a:pt x="0" y="114304"/>
                </a:lnTo>
                <a:cubicBezTo>
                  <a:pt x="0" y="51218"/>
                  <a:pt x="51218" y="0"/>
                  <a:pt x="114304"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1981182" y="3495370"/>
            <a:ext cx="457200" cy="400050"/>
          </a:xfrm>
          <a:custGeom>
            <a:avLst/>
            <a:gdLst/>
            <a:ahLst/>
            <a:cxnLst/>
            <a:rect l="l" t="t" r="r" b="b"/>
            <a:pathLst>
              <a:path w="457200" h="400050">
                <a:moveTo>
                  <a:pt x="57150" y="28575"/>
                </a:moveTo>
                <a:cubicBezTo>
                  <a:pt x="57150" y="12769"/>
                  <a:pt x="44381" y="0"/>
                  <a:pt x="28575" y="0"/>
                </a:cubicBezTo>
                <a:cubicBezTo>
                  <a:pt x="12769" y="0"/>
                  <a:pt x="0" y="12769"/>
                  <a:pt x="0" y="28575"/>
                </a:cubicBezTo>
                <a:lnTo>
                  <a:pt x="0" y="328612"/>
                </a:lnTo>
                <a:cubicBezTo>
                  <a:pt x="0" y="368082"/>
                  <a:pt x="31968" y="400050"/>
                  <a:pt x="71438" y="400050"/>
                </a:cubicBezTo>
                <a:lnTo>
                  <a:pt x="428625" y="400050"/>
                </a:lnTo>
                <a:cubicBezTo>
                  <a:pt x="444431" y="400050"/>
                  <a:pt x="457200" y="387281"/>
                  <a:pt x="457200" y="371475"/>
                </a:cubicBezTo>
                <a:cubicBezTo>
                  <a:pt x="457200" y="355669"/>
                  <a:pt x="444431" y="342900"/>
                  <a:pt x="428625" y="342900"/>
                </a:cubicBezTo>
                <a:lnTo>
                  <a:pt x="71438" y="342900"/>
                </a:lnTo>
                <a:cubicBezTo>
                  <a:pt x="63579" y="342900"/>
                  <a:pt x="57150" y="336471"/>
                  <a:pt x="57150" y="328612"/>
                </a:cubicBezTo>
                <a:lnTo>
                  <a:pt x="57150" y="28575"/>
                </a:lnTo>
                <a:close/>
                <a:moveTo>
                  <a:pt x="420232" y="105907"/>
                </a:moveTo>
                <a:cubicBezTo>
                  <a:pt x="431394" y="94745"/>
                  <a:pt x="431394" y="76617"/>
                  <a:pt x="420232" y="65455"/>
                </a:cubicBezTo>
                <a:cubicBezTo>
                  <a:pt x="409070" y="54292"/>
                  <a:pt x="390942" y="54292"/>
                  <a:pt x="379780" y="65455"/>
                </a:cubicBezTo>
                <a:lnTo>
                  <a:pt x="285750" y="159574"/>
                </a:lnTo>
                <a:lnTo>
                  <a:pt x="234494" y="108406"/>
                </a:lnTo>
                <a:cubicBezTo>
                  <a:pt x="223331" y="97244"/>
                  <a:pt x="205204" y="97244"/>
                  <a:pt x="194042" y="108406"/>
                </a:cubicBezTo>
                <a:lnTo>
                  <a:pt x="108317" y="194131"/>
                </a:lnTo>
                <a:cubicBezTo>
                  <a:pt x="97155" y="205294"/>
                  <a:pt x="97155" y="223421"/>
                  <a:pt x="108317" y="234583"/>
                </a:cubicBezTo>
                <a:cubicBezTo>
                  <a:pt x="119479" y="245745"/>
                  <a:pt x="137606" y="245745"/>
                  <a:pt x="148769" y="234583"/>
                </a:cubicBezTo>
                <a:lnTo>
                  <a:pt x="214312" y="169040"/>
                </a:lnTo>
                <a:lnTo>
                  <a:pt x="265568" y="220295"/>
                </a:lnTo>
                <a:cubicBezTo>
                  <a:pt x="276730" y="231458"/>
                  <a:pt x="294858" y="231458"/>
                  <a:pt x="306020" y="220295"/>
                </a:cubicBezTo>
                <a:lnTo>
                  <a:pt x="420320" y="105995"/>
                </a:ln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561939" y="4076358"/>
            <a:ext cx="3295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8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Step 4: Analyze</a:t>
            </a:r>
            <a:endParaRPr lang="en-US" sz="1100"/>
          </a:p>
        </p:txBody>
      </p:sp>
      <p:sp>
        <p:nvSpPr>
          <p:cNvPr id="18" name="AutoShape 18"/>
          <p:cNvSpPr/>
          <p:nvPr/>
        </p:nvSpPr>
        <p:spPr>
          <a:xfrm>
            <a:off x="571464" y="4419114"/>
            <a:ext cx="32766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Data visualization</a:t>
            </a:r>
            <a:endParaRPr lang="en-US" sz="1100"/>
          </a:p>
        </p:txBody>
      </p:sp>
      <p:sp>
        <p:nvSpPr>
          <p:cNvPr id="19" name="Freeform 19"/>
          <p:cNvSpPr/>
          <p:nvPr/>
        </p:nvSpPr>
        <p:spPr>
          <a:xfrm>
            <a:off x="4267128" y="3238228"/>
            <a:ext cx="3657600" cy="1638300"/>
          </a:xfrm>
          <a:custGeom>
            <a:avLst/>
            <a:gdLst/>
            <a:ahLst/>
            <a:cxnLst/>
            <a:rect l="l" t="t" r="r" b="b"/>
            <a:pathLst>
              <a:path w="3657600" h="1638300">
                <a:moveTo>
                  <a:pt x="114304" y="0"/>
                </a:moveTo>
                <a:lnTo>
                  <a:pt x="3543296" y="0"/>
                </a:lnTo>
                <a:cubicBezTo>
                  <a:pt x="3606424" y="0"/>
                  <a:pt x="3657600" y="51176"/>
                  <a:pt x="3657600" y="114304"/>
                </a:cubicBezTo>
                <a:lnTo>
                  <a:pt x="3657600" y="1523996"/>
                </a:lnTo>
                <a:cubicBezTo>
                  <a:pt x="3657600" y="1587124"/>
                  <a:pt x="3606424" y="1638300"/>
                  <a:pt x="3543296" y="1638300"/>
                </a:cubicBezTo>
                <a:lnTo>
                  <a:pt x="114304" y="1638300"/>
                </a:lnTo>
                <a:cubicBezTo>
                  <a:pt x="51176" y="1638300"/>
                  <a:pt x="0" y="1587124"/>
                  <a:pt x="0" y="1523996"/>
                </a:cubicBezTo>
                <a:lnTo>
                  <a:pt x="0" y="114304"/>
                </a:lnTo>
                <a:cubicBezTo>
                  <a:pt x="0" y="51218"/>
                  <a:pt x="51218" y="0"/>
                  <a:pt x="114304"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5867309" y="3523945"/>
            <a:ext cx="457200" cy="342900"/>
          </a:xfrm>
          <a:custGeom>
            <a:avLst/>
            <a:gdLst/>
            <a:ahLst/>
            <a:cxnLst/>
            <a:rect l="l" t="t" r="r" b="b"/>
            <a:pathLst>
              <a:path w="457200" h="342900">
                <a:moveTo>
                  <a:pt x="42863" y="0"/>
                </a:moveTo>
                <a:cubicBezTo>
                  <a:pt x="19199" y="0"/>
                  <a:pt x="0" y="19199"/>
                  <a:pt x="0" y="42863"/>
                </a:cubicBezTo>
                <a:cubicBezTo>
                  <a:pt x="0" y="56346"/>
                  <a:pt x="6340" y="69026"/>
                  <a:pt x="17145" y="77153"/>
                </a:cubicBezTo>
                <a:lnTo>
                  <a:pt x="202883" y="216456"/>
                </a:lnTo>
                <a:cubicBezTo>
                  <a:pt x="218152" y="227886"/>
                  <a:pt x="239048" y="227886"/>
                  <a:pt x="254317" y="216456"/>
                </a:cubicBezTo>
                <a:lnTo>
                  <a:pt x="440055" y="77153"/>
                </a:lnTo>
                <a:cubicBezTo>
                  <a:pt x="450860" y="69026"/>
                  <a:pt x="457200" y="56346"/>
                  <a:pt x="457200" y="42863"/>
                </a:cubicBezTo>
                <a:cubicBezTo>
                  <a:pt x="457200" y="19199"/>
                  <a:pt x="438001" y="0"/>
                  <a:pt x="414337" y="0"/>
                </a:cubicBezTo>
                <a:lnTo>
                  <a:pt x="42863" y="0"/>
                </a:lnTo>
                <a:close/>
                <a:moveTo>
                  <a:pt x="0" y="117873"/>
                </a:moveTo>
                <a:lnTo>
                  <a:pt x="0" y="285750"/>
                </a:lnTo>
                <a:cubicBezTo>
                  <a:pt x="0" y="317271"/>
                  <a:pt x="25629" y="342900"/>
                  <a:pt x="57150" y="342900"/>
                </a:cubicBezTo>
                <a:lnTo>
                  <a:pt x="400050" y="342900"/>
                </a:lnTo>
                <a:cubicBezTo>
                  <a:pt x="431571" y="342900"/>
                  <a:pt x="457200" y="317271"/>
                  <a:pt x="457200" y="285750"/>
                </a:cubicBezTo>
                <a:lnTo>
                  <a:pt x="457200" y="117873"/>
                </a:lnTo>
                <a:lnTo>
                  <a:pt x="280035" y="250746"/>
                </a:lnTo>
                <a:cubicBezTo>
                  <a:pt x="249585" y="273606"/>
                  <a:pt x="207615" y="273606"/>
                  <a:pt x="177165" y="250746"/>
                </a:cubicBezTo>
                <a:lnTo>
                  <a:pt x="0" y="117873"/>
                </a:ln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4448067" y="4076358"/>
            <a:ext cx="3295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8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Step 5: Send</a:t>
            </a:r>
            <a:endParaRPr lang="en-US" sz="1100"/>
          </a:p>
        </p:txBody>
      </p:sp>
      <p:sp>
        <p:nvSpPr>
          <p:cNvPr id="22" name="AutoShape 22"/>
          <p:cNvSpPr/>
          <p:nvPr/>
        </p:nvSpPr>
        <p:spPr>
          <a:xfrm>
            <a:off x="4457592" y="4419114"/>
            <a:ext cx="32766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Automatic email notification</a:t>
            </a:r>
            <a:endParaRPr lang="en-US" sz="1100"/>
          </a:p>
        </p:txBody>
      </p:sp>
      <p:sp>
        <p:nvSpPr>
          <p:cNvPr id="23" name="Freeform 23"/>
          <p:cNvSpPr/>
          <p:nvPr/>
        </p:nvSpPr>
        <p:spPr>
          <a:xfrm>
            <a:off x="8153345" y="3238228"/>
            <a:ext cx="3657600" cy="1638300"/>
          </a:xfrm>
          <a:custGeom>
            <a:avLst/>
            <a:gdLst/>
            <a:ahLst/>
            <a:cxnLst/>
            <a:rect l="l" t="t" r="r" b="b"/>
            <a:pathLst>
              <a:path w="3657600" h="1638300">
                <a:moveTo>
                  <a:pt x="114304" y="0"/>
                </a:moveTo>
                <a:lnTo>
                  <a:pt x="3543296" y="0"/>
                </a:lnTo>
                <a:cubicBezTo>
                  <a:pt x="3606424" y="0"/>
                  <a:pt x="3657600" y="51176"/>
                  <a:pt x="3657600" y="114304"/>
                </a:cubicBezTo>
                <a:lnTo>
                  <a:pt x="3657600" y="1523996"/>
                </a:lnTo>
                <a:cubicBezTo>
                  <a:pt x="3657600" y="1587124"/>
                  <a:pt x="3606424" y="1638300"/>
                  <a:pt x="3543296" y="1638300"/>
                </a:cubicBezTo>
                <a:lnTo>
                  <a:pt x="114304" y="1638300"/>
                </a:lnTo>
                <a:cubicBezTo>
                  <a:pt x="51176" y="1638300"/>
                  <a:pt x="0" y="1587124"/>
                  <a:pt x="0" y="1523996"/>
                </a:cubicBezTo>
                <a:lnTo>
                  <a:pt x="0" y="114304"/>
                </a:lnTo>
                <a:cubicBezTo>
                  <a:pt x="0" y="51218"/>
                  <a:pt x="51218" y="0"/>
                  <a:pt x="114304"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24" name="Freeform 24"/>
          <p:cNvSpPr/>
          <p:nvPr/>
        </p:nvSpPr>
        <p:spPr>
          <a:xfrm>
            <a:off x="9753527" y="3466795"/>
            <a:ext cx="457200" cy="457200"/>
          </a:xfrm>
          <a:custGeom>
            <a:avLst/>
            <a:gdLst/>
            <a:ahLst/>
            <a:cxnLst/>
            <a:rect l="l" t="t" r="r" b="b"/>
            <a:pathLst>
              <a:path w="457200" h="457200">
                <a:moveTo>
                  <a:pt x="228600" y="457200"/>
                </a:moveTo>
                <a:cubicBezTo>
                  <a:pt x="354768" y="457200"/>
                  <a:pt x="457200" y="354768"/>
                  <a:pt x="457200" y="228600"/>
                </a:cubicBezTo>
                <a:cubicBezTo>
                  <a:pt x="457200" y="102432"/>
                  <a:pt x="354768" y="0"/>
                  <a:pt x="228600" y="0"/>
                </a:cubicBezTo>
                <a:cubicBezTo>
                  <a:pt x="102432" y="0"/>
                  <a:pt x="0" y="102432"/>
                  <a:pt x="0" y="228600"/>
                </a:cubicBezTo>
                <a:cubicBezTo>
                  <a:pt x="0" y="354768"/>
                  <a:pt x="102432" y="457200"/>
                  <a:pt x="228600" y="457200"/>
                </a:cubicBezTo>
                <a:close/>
                <a:moveTo>
                  <a:pt x="303967" y="189934"/>
                </a:moveTo>
                <a:lnTo>
                  <a:pt x="232529" y="304234"/>
                </a:lnTo>
                <a:cubicBezTo>
                  <a:pt x="228779" y="310217"/>
                  <a:pt x="222349" y="313968"/>
                  <a:pt x="215295" y="314325"/>
                </a:cubicBezTo>
                <a:cubicBezTo>
                  <a:pt x="208241" y="314682"/>
                  <a:pt x="201454" y="311467"/>
                  <a:pt x="197256" y="305753"/>
                </a:cubicBezTo>
                <a:lnTo>
                  <a:pt x="154394" y="248603"/>
                </a:lnTo>
                <a:cubicBezTo>
                  <a:pt x="147251" y="239137"/>
                  <a:pt x="149215" y="225742"/>
                  <a:pt x="158681" y="218599"/>
                </a:cubicBezTo>
                <a:cubicBezTo>
                  <a:pt x="168145" y="211455"/>
                  <a:pt x="181541" y="213420"/>
                  <a:pt x="188684" y="222885"/>
                </a:cubicBezTo>
                <a:lnTo>
                  <a:pt x="212794" y="255033"/>
                </a:lnTo>
                <a:lnTo>
                  <a:pt x="267623" y="167253"/>
                </a:lnTo>
                <a:cubicBezTo>
                  <a:pt x="273874" y="157251"/>
                  <a:pt x="287089" y="154126"/>
                  <a:pt x="297180" y="160466"/>
                </a:cubicBezTo>
                <a:cubicBezTo>
                  <a:pt x="307271" y="166807"/>
                  <a:pt x="310307" y="179934"/>
                  <a:pt x="303967" y="190024"/>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5" name="AutoShape 25"/>
          <p:cNvSpPr/>
          <p:nvPr/>
        </p:nvSpPr>
        <p:spPr>
          <a:xfrm>
            <a:off x="8334284" y="4076358"/>
            <a:ext cx="3295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8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Step 6: Complete</a:t>
            </a:r>
            <a:endParaRPr lang="en-US" sz="1100"/>
          </a:p>
        </p:txBody>
      </p:sp>
      <p:sp>
        <p:nvSpPr>
          <p:cNvPr id="26" name="AutoShape 26"/>
          <p:cNvSpPr/>
          <p:nvPr/>
        </p:nvSpPr>
        <p:spPr>
          <a:xfrm>
            <a:off x="8343809" y="4419114"/>
            <a:ext cx="32766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Task closed-loop</a:t>
            </a:r>
            <a:endParaRPr lang="en-US" sz="1100"/>
          </a:p>
        </p:txBody>
      </p:sp>
      <p:sp>
        <p:nvSpPr>
          <p:cNvPr id="27" name="Freeform 27"/>
          <p:cNvSpPr/>
          <p:nvPr/>
        </p:nvSpPr>
        <p:spPr>
          <a:xfrm>
            <a:off x="381000" y="5181114"/>
            <a:ext cx="11430000" cy="1143000"/>
          </a:xfrm>
          <a:custGeom>
            <a:avLst/>
            <a:gdLst/>
            <a:ahLst/>
            <a:cxnLst/>
            <a:rect l="l" t="t" r="r" b="b"/>
            <a:pathLst>
              <a:path w="11430000" h="1143000">
                <a:moveTo>
                  <a:pt x="114300" y="0"/>
                </a:moveTo>
                <a:lnTo>
                  <a:pt x="11315700" y="0"/>
                </a:lnTo>
                <a:cubicBezTo>
                  <a:pt x="11378783" y="0"/>
                  <a:pt x="11430000" y="51217"/>
                  <a:pt x="11430000" y="114300"/>
                </a:cubicBezTo>
                <a:lnTo>
                  <a:pt x="11430000" y="1028700"/>
                </a:lnTo>
                <a:cubicBezTo>
                  <a:pt x="11430000" y="1091783"/>
                  <a:pt x="11378783" y="1143000"/>
                  <a:pt x="11315700" y="1143000"/>
                </a:cubicBezTo>
                <a:lnTo>
                  <a:pt x="114300" y="1143000"/>
                </a:lnTo>
                <a:cubicBezTo>
                  <a:pt x="51217" y="1143000"/>
                  <a:pt x="0" y="1091783"/>
                  <a:pt x="0" y="1028700"/>
                </a:cubicBezTo>
                <a:lnTo>
                  <a:pt x="0" y="114300"/>
                </a:lnTo>
                <a:cubicBezTo>
                  <a:pt x="0" y="51217"/>
                  <a:pt x="51217" y="0"/>
                  <a:pt x="114300" y="0"/>
                </a:cubicBezTo>
                <a:close/>
              </a:path>
            </a:pathLst>
          </a:custGeom>
          <a:solidFill>
            <a:srgbClr val="5B92E5">
              <a:alpha val="10196"/>
            </a:srgbClr>
          </a:solidFill>
          <a:ln w="12700">
            <a:noFill/>
            <a:prstDash val="solid"/>
          </a:ln>
        </p:spPr>
        <p:txBody>
          <a:bodyPr wrap="square" lIns="91440" tIns="45720" rIns="91440" bIns="45720" rtlCol="0" anchor="t">
            <a:noAutofit/>
          </a:bodyPr>
          <a:lstStyle/>
          <a:p>
            <a:pPr algn="ctr">
              <a:defRPr/>
            </a:pPr>
          </a:p>
        </p:txBody>
      </p:sp>
      <p:sp>
        <p:nvSpPr>
          <p:cNvPr id="28" name="Freeform 28"/>
          <p:cNvSpPr/>
          <p:nvPr/>
        </p:nvSpPr>
        <p:spPr>
          <a:xfrm>
            <a:off x="2903519" y="5475630"/>
            <a:ext cx="200025" cy="142875"/>
          </a:xfrm>
          <a:custGeom>
            <a:avLst/>
            <a:gdLst/>
            <a:ahLst/>
            <a:cxnLst/>
            <a:rect l="l" t="t" r="r" b="b"/>
            <a:pathLst>
              <a:path w="200025" h="142875">
                <a:moveTo>
                  <a:pt x="0" y="53579"/>
                </a:moveTo>
                <a:cubicBezTo>
                  <a:pt x="0" y="23977"/>
                  <a:pt x="23976" y="0"/>
                  <a:pt x="53577" y="0"/>
                </a:cubicBezTo>
                <a:lnTo>
                  <a:pt x="57150" y="0"/>
                </a:lnTo>
                <a:cubicBezTo>
                  <a:pt x="65053" y="0"/>
                  <a:pt x="71437" y="6385"/>
                  <a:pt x="71437" y="14288"/>
                </a:cubicBezTo>
                <a:cubicBezTo>
                  <a:pt x="71437" y="22191"/>
                  <a:pt x="65053" y="28576"/>
                  <a:pt x="57150" y="28576"/>
                </a:cubicBezTo>
                <a:lnTo>
                  <a:pt x="53577" y="28576"/>
                </a:lnTo>
                <a:cubicBezTo>
                  <a:pt x="39781" y="28576"/>
                  <a:pt x="28575" y="39782"/>
                  <a:pt x="28575" y="53579"/>
                </a:cubicBezTo>
                <a:lnTo>
                  <a:pt x="28575" y="57150"/>
                </a:lnTo>
                <a:lnTo>
                  <a:pt x="57150" y="57150"/>
                </a:lnTo>
                <a:cubicBezTo>
                  <a:pt x="72911" y="57150"/>
                  <a:pt x="85725" y="69965"/>
                  <a:pt x="85725" y="85726"/>
                </a:cubicBezTo>
                <a:lnTo>
                  <a:pt x="85725" y="114300"/>
                </a:lnTo>
                <a:cubicBezTo>
                  <a:pt x="85725" y="130061"/>
                  <a:pt x="72911" y="142876"/>
                  <a:pt x="57150" y="142876"/>
                </a:cubicBezTo>
                <a:lnTo>
                  <a:pt x="28575" y="142876"/>
                </a:lnTo>
                <a:cubicBezTo>
                  <a:pt x="12814" y="142876"/>
                  <a:pt x="0" y="130061"/>
                  <a:pt x="0" y="114300"/>
                </a:cubicBezTo>
                <a:lnTo>
                  <a:pt x="0" y="53579"/>
                </a:lnTo>
                <a:close/>
                <a:moveTo>
                  <a:pt x="114300" y="53579"/>
                </a:moveTo>
                <a:cubicBezTo>
                  <a:pt x="114300" y="23977"/>
                  <a:pt x="138276" y="0"/>
                  <a:pt x="167877" y="0"/>
                </a:cubicBezTo>
                <a:lnTo>
                  <a:pt x="171450" y="0"/>
                </a:lnTo>
                <a:cubicBezTo>
                  <a:pt x="179353" y="0"/>
                  <a:pt x="185737" y="6385"/>
                  <a:pt x="185737" y="14288"/>
                </a:cubicBezTo>
                <a:cubicBezTo>
                  <a:pt x="185737" y="22191"/>
                  <a:pt x="179353" y="28576"/>
                  <a:pt x="171450" y="28576"/>
                </a:cubicBezTo>
                <a:lnTo>
                  <a:pt x="167877" y="28576"/>
                </a:lnTo>
                <a:cubicBezTo>
                  <a:pt x="154081" y="28576"/>
                  <a:pt x="142875" y="39782"/>
                  <a:pt x="142875" y="53579"/>
                </a:cubicBezTo>
                <a:lnTo>
                  <a:pt x="142875" y="57150"/>
                </a:lnTo>
                <a:lnTo>
                  <a:pt x="171450" y="57150"/>
                </a:lnTo>
                <a:cubicBezTo>
                  <a:pt x="187211" y="57150"/>
                  <a:pt x="200025" y="69965"/>
                  <a:pt x="200025" y="85726"/>
                </a:cubicBezTo>
                <a:lnTo>
                  <a:pt x="200025" y="114300"/>
                </a:lnTo>
                <a:cubicBezTo>
                  <a:pt x="200025" y="130061"/>
                  <a:pt x="187211" y="142876"/>
                  <a:pt x="171450" y="142876"/>
                </a:cubicBezTo>
                <a:lnTo>
                  <a:pt x="142875" y="142876"/>
                </a:lnTo>
                <a:cubicBezTo>
                  <a:pt x="127114" y="142876"/>
                  <a:pt x="114300" y="130061"/>
                  <a:pt x="114300" y="114300"/>
                </a:cubicBezTo>
                <a:lnTo>
                  <a:pt x="114300" y="5357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9" name="AutoShape 29"/>
          <p:cNvSpPr/>
          <p:nvPr/>
        </p:nvSpPr>
        <p:spPr>
          <a:xfrm>
            <a:off x="895314" y="5409677"/>
            <a:ext cx="10744200"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07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"Help me research the latest AI industry trends, generate a report and send it to the team"</a:t>
            </a:r>
            <a:endParaRPr lang="en-US" sz="1100"/>
          </a:p>
        </p:txBody>
      </p:sp>
      <p:sp>
        <p:nvSpPr>
          <p:cNvPr id="30" name="AutoShape 30"/>
          <p:cNvSpPr/>
          <p:nvPr/>
        </p:nvSpPr>
        <p:spPr>
          <a:xfrm>
            <a:off x="566701" y="5828651"/>
            <a:ext cx="11058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85"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-&gt; AI Agent automatically completes the entire process</a:t>
            </a:r>
            <a:endParaRPr lang="en-US" sz="1100"/>
          </a:p>
        </p:txBody>
      </p:sp>
      <p:sp>
        <p:nvSpPr>
          <p:cNvPr id="31" name="Freeform 31"/>
          <p:cNvSpPr/>
          <p:nvPr/>
        </p:nvSpPr>
        <p:spPr>
          <a:xfrm>
            <a:off x="381000" y="5714998"/>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2" name="AutoShape 32"/>
          <p:cNvSpPr/>
          <p:nvPr/>
        </p:nvSpPr>
        <p:spPr>
          <a:xfrm>
            <a:off x="381000" y="5714998"/>
            <a:ext cx="11518900" cy="762000"/>
          </a:xfrm>
          <a:prstGeom prst="rect">
            <a:avLst/>
          </a:prstGeom>
          <a:noFill/>
          <a:ln w="12700">
            <a:noFill/>
            <a:prstDash val="solid"/>
          </a:ln>
        </p:spPr>
        <p:txBody>
          <a:bodyPr wrap="square" lIns="190500" tIns="114300" rIns="190500" bIns="114300" rtlCol="0" anchor="ctr">
            <a:noAutofit/>
          </a:bodyPr>
          <a:lstStyle/>
          <a:p>
            <a:pPr indent="0" algn="l">
              <a:lnSpc>
                <a:spcPct val="117000"/>
              </a:lnSpc>
              <a:defRPr/>
            </a:pPr>
            <a:r>
              <a:rPr lang="en-US" sz="124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24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AI Agent (Intelligent Agent)</a:t>
            </a:r>
            <a:r>
              <a:rPr lang="en-US" sz="124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AI that can autonomously execute tasks - not just chatting, but capable of calling tools to complete actions</a:t>
            </a:r>
            <a:endParaRPr lang="en-US" sz="1100"/>
          </a:p>
        </p:txBody>
      </p:sp>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615" b="0" i="0" u="none" strike="noStrike">
                <a:solidFill>
                  <a:srgbClr val="5B92E5"/>
                </a:solidFill>
                <a:latin typeface="Alimama ShuHeiTi"/>
                <a:ea typeface="Alimama ShuHeiTi"/>
                <a:cs typeface="Alimama ShuHeiTi"/>
                <a:sym typeface="Alimama ShuHeiTi"/>
              </a:rPr>
              <a:t>AI's Brain</a:t>
            </a:r>
            <a:endParaRPr lang="en-US" sz="1100"/>
          </a:p>
        </p:txBody>
      </p:sp>
      <p:sp>
        <p:nvSpPr>
          <p:cNvPr id="3" name="Freeform 3"/>
          <p:cNvSpPr/>
          <p:nvPr/>
        </p:nvSpPr>
        <p:spPr>
          <a:xfrm>
            <a:off x="2709935" y="1395444"/>
            <a:ext cx="3048000" cy="2179493"/>
          </a:xfrm>
          <a:custGeom>
            <a:avLst/>
            <a:gdLst/>
            <a:ahLst/>
            <a:cxnLst/>
            <a:rect l="l" t="t" r="r" b="b"/>
            <a:pathLst>
              <a:path w="3048000" h="2179493">
                <a:moveTo>
                  <a:pt x="152390" y="0"/>
                </a:moveTo>
                <a:lnTo>
                  <a:pt x="2895610" y="0"/>
                </a:lnTo>
                <a:cubicBezTo>
                  <a:pt x="2979773" y="0"/>
                  <a:pt x="3048000" y="68227"/>
                  <a:pt x="3048000" y="152390"/>
                </a:cubicBezTo>
                <a:lnTo>
                  <a:pt x="3048000" y="2144857"/>
                </a:lnTo>
                <a:cubicBezTo>
                  <a:pt x="3048000" y="2163986"/>
                  <a:pt x="3032493" y="2179493"/>
                  <a:pt x="3013365" y="2179493"/>
                </a:cubicBezTo>
                <a:lnTo>
                  <a:pt x="34635" y="2179493"/>
                </a:lnTo>
                <a:cubicBezTo>
                  <a:pt x="15507" y="2179493"/>
                  <a:pt x="0" y="2163986"/>
                  <a:pt x="0" y="2144857"/>
                </a:cubicBezTo>
                <a:lnTo>
                  <a:pt x="0" y="152390"/>
                </a:lnTo>
                <a:cubicBezTo>
                  <a:pt x="0" y="68227"/>
                  <a:pt x="68227" y="0"/>
                  <a:pt x="15239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2709935" y="3574937"/>
            <a:ext cx="3048000" cy="34635"/>
          </a:xfrm>
          <a:custGeom>
            <a:avLst/>
            <a:gdLst/>
            <a:ahLst/>
            <a:cxnLst/>
            <a:rect l="l" t="t" r="r" b="b"/>
            <a:pathLst>
              <a:path w="3048000" h="34635">
                <a:moveTo>
                  <a:pt x="0" y="0"/>
                </a:moveTo>
                <a:lnTo>
                  <a:pt x="3048000" y="0"/>
                </a:lnTo>
                <a:lnTo>
                  <a:pt x="3048000" y="0"/>
                </a:lnTo>
                <a:cubicBezTo>
                  <a:pt x="3048000" y="19129"/>
                  <a:pt x="3032493" y="34635"/>
                  <a:pt x="3013365" y="34635"/>
                </a:cubicBezTo>
                <a:lnTo>
                  <a:pt x="34635" y="34635"/>
                </a:lnTo>
                <a:cubicBezTo>
                  <a:pt x="15507" y="34635"/>
                  <a:pt x="0" y="19129"/>
                  <a:pt x="0" y="0"/>
                </a:cubicBezTo>
                <a:lnTo>
                  <a:pt x="0" y="0"/>
                </a:lnTo>
                <a:close/>
              </a:path>
            </a:pathLst>
          </a:custGeom>
          <a:solidFill>
            <a:srgbClr val="CCCCCC">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4039580" y="1602581"/>
            <a:ext cx="388642" cy="387236"/>
          </a:xfrm>
          <a:custGeom>
            <a:avLst/>
            <a:gdLst/>
            <a:ahLst/>
            <a:cxnLst/>
            <a:rect l="l" t="t" r="r" b="b"/>
            <a:pathLst>
              <a:path w="388642" h="387236">
                <a:moveTo>
                  <a:pt x="258648" y="117872"/>
                </a:moveTo>
                <a:cubicBezTo>
                  <a:pt x="258648" y="182969"/>
                  <a:pt x="201052" y="235743"/>
                  <a:pt x="130060" y="235743"/>
                </a:cubicBezTo>
                <a:cubicBezTo>
                  <a:pt x="112179" y="235743"/>
                  <a:pt x="95169" y="232395"/>
                  <a:pt x="79697" y="226367"/>
                </a:cubicBezTo>
                <a:lnTo>
                  <a:pt x="25047" y="255300"/>
                </a:lnTo>
                <a:cubicBezTo>
                  <a:pt x="18819" y="258581"/>
                  <a:pt x="11183" y="257443"/>
                  <a:pt x="6161" y="252487"/>
                </a:cubicBezTo>
                <a:cubicBezTo>
                  <a:pt x="1138" y="247530"/>
                  <a:pt x="0" y="239829"/>
                  <a:pt x="3348" y="233600"/>
                </a:cubicBezTo>
                <a:lnTo>
                  <a:pt x="27190" y="188595"/>
                </a:lnTo>
                <a:cubicBezTo>
                  <a:pt x="11050" y="168905"/>
                  <a:pt x="1473" y="144392"/>
                  <a:pt x="1473" y="117872"/>
                </a:cubicBezTo>
                <a:cubicBezTo>
                  <a:pt x="1473" y="52775"/>
                  <a:pt x="59069" y="0"/>
                  <a:pt x="130060" y="0"/>
                </a:cubicBezTo>
                <a:cubicBezTo>
                  <a:pt x="201052" y="0"/>
                  <a:pt x="258648" y="52775"/>
                  <a:pt x="258648" y="117872"/>
                </a:cubicBezTo>
                <a:close/>
                <a:moveTo>
                  <a:pt x="258648" y="364331"/>
                </a:moveTo>
                <a:cubicBezTo>
                  <a:pt x="195627" y="364331"/>
                  <a:pt x="143187" y="322741"/>
                  <a:pt x="132204" y="267890"/>
                </a:cubicBezTo>
                <a:cubicBezTo>
                  <a:pt x="212571" y="266886"/>
                  <a:pt x="282422" y="209691"/>
                  <a:pt x="290125" y="132137"/>
                </a:cubicBezTo>
                <a:cubicBezTo>
                  <a:pt x="345914" y="144996"/>
                  <a:pt x="387236" y="191274"/>
                  <a:pt x="387236" y="246458"/>
                </a:cubicBezTo>
                <a:cubicBezTo>
                  <a:pt x="387236" y="272980"/>
                  <a:pt x="377658" y="297492"/>
                  <a:pt x="361518" y="317182"/>
                </a:cubicBezTo>
                <a:lnTo>
                  <a:pt x="385360" y="362189"/>
                </a:lnTo>
                <a:cubicBezTo>
                  <a:pt x="388641" y="368417"/>
                  <a:pt x="387503" y="376051"/>
                  <a:pt x="382547" y="381073"/>
                </a:cubicBezTo>
                <a:cubicBezTo>
                  <a:pt x="377591" y="386098"/>
                  <a:pt x="369890" y="387235"/>
                  <a:pt x="363660" y="383886"/>
                </a:cubicBezTo>
                <a:lnTo>
                  <a:pt x="309011" y="354955"/>
                </a:lnTo>
                <a:cubicBezTo>
                  <a:pt x="293541" y="360982"/>
                  <a:pt x="276530" y="364331"/>
                  <a:pt x="258648" y="364331"/>
                </a:cubicBezTo>
                <a:close/>
              </a:path>
            </a:pathLst>
          </a:custGeom>
          <a:solidFill>
            <a:srgbClr val="666666">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2862299" y="2149328"/>
            <a:ext cx="2743200" cy="4572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585" b="1"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Conversational Applications</a:t>
            </a:r>
            <a:endParaRPr lang="en-US" sz="1100"/>
          </a:p>
        </p:txBody>
      </p:sp>
      <p:sp>
        <p:nvSpPr>
          <p:cNvPr id="7" name="AutoShape 7"/>
          <p:cNvSpPr/>
          <p:nvPr/>
        </p:nvSpPr>
        <p:spPr>
          <a:xfrm>
            <a:off x="2900399" y="2720740"/>
            <a:ext cx="26670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DeepSeek/ChatGPT/Write Reports</a:t>
            </a:r>
            <a:endParaRPr lang="en-US" sz="1100"/>
          </a:p>
        </p:txBody>
      </p:sp>
      <p:sp>
        <p:nvSpPr>
          <p:cNvPr id="8" name="AutoShape 8"/>
          <p:cNvSpPr/>
          <p:nvPr/>
        </p:nvSpPr>
        <p:spPr>
          <a:xfrm>
            <a:off x="3833848" y="3136375"/>
            <a:ext cx="800172" cy="178955"/>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Application Layer - Covered</a:t>
            </a:r>
            <a:endParaRPr lang="en-US" sz="1100"/>
          </a:p>
        </p:txBody>
      </p:sp>
      <p:sp>
        <p:nvSpPr>
          <p:cNvPr id="9" name="Freeform 9"/>
          <p:cNvSpPr/>
          <p:nvPr/>
        </p:nvSpPr>
        <p:spPr>
          <a:xfrm>
            <a:off x="6019836" y="2385579"/>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6" y="6976"/>
                </a:cubicBezTo>
                <a:cubicBezTo>
                  <a:pt x="158948" y="13952"/>
                  <a:pt x="158948" y="25282"/>
                  <a:pt x="165926" y="32258"/>
                </a:cubicBezTo>
                <a:lnTo>
                  <a:pt x="224749" y="91083"/>
                </a:lnTo>
                <a:lnTo>
                  <a:pt x="17859" y="91083"/>
                </a:lnTo>
                <a:cubicBezTo>
                  <a:pt x="7981" y="91083"/>
                  <a:pt x="0" y="99064"/>
                  <a:pt x="0" y="108942"/>
                </a:cubicBezTo>
                <a:cubicBezTo>
                  <a:pt x="0" y="118820"/>
                  <a:pt x="7981" y="126801"/>
                  <a:pt x="17859" y="126801"/>
                </a:cubicBezTo>
                <a:lnTo>
                  <a:pt x="224749" y="126801"/>
                </a:lnTo>
                <a:lnTo>
                  <a:pt x="165926" y="185626"/>
                </a:lnTo>
                <a:cubicBezTo>
                  <a:pt x="158948" y="192602"/>
                  <a:pt x="158948" y="203932"/>
                  <a:pt x="165926"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6580909" y="1357380"/>
            <a:ext cx="3027218" cy="2264352"/>
          </a:xfrm>
          <a:custGeom>
            <a:avLst/>
            <a:gdLst/>
            <a:ahLst/>
            <a:cxnLst/>
            <a:rect l="l" t="t" r="r" b="b"/>
            <a:pathLst>
              <a:path w="3027218" h="2264352">
                <a:moveTo>
                  <a:pt x="152391" y="0"/>
                </a:moveTo>
                <a:lnTo>
                  <a:pt x="2874827" y="0"/>
                </a:lnTo>
                <a:cubicBezTo>
                  <a:pt x="2958934" y="0"/>
                  <a:pt x="3027218" y="68284"/>
                  <a:pt x="3027218" y="152391"/>
                </a:cubicBezTo>
                <a:lnTo>
                  <a:pt x="3027218" y="2111960"/>
                </a:lnTo>
                <a:cubicBezTo>
                  <a:pt x="3027218" y="2196125"/>
                  <a:pt x="2958990" y="2264352"/>
                  <a:pt x="2874827" y="2264352"/>
                </a:cubicBezTo>
                <a:lnTo>
                  <a:pt x="152391" y="2264352"/>
                </a:lnTo>
                <a:cubicBezTo>
                  <a:pt x="68284" y="2264352"/>
                  <a:pt x="0" y="2196067"/>
                  <a:pt x="0" y="2111960"/>
                </a:cubicBezTo>
                <a:lnTo>
                  <a:pt x="0" y="152391"/>
                </a:lnTo>
                <a:cubicBezTo>
                  <a:pt x="0" y="68228"/>
                  <a:pt x="68228" y="0"/>
                  <a:pt x="152391"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11" name="Freeform 11"/>
          <p:cNvSpPr/>
          <p:nvPr/>
        </p:nvSpPr>
        <p:spPr>
          <a:xfrm>
            <a:off x="7881937" y="1573173"/>
            <a:ext cx="428625" cy="342900"/>
          </a:xfrm>
          <a:custGeom>
            <a:avLst/>
            <a:gdLst/>
            <a:ahLst/>
            <a:cxnLst/>
            <a:rect l="l" t="t" r="r" b="b"/>
            <a:pathLst>
              <a:path w="428625" h="342900">
                <a:moveTo>
                  <a:pt x="235744" y="21431"/>
                </a:moveTo>
                <a:cubicBezTo>
                  <a:pt x="235744" y="9577"/>
                  <a:pt x="226167" y="0"/>
                  <a:pt x="214313" y="0"/>
                </a:cubicBezTo>
                <a:cubicBezTo>
                  <a:pt x="202458" y="0"/>
                  <a:pt x="192881" y="9577"/>
                  <a:pt x="192881" y="21431"/>
                </a:cubicBezTo>
                <a:lnTo>
                  <a:pt x="192881" y="64293"/>
                </a:lnTo>
                <a:lnTo>
                  <a:pt x="128587" y="64293"/>
                </a:lnTo>
                <a:cubicBezTo>
                  <a:pt x="93092" y="64293"/>
                  <a:pt x="64294" y="93092"/>
                  <a:pt x="64294" y="128587"/>
                </a:cubicBezTo>
                <a:lnTo>
                  <a:pt x="64294" y="278606"/>
                </a:lnTo>
                <a:cubicBezTo>
                  <a:pt x="64294" y="314102"/>
                  <a:pt x="93092" y="342900"/>
                  <a:pt x="128587" y="342900"/>
                </a:cubicBezTo>
                <a:lnTo>
                  <a:pt x="300037" y="342900"/>
                </a:lnTo>
                <a:cubicBezTo>
                  <a:pt x="335533" y="342900"/>
                  <a:pt x="364331" y="314102"/>
                  <a:pt x="364331" y="278606"/>
                </a:cubicBezTo>
                <a:lnTo>
                  <a:pt x="364331" y="128587"/>
                </a:lnTo>
                <a:cubicBezTo>
                  <a:pt x="364331" y="93092"/>
                  <a:pt x="335533" y="64293"/>
                  <a:pt x="300037" y="64293"/>
                </a:cubicBezTo>
                <a:lnTo>
                  <a:pt x="235744" y="64293"/>
                </a:lnTo>
                <a:lnTo>
                  <a:pt x="235744" y="21431"/>
                </a:lnTo>
                <a:close/>
                <a:moveTo>
                  <a:pt x="107156" y="267890"/>
                </a:moveTo>
                <a:cubicBezTo>
                  <a:pt x="107156" y="258983"/>
                  <a:pt x="114322" y="251817"/>
                  <a:pt x="123229" y="251817"/>
                </a:cubicBezTo>
                <a:lnTo>
                  <a:pt x="144661" y="251817"/>
                </a:lnTo>
                <a:cubicBezTo>
                  <a:pt x="153568" y="251817"/>
                  <a:pt x="160734" y="258983"/>
                  <a:pt x="160734" y="267890"/>
                </a:cubicBezTo>
                <a:cubicBezTo>
                  <a:pt x="160734" y="276798"/>
                  <a:pt x="153568" y="283964"/>
                  <a:pt x="144661" y="283964"/>
                </a:cubicBezTo>
                <a:lnTo>
                  <a:pt x="123229" y="283964"/>
                </a:lnTo>
                <a:cubicBezTo>
                  <a:pt x="114322" y="283964"/>
                  <a:pt x="107156" y="276798"/>
                  <a:pt x="107156" y="267890"/>
                </a:cubicBezTo>
                <a:close/>
                <a:moveTo>
                  <a:pt x="187523" y="267890"/>
                </a:moveTo>
                <a:cubicBezTo>
                  <a:pt x="187523" y="258983"/>
                  <a:pt x="194690" y="251817"/>
                  <a:pt x="203598" y="251817"/>
                </a:cubicBezTo>
                <a:lnTo>
                  <a:pt x="225027" y="251817"/>
                </a:lnTo>
                <a:cubicBezTo>
                  <a:pt x="233935" y="251817"/>
                  <a:pt x="241102" y="258983"/>
                  <a:pt x="241102" y="267890"/>
                </a:cubicBezTo>
                <a:cubicBezTo>
                  <a:pt x="241102" y="276798"/>
                  <a:pt x="233935" y="283964"/>
                  <a:pt x="225027" y="283964"/>
                </a:cubicBezTo>
                <a:lnTo>
                  <a:pt x="203598" y="283964"/>
                </a:lnTo>
                <a:cubicBezTo>
                  <a:pt x="194690" y="283964"/>
                  <a:pt x="187523" y="276798"/>
                  <a:pt x="187523" y="267890"/>
                </a:cubicBezTo>
                <a:close/>
                <a:moveTo>
                  <a:pt x="267891" y="267890"/>
                </a:moveTo>
                <a:cubicBezTo>
                  <a:pt x="267891" y="258983"/>
                  <a:pt x="275057" y="251817"/>
                  <a:pt x="283964" y="251817"/>
                </a:cubicBezTo>
                <a:lnTo>
                  <a:pt x="305396" y="251817"/>
                </a:lnTo>
                <a:cubicBezTo>
                  <a:pt x="314303" y="251817"/>
                  <a:pt x="321469" y="258983"/>
                  <a:pt x="321469" y="267890"/>
                </a:cubicBezTo>
                <a:cubicBezTo>
                  <a:pt x="321469" y="276798"/>
                  <a:pt x="314303" y="283964"/>
                  <a:pt x="305396" y="283964"/>
                </a:cubicBezTo>
                <a:lnTo>
                  <a:pt x="283964" y="283964"/>
                </a:lnTo>
                <a:cubicBezTo>
                  <a:pt x="275057" y="283964"/>
                  <a:pt x="267891" y="276798"/>
                  <a:pt x="267891" y="267890"/>
                </a:cubicBezTo>
                <a:close/>
                <a:moveTo>
                  <a:pt x="150019" y="139304"/>
                </a:moveTo>
                <a:cubicBezTo>
                  <a:pt x="167761" y="139304"/>
                  <a:pt x="182166" y="153707"/>
                  <a:pt x="182166" y="171450"/>
                </a:cubicBezTo>
                <a:cubicBezTo>
                  <a:pt x="182166" y="189192"/>
                  <a:pt x="167761" y="203597"/>
                  <a:pt x="150019" y="203597"/>
                </a:cubicBezTo>
                <a:cubicBezTo>
                  <a:pt x="132276" y="203597"/>
                  <a:pt x="117873" y="189192"/>
                  <a:pt x="117873" y="171450"/>
                </a:cubicBezTo>
                <a:cubicBezTo>
                  <a:pt x="117873" y="153707"/>
                  <a:pt x="132276" y="139304"/>
                  <a:pt x="150019" y="139304"/>
                </a:cubicBezTo>
                <a:close/>
                <a:moveTo>
                  <a:pt x="246459" y="171450"/>
                </a:moveTo>
                <a:cubicBezTo>
                  <a:pt x="246459" y="153707"/>
                  <a:pt x="260864" y="139304"/>
                  <a:pt x="278606" y="139304"/>
                </a:cubicBezTo>
                <a:cubicBezTo>
                  <a:pt x="296349" y="139304"/>
                  <a:pt x="310752" y="153707"/>
                  <a:pt x="310752" y="171450"/>
                </a:cubicBezTo>
                <a:cubicBezTo>
                  <a:pt x="310752" y="189192"/>
                  <a:pt x="296349" y="203597"/>
                  <a:pt x="278606" y="203597"/>
                </a:cubicBezTo>
                <a:cubicBezTo>
                  <a:pt x="260864" y="203597"/>
                  <a:pt x="246459" y="189192"/>
                  <a:pt x="246459" y="171450"/>
                </a:cubicBezTo>
                <a:close/>
                <a:moveTo>
                  <a:pt x="42863" y="171450"/>
                </a:moveTo>
                <a:cubicBezTo>
                  <a:pt x="42863" y="159596"/>
                  <a:pt x="33285" y="150019"/>
                  <a:pt x="21431" y="150019"/>
                </a:cubicBezTo>
                <a:cubicBezTo>
                  <a:pt x="9577" y="150019"/>
                  <a:pt x="0" y="159596"/>
                  <a:pt x="0" y="171450"/>
                </a:cubicBezTo>
                <a:lnTo>
                  <a:pt x="0" y="235743"/>
                </a:lnTo>
                <a:cubicBezTo>
                  <a:pt x="0" y="247598"/>
                  <a:pt x="9577" y="257175"/>
                  <a:pt x="21431" y="257175"/>
                </a:cubicBezTo>
                <a:cubicBezTo>
                  <a:pt x="33285" y="257175"/>
                  <a:pt x="42863" y="247598"/>
                  <a:pt x="42863" y="235743"/>
                </a:cubicBezTo>
                <a:lnTo>
                  <a:pt x="42863" y="171450"/>
                </a:lnTo>
                <a:close/>
                <a:moveTo>
                  <a:pt x="407194" y="150019"/>
                </a:moveTo>
                <a:cubicBezTo>
                  <a:pt x="395340" y="150019"/>
                  <a:pt x="385763" y="159596"/>
                  <a:pt x="385763" y="171450"/>
                </a:cubicBezTo>
                <a:lnTo>
                  <a:pt x="385763" y="235743"/>
                </a:lnTo>
                <a:cubicBezTo>
                  <a:pt x="385763" y="247598"/>
                  <a:pt x="395340" y="257175"/>
                  <a:pt x="407194" y="257175"/>
                </a:cubicBezTo>
                <a:cubicBezTo>
                  <a:pt x="419048" y="257175"/>
                  <a:pt x="428625" y="247598"/>
                  <a:pt x="428625" y="235743"/>
                </a:cubicBezTo>
                <a:lnTo>
                  <a:pt x="428625" y="171450"/>
                </a:lnTo>
                <a:cubicBezTo>
                  <a:pt x="428625" y="159596"/>
                  <a:pt x="419048" y="150019"/>
                  <a:pt x="407194" y="150019"/>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6729232" y="2119925"/>
            <a:ext cx="2730500" cy="5334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223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AI Agent</a:t>
            </a:r>
            <a:endParaRPr lang="en-US" sz="1100"/>
          </a:p>
        </p:txBody>
      </p:sp>
      <p:sp>
        <p:nvSpPr>
          <p:cNvPr id="13" name="AutoShape 13"/>
          <p:cNvSpPr/>
          <p:nvPr/>
        </p:nvSpPr>
        <p:spPr>
          <a:xfrm>
            <a:off x="6780032" y="2767551"/>
            <a:ext cx="26289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OpenClaw/Digital Employees/Autonomous Execution</a:t>
            </a:r>
            <a:endParaRPr lang="en-US" sz="1100"/>
          </a:p>
        </p:txBody>
      </p:sp>
      <p:sp>
        <p:nvSpPr>
          <p:cNvPr id="14" name="AutoShape 14"/>
          <p:cNvSpPr/>
          <p:nvPr/>
        </p:nvSpPr>
        <p:spPr>
          <a:xfrm>
            <a:off x="7696163" y="3183186"/>
            <a:ext cx="800172" cy="178955"/>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7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Advanced Layer - Current</a:t>
            </a:r>
            <a:endParaRPr lang="en-US" sz="1100"/>
          </a:p>
        </p:txBody>
      </p:sp>
      <p:sp>
        <p:nvSpPr>
          <p:cNvPr id="15" name="AutoShape 15"/>
          <p:cNvSpPr/>
          <p:nvPr/>
        </p:nvSpPr>
        <p:spPr>
          <a:xfrm>
            <a:off x="247650" y="4048710"/>
            <a:ext cx="115570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46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Whether conversational or action-oriented, behind them all is the same</a:t>
            </a:r>
            <a:r>
              <a:rPr lang="en-US" sz="146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"Brain"</a:t>
            </a:r>
            <a:endParaRPr lang="en-US" sz="1100"/>
          </a:p>
        </p:txBody>
      </p:sp>
      <p:grpSp>
        <p:nvGrpSpPr>
          <p:cNvPr id="16" name="Group 16"/>
          <p:cNvGrpSpPr/>
          <p:nvPr/>
        </p:nvGrpSpPr>
        <p:grpSpPr>
          <a:xfrm>
            <a:off x="4930775" y="4570095"/>
            <a:ext cx="2185670" cy="287480"/>
            <a:chOff x="4930775" y="4570095"/>
            <a:chExt cx="2185670" cy="287480"/>
          </a:xfrm>
        </p:grpSpPr>
        <p:sp>
          <p:nvSpPr>
            <p:cNvPr id="17" name="Freeform 17"/>
            <p:cNvSpPr/>
            <p:nvPr/>
          </p:nvSpPr>
          <p:spPr>
            <a:xfrm>
              <a:off x="4930775" y="469392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5917047" y="4570095"/>
              <a:ext cx="218206" cy="287480"/>
            </a:xfrm>
            <a:custGeom>
              <a:avLst/>
              <a:gdLst/>
              <a:ahLst/>
              <a:cxnLst/>
              <a:rect l="l" t="t" r="r" b="b"/>
              <a:pathLst>
                <a:path w="218206" h="287480">
                  <a:moveTo>
                    <a:pt x="96470" y="280504"/>
                  </a:moveTo>
                  <a:cubicBezTo>
                    <a:pt x="103457" y="287480"/>
                    <a:pt x="114804" y="287480"/>
                    <a:pt x="121790" y="280504"/>
                  </a:cubicBezTo>
                  <a:lnTo>
                    <a:pt x="211220" y="191207"/>
                  </a:lnTo>
                  <a:cubicBezTo>
                    <a:pt x="218206" y="184231"/>
                    <a:pt x="218206" y="172902"/>
                    <a:pt x="211220" y="165925"/>
                  </a:cubicBezTo>
                  <a:cubicBezTo>
                    <a:pt x="204234" y="158948"/>
                    <a:pt x="192886" y="158948"/>
                    <a:pt x="185900" y="165925"/>
                  </a:cubicBezTo>
                  <a:lnTo>
                    <a:pt x="126988" y="224749"/>
                  </a:lnTo>
                  <a:lnTo>
                    <a:pt x="126988" y="17859"/>
                  </a:lnTo>
                  <a:cubicBezTo>
                    <a:pt x="126988" y="7981"/>
                    <a:pt x="118996" y="0"/>
                    <a:pt x="109103" y="0"/>
                  </a:cubicBezTo>
                  <a:cubicBezTo>
                    <a:pt x="99210" y="0"/>
                    <a:pt x="91218" y="7981"/>
                    <a:pt x="91218" y="17859"/>
                  </a:cubicBezTo>
                  <a:lnTo>
                    <a:pt x="91218" y="224749"/>
                  </a:lnTo>
                  <a:lnTo>
                    <a:pt x="32306" y="165925"/>
                  </a:lnTo>
                  <a:cubicBezTo>
                    <a:pt x="25319" y="158948"/>
                    <a:pt x="13972" y="158948"/>
                    <a:pt x="6986" y="165925"/>
                  </a:cubicBezTo>
                  <a:cubicBezTo>
                    <a:pt x="0" y="172902"/>
                    <a:pt x="0" y="184231"/>
                    <a:pt x="6986" y="191207"/>
                  </a:cubicBezTo>
                  <a:lnTo>
                    <a:pt x="96414" y="280504"/>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6354445" y="469392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grpSp>
      <p:sp>
        <p:nvSpPr>
          <p:cNvPr id="20" name="AutoShape 20"/>
          <p:cNvSpPr/>
          <p:nvPr/>
        </p:nvSpPr>
        <p:spPr>
          <a:xfrm>
            <a:off x="5223510" y="5116195"/>
            <a:ext cx="1892935" cy="76835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277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Large Model</a:t>
            </a:r>
            <a:endParaRPr lang="en-US" sz="1100"/>
          </a:p>
        </p:txBody>
      </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58600" cy="6858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3000" b="0" i="0" u="none" strike="noStrike">
                <a:solidFill>
                  <a:srgbClr val="5B92E5"/>
                </a:solidFill>
                <a:latin typeface="Alimama ShuHeiTi"/>
                <a:ea typeface="Alimama ShuHeiTi"/>
                <a:cs typeface="Alimama ShuHeiTi"/>
                <a:sym typeface="Alimama ShuHeiTi"/>
              </a:rPr>
              <a:t>Course Structure</a:t>
            </a:r>
            <a:endParaRPr lang="en-US" sz="1100"/>
          </a:p>
        </p:txBody>
      </p:sp>
      <p:sp>
        <p:nvSpPr>
          <p:cNvPr id="3" name="Freeform 3"/>
          <p:cNvSpPr/>
          <p:nvPr/>
        </p:nvSpPr>
        <p:spPr>
          <a:xfrm>
            <a:off x="381000" y="1447693"/>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02619" y="1561886"/>
            <a:ext cx="20002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100"/>
          </a:p>
        </p:txBody>
      </p:sp>
      <p:sp>
        <p:nvSpPr>
          <p:cNvPr id="5" name="AutoShape 5"/>
          <p:cNvSpPr/>
          <p:nvPr/>
        </p:nvSpPr>
        <p:spPr>
          <a:xfrm>
            <a:off x="1066692" y="1523865"/>
            <a:ext cx="4895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"Omnipotent" AI</a:t>
            </a:r>
            <a:endParaRPr lang="en-US" sz="1100"/>
          </a:p>
        </p:txBody>
      </p:sp>
      <p:sp>
        <p:nvSpPr>
          <p:cNvPr id="6" name="AutoShape 6"/>
          <p:cNvSpPr/>
          <p:nvPr/>
        </p:nvSpPr>
        <p:spPr>
          <a:xfrm>
            <a:off x="1066692" y="1828558"/>
            <a:ext cx="4876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The Era of Large Models Has Arrived</a:t>
            </a:r>
            <a:endParaRPr lang="en-US" sz="1100"/>
          </a:p>
        </p:txBody>
      </p:sp>
      <p:sp>
        <p:nvSpPr>
          <p:cNvPr id="7" name="Freeform 7"/>
          <p:cNvSpPr/>
          <p:nvPr/>
        </p:nvSpPr>
        <p:spPr>
          <a:xfrm>
            <a:off x="6324519" y="1447693"/>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6526925" y="1561886"/>
            <a:ext cx="23812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100"/>
          </a:p>
        </p:txBody>
      </p:sp>
      <p:sp>
        <p:nvSpPr>
          <p:cNvPr id="9" name="AutoShape 9"/>
          <p:cNvSpPr/>
          <p:nvPr/>
        </p:nvSpPr>
        <p:spPr>
          <a:xfrm>
            <a:off x="7010210" y="1523865"/>
            <a:ext cx="4895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How Does AI Actually Work?</a:t>
            </a:r>
            <a:endParaRPr lang="en-US" sz="1100"/>
          </a:p>
        </p:txBody>
      </p:sp>
      <p:sp>
        <p:nvSpPr>
          <p:cNvPr id="10" name="AutoShape 10"/>
          <p:cNvSpPr/>
          <p:nvPr/>
        </p:nvSpPr>
        <p:spPr>
          <a:xfrm>
            <a:off x="7010210" y="1828558"/>
            <a:ext cx="4876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Large Model Inference</a:t>
            </a:r>
            <a:endParaRPr lang="en-US" sz="1100"/>
          </a:p>
        </p:txBody>
      </p:sp>
      <p:sp>
        <p:nvSpPr>
          <p:cNvPr id="11" name="Freeform 11"/>
          <p:cNvSpPr/>
          <p:nvPr/>
        </p:nvSpPr>
        <p:spPr>
          <a:xfrm>
            <a:off x="381000" y="2752646"/>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580430" y="2866839"/>
            <a:ext cx="24765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3</a:t>
            </a:r>
            <a:endParaRPr lang="en-US" sz="1100"/>
          </a:p>
        </p:txBody>
      </p:sp>
      <p:sp>
        <p:nvSpPr>
          <p:cNvPr id="13" name="AutoShape 13"/>
          <p:cNvSpPr/>
          <p:nvPr/>
        </p:nvSpPr>
        <p:spPr>
          <a:xfrm>
            <a:off x="1066692" y="2828818"/>
            <a:ext cx="4895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How to Become an "Omnipotent" AI?</a:t>
            </a:r>
            <a:endParaRPr lang="en-US" sz="1100"/>
          </a:p>
        </p:txBody>
      </p:sp>
      <p:sp>
        <p:nvSpPr>
          <p:cNvPr id="14" name="AutoShape 14"/>
          <p:cNvSpPr/>
          <p:nvPr/>
        </p:nvSpPr>
        <p:spPr>
          <a:xfrm>
            <a:off x="1066692" y="3133511"/>
            <a:ext cx="4876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Large Model Training</a:t>
            </a:r>
            <a:endParaRPr lang="en-US" sz="1100"/>
          </a:p>
        </p:txBody>
      </p:sp>
      <p:sp>
        <p:nvSpPr>
          <p:cNvPr id="15" name="Freeform 15"/>
          <p:cNvSpPr/>
          <p:nvPr/>
        </p:nvSpPr>
        <p:spPr>
          <a:xfrm>
            <a:off x="6324519" y="2752646"/>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6524084" y="2866839"/>
            <a:ext cx="24765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4</a:t>
            </a:r>
            <a:endParaRPr lang="en-US" sz="1100"/>
          </a:p>
        </p:txBody>
      </p:sp>
      <p:sp>
        <p:nvSpPr>
          <p:cNvPr id="17" name="AutoShape 17"/>
          <p:cNvSpPr/>
          <p:nvPr/>
        </p:nvSpPr>
        <p:spPr>
          <a:xfrm>
            <a:off x="7010210" y="2828818"/>
            <a:ext cx="4895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Computing Power Behind Large Models</a:t>
            </a:r>
            <a:endParaRPr lang="en-US" sz="1100"/>
          </a:p>
        </p:txBody>
      </p:sp>
      <p:sp>
        <p:nvSpPr>
          <p:cNvPr id="18" name="AutoShape 18"/>
          <p:cNvSpPr/>
          <p:nvPr/>
        </p:nvSpPr>
        <p:spPr>
          <a:xfrm>
            <a:off x="7010210" y="3133511"/>
            <a:ext cx="4876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Open Source AI System Software Stack: FlagOS</a:t>
            </a:r>
            <a:endParaRPr lang="en-US" sz="1100"/>
          </a:p>
        </p:txBody>
      </p:sp>
      <p:sp>
        <p:nvSpPr>
          <p:cNvPr id="19" name="Freeform 19"/>
          <p:cNvSpPr/>
          <p:nvPr/>
        </p:nvSpPr>
        <p:spPr>
          <a:xfrm>
            <a:off x="381000" y="4057599"/>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579347" y="4171787"/>
            <a:ext cx="24765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5</a:t>
            </a:r>
            <a:endParaRPr lang="en-US" sz="1100"/>
          </a:p>
        </p:txBody>
      </p:sp>
      <p:sp>
        <p:nvSpPr>
          <p:cNvPr id="21" name="AutoShape 21"/>
          <p:cNvSpPr/>
          <p:nvPr/>
        </p:nvSpPr>
        <p:spPr>
          <a:xfrm>
            <a:off x="1066692" y="4133771"/>
            <a:ext cx="4895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Hands-on Demo</a:t>
            </a:r>
            <a:endParaRPr lang="en-US" sz="1100"/>
          </a:p>
        </p:txBody>
      </p:sp>
      <p:sp>
        <p:nvSpPr>
          <p:cNvPr id="22" name="AutoShape 22"/>
          <p:cNvSpPr/>
          <p:nvPr/>
        </p:nvSpPr>
        <p:spPr>
          <a:xfrm>
            <a:off x="1066692" y="4438464"/>
            <a:ext cx="4876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How to Run Large Models Locally with FlagOS</a:t>
            </a:r>
            <a:endParaRPr lang="en-US" sz="1100"/>
          </a:p>
        </p:txBody>
      </p:sp>
      <p:sp>
        <p:nvSpPr>
          <p:cNvPr id="23" name="Freeform 23"/>
          <p:cNvSpPr/>
          <p:nvPr/>
        </p:nvSpPr>
        <p:spPr>
          <a:xfrm>
            <a:off x="6324519" y="4057599"/>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4" name="Freeform 24"/>
          <p:cNvSpPr/>
          <p:nvPr/>
        </p:nvSpPr>
        <p:spPr>
          <a:xfrm>
            <a:off x="6507848" y="4229021"/>
            <a:ext cx="166688" cy="190500"/>
          </a:xfrm>
          <a:custGeom>
            <a:avLst/>
            <a:gdLst/>
            <a:ahLst/>
            <a:cxnLst/>
            <a:rect l="l" t="t" r="r" b="b"/>
            <a:pathLst>
              <a:path w="166688" h="190500">
                <a:moveTo>
                  <a:pt x="142875" y="190500"/>
                </a:moveTo>
                <a:lnTo>
                  <a:pt x="35719" y="190500"/>
                </a:lnTo>
                <a:cubicBezTo>
                  <a:pt x="15999" y="190500"/>
                  <a:pt x="0" y="174501"/>
                  <a:pt x="0" y="154781"/>
                </a:cubicBezTo>
                <a:lnTo>
                  <a:pt x="0" y="35719"/>
                </a:lnTo>
                <a:cubicBezTo>
                  <a:pt x="0" y="15999"/>
                  <a:pt x="15999" y="0"/>
                  <a:pt x="35719" y="0"/>
                </a:cubicBezTo>
                <a:lnTo>
                  <a:pt x="148827" y="0"/>
                </a:lnTo>
                <a:cubicBezTo>
                  <a:pt x="158688" y="0"/>
                  <a:pt x="166688" y="8000"/>
                  <a:pt x="166688" y="17859"/>
                </a:cubicBezTo>
                <a:lnTo>
                  <a:pt x="166688" y="125016"/>
                </a:lnTo>
                <a:cubicBezTo>
                  <a:pt x="166688" y="132792"/>
                  <a:pt x="161701" y="139416"/>
                  <a:pt x="154781" y="141870"/>
                </a:cubicBezTo>
                <a:lnTo>
                  <a:pt x="154781" y="166687"/>
                </a:lnTo>
                <a:cubicBezTo>
                  <a:pt x="161367" y="166687"/>
                  <a:pt x="166688" y="172008"/>
                  <a:pt x="166688" y="178594"/>
                </a:cubicBezTo>
                <a:cubicBezTo>
                  <a:pt x="166688" y="185179"/>
                  <a:pt x="161367" y="190500"/>
                  <a:pt x="154781" y="190500"/>
                </a:cubicBezTo>
                <a:lnTo>
                  <a:pt x="142875" y="190500"/>
                </a:lnTo>
                <a:close/>
                <a:moveTo>
                  <a:pt x="35719" y="142875"/>
                </a:moveTo>
                <a:cubicBezTo>
                  <a:pt x="29133" y="142875"/>
                  <a:pt x="23812" y="148196"/>
                  <a:pt x="23812" y="154781"/>
                </a:cubicBezTo>
                <a:cubicBezTo>
                  <a:pt x="23812" y="161367"/>
                  <a:pt x="29133" y="166687"/>
                  <a:pt x="35719" y="166687"/>
                </a:cubicBezTo>
                <a:lnTo>
                  <a:pt x="130969" y="166687"/>
                </a:lnTo>
                <a:lnTo>
                  <a:pt x="130969" y="142875"/>
                </a:lnTo>
                <a:lnTo>
                  <a:pt x="35719" y="142875"/>
                </a:lnTo>
                <a:close/>
                <a:moveTo>
                  <a:pt x="47625" y="56554"/>
                </a:moveTo>
                <a:cubicBezTo>
                  <a:pt x="47625" y="61504"/>
                  <a:pt x="51606" y="65484"/>
                  <a:pt x="56554" y="65484"/>
                </a:cubicBezTo>
                <a:lnTo>
                  <a:pt x="122039" y="65484"/>
                </a:lnTo>
                <a:cubicBezTo>
                  <a:pt x="126989" y="65484"/>
                  <a:pt x="130969" y="61504"/>
                  <a:pt x="130969" y="56554"/>
                </a:cubicBezTo>
                <a:cubicBezTo>
                  <a:pt x="130969" y="51606"/>
                  <a:pt x="126989" y="47625"/>
                  <a:pt x="122039" y="47625"/>
                </a:cubicBezTo>
                <a:lnTo>
                  <a:pt x="56554" y="47625"/>
                </a:lnTo>
                <a:cubicBezTo>
                  <a:pt x="51606" y="47625"/>
                  <a:pt x="47625" y="51606"/>
                  <a:pt x="47625" y="56554"/>
                </a:cubicBezTo>
                <a:close/>
                <a:moveTo>
                  <a:pt x="56554" y="83344"/>
                </a:moveTo>
                <a:cubicBezTo>
                  <a:pt x="51606" y="83344"/>
                  <a:pt x="47625" y="87325"/>
                  <a:pt x="47625" y="92273"/>
                </a:cubicBezTo>
                <a:cubicBezTo>
                  <a:pt x="47625" y="97222"/>
                  <a:pt x="51606" y="101202"/>
                  <a:pt x="56554" y="101202"/>
                </a:cubicBezTo>
                <a:lnTo>
                  <a:pt x="122039" y="101202"/>
                </a:lnTo>
                <a:cubicBezTo>
                  <a:pt x="126989" y="101202"/>
                  <a:pt x="130969" y="97222"/>
                  <a:pt x="130969" y="92273"/>
                </a:cubicBezTo>
                <a:cubicBezTo>
                  <a:pt x="130969" y="87325"/>
                  <a:pt x="126989" y="83344"/>
                  <a:pt x="122039" y="83344"/>
                </a:cubicBezTo>
                <a:lnTo>
                  <a:pt x="56554" y="83344"/>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5" name="AutoShape 25"/>
          <p:cNvSpPr/>
          <p:nvPr/>
        </p:nvSpPr>
        <p:spPr>
          <a:xfrm>
            <a:off x="7010210" y="4133771"/>
            <a:ext cx="4895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Appendix</a:t>
            </a:r>
            <a:endParaRPr lang="en-US" sz="1100"/>
          </a:p>
        </p:txBody>
      </p:sp>
      <p:sp>
        <p:nvSpPr>
          <p:cNvPr id="26" name="AutoShape 26"/>
          <p:cNvSpPr/>
          <p:nvPr/>
        </p:nvSpPr>
        <p:spPr>
          <a:xfrm>
            <a:off x="7010210" y="4438464"/>
            <a:ext cx="4876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Reference and Learning Resources</a:t>
            </a:r>
            <a:endParaRPr lang="en-US" sz="1100"/>
          </a:p>
        </p:txBody>
      </p:sp>
      <p:sp>
        <p:nvSpPr>
          <p:cNvPr id="27" name="Freeform 27"/>
          <p:cNvSpPr/>
          <p:nvPr/>
        </p:nvSpPr>
        <p:spPr>
          <a:xfrm>
            <a:off x="381000" y="5362547"/>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8" name="Freeform 28"/>
          <p:cNvSpPr/>
          <p:nvPr/>
        </p:nvSpPr>
        <p:spPr>
          <a:xfrm>
            <a:off x="552423" y="5545880"/>
            <a:ext cx="190500" cy="166688"/>
          </a:xfrm>
          <a:custGeom>
            <a:avLst/>
            <a:gdLst/>
            <a:ahLst/>
            <a:cxnLst/>
            <a:rect l="l" t="t" r="r" b="b"/>
            <a:pathLst>
              <a:path w="190500" h="166688">
                <a:moveTo>
                  <a:pt x="89670" y="20501"/>
                </a:moveTo>
                <a:lnTo>
                  <a:pt x="95250" y="28203"/>
                </a:lnTo>
                <a:lnTo>
                  <a:pt x="100830" y="20501"/>
                </a:lnTo>
                <a:cubicBezTo>
                  <a:pt x="110133" y="7628"/>
                  <a:pt x="125090" y="0"/>
                  <a:pt x="140978" y="0"/>
                </a:cubicBezTo>
                <a:cubicBezTo>
                  <a:pt x="168325" y="0"/>
                  <a:pt x="190500" y="22176"/>
                  <a:pt x="190500" y="49523"/>
                </a:cubicBezTo>
                <a:lnTo>
                  <a:pt x="190500" y="50490"/>
                </a:lnTo>
                <a:cubicBezTo>
                  <a:pt x="190500" y="92237"/>
                  <a:pt x="138447" y="140718"/>
                  <a:pt x="111286" y="161441"/>
                </a:cubicBezTo>
                <a:cubicBezTo>
                  <a:pt x="106672" y="164939"/>
                  <a:pt x="101017" y="166688"/>
                  <a:pt x="95250" y="166688"/>
                </a:cubicBezTo>
                <a:cubicBezTo>
                  <a:pt x="89483" y="166688"/>
                  <a:pt x="83790" y="164976"/>
                  <a:pt x="79214" y="161441"/>
                </a:cubicBezTo>
                <a:cubicBezTo>
                  <a:pt x="52053" y="140718"/>
                  <a:pt x="0" y="92237"/>
                  <a:pt x="0" y="50490"/>
                </a:cubicBezTo>
                <a:lnTo>
                  <a:pt x="0" y="49523"/>
                </a:lnTo>
                <a:cubicBezTo>
                  <a:pt x="0" y="22176"/>
                  <a:pt x="22175" y="0"/>
                  <a:pt x="49522" y="0"/>
                </a:cubicBezTo>
                <a:cubicBezTo>
                  <a:pt x="65410" y="0"/>
                  <a:pt x="80367" y="7628"/>
                  <a:pt x="89670" y="20501"/>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9" name="AutoShape 29"/>
          <p:cNvSpPr/>
          <p:nvPr/>
        </p:nvSpPr>
        <p:spPr>
          <a:xfrm>
            <a:off x="1066692" y="5438724"/>
            <a:ext cx="4895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Acknowledgments</a:t>
            </a:r>
            <a:endParaRPr lang="en-US" sz="1100"/>
          </a:p>
        </p:txBody>
      </p:sp>
      <p:sp>
        <p:nvSpPr>
          <p:cNvPr id="30" name="AutoShape 30"/>
          <p:cNvSpPr/>
          <p:nvPr/>
        </p:nvSpPr>
        <p:spPr>
          <a:xfrm>
            <a:off x="1066692" y="5743412"/>
            <a:ext cx="4876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Thanks to Those Who Supported This Course</a:t>
            </a:r>
            <a:endParaRPr lang="en-US" sz="1100"/>
          </a:p>
        </p:txBody>
      </p:sp>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5B92E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610414" y="2247984"/>
            <a:ext cx="1123950" cy="4572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845"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PART 1</a:t>
            </a:r>
            <a:endParaRPr lang="en-US" sz="1100"/>
          </a:p>
        </p:txBody>
      </p:sp>
      <p:sp>
        <p:nvSpPr>
          <p:cNvPr id="3" name="AutoShape 3"/>
          <p:cNvSpPr/>
          <p:nvPr/>
        </p:nvSpPr>
        <p:spPr>
          <a:xfrm>
            <a:off x="4008618" y="2933672"/>
            <a:ext cx="4476750" cy="9144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3960" b="1" i="0" u="none" strike="noStrike">
                <a:solidFill>
                  <a:srgbClr val="FFFFFF"/>
                </a:solidFill>
                <a:latin typeface="Alimama ShuHeiTi"/>
                <a:ea typeface="Alimama ShuHeiTi"/>
                <a:cs typeface="Alimama ShuHeiTi"/>
                <a:sym typeface="Alimama ShuHeiTi"/>
              </a:rPr>
              <a:t>"Omnipotent" AI</a:t>
            </a:r>
            <a:endParaRPr lang="en-US" sz="1100"/>
          </a:p>
        </p:txBody>
      </p:sp>
      <p:sp>
        <p:nvSpPr>
          <p:cNvPr id="4" name="AutoShape 4"/>
          <p:cNvSpPr/>
          <p:nvPr/>
        </p:nvSpPr>
        <p:spPr>
          <a:xfrm>
            <a:off x="4008755" y="4076700"/>
            <a:ext cx="4306570" cy="5334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530" b="0" i="0" u="none" strike="noStrike">
                <a:solidFill>
                  <a:srgbClr val="87CEEB"/>
                </a:solidFill>
                <a:latin typeface="MiSans" panose="00000500000000000000" charset="-122"/>
                <a:ea typeface="MiSans" panose="00000500000000000000" charset="-122"/>
                <a:cs typeface="MiSans" panose="00000500000000000000" charset="-122"/>
                <a:sym typeface="MiSans" panose="00000500000000000000" charset="-122"/>
              </a:rPr>
              <a:t>The Era of Large Models Has Arrived</a:t>
            </a:r>
            <a:endParaRPr lang="en-US" sz="1100"/>
          </a:p>
        </p:txBody>
      </p:sp>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615" b="0" i="0" u="none" strike="noStrike">
                <a:solidFill>
                  <a:srgbClr val="5B92E5"/>
                </a:solidFill>
                <a:latin typeface="Alimama ShuHeiTi"/>
                <a:ea typeface="Alimama ShuHeiTi"/>
                <a:cs typeface="Alimama ShuHeiTi"/>
                <a:sym typeface="Alimama ShuHeiTi"/>
              </a:rPr>
              <a:t>What is a Large Model?</a:t>
            </a:r>
            <a:endParaRPr lang="en-US" sz="1100"/>
          </a:p>
        </p:txBody>
      </p:sp>
      <p:sp>
        <p:nvSpPr>
          <p:cNvPr id="3" name="AutoShape 3"/>
          <p:cNvSpPr/>
          <p:nvPr/>
        </p:nvSpPr>
        <p:spPr>
          <a:xfrm>
            <a:off x="381000" y="1711523"/>
            <a:ext cx="5619750" cy="61912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Imagine a </a:t>
            </a: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super library</a:t>
            </a: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that stores almost all the knowledge and information in human history.</a:t>
            </a:r>
            <a:endParaRPr lang="en-US" sz="1100"/>
          </a:p>
        </p:txBody>
      </p:sp>
      <p:sp>
        <p:nvSpPr>
          <p:cNvPr id="4" name="AutoShape 4"/>
          <p:cNvSpPr/>
          <p:nvPr/>
        </p:nvSpPr>
        <p:spPr>
          <a:xfrm>
            <a:off x="381000" y="2635341"/>
            <a:ext cx="5619750" cy="61912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22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 large model is like the librarian of this library, who not only remembers all the content but also understands the </a:t>
            </a:r>
            <a:r>
              <a:rPr lang="en-US" sz="1225"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connections and patterns</a:t>
            </a:r>
            <a:r>
              <a:rPr lang="en-US" sz="122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among them.</a:t>
            </a:r>
            <a:endParaRPr lang="en-US" sz="1100"/>
          </a:p>
        </p:txBody>
      </p:sp>
      <p:sp>
        <p:nvSpPr>
          <p:cNvPr id="5" name="Freeform 5"/>
          <p:cNvSpPr/>
          <p:nvPr/>
        </p:nvSpPr>
        <p:spPr>
          <a:xfrm>
            <a:off x="381000" y="3559159"/>
            <a:ext cx="3629025" cy="1514475"/>
          </a:xfrm>
          <a:custGeom>
            <a:avLst/>
            <a:gdLst/>
            <a:ahLst/>
            <a:cxnLst/>
            <a:rect l="l" t="t" r="r" b="b"/>
            <a:pathLst>
              <a:path w="3629025" h="1514475">
                <a:moveTo>
                  <a:pt x="152403" y="0"/>
                </a:moveTo>
                <a:lnTo>
                  <a:pt x="3476622" y="0"/>
                </a:lnTo>
                <a:cubicBezTo>
                  <a:pt x="3560792" y="0"/>
                  <a:pt x="3629025" y="68233"/>
                  <a:pt x="3629025" y="152403"/>
                </a:cubicBezTo>
                <a:lnTo>
                  <a:pt x="3629025" y="1362072"/>
                </a:lnTo>
                <a:cubicBezTo>
                  <a:pt x="3629025" y="1446242"/>
                  <a:pt x="3560792" y="1514475"/>
                  <a:pt x="3476622" y="1514475"/>
                </a:cubicBezTo>
                <a:lnTo>
                  <a:pt x="152403" y="1514475"/>
                </a:lnTo>
                <a:cubicBezTo>
                  <a:pt x="68233" y="1514475"/>
                  <a:pt x="0" y="1446242"/>
                  <a:pt x="0" y="1362072"/>
                </a:cubicBezTo>
                <a:lnTo>
                  <a:pt x="0" y="152403"/>
                </a:lnTo>
                <a:cubicBezTo>
                  <a:pt x="0" y="68233"/>
                  <a:pt x="68233" y="0"/>
                  <a:pt x="152403"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689885" y="4028912"/>
            <a:ext cx="553641" cy="571500"/>
          </a:xfrm>
          <a:custGeom>
            <a:avLst/>
            <a:gdLst/>
            <a:ahLst/>
            <a:cxnLst/>
            <a:rect l="l" t="t" r="r" b="b"/>
            <a:pathLst>
              <a:path w="553641" h="571500">
                <a:moveTo>
                  <a:pt x="125017" y="62508"/>
                </a:moveTo>
                <a:cubicBezTo>
                  <a:pt x="125017" y="28017"/>
                  <a:pt x="153033" y="0"/>
                  <a:pt x="187523" y="0"/>
                </a:cubicBezTo>
                <a:lnTo>
                  <a:pt x="214313" y="0"/>
                </a:lnTo>
                <a:cubicBezTo>
                  <a:pt x="234070" y="0"/>
                  <a:pt x="250032" y="15963"/>
                  <a:pt x="250032" y="35719"/>
                </a:cubicBezTo>
                <a:lnTo>
                  <a:pt x="250032" y="535781"/>
                </a:lnTo>
                <a:cubicBezTo>
                  <a:pt x="250032" y="555537"/>
                  <a:pt x="234070" y="571500"/>
                  <a:pt x="214313" y="571500"/>
                </a:cubicBezTo>
                <a:lnTo>
                  <a:pt x="178594" y="571500"/>
                </a:lnTo>
                <a:cubicBezTo>
                  <a:pt x="145332" y="571500"/>
                  <a:pt x="117314" y="548729"/>
                  <a:pt x="109389" y="517923"/>
                </a:cubicBezTo>
                <a:cubicBezTo>
                  <a:pt x="108608" y="517923"/>
                  <a:pt x="107938" y="517923"/>
                  <a:pt x="107157" y="517923"/>
                </a:cubicBezTo>
                <a:cubicBezTo>
                  <a:pt x="57820" y="517923"/>
                  <a:pt x="17860" y="477962"/>
                  <a:pt x="17860" y="428625"/>
                </a:cubicBezTo>
                <a:cubicBezTo>
                  <a:pt x="17860" y="408534"/>
                  <a:pt x="24557" y="390004"/>
                  <a:pt x="35719" y="375048"/>
                </a:cubicBezTo>
                <a:cubicBezTo>
                  <a:pt x="14066" y="358750"/>
                  <a:pt x="0" y="332854"/>
                  <a:pt x="0" y="303609"/>
                </a:cubicBezTo>
                <a:cubicBezTo>
                  <a:pt x="0" y="269118"/>
                  <a:pt x="19646" y="239091"/>
                  <a:pt x="48221" y="224246"/>
                </a:cubicBezTo>
                <a:cubicBezTo>
                  <a:pt x="40296" y="210852"/>
                  <a:pt x="35719" y="195224"/>
                  <a:pt x="35719" y="178594"/>
                </a:cubicBezTo>
                <a:cubicBezTo>
                  <a:pt x="35719" y="129257"/>
                  <a:pt x="75680" y="89298"/>
                  <a:pt x="125017" y="89298"/>
                </a:cubicBezTo>
                <a:lnTo>
                  <a:pt x="125017" y="62508"/>
                </a:lnTo>
                <a:close/>
                <a:moveTo>
                  <a:pt x="428625" y="62508"/>
                </a:moveTo>
                <a:lnTo>
                  <a:pt x="428625" y="89298"/>
                </a:lnTo>
                <a:cubicBezTo>
                  <a:pt x="477962" y="89298"/>
                  <a:pt x="517923" y="129257"/>
                  <a:pt x="517923" y="178594"/>
                </a:cubicBezTo>
                <a:cubicBezTo>
                  <a:pt x="517923" y="195337"/>
                  <a:pt x="513346" y="210964"/>
                  <a:pt x="505421" y="224246"/>
                </a:cubicBezTo>
                <a:cubicBezTo>
                  <a:pt x="534108" y="239091"/>
                  <a:pt x="553642" y="269008"/>
                  <a:pt x="553642" y="303609"/>
                </a:cubicBezTo>
                <a:cubicBezTo>
                  <a:pt x="553642" y="332854"/>
                  <a:pt x="539576" y="358750"/>
                  <a:pt x="517923" y="375048"/>
                </a:cubicBezTo>
                <a:cubicBezTo>
                  <a:pt x="529085" y="390004"/>
                  <a:pt x="535782" y="408534"/>
                  <a:pt x="535782" y="428625"/>
                </a:cubicBezTo>
                <a:cubicBezTo>
                  <a:pt x="535782" y="477962"/>
                  <a:pt x="495822" y="517923"/>
                  <a:pt x="446485" y="517923"/>
                </a:cubicBezTo>
                <a:cubicBezTo>
                  <a:pt x="445704" y="517923"/>
                  <a:pt x="445034" y="517923"/>
                  <a:pt x="444253" y="517923"/>
                </a:cubicBezTo>
                <a:cubicBezTo>
                  <a:pt x="436328" y="548729"/>
                  <a:pt x="408310" y="571500"/>
                  <a:pt x="375048" y="571500"/>
                </a:cubicBezTo>
                <a:lnTo>
                  <a:pt x="339329" y="571500"/>
                </a:lnTo>
                <a:cubicBezTo>
                  <a:pt x="319572" y="571500"/>
                  <a:pt x="303610" y="555537"/>
                  <a:pt x="303610" y="535781"/>
                </a:cubicBezTo>
                <a:lnTo>
                  <a:pt x="303610" y="35719"/>
                </a:lnTo>
                <a:cubicBezTo>
                  <a:pt x="303610" y="15963"/>
                  <a:pt x="319572" y="0"/>
                  <a:pt x="339329" y="0"/>
                </a:cubicBezTo>
                <a:lnTo>
                  <a:pt x="366119" y="0"/>
                </a:lnTo>
                <a:cubicBezTo>
                  <a:pt x="400609" y="0"/>
                  <a:pt x="428625" y="28017"/>
                  <a:pt x="428625" y="62508"/>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1552413" y="3787676"/>
            <a:ext cx="23145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8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Parameter Scale for </a:t>
            </a:r>
            <a:r>
              <a:rPr lang="en-US" sz="88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Deepseek-V3</a:t>
            </a:r>
            <a:endParaRPr lang="en-US" sz="88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8" name="AutoShape 8"/>
          <p:cNvSpPr/>
          <p:nvPr/>
        </p:nvSpPr>
        <p:spPr>
          <a:xfrm>
            <a:off x="1552413" y="4130385"/>
            <a:ext cx="2584450" cy="714375"/>
          </a:xfrm>
          <a:prstGeom prst="rect">
            <a:avLst/>
          </a:prstGeom>
          <a:noFill/>
          <a:ln w="12700">
            <a:noFill/>
            <a:prstDash val="solid"/>
          </a:ln>
        </p:spPr>
        <p:txBody>
          <a:bodyPr wrap="square" lIns="0" tIns="0" rIns="0" bIns="0" rtlCol="0" anchor="ctr">
            <a:noAutofit/>
          </a:bodyPr>
          <a:lstStyle/>
          <a:p>
            <a:pPr indent="0" algn="l">
              <a:lnSpc>
                <a:spcPct val="83000"/>
              </a:lnSpc>
              <a:defRPr/>
            </a:pPr>
            <a:r>
              <a:rPr lang="en-US" sz="3085"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671 Billion</a:t>
            </a:r>
            <a:endParaRPr lang="en-US" sz="1100"/>
          </a:p>
        </p:txBody>
      </p:sp>
      <p:pic>
        <p:nvPicPr>
          <p:cNvPr id="9" name="Picture 9"/>
          <p:cNvPicPr>
            <a:picLocks noChangeAspect="1"/>
          </p:cNvPicPr>
          <p:nvPr/>
        </p:nvPicPr>
        <p:blipFill>
          <a:blip r:embed="rId1"/>
          <a:srcRect/>
          <a:stretch>
            <a:fillRect/>
          </a:stretch>
        </p:blipFill>
        <p:spPr>
          <a:xfrm>
            <a:off x="6915095" y="2171672"/>
            <a:ext cx="4267200" cy="2438400"/>
          </a:xfrm>
          <a:prstGeom prst="roundRect">
            <a:avLst>
              <a:gd name="adj" fmla="val 6250"/>
            </a:avLst>
          </a:prstGeom>
          <a:ln w="12700">
            <a:noFill/>
            <a:prstDash val="solid"/>
          </a:ln>
        </p:spPr>
      </p:pic>
      <p:sp>
        <p:nvSpPr>
          <p:cNvPr id="10" name="Freeform 10"/>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609519" y="5962594"/>
            <a:ext cx="59848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2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Parameters</a:t>
            </a:r>
            <a:r>
              <a:rPr lang="en-US" sz="82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Adjustable variables in the model, similar to the connection strength of neurons in the brain</a:t>
            </a:r>
            <a:endParaRPr lang="en-US" sz="1100"/>
          </a:p>
        </p:txBody>
      </p:sp>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615" b="0" i="0" u="none" strike="noStrike">
                <a:solidFill>
                  <a:srgbClr val="5B92E5"/>
                </a:solidFill>
                <a:latin typeface="Alimama ShuHeiTi"/>
                <a:ea typeface="Alimama ShuHeiTi"/>
                <a:cs typeface="Alimama ShuHeiTi"/>
                <a:sym typeface="Alimama ShuHeiTi"/>
              </a:rPr>
              <a:t>The Magic of Generative AI</a:t>
            </a:r>
            <a:endParaRPr lang="en-US" sz="1100"/>
          </a:p>
        </p:txBody>
      </p:sp>
      <p:sp>
        <p:nvSpPr>
          <p:cNvPr id="3" name="Freeform 3"/>
          <p:cNvSpPr/>
          <p:nvPr/>
        </p:nvSpPr>
        <p:spPr>
          <a:xfrm>
            <a:off x="381000" y="1295344"/>
            <a:ext cx="5600700" cy="2057400"/>
          </a:xfrm>
          <a:custGeom>
            <a:avLst/>
            <a:gdLst/>
            <a:ahLst/>
            <a:cxnLst/>
            <a:rect l="l" t="t" r="r" b="b"/>
            <a:pathLst>
              <a:path w="5600700" h="2057400">
                <a:moveTo>
                  <a:pt x="152392" y="0"/>
                </a:moveTo>
                <a:lnTo>
                  <a:pt x="5448308" y="0"/>
                </a:lnTo>
                <a:cubicBezTo>
                  <a:pt x="5532472" y="0"/>
                  <a:pt x="5600700" y="68228"/>
                  <a:pt x="5600700" y="152392"/>
                </a:cubicBezTo>
                <a:lnTo>
                  <a:pt x="5600700" y="1905008"/>
                </a:lnTo>
                <a:cubicBezTo>
                  <a:pt x="5600700" y="1989172"/>
                  <a:pt x="5532472" y="2057400"/>
                  <a:pt x="5448308" y="2057400"/>
                </a:cubicBezTo>
                <a:lnTo>
                  <a:pt x="152392" y="2057400"/>
                </a:lnTo>
                <a:cubicBezTo>
                  <a:pt x="68228" y="2057400"/>
                  <a:pt x="0" y="1989172"/>
                  <a:pt x="0" y="1905008"/>
                </a:cubicBezTo>
                <a:lnTo>
                  <a:pt x="0" y="152392"/>
                </a:lnTo>
                <a:cubicBezTo>
                  <a:pt x="0" y="68284"/>
                  <a:pt x="68284" y="0"/>
                  <a:pt x="152392"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2966956" y="1600042"/>
            <a:ext cx="428625" cy="571500"/>
          </a:xfrm>
          <a:custGeom>
            <a:avLst/>
            <a:gdLst/>
            <a:ahLst/>
            <a:cxnLst/>
            <a:rect l="l" t="t" r="r" b="b"/>
            <a:pathLst>
              <a:path w="428625" h="571500">
                <a:moveTo>
                  <a:pt x="0" y="71438"/>
                </a:moveTo>
                <a:cubicBezTo>
                  <a:pt x="0" y="32034"/>
                  <a:pt x="32034" y="0"/>
                  <a:pt x="71438" y="0"/>
                </a:cubicBezTo>
                <a:lnTo>
                  <a:pt x="238310" y="0"/>
                </a:lnTo>
                <a:cubicBezTo>
                  <a:pt x="257287" y="0"/>
                  <a:pt x="275481" y="7479"/>
                  <a:pt x="288875" y="20872"/>
                </a:cubicBezTo>
                <a:lnTo>
                  <a:pt x="407753" y="139861"/>
                </a:lnTo>
                <a:cubicBezTo>
                  <a:pt x="421146" y="153256"/>
                  <a:pt x="428625" y="171450"/>
                  <a:pt x="428625" y="190426"/>
                </a:cubicBezTo>
                <a:lnTo>
                  <a:pt x="428625" y="500062"/>
                </a:lnTo>
                <a:cubicBezTo>
                  <a:pt x="428625" y="539466"/>
                  <a:pt x="396591" y="571500"/>
                  <a:pt x="357188" y="571500"/>
                </a:cubicBezTo>
                <a:lnTo>
                  <a:pt x="71438" y="571500"/>
                </a:lnTo>
                <a:cubicBezTo>
                  <a:pt x="32034" y="571500"/>
                  <a:pt x="0" y="539466"/>
                  <a:pt x="0" y="500062"/>
                </a:cubicBezTo>
                <a:lnTo>
                  <a:pt x="0" y="71438"/>
                </a:lnTo>
                <a:close/>
                <a:moveTo>
                  <a:pt x="232173" y="65298"/>
                </a:moveTo>
                <a:lnTo>
                  <a:pt x="232173" y="169664"/>
                </a:lnTo>
                <a:cubicBezTo>
                  <a:pt x="232173" y="184509"/>
                  <a:pt x="244116" y="196452"/>
                  <a:pt x="258961" y="196452"/>
                </a:cubicBezTo>
                <a:lnTo>
                  <a:pt x="363327" y="196452"/>
                </a:lnTo>
                <a:lnTo>
                  <a:pt x="232173" y="65298"/>
                </a:lnTo>
                <a:close/>
                <a:moveTo>
                  <a:pt x="133946" y="285750"/>
                </a:moveTo>
                <a:cubicBezTo>
                  <a:pt x="119101" y="285750"/>
                  <a:pt x="107156" y="297693"/>
                  <a:pt x="107156" y="312539"/>
                </a:cubicBezTo>
                <a:cubicBezTo>
                  <a:pt x="107156" y="327384"/>
                  <a:pt x="119101" y="339327"/>
                  <a:pt x="133946" y="339327"/>
                </a:cubicBezTo>
                <a:lnTo>
                  <a:pt x="294679" y="339327"/>
                </a:lnTo>
                <a:cubicBezTo>
                  <a:pt x="309524" y="339327"/>
                  <a:pt x="321469" y="327384"/>
                  <a:pt x="321469" y="312539"/>
                </a:cubicBezTo>
                <a:cubicBezTo>
                  <a:pt x="321469" y="297693"/>
                  <a:pt x="309524" y="285750"/>
                  <a:pt x="294679" y="285750"/>
                </a:cubicBezTo>
                <a:lnTo>
                  <a:pt x="133946" y="285750"/>
                </a:lnTo>
                <a:close/>
                <a:moveTo>
                  <a:pt x="133946" y="392906"/>
                </a:moveTo>
                <a:cubicBezTo>
                  <a:pt x="119101" y="392906"/>
                  <a:pt x="107156" y="404851"/>
                  <a:pt x="107156" y="419696"/>
                </a:cubicBezTo>
                <a:cubicBezTo>
                  <a:pt x="107156" y="434541"/>
                  <a:pt x="119101" y="446484"/>
                  <a:pt x="133946" y="446484"/>
                </a:cubicBezTo>
                <a:lnTo>
                  <a:pt x="294679" y="446484"/>
                </a:lnTo>
                <a:cubicBezTo>
                  <a:pt x="309524" y="446484"/>
                  <a:pt x="321469" y="434541"/>
                  <a:pt x="321469" y="419696"/>
                </a:cubicBezTo>
                <a:cubicBezTo>
                  <a:pt x="321469" y="404851"/>
                  <a:pt x="309524" y="392906"/>
                  <a:pt x="294679" y="392906"/>
                </a:cubicBezTo>
                <a:lnTo>
                  <a:pt x="133946" y="392906"/>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2724096" y="2362042"/>
            <a:ext cx="10287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95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Text Generation</a:t>
            </a:r>
            <a:endParaRPr lang="en-US" sz="1100"/>
          </a:p>
        </p:txBody>
      </p:sp>
      <p:sp>
        <p:nvSpPr>
          <p:cNvPr id="6" name="AutoShape 6"/>
          <p:cNvSpPr/>
          <p:nvPr/>
        </p:nvSpPr>
        <p:spPr>
          <a:xfrm>
            <a:off x="2133140" y="2781058"/>
            <a:ext cx="209550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5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Articles, code, poetry, emails...</a:t>
            </a:r>
            <a:endParaRPr lang="en-US" sz="1100"/>
          </a:p>
        </p:txBody>
      </p:sp>
      <p:sp>
        <p:nvSpPr>
          <p:cNvPr id="7" name="Freeform 7"/>
          <p:cNvSpPr/>
          <p:nvPr/>
        </p:nvSpPr>
        <p:spPr>
          <a:xfrm>
            <a:off x="6198126" y="1295344"/>
            <a:ext cx="5600700" cy="2057400"/>
          </a:xfrm>
          <a:custGeom>
            <a:avLst/>
            <a:gdLst/>
            <a:ahLst/>
            <a:cxnLst/>
            <a:rect l="l" t="t" r="r" b="b"/>
            <a:pathLst>
              <a:path w="5600700" h="2057400">
                <a:moveTo>
                  <a:pt x="152392" y="0"/>
                </a:moveTo>
                <a:lnTo>
                  <a:pt x="5448308" y="0"/>
                </a:lnTo>
                <a:cubicBezTo>
                  <a:pt x="5532472" y="0"/>
                  <a:pt x="5600700" y="68228"/>
                  <a:pt x="5600700" y="152392"/>
                </a:cubicBezTo>
                <a:lnTo>
                  <a:pt x="5600700" y="1905008"/>
                </a:lnTo>
                <a:cubicBezTo>
                  <a:pt x="5600700" y="1989172"/>
                  <a:pt x="5532472" y="2057400"/>
                  <a:pt x="5448308" y="2057400"/>
                </a:cubicBezTo>
                <a:lnTo>
                  <a:pt x="152392" y="2057400"/>
                </a:lnTo>
                <a:cubicBezTo>
                  <a:pt x="68228" y="2057400"/>
                  <a:pt x="0" y="1989172"/>
                  <a:pt x="0" y="1905008"/>
                </a:cubicBezTo>
                <a:lnTo>
                  <a:pt x="0" y="152392"/>
                </a:lnTo>
                <a:cubicBezTo>
                  <a:pt x="0" y="68284"/>
                  <a:pt x="68284" y="0"/>
                  <a:pt x="152392" y="0"/>
                </a:cubicBezTo>
                <a:close/>
              </a:path>
            </a:pathLst>
          </a:custGeom>
          <a:solidFill>
            <a:srgbClr val="00BFFF">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8760564" y="1635761"/>
            <a:ext cx="500062" cy="500062"/>
          </a:xfrm>
          <a:custGeom>
            <a:avLst/>
            <a:gdLst/>
            <a:ahLst/>
            <a:cxnLst/>
            <a:rect l="l" t="t" r="r" b="b"/>
            <a:pathLst>
              <a:path w="500062" h="500062">
                <a:moveTo>
                  <a:pt x="71438" y="0"/>
                </a:moveTo>
                <a:cubicBezTo>
                  <a:pt x="32034" y="0"/>
                  <a:pt x="0" y="32036"/>
                  <a:pt x="0" y="71437"/>
                </a:cubicBezTo>
                <a:lnTo>
                  <a:pt x="0" y="428625"/>
                </a:lnTo>
                <a:cubicBezTo>
                  <a:pt x="0" y="468027"/>
                  <a:pt x="32034" y="500062"/>
                  <a:pt x="71438" y="500062"/>
                </a:cubicBezTo>
                <a:lnTo>
                  <a:pt x="428625" y="500062"/>
                </a:lnTo>
                <a:cubicBezTo>
                  <a:pt x="468027" y="500062"/>
                  <a:pt x="500062" y="468027"/>
                  <a:pt x="500062" y="428625"/>
                </a:cubicBezTo>
                <a:lnTo>
                  <a:pt x="500062" y="71437"/>
                </a:lnTo>
                <a:cubicBezTo>
                  <a:pt x="500062" y="32036"/>
                  <a:pt x="468027" y="0"/>
                  <a:pt x="428625" y="0"/>
                </a:cubicBezTo>
                <a:lnTo>
                  <a:pt x="71438" y="0"/>
                </a:lnTo>
                <a:close/>
                <a:moveTo>
                  <a:pt x="142875" y="89297"/>
                </a:moveTo>
                <a:cubicBezTo>
                  <a:pt x="172446" y="89297"/>
                  <a:pt x="196452" y="113304"/>
                  <a:pt x="196452" y="142875"/>
                </a:cubicBezTo>
                <a:cubicBezTo>
                  <a:pt x="196452" y="172445"/>
                  <a:pt x="172446" y="196454"/>
                  <a:pt x="142875" y="196454"/>
                </a:cubicBezTo>
                <a:cubicBezTo>
                  <a:pt x="113304" y="196454"/>
                  <a:pt x="89298" y="172445"/>
                  <a:pt x="89298" y="142875"/>
                </a:cubicBezTo>
                <a:cubicBezTo>
                  <a:pt x="89298" y="113304"/>
                  <a:pt x="113304" y="89297"/>
                  <a:pt x="142875" y="89297"/>
                </a:cubicBezTo>
                <a:close/>
                <a:moveTo>
                  <a:pt x="303609" y="214312"/>
                </a:moveTo>
                <a:cubicBezTo>
                  <a:pt x="312986" y="214312"/>
                  <a:pt x="321581" y="219225"/>
                  <a:pt x="326492" y="227149"/>
                </a:cubicBezTo>
                <a:lnTo>
                  <a:pt x="424718" y="387883"/>
                </a:lnTo>
                <a:cubicBezTo>
                  <a:pt x="429741" y="396143"/>
                  <a:pt x="429964" y="406524"/>
                  <a:pt x="425276" y="415007"/>
                </a:cubicBezTo>
                <a:cubicBezTo>
                  <a:pt x="420588" y="423490"/>
                  <a:pt x="411547" y="428625"/>
                  <a:pt x="401836" y="428625"/>
                </a:cubicBezTo>
                <a:lnTo>
                  <a:pt x="98227" y="428625"/>
                </a:lnTo>
                <a:cubicBezTo>
                  <a:pt x="88292" y="428625"/>
                  <a:pt x="79028" y="423044"/>
                  <a:pt x="74451" y="414225"/>
                </a:cubicBezTo>
                <a:cubicBezTo>
                  <a:pt x="69875" y="405408"/>
                  <a:pt x="70545" y="394692"/>
                  <a:pt x="76237" y="386545"/>
                </a:cubicBezTo>
                <a:lnTo>
                  <a:pt x="138745" y="297247"/>
                </a:lnTo>
                <a:cubicBezTo>
                  <a:pt x="143768" y="290103"/>
                  <a:pt x="151916" y="285862"/>
                  <a:pt x="160734" y="285862"/>
                </a:cubicBezTo>
                <a:cubicBezTo>
                  <a:pt x="169553" y="285862"/>
                  <a:pt x="177701" y="290103"/>
                  <a:pt x="182724" y="297247"/>
                </a:cubicBezTo>
                <a:lnTo>
                  <a:pt x="212192" y="339439"/>
                </a:lnTo>
                <a:lnTo>
                  <a:pt x="280727" y="227260"/>
                </a:lnTo>
                <a:cubicBezTo>
                  <a:pt x="285638" y="219335"/>
                  <a:pt x="294234" y="214424"/>
                  <a:pt x="303609" y="214424"/>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8553287" y="2362042"/>
            <a:ext cx="10287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92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Image Generation</a:t>
            </a:r>
            <a:endParaRPr lang="en-US" sz="1100"/>
          </a:p>
        </p:txBody>
      </p:sp>
      <p:sp>
        <p:nvSpPr>
          <p:cNvPr id="10" name="AutoShape 10"/>
          <p:cNvSpPr/>
          <p:nvPr/>
        </p:nvSpPr>
        <p:spPr>
          <a:xfrm>
            <a:off x="7962467" y="2781058"/>
            <a:ext cx="209550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4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Painting, design, photography, illustration...</a:t>
            </a:r>
            <a:endParaRPr lang="en-US" sz="1100"/>
          </a:p>
        </p:txBody>
      </p:sp>
      <p:sp>
        <p:nvSpPr>
          <p:cNvPr id="11" name="Freeform 11"/>
          <p:cNvSpPr/>
          <p:nvPr/>
        </p:nvSpPr>
        <p:spPr>
          <a:xfrm>
            <a:off x="381000" y="3580805"/>
            <a:ext cx="5600700" cy="2095500"/>
          </a:xfrm>
          <a:custGeom>
            <a:avLst/>
            <a:gdLst/>
            <a:ahLst/>
            <a:cxnLst/>
            <a:rect l="l" t="t" r="r" b="b"/>
            <a:pathLst>
              <a:path w="5600700" h="2095500">
                <a:moveTo>
                  <a:pt x="152406" y="0"/>
                </a:moveTo>
                <a:lnTo>
                  <a:pt x="5448294" y="0"/>
                </a:lnTo>
                <a:cubicBezTo>
                  <a:pt x="5532410" y="0"/>
                  <a:pt x="5600700" y="68290"/>
                  <a:pt x="5600700" y="152406"/>
                </a:cubicBezTo>
                <a:lnTo>
                  <a:pt x="5600700" y="1943094"/>
                </a:lnTo>
                <a:cubicBezTo>
                  <a:pt x="5600700" y="2027210"/>
                  <a:pt x="5532410" y="2095500"/>
                  <a:pt x="5448294" y="2095500"/>
                </a:cubicBezTo>
                <a:lnTo>
                  <a:pt x="152406" y="2095500"/>
                </a:lnTo>
                <a:cubicBezTo>
                  <a:pt x="68290" y="2095500"/>
                  <a:pt x="0" y="2027210"/>
                  <a:pt x="0" y="1943094"/>
                </a:cubicBezTo>
                <a:lnTo>
                  <a:pt x="0" y="152406"/>
                </a:lnTo>
                <a:cubicBezTo>
                  <a:pt x="0" y="68290"/>
                  <a:pt x="68290" y="0"/>
                  <a:pt x="152406"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2895519" y="3901361"/>
            <a:ext cx="535781" cy="537233"/>
          </a:xfrm>
          <a:custGeom>
            <a:avLst/>
            <a:gdLst/>
            <a:ahLst/>
            <a:cxnLst/>
            <a:rect l="l" t="t" r="r" b="b"/>
            <a:pathLst>
              <a:path w="535781" h="537233">
                <a:moveTo>
                  <a:pt x="522387" y="9265"/>
                </a:moveTo>
                <a:cubicBezTo>
                  <a:pt x="530870" y="16074"/>
                  <a:pt x="535781" y="26344"/>
                  <a:pt x="535781" y="37171"/>
                </a:cubicBezTo>
                <a:lnTo>
                  <a:pt x="535781" y="376500"/>
                </a:lnTo>
                <a:cubicBezTo>
                  <a:pt x="535781" y="425835"/>
                  <a:pt x="487784" y="465796"/>
                  <a:pt x="428625" y="465796"/>
                </a:cubicBezTo>
                <a:cubicBezTo>
                  <a:pt x="369466" y="465796"/>
                  <a:pt x="321469" y="425835"/>
                  <a:pt x="321469" y="376500"/>
                </a:cubicBezTo>
                <a:cubicBezTo>
                  <a:pt x="321469" y="327163"/>
                  <a:pt x="369466" y="287202"/>
                  <a:pt x="428625" y="287202"/>
                </a:cubicBezTo>
                <a:cubicBezTo>
                  <a:pt x="441127" y="287202"/>
                  <a:pt x="453182" y="288988"/>
                  <a:pt x="464344" y="292337"/>
                </a:cubicBezTo>
                <a:lnTo>
                  <a:pt x="464344" y="162075"/>
                </a:lnTo>
                <a:lnTo>
                  <a:pt x="214313" y="217662"/>
                </a:lnTo>
                <a:lnTo>
                  <a:pt x="214313" y="447936"/>
                </a:lnTo>
                <a:cubicBezTo>
                  <a:pt x="214313" y="497273"/>
                  <a:pt x="166315" y="537233"/>
                  <a:pt x="107156" y="537233"/>
                </a:cubicBezTo>
                <a:cubicBezTo>
                  <a:pt x="47997" y="537233"/>
                  <a:pt x="0" y="497273"/>
                  <a:pt x="0" y="447936"/>
                </a:cubicBezTo>
                <a:cubicBezTo>
                  <a:pt x="0" y="398600"/>
                  <a:pt x="47997" y="358639"/>
                  <a:pt x="107156" y="358639"/>
                </a:cubicBezTo>
                <a:cubicBezTo>
                  <a:pt x="119658" y="358639"/>
                  <a:pt x="131713" y="360425"/>
                  <a:pt x="142875" y="363774"/>
                </a:cubicBezTo>
                <a:lnTo>
                  <a:pt x="142875" y="108608"/>
                </a:lnTo>
                <a:cubicBezTo>
                  <a:pt x="142875" y="91865"/>
                  <a:pt x="154484" y="77354"/>
                  <a:pt x="170892" y="73782"/>
                </a:cubicBezTo>
                <a:lnTo>
                  <a:pt x="492361" y="2345"/>
                </a:lnTo>
                <a:cubicBezTo>
                  <a:pt x="502964" y="0"/>
                  <a:pt x="514015" y="2568"/>
                  <a:pt x="522498" y="9377"/>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2724096" y="4664813"/>
            <a:ext cx="10287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93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Audio Generation</a:t>
            </a:r>
            <a:endParaRPr lang="en-US" sz="1100"/>
          </a:p>
        </p:txBody>
      </p:sp>
      <p:sp>
        <p:nvSpPr>
          <p:cNvPr id="14" name="AutoShape 14"/>
          <p:cNvSpPr/>
          <p:nvPr/>
        </p:nvSpPr>
        <p:spPr>
          <a:xfrm>
            <a:off x="2133140" y="5083829"/>
            <a:ext cx="209550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7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Music, voiceover, sound effects, speech...</a:t>
            </a:r>
            <a:endParaRPr lang="en-US" sz="1100"/>
          </a:p>
        </p:txBody>
      </p:sp>
      <p:sp>
        <p:nvSpPr>
          <p:cNvPr id="15" name="Freeform 15"/>
          <p:cNvSpPr/>
          <p:nvPr/>
        </p:nvSpPr>
        <p:spPr>
          <a:xfrm>
            <a:off x="6218850" y="3589464"/>
            <a:ext cx="5579918" cy="2074718"/>
          </a:xfrm>
          <a:custGeom>
            <a:avLst/>
            <a:gdLst/>
            <a:ahLst/>
            <a:cxnLst/>
            <a:rect l="l" t="t" r="r" b="b"/>
            <a:pathLst>
              <a:path w="5579918" h="2074718">
                <a:moveTo>
                  <a:pt x="152409" y="0"/>
                </a:moveTo>
                <a:lnTo>
                  <a:pt x="5427509" y="0"/>
                </a:lnTo>
                <a:cubicBezTo>
                  <a:pt x="5511682" y="0"/>
                  <a:pt x="5579918" y="68236"/>
                  <a:pt x="5579918" y="152409"/>
                </a:cubicBezTo>
                <a:lnTo>
                  <a:pt x="5579918" y="1922309"/>
                </a:lnTo>
                <a:cubicBezTo>
                  <a:pt x="5579918" y="2006482"/>
                  <a:pt x="5511682" y="2074718"/>
                  <a:pt x="5427509" y="2074718"/>
                </a:cubicBezTo>
                <a:lnTo>
                  <a:pt x="152409" y="2074718"/>
                </a:lnTo>
                <a:cubicBezTo>
                  <a:pt x="68236" y="2074718"/>
                  <a:pt x="0" y="2006482"/>
                  <a:pt x="0" y="1922309"/>
                </a:cubicBezTo>
                <a:lnTo>
                  <a:pt x="0" y="152409"/>
                </a:lnTo>
                <a:cubicBezTo>
                  <a:pt x="0" y="68292"/>
                  <a:pt x="68292" y="0"/>
                  <a:pt x="152409"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16" name="Freeform 16"/>
          <p:cNvSpPr/>
          <p:nvPr/>
        </p:nvSpPr>
        <p:spPr>
          <a:xfrm>
            <a:off x="8724846" y="3974251"/>
            <a:ext cx="607219" cy="428625"/>
          </a:xfrm>
          <a:custGeom>
            <a:avLst/>
            <a:gdLst/>
            <a:ahLst/>
            <a:cxnLst/>
            <a:rect l="l" t="t" r="r" b="b"/>
            <a:pathLst>
              <a:path w="607219" h="428625">
                <a:moveTo>
                  <a:pt x="71437" y="0"/>
                </a:moveTo>
                <a:cubicBezTo>
                  <a:pt x="32036" y="0"/>
                  <a:pt x="0" y="32035"/>
                  <a:pt x="0" y="71437"/>
                </a:cubicBezTo>
                <a:lnTo>
                  <a:pt x="0" y="357187"/>
                </a:lnTo>
                <a:cubicBezTo>
                  <a:pt x="0" y="396589"/>
                  <a:pt x="32036" y="428625"/>
                  <a:pt x="71437" y="428625"/>
                </a:cubicBezTo>
                <a:lnTo>
                  <a:pt x="357187" y="428625"/>
                </a:lnTo>
                <a:cubicBezTo>
                  <a:pt x="396589" y="428625"/>
                  <a:pt x="428625" y="396589"/>
                  <a:pt x="428625" y="357187"/>
                </a:cubicBezTo>
                <a:lnTo>
                  <a:pt x="428625" y="71437"/>
                </a:lnTo>
                <a:cubicBezTo>
                  <a:pt x="428625" y="32035"/>
                  <a:pt x="396589" y="0"/>
                  <a:pt x="357187" y="0"/>
                </a:cubicBezTo>
                <a:lnTo>
                  <a:pt x="71437" y="0"/>
                </a:lnTo>
                <a:close/>
                <a:moveTo>
                  <a:pt x="482204" y="303610"/>
                </a:moveTo>
                <a:lnTo>
                  <a:pt x="564244" y="369242"/>
                </a:lnTo>
                <a:cubicBezTo>
                  <a:pt x="568932" y="373037"/>
                  <a:pt x="574737" y="375046"/>
                  <a:pt x="580764" y="375046"/>
                </a:cubicBezTo>
                <a:cubicBezTo>
                  <a:pt x="595387" y="375046"/>
                  <a:pt x="607218" y="363214"/>
                  <a:pt x="607218" y="348592"/>
                </a:cubicBezTo>
                <a:lnTo>
                  <a:pt x="607218" y="80032"/>
                </a:lnTo>
                <a:cubicBezTo>
                  <a:pt x="607218" y="65410"/>
                  <a:pt x="595387" y="53578"/>
                  <a:pt x="580764" y="53578"/>
                </a:cubicBezTo>
                <a:cubicBezTo>
                  <a:pt x="574737" y="53578"/>
                  <a:pt x="568932" y="55587"/>
                  <a:pt x="564244" y="59382"/>
                </a:cubicBezTo>
                <a:lnTo>
                  <a:pt x="482204" y="125014"/>
                </a:lnTo>
                <a:lnTo>
                  <a:pt x="482204" y="30361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8553287" y="4664813"/>
            <a:ext cx="10287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93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Video Generation</a:t>
            </a:r>
            <a:endParaRPr lang="en-US" sz="1100"/>
          </a:p>
        </p:txBody>
      </p:sp>
      <p:sp>
        <p:nvSpPr>
          <p:cNvPr id="18" name="AutoShape 18"/>
          <p:cNvSpPr/>
          <p:nvPr/>
        </p:nvSpPr>
        <p:spPr>
          <a:xfrm>
            <a:off x="7962467" y="5083829"/>
            <a:ext cx="209550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Animation, short films, special effects, editing...</a:t>
            </a:r>
            <a:endParaRPr lang="en-US" sz="1100"/>
          </a:p>
        </p:txBody>
      </p:sp>
      <p:sp>
        <p:nvSpPr>
          <p:cNvPr id="19" name="Freeform 19"/>
          <p:cNvSpPr/>
          <p:nvPr/>
        </p:nvSpPr>
        <p:spPr>
          <a:xfrm>
            <a:off x="381000" y="5900896"/>
            <a:ext cx="11430000" cy="571500"/>
          </a:xfrm>
          <a:custGeom>
            <a:avLst/>
            <a:gdLst/>
            <a:ahLst/>
            <a:cxnLst/>
            <a:rect l="l" t="t" r="r" b="b"/>
            <a:pathLst>
              <a:path w="11430000" h="571500">
                <a:moveTo>
                  <a:pt x="76197" y="0"/>
                </a:moveTo>
                <a:lnTo>
                  <a:pt x="11353803" y="0"/>
                </a:lnTo>
                <a:cubicBezTo>
                  <a:pt x="11395885" y="0"/>
                  <a:pt x="11430000" y="34115"/>
                  <a:pt x="11430000" y="76197"/>
                </a:cubicBezTo>
                <a:lnTo>
                  <a:pt x="11430000" y="495303"/>
                </a:lnTo>
                <a:cubicBezTo>
                  <a:pt x="11430000" y="537385"/>
                  <a:pt x="11395885" y="571500"/>
                  <a:pt x="11353803" y="571500"/>
                </a:cubicBezTo>
                <a:lnTo>
                  <a:pt x="76197" y="571500"/>
                </a:lnTo>
                <a:cubicBezTo>
                  <a:pt x="34115" y="571500"/>
                  <a:pt x="0" y="537385"/>
                  <a:pt x="0" y="495303"/>
                </a:cubicBezTo>
                <a:lnTo>
                  <a:pt x="0" y="76197"/>
                </a:lnTo>
                <a:cubicBezTo>
                  <a:pt x="0" y="34115"/>
                  <a:pt x="34115" y="0"/>
                  <a:pt x="76197"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609519" y="6055547"/>
            <a:ext cx="66706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0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80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Multimodal</a:t>
            </a:r>
            <a:r>
              <a:rPr lang="en-US" sz="80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Capable of simultaneously understanding and generating text, images, audio, video, and other types of content</a:t>
            </a:r>
            <a:endParaRPr lang="en-US" sz="1100"/>
          </a:p>
        </p:txBody>
      </p:sp>
    </p:spTree>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615" b="0" i="0" u="none" strike="noStrike">
                <a:solidFill>
                  <a:srgbClr val="5B92E5"/>
                </a:solidFill>
                <a:latin typeface="Alimama ShuHeiTi"/>
                <a:ea typeface="Alimama ShuHeiTi"/>
                <a:cs typeface="Alimama ShuHeiTi"/>
                <a:sym typeface="Alimama ShuHeiTi"/>
              </a:rPr>
              <a:t>Core Principle: The Prediction Game</a:t>
            </a:r>
            <a:endParaRPr lang="en-US" sz="1100"/>
          </a:p>
        </p:txBody>
      </p:sp>
      <p:sp>
        <p:nvSpPr>
          <p:cNvPr id="3" name="AutoShape 3"/>
          <p:cNvSpPr/>
          <p:nvPr/>
        </p:nvSpPr>
        <p:spPr>
          <a:xfrm>
            <a:off x="3317920" y="1853319"/>
            <a:ext cx="5553075"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4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The core capability of large models is "word chaining" — predicting the next most likely word</a:t>
            </a:r>
            <a:endParaRPr lang="en-US" sz="1100"/>
          </a:p>
        </p:txBody>
      </p:sp>
      <p:sp>
        <p:nvSpPr>
          <p:cNvPr id="4" name="Freeform 4"/>
          <p:cNvSpPr/>
          <p:nvPr/>
        </p:nvSpPr>
        <p:spPr>
          <a:xfrm>
            <a:off x="1983105" y="2554605"/>
            <a:ext cx="1306830" cy="723900"/>
          </a:xfrm>
          <a:custGeom>
            <a:avLst/>
            <a:gdLst/>
            <a:ahLst/>
            <a:cxnLst/>
            <a:rect l="l" t="t" r="r" b="b"/>
            <a:pathLst>
              <a:path w="1181100" h="723900">
                <a:moveTo>
                  <a:pt x="114297" y="0"/>
                </a:moveTo>
                <a:lnTo>
                  <a:pt x="1066803" y="0"/>
                </a:lnTo>
                <a:cubicBezTo>
                  <a:pt x="1129928" y="0"/>
                  <a:pt x="1181100" y="51172"/>
                  <a:pt x="1181100" y="114297"/>
                </a:cubicBezTo>
                <a:lnTo>
                  <a:pt x="1181100" y="609603"/>
                </a:lnTo>
                <a:cubicBezTo>
                  <a:pt x="1181100" y="672728"/>
                  <a:pt x="1129928" y="723900"/>
                  <a:pt x="1066803" y="723900"/>
                </a:cubicBezTo>
                <a:lnTo>
                  <a:pt x="114297" y="723900"/>
                </a:lnTo>
                <a:cubicBezTo>
                  <a:pt x="51172" y="723900"/>
                  <a:pt x="0" y="672728"/>
                  <a:pt x="0" y="609603"/>
                </a:cubicBezTo>
                <a:lnTo>
                  <a:pt x="0" y="114297"/>
                </a:lnTo>
                <a:cubicBezTo>
                  <a:pt x="0" y="51172"/>
                  <a:pt x="51172" y="0"/>
                  <a:pt x="114297"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5" name="AutoShape 5"/>
          <p:cNvSpPr/>
          <p:nvPr/>
        </p:nvSpPr>
        <p:spPr>
          <a:xfrm>
            <a:off x="1968500" y="2554605"/>
            <a:ext cx="1464310" cy="723900"/>
          </a:xfrm>
          <a:prstGeom prst="rect">
            <a:avLst/>
          </a:prstGeom>
          <a:noFill/>
          <a:ln w="12700">
            <a:noFill/>
            <a:prstDash val="solid"/>
          </a:ln>
        </p:spPr>
        <p:txBody>
          <a:bodyPr wrap="square" lIns="304800" tIns="190500" rIns="304800" bIns="190500" rtlCol="0" anchor="ctr">
            <a:noAutofit/>
          </a:bodyPr>
          <a:lstStyle/>
          <a:p>
            <a:pPr indent="0" algn="l">
              <a:lnSpc>
                <a:spcPct val="100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Artificial</a:t>
            </a:r>
            <a:endPar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6" name="Freeform 6"/>
          <p:cNvSpPr/>
          <p:nvPr/>
        </p:nvSpPr>
        <p:spPr>
          <a:xfrm>
            <a:off x="3449955" y="2807335"/>
            <a:ext cx="318135" cy="217805"/>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5" y="6976"/>
                </a:cubicBezTo>
                <a:cubicBezTo>
                  <a:pt x="158948" y="13952"/>
                  <a:pt x="158948" y="25282"/>
                  <a:pt x="165925" y="32258"/>
                </a:cubicBezTo>
                <a:lnTo>
                  <a:pt x="224749" y="91083"/>
                </a:lnTo>
                <a:lnTo>
                  <a:pt x="17859" y="91083"/>
                </a:lnTo>
                <a:cubicBezTo>
                  <a:pt x="7981" y="91083"/>
                  <a:pt x="0" y="99064"/>
                  <a:pt x="0" y="108942"/>
                </a:cubicBezTo>
                <a:cubicBezTo>
                  <a:pt x="0" y="118820"/>
                  <a:pt x="7981" y="126801"/>
                  <a:pt x="17859" y="126801"/>
                </a:cubicBezTo>
                <a:lnTo>
                  <a:pt x="224749" y="126801"/>
                </a:lnTo>
                <a:lnTo>
                  <a:pt x="165925" y="185626"/>
                </a:lnTo>
                <a:cubicBezTo>
                  <a:pt x="158948" y="192602"/>
                  <a:pt x="158948" y="203932"/>
                  <a:pt x="165925"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7" name="Freeform 7"/>
          <p:cNvSpPr/>
          <p:nvPr/>
        </p:nvSpPr>
        <p:spPr>
          <a:xfrm>
            <a:off x="3825875" y="2554605"/>
            <a:ext cx="1306830" cy="723900"/>
          </a:xfrm>
          <a:custGeom>
            <a:avLst/>
            <a:gdLst/>
            <a:ahLst/>
            <a:cxnLst/>
            <a:rect l="l" t="t" r="r" b="b"/>
            <a:pathLst>
              <a:path w="1181100" h="723900">
                <a:moveTo>
                  <a:pt x="114297" y="0"/>
                </a:moveTo>
                <a:lnTo>
                  <a:pt x="1066803" y="0"/>
                </a:lnTo>
                <a:cubicBezTo>
                  <a:pt x="1129928" y="0"/>
                  <a:pt x="1181100" y="51172"/>
                  <a:pt x="1181100" y="114297"/>
                </a:cubicBezTo>
                <a:lnTo>
                  <a:pt x="1181100" y="609603"/>
                </a:lnTo>
                <a:cubicBezTo>
                  <a:pt x="1181100" y="672728"/>
                  <a:pt x="1129928" y="723900"/>
                  <a:pt x="1066803" y="723900"/>
                </a:cubicBezTo>
                <a:lnTo>
                  <a:pt x="114297" y="723900"/>
                </a:lnTo>
                <a:cubicBezTo>
                  <a:pt x="51172" y="723900"/>
                  <a:pt x="0" y="672728"/>
                  <a:pt x="0" y="609603"/>
                </a:cubicBezTo>
                <a:lnTo>
                  <a:pt x="0" y="114297"/>
                </a:lnTo>
                <a:cubicBezTo>
                  <a:pt x="0" y="51172"/>
                  <a:pt x="51172" y="0"/>
                  <a:pt x="114297"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8" name="AutoShape 8"/>
          <p:cNvSpPr/>
          <p:nvPr/>
        </p:nvSpPr>
        <p:spPr>
          <a:xfrm>
            <a:off x="3811270" y="2554605"/>
            <a:ext cx="1464310" cy="723900"/>
          </a:xfrm>
          <a:prstGeom prst="rect">
            <a:avLst/>
          </a:prstGeom>
          <a:noFill/>
          <a:ln w="12700">
            <a:noFill/>
            <a:prstDash val="solid"/>
          </a:ln>
        </p:spPr>
        <p:txBody>
          <a:bodyPr wrap="square" lIns="304800" tIns="190500" rIns="304800" bIns="190500" rtlCol="0" anchor="ctr">
            <a:noAutofit/>
          </a:bodyPr>
          <a:lstStyle/>
          <a:p>
            <a:pPr indent="0" algn="l">
              <a:lnSpc>
                <a:spcPct val="100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Intelligence</a:t>
            </a:r>
            <a:endPar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9" name="Freeform 9"/>
          <p:cNvSpPr/>
          <p:nvPr/>
        </p:nvSpPr>
        <p:spPr>
          <a:xfrm>
            <a:off x="5292725" y="2807335"/>
            <a:ext cx="318135" cy="217805"/>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6" y="6976"/>
                </a:cubicBezTo>
                <a:cubicBezTo>
                  <a:pt x="158948" y="13952"/>
                  <a:pt x="158948" y="25282"/>
                  <a:pt x="165926" y="32258"/>
                </a:cubicBezTo>
                <a:lnTo>
                  <a:pt x="224749" y="91083"/>
                </a:lnTo>
                <a:lnTo>
                  <a:pt x="17859" y="91083"/>
                </a:lnTo>
                <a:cubicBezTo>
                  <a:pt x="7981" y="91083"/>
                  <a:pt x="0" y="99064"/>
                  <a:pt x="0" y="108942"/>
                </a:cubicBezTo>
                <a:cubicBezTo>
                  <a:pt x="0" y="118820"/>
                  <a:pt x="7981" y="126801"/>
                  <a:pt x="17859" y="126801"/>
                </a:cubicBezTo>
                <a:lnTo>
                  <a:pt x="224749" y="126801"/>
                </a:lnTo>
                <a:lnTo>
                  <a:pt x="165926" y="185626"/>
                </a:lnTo>
                <a:cubicBezTo>
                  <a:pt x="158948" y="192602"/>
                  <a:pt x="158948" y="203932"/>
                  <a:pt x="165926"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0" name="Freeform 10"/>
          <p:cNvSpPr/>
          <p:nvPr/>
        </p:nvSpPr>
        <p:spPr>
          <a:xfrm>
            <a:off x="5699125" y="2554605"/>
            <a:ext cx="990600" cy="723900"/>
          </a:xfrm>
          <a:custGeom>
            <a:avLst/>
            <a:gdLst/>
            <a:ahLst/>
            <a:cxnLst/>
            <a:rect l="l" t="t" r="r" b="b"/>
            <a:pathLst>
              <a:path w="895350" h="723900">
                <a:moveTo>
                  <a:pt x="114297" y="0"/>
                </a:moveTo>
                <a:lnTo>
                  <a:pt x="781053" y="0"/>
                </a:lnTo>
                <a:cubicBezTo>
                  <a:pt x="844178" y="0"/>
                  <a:pt x="895350" y="51172"/>
                  <a:pt x="895350" y="114297"/>
                </a:cubicBezTo>
                <a:lnTo>
                  <a:pt x="895350" y="609603"/>
                </a:lnTo>
                <a:cubicBezTo>
                  <a:pt x="895350" y="672728"/>
                  <a:pt x="844178" y="723900"/>
                  <a:pt x="781053" y="723900"/>
                </a:cubicBezTo>
                <a:lnTo>
                  <a:pt x="114297" y="723900"/>
                </a:lnTo>
                <a:cubicBezTo>
                  <a:pt x="51172" y="723900"/>
                  <a:pt x="0" y="672728"/>
                  <a:pt x="0" y="609603"/>
                </a:cubicBezTo>
                <a:lnTo>
                  <a:pt x="0" y="114297"/>
                </a:lnTo>
                <a:cubicBezTo>
                  <a:pt x="0" y="51172"/>
                  <a:pt x="51172" y="0"/>
                  <a:pt x="114297"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1" name="AutoShape 11"/>
          <p:cNvSpPr/>
          <p:nvPr/>
        </p:nvSpPr>
        <p:spPr>
          <a:xfrm>
            <a:off x="5683885" y="2554605"/>
            <a:ext cx="1148715" cy="723900"/>
          </a:xfrm>
          <a:prstGeom prst="rect">
            <a:avLst/>
          </a:prstGeom>
          <a:noFill/>
          <a:ln w="12700">
            <a:noFill/>
            <a:prstDash val="solid"/>
          </a:ln>
        </p:spPr>
        <p:txBody>
          <a:bodyPr wrap="square" lIns="304800" tIns="190500" rIns="304800" bIns="190500" rtlCol="0" anchor="ctr">
            <a:noAutofit/>
          </a:bodyPr>
          <a:lstStyle/>
          <a:p>
            <a:pPr indent="0" algn="l">
              <a:lnSpc>
                <a:spcPct val="100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is</a:t>
            </a:r>
            <a:endPar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2" name="Freeform 12"/>
          <p:cNvSpPr/>
          <p:nvPr/>
        </p:nvSpPr>
        <p:spPr>
          <a:xfrm>
            <a:off x="6849745" y="2807335"/>
            <a:ext cx="318135" cy="217805"/>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6" y="6976"/>
                </a:cubicBezTo>
                <a:cubicBezTo>
                  <a:pt x="158948" y="13952"/>
                  <a:pt x="158948" y="25282"/>
                  <a:pt x="165926" y="32258"/>
                </a:cubicBezTo>
                <a:lnTo>
                  <a:pt x="224749" y="91083"/>
                </a:lnTo>
                <a:lnTo>
                  <a:pt x="17859" y="91083"/>
                </a:lnTo>
                <a:cubicBezTo>
                  <a:pt x="7981" y="91083"/>
                  <a:pt x="0" y="99064"/>
                  <a:pt x="0" y="108942"/>
                </a:cubicBezTo>
                <a:cubicBezTo>
                  <a:pt x="0" y="118820"/>
                  <a:pt x="7981" y="126801"/>
                  <a:pt x="17859" y="126801"/>
                </a:cubicBezTo>
                <a:lnTo>
                  <a:pt x="224749" y="126801"/>
                </a:lnTo>
                <a:lnTo>
                  <a:pt x="165926" y="185626"/>
                </a:lnTo>
                <a:cubicBezTo>
                  <a:pt x="158948" y="192602"/>
                  <a:pt x="158948" y="203932"/>
                  <a:pt x="165926"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3" name="Freeform 13"/>
          <p:cNvSpPr/>
          <p:nvPr/>
        </p:nvSpPr>
        <p:spPr>
          <a:xfrm>
            <a:off x="7256145" y="2554605"/>
            <a:ext cx="990600" cy="723900"/>
          </a:xfrm>
          <a:custGeom>
            <a:avLst/>
            <a:gdLst/>
            <a:ahLst/>
            <a:cxnLst/>
            <a:rect l="l" t="t" r="r" b="b"/>
            <a:pathLst>
              <a:path w="895350" h="723900">
                <a:moveTo>
                  <a:pt x="114297" y="0"/>
                </a:moveTo>
                <a:lnTo>
                  <a:pt x="781053" y="0"/>
                </a:lnTo>
                <a:cubicBezTo>
                  <a:pt x="844178" y="0"/>
                  <a:pt x="895350" y="51172"/>
                  <a:pt x="895350" y="114297"/>
                </a:cubicBezTo>
                <a:lnTo>
                  <a:pt x="895350" y="609603"/>
                </a:lnTo>
                <a:cubicBezTo>
                  <a:pt x="895350" y="672728"/>
                  <a:pt x="844178" y="723900"/>
                  <a:pt x="781053" y="723900"/>
                </a:cubicBezTo>
                <a:lnTo>
                  <a:pt x="114297" y="723900"/>
                </a:lnTo>
                <a:cubicBezTo>
                  <a:pt x="51172" y="723900"/>
                  <a:pt x="0" y="672728"/>
                  <a:pt x="0" y="609603"/>
                </a:cubicBezTo>
                <a:lnTo>
                  <a:pt x="0" y="114297"/>
                </a:lnTo>
                <a:cubicBezTo>
                  <a:pt x="0" y="51172"/>
                  <a:pt x="51172" y="0"/>
                  <a:pt x="114297"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4" name="AutoShape 14"/>
          <p:cNvSpPr/>
          <p:nvPr/>
        </p:nvSpPr>
        <p:spPr>
          <a:xfrm>
            <a:off x="7240905" y="2554605"/>
            <a:ext cx="1148715" cy="723900"/>
          </a:xfrm>
          <a:prstGeom prst="rect">
            <a:avLst/>
          </a:prstGeom>
          <a:noFill/>
          <a:ln w="12700">
            <a:noFill/>
            <a:prstDash val="solid"/>
          </a:ln>
        </p:spPr>
        <p:txBody>
          <a:bodyPr wrap="square" lIns="304800" tIns="190500" rIns="304800" bIns="190500" rtlCol="0" anchor="ctr">
            <a:noAutofit/>
          </a:bodyPr>
          <a:lstStyle/>
          <a:p>
            <a:pPr indent="0" algn="l">
              <a:lnSpc>
                <a:spcPct val="100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defined</a:t>
            </a:r>
            <a:endPar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5" name="Freeform 15"/>
          <p:cNvSpPr/>
          <p:nvPr/>
        </p:nvSpPr>
        <p:spPr>
          <a:xfrm>
            <a:off x="8406765" y="2807335"/>
            <a:ext cx="318135" cy="217805"/>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5" y="6976"/>
                </a:cubicBezTo>
                <a:cubicBezTo>
                  <a:pt x="158948" y="13952"/>
                  <a:pt x="158948" y="25282"/>
                  <a:pt x="165925" y="32258"/>
                </a:cubicBezTo>
                <a:lnTo>
                  <a:pt x="224749" y="91083"/>
                </a:lnTo>
                <a:lnTo>
                  <a:pt x="17859" y="91083"/>
                </a:lnTo>
                <a:cubicBezTo>
                  <a:pt x="7981" y="91083"/>
                  <a:pt x="0" y="99064"/>
                  <a:pt x="0" y="108942"/>
                </a:cubicBezTo>
                <a:cubicBezTo>
                  <a:pt x="0" y="118820"/>
                  <a:pt x="7981" y="126801"/>
                  <a:pt x="17859" y="126801"/>
                </a:cubicBezTo>
                <a:lnTo>
                  <a:pt x="224749" y="126801"/>
                </a:lnTo>
                <a:lnTo>
                  <a:pt x="165925" y="185626"/>
                </a:lnTo>
                <a:cubicBezTo>
                  <a:pt x="158948" y="192602"/>
                  <a:pt x="158948" y="203932"/>
                  <a:pt x="165925"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endParaRPr sz="1200"/>
          </a:p>
        </p:txBody>
      </p:sp>
      <p:sp>
        <p:nvSpPr>
          <p:cNvPr id="16" name="Freeform 16"/>
          <p:cNvSpPr/>
          <p:nvPr/>
        </p:nvSpPr>
        <p:spPr>
          <a:xfrm>
            <a:off x="8804910" y="2518410"/>
            <a:ext cx="1261110" cy="796925"/>
          </a:xfrm>
          <a:custGeom>
            <a:avLst/>
            <a:gdLst/>
            <a:ahLst/>
            <a:cxnLst/>
            <a:rect l="l" t="t" r="r" b="b"/>
            <a:pathLst>
              <a:path w="1139535" h="796635">
                <a:moveTo>
                  <a:pt x="114301" y="0"/>
                </a:moveTo>
                <a:lnTo>
                  <a:pt x="1025235" y="0"/>
                </a:lnTo>
                <a:cubicBezTo>
                  <a:pt x="1088362" y="0"/>
                  <a:pt x="1139535" y="51173"/>
                  <a:pt x="1139535" y="114301"/>
                </a:cubicBezTo>
                <a:lnTo>
                  <a:pt x="1139535" y="682335"/>
                </a:lnTo>
                <a:cubicBezTo>
                  <a:pt x="1139535" y="745462"/>
                  <a:pt x="1088362" y="796635"/>
                  <a:pt x="1025235" y="796635"/>
                </a:cubicBezTo>
                <a:lnTo>
                  <a:pt x="114301" y="796635"/>
                </a:lnTo>
                <a:cubicBezTo>
                  <a:pt x="51173" y="796635"/>
                  <a:pt x="0" y="745462"/>
                  <a:pt x="0" y="682335"/>
                </a:cubicBezTo>
                <a:lnTo>
                  <a:pt x="0" y="114301"/>
                </a:lnTo>
                <a:cubicBezTo>
                  <a:pt x="0" y="51173"/>
                  <a:pt x="51173" y="0"/>
                  <a:pt x="114301" y="0"/>
                </a:cubicBezTo>
                <a:close/>
              </a:path>
            </a:pathLst>
          </a:custGeom>
          <a:solidFill>
            <a:srgbClr val="1E90FF">
              <a:alpha val="100000"/>
            </a:srgbClr>
          </a:solidFill>
          <a:ln w="38100">
            <a:solidFill>
              <a:srgbClr val="1E90FF">
                <a:alpha val="100000"/>
              </a:srgbClr>
            </a:solidFill>
            <a:prstDash val="solid"/>
          </a:ln>
        </p:spPr>
        <p:txBody>
          <a:bodyPr wrap="square" lIns="91440" tIns="45720" rIns="91440" bIns="45720" rtlCol="0" anchor="t">
            <a:noAutofit/>
          </a:bodyPr>
          <a:lstStyle/>
          <a:p>
            <a:pPr algn="ctr">
              <a:defRPr/>
            </a:pPr>
            <a:endParaRPr sz="1200"/>
          </a:p>
        </p:txBody>
      </p:sp>
      <p:sp>
        <p:nvSpPr>
          <p:cNvPr id="17" name="AutoShape 17"/>
          <p:cNvSpPr/>
          <p:nvPr/>
        </p:nvSpPr>
        <p:spPr>
          <a:xfrm>
            <a:off x="8773160" y="2501265"/>
            <a:ext cx="1411605" cy="762000"/>
          </a:xfrm>
          <a:prstGeom prst="rect">
            <a:avLst/>
          </a:prstGeom>
          <a:noFill/>
          <a:ln w="12700">
            <a:noFill/>
            <a:prstDash val="solid"/>
          </a:ln>
        </p:spPr>
        <p:txBody>
          <a:bodyPr wrap="square" lIns="381000" tIns="190500" rIns="381000" bIns="190500" rtlCol="0" anchor="ctr">
            <a:noAutofit/>
          </a:bodyPr>
          <a:lstStyle/>
          <a:p>
            <a:pPr indent="0" algn="l">
              <a:lnSpc>
                <a:spcPct val="92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as</a:t>
            </a:r>
            <a:endPar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8" name="Freeform 18"/>
          <p:cNvSpPr/>
          <p:nvPr/>
        </p:nvSpPr>
        <p:spPr>
          <a:xfrm>
            <a:off x="4052860" y="3806614"/>
            <a:ext cx="1152525" cy="1104900"/>
          </a:xfrm>
          <a:custGeom>
            <a:avLst/>
            <a:gdLst/>
            <a:ahLst/>
            <a:cxnLst/>
            <a:rect l="l" t="t" r="r" b="b"/>
            <a:pathLst>
              <a:path w="1152525" h="1104900">
                <a:moveTo>
                  <a:pt x="114303" y="0"/>
                </a:moveTo>
                <a:lnTo>
                  <a:pt x="1038222" y="0"/>
                </a:lnTo>
                <a:cubicBezTo>
                  <a:pt x="1101350" y="0"/>
                  <a:pt x="1152525" y="51175"/>
                  <a:pt x="1152525" y="114303"/>
                </a:cubicBezTo>
                <a:lnTo>
                  <a:pt x="1152525" y="990597"/>
                </a:lnTo>
                <a:cubicBezTo>
                  <a:pt x="1152525" y="1053725"/>
                  <a:pt x="1101350" y="1104900"/>
                  <a:pt x="1038222" y="1104900"/>
                </a:cubicBezTo>
                <a:lnTo>
                  <a:pt x="114303" y="1104900"/>
                </a:lnTo>
                <a:cubicBezTo>
                  <a:pt x="51175" y="1104900"/>
                  <a:pt x="0" y="1053725"/>
                  <a:pt x="0" y="990597"/>
                </a:cubicBezTo>
                <a:lnTo>
                  <a:pt x="0" y="114303"/>
                </a:lnTo>
                <a:cubicBezTo>
                  <a:pt x="0" y="51217"/>
                  <a:pt x="51217" y="0"/>
                  <a:pt x="114303"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4281170" y="3959225"/>
            <a:ext cx="90678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55"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Candidate 1 </a:t>
            </a:r>
            <a:r>
              <a:rPr lang="en-US" sz="86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20" name="AutoShape 20"/>
          <p:cNvSpPr/>
          <p:nvPr/>
        </p:nvSpPr>
        <p:spPr>
          <a:xfrm>
            <a:off x="4281379" y="4225500"/>
            <a:ext cx="80962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computer</a:t>
            </a:r>
            <a:endParaRPr lang="en-US" sz="1100"/>
          </a:p>
        </p:txBody>
      </p:sp>
      <p:sp>
        <p:nvSpPr>
          <p:cNvPr id="21" name="AutoShape 21"/>
          <p:cNvSpPr/>
          <p:nvPr/>
        </p:nvSpPr>
        <p:spPr>
          <a:xfrm>
            <a:off x="4281379" y="4530328"/>
            <a:ext cx="771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Probability: 45%</a:t>
            </a:r>
            <a:endParaRPr lang="en-US" sz="1100"/>
          </a:p>
        </p:txBody>
      </p:sp>
      <p:sp>
        <p:nvSpPr>
          <p:cNvPr id="22" name="Freeform 22"/>
          <p:cNvSpPr/>
          <p:nvPr/>
        </p:nvSpPr>
        <p:spPr>
          <a:xfrm>
            <a:off x="5429520" y="3806614"/>
            <a:ext cx="1152525" cy="1104900"/>
          </a:xfrm>
          <a:custGeom>
            <a:avLst/>
            <a:gdLst/>
            <a:ahLst/>
            <a:cxnLst/>
            <a:rect l="l" t="t" r="r" b="b"/>
            <a:pathLst>
              <a:path w="1152525" h="1104900">
                <a:moveTo>
                  <a:pt x="114303" y="0"/>
                </a:moveTo>
                <a:lnTo>
                  <a:pt x="1038222" y="0"/>
                </a:lnTo>
                <a:cubicBezTo>
                  <a:pt x="1101350" y="0"/>
                  <a:pt x="1152525" y="51175"/>
                  <a:pt x="1152525" y="114303"/>
                </a:cubicBezTo>
                <a:lnTo>
                  <a:pt x="1152525" y="990597"/>
                </a:lnTo>
                <a:cubicBezTo>
                  <a:pt x="1152525" y="1053725"/>
                  <a:pt x="1101350" y="1104900"/>
                  <a:pt x="1038222" y="1104900"/>
                </a:cubicBezTo>
                <a:lnTo>
                  <a:pt x="114303" y="1104900"/>
                </a:lnTo>
                <a:cubicBezTo>
                  <a:pt x="51175" y="1104900"/>
                  <a:pt x="0" y="1053725"/>
                  <a:pt x="0" y="990597"/>
                </a:cubicBezTo>
                <a:lnTo>
                  <a:pt x="0" y="114303"/>
                </a:lnTo>
                <a:cubicBezTo>
                  <a:pt x="0" y="51217"/>
                  <a:pt x="51217" y="0"/>
                  <a:pt x="114303"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5658039" y="3958968"/>
            <a:ext cx="78105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6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Candidate 2</a:t>
            </a:r>
            <a:endParaRPr lang="en-US" sz="1100"/>
          </a:p>
        </p:txBody>
      </p:sp>
      <p:sp>
        <p:nvSpPr>
          <p:cNvPr id="24" name="AutoShape 24"/>
          <p:cNvSpPr/>
          <p:nvPr/>
        </p:nvSpPr>
        <p:spPr>
          <a:xfrm>
            <a:off x="5658039" y="4225500"/>
            <a:ext cx="80962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 type of</a:t>
            </a:r>
            <a:endParaRPr lang="en-US" sz="1100"/>
          </a:p>
        </p:txBody>
      </p:sp>
      <p:sp>
        <p:nvSpPr>
          <p:cNvPr id="25" name="AutoShape 25"/>
          <p:cNvSpPr/>
          <p:nvPr/>
        </p:nvSpPr>
        <p:spPr>
          <a:xfrm>
            <a:off x="5658039" y="4530328"/>
            <a:ext cx="771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Probability: 30%</a:t>
            </a:r>
            <a:endParaRPr lang="en-US" sz="1100"/>
          </a:p>
        </p:txBody>
      </p:sp>
      <p:sp>
        <p:nvSpPr>
          <p:cNvPr id="26" name="Freeform 26"/>
          <p:cNvSpPr/>
          <p:nvPr/>
        </p:nvSpPr>
        <p:spPr>
          <a:xfrm>
            <a:off x="6819710" y="3797963"/>
            <a:ext cx="1312718" cy="1122218"/>
          </a:xfrm>
          <a:custGeom>
            <a:avLst/>
            <a:gdLst/>
            <a:ahLst/>
            <a:cxnLst/>
            <a:rect l="l" t="t" r="r" b="b"/>
            <a:pathLst>
              <a:path w="1312718" h="1122218">
                <a:moveTo>
                  <a:pt x="114297" y="0"/>
                </a:moveTo>
                <a:lnTo>
                  <a:pt x="1198420" y="0"/>
                </a:lnTo>
                <a:cubicBezTo>
                  <a:pt x="1261546" y="0"/>
                  <a:pt x="1312718" y="51173"/>
                  <a:pt x="1312718" y="114297"/>
                </a:cubicBezTo>
                <a:lnTo>
                  <a:pt x="1312718" y="1007920"/>
                </a:lnTo>
                <a:cubicBezTo>
                  <a:pt x="1312718" y="1071046"/>
                  <a:pt x="1261546" y="1122218"/>
                  <a:pt x="1198420" y="1122218"/>
                </a:cubicBezTo>
                <a:lnTo>
                  <a:pt x="114297" y="1122218"/>
                </a:lnTo>
                <a:cubicBezTo>
                  <a:pt x="51173" y="1122218"/>
                  <a:pt x="0" y="1071046"/>
                  <a:pt x="0" y="1007920"/>
                </a:cubicBezTo>
                <a:lnTo>
                  <a:pt x="0" y="114297"/>
                </a:lnTo>
                <a:cubicBezTo>
                  <a:pt x="0" y="51215"/>
                  <a:pt x="51215" y="0"/>
                  <a:pt x="114297"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7" name="AutoShape 27"/>
          <p:cNvSpPr/>
          <p:nvPr/>
        </p:nvSpPr>
        <p:spPr>
          <a:xfrm>
            <a:off x="7056888" y="3958968"/>
            <a:ext cx="9239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85"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Candidate 3 </a:t>
            </a:r>
            <a:endParaRPr lang="en-US" sz="1100"/>
          </a:p>
        </p:txBody>
      </p:sp>
      <p:sp>
        <p:nvSpPr>
          <p:cNvPr id="28" name="AutoShape 28"/>
          <p:cNvSpPr/>
          <p:nvPr/>
        </p:nvSpPr>
        <p:spPr>
          <a:xfrm>
            <a:off x="7056888" y="4225500"/>
            <a:ext cx="9525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by</a:t>
            </a:r>
            <a:endParaRPr lang="en-US" sz="1100"/>
          </a:p>
        </p:txBody>
      </p:sp>
      <p:sp>
        <p:nvSpPr>
          <p:cNvPr id="29" name="AutoShape 29"/>
          <p:cNvSpPr/>
          <p:nvPr/>
        </p:nvSpPr>
        <p:spPr>
          <a:xfrm>
            <a:off x="7056888" y="4530328"/>
            <a:ext cx="9144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Probability: 25%</a:t>
            </a:r>
            <a:endParaRPr lang="en-US" sz="1100"/>
          </a:p>
        </p:txBody>
      </p:sp>
      <p:sp>
        <p:nvSpPr>
          <p:cNvPr id="30" name="Freeform 30"/>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609519" y="5962594"/>
            <a:ext cx="66897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1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81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Autoregressive Generation | Predicting the next word based on previously generated content</a:t>
            </a:r>
            <a:r>
              <a:rPr lang="en-US" sz="81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每次基于已生成内容预测下一个词</a:t>
            </a:r>
            <a:endParaRPr lang="en-US" sz="1100"/>
          </a:p>
        </p:txBody>
      </p:sp>
    </p:spTree>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615" b="0" i="0" u="none" strike="noStrike">
                <a:solidFill>
                  <a:srgbClr val="5B92E5"/>
                </a:solidFill>
                <a:latin typeface="Alimama ShuHeiTi"/>
                <a:ea typeface="Alimama ShuHeiTi"/>
                <a:cs typeface="Alimama ShuHeiTi"/>
                <a:sym typeface="Alimama ShuHeiTi"/>
              </a:rPr>
              <a:t>Long-Distance Dependency Understanding</a:t>
            </a:r>
            <a:endParaRPr lang="en-US" sz="1100"/>
          </a:p>
        </p:txBody>
      </p:sp>
      <p:sp>
        <p:nvSpPr>
          <p:cNvPr id="3" name="Freeform 3"/>
          <p:cNvSpPr/>
          <p:nvPr/>
        </p:nvSpPr>
        <p:spPr>
          <a:xfrm>
            <a:off x="381000" y="1603828"/>
            <a:ext cx="11430000" cy="1514475"/>
          </a:xfrm>
          <a:custGeom>
            <a:avLst/>
            <a:gdLst/>
            <a:ahLst/>
            <a:cxnLst/>
            <a:rect l="l" t="t" r="r" b="b"/>
            <a:pathLst>
              <a:path w="11430000" h="1514475">
                <a:moveTo>
                  <a:pt x="152403" y="0"/>
                </a:moveTo>
                <a:lnTo>
                  <a:pt x="11277597" y="0"/>
                </a:lnTo>
                <a:cubicBezTo>
                  <a:pt x="11361767" y="0"/>
                  <a:pt x="11430000" y="68233"/>
                  <a:pt x="11430000" y="152403"/>
                </a:cubicBezTo>
                <a:lnTo>
                  <a:pt x="11430000" y="1362072"/>
                </a:lnTo>
                <a:cubicBezTo>
                  <a:pt x="11430000" y="1446242"/>
                  <a:pt x="11361767" y="1514475"/>
                  <a:pt x="11277597" y="1514475"/>
                </a:cubicBezTo>
                <a:lnTo>
                  <a:pt x="152403" y="1514475"/>
                </a:lnTo>
                <a:cubicBezTo>
                  <a:pt x="68233" y="1514475"/>
                  <a:pt x="0" y="1446242"/>
                  <a:pt x="0" y="1362072"/>
                </a:cubicBezTo>
                <a:lnTo>
                  <a:pt x="0" y="152403"/>
                </a:lnTo>
                <a:cubicBezTo>
                  <a:pt x="0" y="68233"/>
                  <a:pt x="68233" y="0"/>
                  <a:pt x="152403"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85692" y="1908516"/>
            <a:ext cx="10960100" cy="90487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54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He raised a </a:t>
            </a:r>
            <a:r>
              <a:rPr lang="en-US" sz="1540" b="1" i="0" u="none" strike="noStrike">
                <a:solidFill>
                  <a:srgbClr val="FFFFFF"/>
                </a:solidFill>
                <a:highlight>
                  <a:srgbClr val="5B92E5">
                    <a:alpha val="100000"/>
                  </a:srgbClr>
                </a:highlight>
                <a:latin typeface="MiSans" panose="00000500000000000000" charset="-122"/>
                <a:ea typeface="MiSans" panose="00000500000000000000" charset="-122"/>
                <a:cs typeface="MiSans" panose="00000500000000000000" charset="-122"/>
                <a:sym typeface="MiSans" panose="00000500000000000000" charset="-122"/>
              </a:rPr>
              <a:t>cat </a:t>
            </a:r>
            <a:r>
              <a:rPr lang="en-US" sz="154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and that </a:t>
            </a:r>
            <a:r>
              <a:rPr lang="en-US" sz="1540" b="1" i="0" u="none" strike="noStrike">
                <a:solidFill>
                  <a:srgbClr val="FFFFFF"/>
                </a:solidFill>
                <a:highlight>
                  <a:srgbClr val="5B92E5">
                    <a:alpha val="100000"/>
                  </a:srgbClr>
                </a:highlight>
                <a:latin typeface="MiSans" panose="00000500000000000000" charset="-122"/>
                <a:ea typeface="MiSans" panose="00000500000000000000" charset="-122"/>
                <a:cs typeface="MiSans" panose="00000500000000000000" charset="-122"/>
                <a:sym typeface="MiSans" panose="00000500000000000000" charset="-122"/>
              </a:rPr>
              <a:t>cat </a:t>
            </a:r>
            <a:r>
              <a:rPr lang="en-US" sz="154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during his loneliest days when he worked overtime every night until late and was almost depressed, stayed by his side quietly the whole time, and was really </a:t>
            </a:r>
            <a:r>
              <a:rPr lang="en-US" sz="1540" b="1" i="0" u="none" strike="noStrike">
                <a:solidFill>
                  <a:srgbClr val="FFFFFF"/>
                </a:solidFill>
                <a:highlight>
                  <a:srgbClr val="1E90FF">
                    <a:alpha val="100000"/>
                  </a:srgbClr>
                </a:highlight>
                <a:latin typeface="MiSans" panose="00000500000000000000" charset="-122"/>
                <a:ea typeface="MiSans" panose="00000500000000000000" charset="-122"/>
                <a:cs typeface="MiSans" panose="00000500000000000000" charset="-122"/>
                <a:sym typeface="MiSans" panose="00000500000000000000" charset="-122"/>
              </a:rPr>
              <a:t>adorable </a:t>
            </a:r>
            <a:r>
              <a:rPr lang="en-US" sz="154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5" name="Freeform 5"/>
          <p:cNvSpPr/>
          <p:nvPr/>
        </p:nvSpPr>
        <p:spPr>
          <a:xfrm>
            <a:off x="3610029" y="3425754"/>
            <a:ext cx="762000" cy="762000"/>
          </a:xfrm>
          <a:custGeom>
            <a:avLst/>
            <a:gdLst/>
            <a:ahLst/>
            <a:cxnLst/>
            <a:rect l="l" t="t" r="r" b="b"/>
            <a:pathLst>
              <a:path w="762000" h="762000">
                <a:moveTo>
                  <a:pt x="381000" y="0"/>
                </a:moveTo>
                <a:lnTo>
                  <a:pt x="381000" y="0"/>
                </a:lnTo>
                <a:cubicBezTo>
                  <a:pt x="591280" y="0"/>
                  <a:pt x="762000" y="170720"/>
                  <a:pt x="762000" y="381000"/>
                </a:cubicBezTo>
                <a:lnTo>
                  <a:pt x="762000" y="381000"/>
                </a:lnTo>
                <a:cubicBezTo>
                  <a:pt x="762000" y="591280"/>
                  <a:pt x="591280" y="762000"/>
                  <a:pt x="381000" y="762000"/>
                </a:cubicBezTo>
                <a:lnTo>
                  <a:pt x="381000" y="762000"/>
                </a:lnTo>
                <a:cubicBezTo>
                  <a:pt x="170720" y="762000"/>
                  <a:pt x="0" y="591280"/>
                  <a:pt x="0" y="381000"/>
                </a:cubicBezTo>
                <a:lnTo>
                  <a:pt x="0" y="381000"/>
                </a:lnTo>
                <a:cubicBezTo>
                  <a:pt x="0" y="170720"/>
                  <a:pt x="170720" y="0"/>
                  <a:pt x="3810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3819552" y="3654270"/>
            <a:ext cx="342900"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075"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cat</a:t>
            </a:r>
            <a:endParaRPr lang="en-US" sz="1100"/>
          </a:p>
        </p:txBody>
      </p:sp>
      <p:sp>
        <p:nvSpPr>
          <p:cNvPr id="7" name="AutoShape 7"/>
          <p:cNvSpPr/>
          <p:nvPr/>
        </p:nvSpPr>
        <p:spPr>
          <a:xfrm>
            <a:off x="3571929" y="4301942"/>
            <a:ext cx="8382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Subject</a:t>
            </a:r>
            <a:endParaRPr lang="en-US" sz="1100"/>
          </a:p>
        </p:txBody>
      </p:sp>
      <p:sp>
        <p:nvSpPr>
          <p:cNvPr id="8" name="Freeform 8"/>
          <p:cNvSpPr/>
          <p:nvPr/>
        </p:nvSpPr>
        <p:spPr>
          <a:xfrm>
            <a:off x="4869988" y="3804873"/>
            <a:ext cx="347119" cy="346315"/>
          </a:xfrm>
          <a:custGeom>
            <a:avLst/>
            <a:gdLst/>
            <a:ahLst/>
            <a:cxnLst/>
            <a:rect l="l" t="t" r="r" b="b"/>
            <a:pathLst>
              <a:path w="347119" h="346315">
                <a:moveTo>
                  <a:pt x="338681" y="274052"/>
                </a:moveTo>
                <a:lnTo>
                  <a:pt x="274387" y="338346"/>
                </a:lnTo>
                <a:cubicBezTo>
                  <a:pt x="268225" y="344506"/>
                  <a:pt x="259050" y="346315"/>
                  <a:pt x="251013" y="342967"/>
                </a:cubicBezTo>
                <a:cubicBezTo>
                  <a:pt x="242977" y="339618"/>
                  <a:pt x="237820" y="331850"/>
                  <a:pt x="237820" y="323210"/>
                </a:cubicBezTo>
                <a:lnTo>
                  <a:pt x="237820" y="280347"/>
                </a:lnTo>
                <a:lnTo>
                  <a:pt x="23507" y="280347"/>
                </a:lnTo>
                <a:cubicBezTo>
                  <a:pt x="11653" y="280347"/>
                  <a:pt x="2076" y="270770"/>
                  <a:pt x="2076" y="258916"/>
                </a:cubicBezTo>
                <a:cubicBezTo>
                  <a:pt x="2076" y="247062"/>
                  <a:pt x="11653" y="237485"/>
                  <a:pt x="23507" y="237485"/>
                </a:cubicBezTo>
                <a:lnTo>
                  <a:pt x="237820" y="237485"/>
                </a:lnTo>
                <a:lnTo>
                  <a:pt x="237820" y="194622"/>
                </a:lnTo>
                <a:cubicBezTo>
                  <a:pt x="237820" y="185982"/>
                  <a:pt x="243045" y="178147"/>
                  <a:pt x="251080" y="174798"/>
                </a:cubicBezTo>
                <a:cubicBezTo>
                  <a:pt x="259116" y="171450"/>
                  <a:pt x="268292" y="173326"/>
                  <a:pt x="274454" y="179419"/>
                </a:cubicBezTo>
                <a:lnTo>
                  <a:pt x="338748" y="243713"/>
                </a:lnTo>
                <a:cubicBezTo>
                  <a:pt x="347118" y="252085"/>
                  <a:pt x="347118" y="265680"/>
                  <a:pt x="338748" y="274052"/>
                </a:cubicBezTo>
                <a:close/>
                <a:moveTo>
                  <a:pt x="8371" y="102602"/>
                </a:moveTo>
                <a:cubicBezTo>
                  <a:pt x="0" y="94230"/>
                  <a:pt x="0" y="80635"/>
                  <a:pt x="8371" y="72263"/>
                </a:cubicBezTo>
                <a:lnTo>
                  <a:pt x="72665" y="7969"/>
                </a:lnTo>
                <a:cubicBezTo>
                  <a:pt x="78827" y="1808"/>
                  <a:pt x="88002" y="0"/>
                  <a:pt x="96039" y="3348"/>
                </a:cubicBezTo>
                <a:cubicBezTo>
                  <a:pt x="104075" y="6697"/>
                  <a:pt x="109232" y="14532"/>
                  <a:pt x="109232" y="23172"/>
                </a:cubicBezTo>
                <a:lnTo>
                  <a:pt x="109232" y="66035"/>
                </a:lnTo>
                <a:lnTo>
                  <a:pt x="323545" y="66035"/>
                </a:lnTo>
                <a:cubicBezTo>
                  <a:pt x="335399" y="66035"/>
                  <a:pt x="344976" y="75612"/>
                  <a:pt x="344976" y="87466"/>
                </a:cubicBezTo>
                <a:cubicBezTo>
                  <a:pt x="344976" y="99320"/>
                  <a:pt x="335399" y="108897"/>
                  <a:pt x="323545" y="108897"/>
                </a:cubicBezTo>
                <a:lnTo>
                  <a:pt x="109232" y="108897"/>
                </a:lnTo>
                <a:lnTo>
                  <a:pt x="109232" y="151760"/>
                </a:lnTo>
                <a:cubicBezTo>
                  <a:pt x="109232" y="160400"/>
                  <a:pt x="104007" y="168235"/>
                  <a:pt x="95972" y="171584"/>
                </a:cubicBezTo>
                <a:cubicBezTo>
                  <a:pt x="87936" y="174932"/>
                  <a:pt x="78760" y="173056"/>
                  <a:pt x="72598" y="166963"/>
                </a:cubicBezTo>
                <a:lnTo>
                  <a:pt x="8304" y="10266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5715000" y="3425754"/>
            <a:ext cx="762000" cy="762000"/>
          </a:xfrm>
          <a:custGeom>
            <a:avLst/>
            <a:gdLst/>
            <a:ahLst/>
            <a:cxnLst/>
            <a:rect l="l" t="t" r="r" b="b"/>
            <a:pathLst>
              <a:path w="762000" h="762000">
                <a:moveTo>
                  <a:pt x="381000" y="0"/>
                </a:moveTo>
                <a:lnTo>
                  <a:pt x="381000" y="0"/>
                </a:lnTo>
                <a:cubicBezTo>
                  <a:pt x="591280" y="0"/>
                  <a:pt x="762000" y="170720"/>
                  <a:pt x="762000" y="381000"/>
                </a:cubicBezTo>
                <a:lnTo>
                  <a:pt x="762000" y="381000"/>
                </a:lnTo>
                <a:cubicBezTo>
                  <a:pt x="762000" y="591280"/>
                  <a:pt x="591280" y="762000"/>
                  <a:pt x="381000" y="762000"/>
                </a:cubicBezTo>
                <a:lnTo>
                  <a:pt x="381000" y="762000"/>
                </a:lnTo>
                <a:cubicBezTo>
                  <a:pt x="170720" y="762000"/>
                  <a:pt x="0" y="591280"/>
                  <a:pt x="0" y="381000"/>
                </a:cubicBezTo>
                <a:lnTo>
                  <a:pt x="0" y="381000"/>
                </a:lnTo>
                <a:cubicBezTo>
                  <a:pt x="0" y="170720"/>
                  <a:pt x="170720" y="0"/>
                  <a:pt x="3810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5924523" y="3654270"/>
            <a:ext cx="342900"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075"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cat</a:t>
            </a:r>
            <a:endParaRPr lang="en-US" sz="1100"/>
          </a:p>
        </p:txBody>
      </p:sp>
      <p:sp>
        <p:nvSpPr>
          <p:cNvPr id="11" name="AutoShape 11"/>
          <p:cNvSpPr/>
          <p:nvPr/>
        </p:nvSpPr>
        <p:spPr>
          <a:xfrm>
            <a:off x="5676900" y="4301942"/>
            <a:ext cx="8382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Reference</a:t>
            </a:r>
            <a:endParaRPr lang="en-US" sz="1100"/>
          </a:p>
        </p:txBody>
      </p:sp>
      <p:sp>
        <p:nvSpPr>
          <p:cNvPr id="12" name="Freeform 12"/>
          <p:cNvSpPr/>
          <p:nvPr/>
        </p:nvSpPr>
        <p:spPr>
          <a:xfrm>
            <a:off x="6974959" y="3804873"/>
            <a:ext cx="347119" cy="346315"/>
          </a:xfrm>
          <a:custGeom>
            <a:avLst/>
            <a:gdLst/>
            <a:ahLst/>
            <a:cxnLst/>
            <a:rect l="l" t="t" r="r" b="b"/>
            <a:pathLst>
              <a:path w="347119" h="346315">
                <a:moveTo>
                  <a:pt x="338681" y="274052"/>
                </a:moveTo>
                <a:lnTo>
                  <a:pt x="274387" y="338346"/>
                </a:lnTo>
                <a:cubicBezTo>
                  <a:pt x="268225" y="344506"/>
                  <a:pt x="259050" y="346315"/>
                  <a:pt x="251013" y="342967"/>
                </a:cubicBezTo>
                <a:cubicBezTo>
                  <a:pt x="242977" y="339618"/>
                  <a:pt x="237820" y="331850"/>
                  <a:pt x="237820" y="323210"/>
                </a:cubicBezTo>
                <a:lnTo>
                  <a:pt x="237820" y="280347"/>
                </a:lnTo>
                <a:lnTo>
                  <a:pt x="23507" y="280347"/>
                </a:lnTo>
                <a:cubicBezTo>
                  <a:pt x="11653" y="280347"/>
                  <a:pt x="2076" y="270770"/>
                  <a:pt x="2076" y="258916"/>
                </a:cubicBezTo>
                <a:cubicBezTo>
                  <a:pt x="2076" y="247062"/>
                  <a:pt x="11653" y="237485"/>
                  <a:pt x="23507" y="237485"/>
                </a:cubicBezTo>
                <a:lnTo>
                  <a:pt x="237820" y="237485"/>
                </a:lnTo>
                <a:lnTo>
                  <a:pt x="237820" y="194622"/>
                </a:lnTo>
                <a:cubicBezTo>
                  <a:pt x="237820" y="185982"/>
                  <a:pt x="243045" y="178147"/>
                  <a:pt x="251080" y="174798"/>
                </a:cubicBezTo>
                <a:cubicBezTo>
                  <a:pt x="259116" y="171450"/>
                  <a:pt x="268292" y="173326"/>
                  <a:pt x="274454" y="179419"/>
                </a:cubicBezTo>
                <a:lnTo>
                  <a:pt x="338748" y="243713"/>
                </a:lnTo>
                <a:cubicBezTo>
                  <a:pt x="347118" y="252085"/>
                  <a:pt x="347118" y="265680"/>
                  <a:pt x="338748" y="274052"/>
                </a:cubicBezTo>
                <a:close/>
                <a:moveTo>
                  <a:pt x="8371" y="102602"/>
                </a:moveTo>
                <a:cubicBezTo>
                  <a:pt x="0" y="94230"/>
                  <a:pt x="0" y="80635"/>
                  <a:pt x="8371" y="72263"/>
                </a:cubicBezTo>
                <a:lnTo>
                  <a:pt x="72665" y="7969"/>
                </a:lnTo>
                <a:cubicBezTo>
                  <a:pt x="78827" y="1808"/>
                  <a:pt x="88002" y="0"/>
                  <a:pt x="96039" y="3348"/>
                </a:cubicBezTo>
                <a:cubicBezTo>
                  <a:pt x="104075" y="6697"/>
                  <a:pt x="109232" y="14532"/>
                  <a:pt x="109232" y="23172"/>
                </a:cubicBezTo>
                <a:lnTo>
                  <a:pt x="109232" y="66035"/>
                </a:lnTo>
                <a:lnTo>
                  <a:pt x="323545" y="66035"/>
                </a:lnTo>
                <a:cubicBezTo>
                  <a:pt x="335399" y="66035"/>
                  <a:pt x="344976" y="75612"/>
                  <a:pt x="344976" y="87466"/>
                </a:cubicBezTo>
                <a:cubicBezTo>
                  <a:pt x="344976" y="99320"/>
                  <a:pt x="335399" y="108897"/>
                  <a:pt x="323545" y="108897"/>
                </a:cubicBezTo>
                <a:lnTo>
                  <a:pt x="109232" y="108897"/>
                </a:lnTo>
                <a:lnTo>
                  <a:pt x="109232" y="151760"/>
                </a:lnTo>
                <a:cubicBezTo>
                  <a:pt x="109232" y="160400"/>
                  <a:pt x="104007" y="168235"/>
                  <a:pt x="95972" y="171584"/>
                </a:cubicBezTo>
                <a:cubicBezTo>
                  <a:pt x="87936" y="174932"/>
                  <a:pt x="78760" y="173056"/>
                  <a:pt x="72598" y="166963"/>
                </a:cubicBezTo>
                <a:lnTo>
                  <a:pt x="8304" y="10266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7819970" y="3425754"/>
            <a:ext cx="762000" cy="762000"/>
          </a:xfrm>
          <a:custGeom>
            <a:avLst/>
            <a:gdLst/>
            <a:ahLst/>
            <a:cxnLst/>
            <a:rect l="l" t="t" r="r" b="b"/>
            <a:pathLst>
              <a:path w="762000" h="762000">
                <a:moveTo>
                  <a:pt x="381000" y="0"/>
                </a:moveTo>
                <a:lnTo>
                  <a:pt x="381000" y="0"/>
                </a:lnTo>
                <a:cubicBezTo>
                  <a:pt x="591280" y="0"/>
                  <a:pt x="762000" y="170720"/>
                  <a:pt x="762000" y="381000"/>
                </a:cubicBezTo>
                <a:lnTo>
                  <a:pt x="762000" y="381000"/>
                </a:lnTo>
                <a:cubicBezTo>
                  <a:pt x="762000" y="591280"/>
                  <a:pt x="591280" y="762000"/>
                  <a:pt x="381000" y="762000"/>
                </a:cubicBezTo>
                <a:lnTo>
                  <a:pt x="381000" y="762000"/>
                </a:lnTo>
                <a:cubicBezTo>
                  <a:pt x="170720" y="762000"/>
                  <a:pt x="0" y="591280"/>
                  <a:pt x="0" y="381000"/>
                </a:cubicBezTo>
                <a:lnTo>
                  <a:pt x="0" y="381000"/>
                </a:lnTo>
                <a:cubicBezTo>
                  <a:pt x="0" y="170720"/>
                  <a:pt x="170720" y="0"/>
                  <a:pt x="381000"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7915166" y="3654270"/>
            <a:ext cx="571500"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95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adorable</a:t>
            </a:r>
            <a:endParaRPr lang="en-US" sz="1100"/>
          </a:p>
        </p:txBody>
      </p:sp>
      <p:sp>
        <p:nvSpPr>
          <p:cNvPr id="15" name="AutoShape 15"/>
          <p:cNvSpPr/>
          <p:nvPr/>
        </p:nvSpPr>
        <p:spPr>
          <a:xfrm>
            <a:off x="7781870" y="4301942"/>
            <a:ext cx="8382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Description</a:t>
            </a:r>
            <a:endParaRPr lang="en-US" sz="1100"/>
          </a:p>
        </p:txBody>
      </p:sp>
      <p:sp>
        <p:nvSpPr>
          <p:cNvPr id="16" name="AutoShape 16"/>
          <p:cNvSpPr/>
          <p:nvPr/>
        </p:nvSpPr>
        <p:spPr>
          <a:xfrm>
            <a:off x="338138" y="4835156"/>
            <a:ext cx="115157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85"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The model can understand long-distance semantic relationships</a:t>
            </a:r>
            <a:endParaRPr lang="en-US" sz="1100"/>
          </a:p>
        </p:txBody>
      </p:sp>
      <p:sp>
        <p:nvSpPr>
          <p:cNvPr id="17" name="Freeform 17"/>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609518" y="5962594"/>
            <a:ext cx="6968009" cy="213354"/>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Book </a:t>
            </a:r>
            <a:r>
              <a:rPr lang="en-US" sz="700" b="1"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Self-Attention Mechanism</a:t>
            </a:r>
            <a:r>
              <a:rPr lang="en-US" sz="7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700" b="0"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Allows the model to automatically associate context words when processing each word</a:t>
            </a:r>
            <a:endParaRPr lang="en-US" sz="1100" dirty="0"/>
          </a:p>
        </p:txBody>
      </p:sp>
    </p:spTree>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615" b="0" i="0" u="none" strike="noStrike">
                <a:solidFill>
                  <a:srgbClr val="5B92E5"/>
                </a:solidFill>
                <a:latin typeface="Alimama ShuHeiTi"/>
                <a:ea typeface="Alimama ShuHeiTi"/>
                <a:cs typeface="Alimama ShuHeiTi"/>
                <a:sym typeface="Alimama ShuHeiTi"/>
              </a:rPr>
              <a:t>Multi-Layer Stacking: Transformer Architecture</a:t>
            </a:r>
            <a:endParaRPr lang="en-US" sz="1100"/>
          </a:p>
        </p:txBody>
      </p:sp>
      <p:sp>
        <p:nvSpPr>
          <p:cNvPr id="3" name="Freeform 3"/>
          <p:cNvSpPr/>
          <p:nvPr/>
        </p:nvSpPr>
        <p:spPr>
          <a:xfrm>
            <a:off x="3714750" y="1470831"/>
            <a:ext cx="4762500" cy="800100"/>
          </a:xfrm>
          <a:custGeom>
            <a:avLst/>
            <a:gdLst/>
            <a:ahLst/>
            <a:cxnLst/>
            <a:rect l="l" t="t" r="r" b="b"/>
            <a:pathLst>
              <a:path w="4762500" h="800100">
                <a:moveTo>
                  <a:pt x="114303" y="0"/>
                </a:moveTo>
                <a:lnTo>
                  <a:pt x="4648197" y="0"/>
                </a:lnTo>
                <a:cubicBezTo>
                  <a:pt x="4711283" y="0"/>
                  <a:pt x="4762500" y="51217"/>
                  <a:pt x="4762500" y="114303"/>
                </a:cubicBezTo>
                <a:lnTo>
                  <a:pt x="4762500" y="800100"/>
                </a:lnTo>
                <a:lnTo>
                  <a:pt x="0" y="800100"/>
                </a:lnTo>
                <a:lnTo>
                  <a:pt x="0" y="114303"/>
                </a:lnTo>
                <a:cubicBezTo>
                  <a:pt x="0" y="51217"/>
                  <a:pt x="51217" y="0"/>
                  <a:pt x="114303"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3819471" y="1623175"/>
            <a:ext cx="45529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85"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Layer 1: Surface Features</a:t>
            </a:r>
            <a:endParaRPr lang="en-US" sz="1100"/>
          </a:p>
        </p:txBody>
      </p:sp>
      <p:sp>
        <p:nvSpPr>
          <p:cNvPr id="5" name="AutoShape 5"/>
          <p:cNvSpPr/>
          <p:nvPr/>
        </p:nvSpPr>
        <p:spPr>
          <a:xfrm>
            <a:off x="3828996" y="1889847"/>
            <a:ext cx="45339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Part of speech, syntactic structure</a:t>
            </a:r>
            <a:endParaRPr lang="en-US" sz="1100"/>
          </a:p>
        </p:txBody>
      </p:sp>
      <p:sp>
        <p:nvSpPr>
          <p:cNvPr id="6" name="Freeform 6"/>
          <p:cNvSpPr/>
          <p:nvPr/>
        </p:nvSpPr>
        <p:spPr>
          <a:xfrm>
            <a:off x="3714750" y="2270708"/>
            <a:ext cx="4762500" cy="800100"/>
          </a:xfrm>
          <a:custGeom>
            <a:avLst/>
            <a:gdLst/>
            <a:ahLst/>
            <a:cxnLst/>
            <a:rect l="l" t="t" r="r" b="b"/>
            <a:pathLst>
              <a:path w="4762500" h="800100">
                <a:moveTo>
                  <a:pt x="0" y="0"/>
                </a:moveTo>
                <a:lnTo>
                  <a:pt x="4762500" y="0"/>
                </a:lnTo>
                <a:lnTo>
                  <a:pt x="4762500" y="800100"/>
                </a:lnTo>
                <a:lnTo>
                  <a:pt x="0" y="800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3819471" y="2423061"/>
            <a:ext cx="45529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85"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Layer 5: Phrase Understanding</a:t>
            </a:r>
            <a:endParaRPr lang="en-US" sz="1100"/>
          </a:p>
        </p:txBody>
      </p:sp>
      <p:sp>
        <p:nvSpPr>
          <p:cNvPr id="8" name="AutoShape 8"/>
          <p:cNvSpPr/>
          <p:nvPr/>
        </p:nvSpPr>
        <p:spPr>
          <a:xfrm>
            <a:off x="3828996" y="2689733"/>
            <a:ext cx="45339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Short semantic units</a:t>
            </a:r>
            <a:endParaRPr lang="en-US" sz="1100"/>
          </a:p>
        </p:txBody>
      </p:sp>
      <p:sp>
        <p:nvSpPr>
          <p:cNvPr id="9" name="Freeform 9"/>
          <p:cNvSpPr/>
          <p:nvPr/>
        </p:nvSpPr>
        <p:spPr>
          <a:xfrm>
            <a:off x="3714750" y="3070594"/>
            <a:ext cx="4762500" cy="800100"/>
          </a:xfrm>
          <a:custGeom>
            <a:avLst/>
            <a:gdLst/>
            <a:ahLst/>
            <a:cxnLst/>
            <a:rect l="l" t="t" r="r" b="b"/>
            <a:pathLst>
              <a:path w="4762500" h="800100">
                <a:moveTo>
                  <a:pt x="0" y="0"/>
                </a:moveTo>
                <a:lnTo>
                  <a:pt x="4762500" y="0"/>
                </a:lnTo>
                <a:lnTo>
                  <a:pt x="4762500" y="800100"/>
                </a:lnTo>
                <a:lnTo>
                  <a:pt x="0" y="800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3819471" y="3222938"/>
            <a:ext cx="45529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85"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Layer 10: Sentence Understanding</a:t>
            </a:r>
            <a:endParaRPr lang="en-US" sz="1100"/>
          </a:p>
        </p:txBody>
      </p:sp>
      <p:sp>
        <p:nvSpPr>
          <p:cNvPr id="11" name="AutoShape 11"/>
          <p:cNvSpPr/>
          <p:nvPr/>
        </p:nvSpPr>
        <p:spPr>
          <a:xfrm>
            <a:off x="3828996" y="3489610"/>
            <a:ext cx="45339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Complete semantics</a:t>
            </a:r>
            <a:endParaRPr lang="en-US" sz="1100"/>
          </a:p>
        </p:txBody>
      </p:sp>
      <p:sp>
        <p:nvSpPr>
          <p:cNvPr id="12" name="Freeform 12"/>
          <p:cNvSpPr/>
          <p:nvPr/>
        </p:nvSpPr>
        <p:spPr>
          <a:xfrm>
            <a:off x="3732068" y="3887798"/>
            <a:ext cx="4730460" cy="910935"/>
          </a:xfrm>
          <a:custGeom>
            <a:avLst/>
            <a:gdLst/>
            <a:ahLst/>
            <a:cxnLst/>
            <a:rect l="l" t="t" r="r" b="b"/>
            <a:pathLst>
              <a:path w="4730460" h="910935">
                <a:moveTo>
                  <a:pt x="0" y="0"/>
                </a:moveTo>
                <a:lnTo>
                  <a:pt x="4730460" y="0"/>
                </a:lnTo>
                <a:lnTo>
                  <a:pt x="4730460" y="796632"/>
                </a:lnTo>
                <a:cubicBezTo>
                  <a:pt x="4730460" y="859761"/>
                  <a:pt x="4679286" y="910935"/>
                  <a:pt x="4616157" y="910935"/>
                </a:cubicBezTo>
                <a:lnTo>
                  <a:pt x="114304" y="910935"/>
                </a:lnTo>
                <a:cubicBezTo>
                  <a:pt x="51218" y="910935"/>
                  <a:pt x="0" y="859718"/>
                  <a:pt x="0" y="796632"/>
                </a:cubicBezTo>
                <a:lnTo>
                  <a:pt x="0" y="0"/>
                </a:lnTo>
                <a:close/>
              </a:path>
            </a:pathLst>
          </a:custGeom>
          <a:solidFill>
            <a:srgbClr val="5B92E5">
              <a:alpha val="100000"/>
            </a:srgbClr>
          </a:solidFill>
          <a:ln w="38100">
            <a:solidFill>
              <a:srgbClr val="00CED1">
                <a:alpha val="100000"/>
              </a:srgbClr>
            </a:solidFill>
            <a:prstDash val="solid"/>
          </a:ln>
        </p:spPr>
        <p:txBody>
          <a:bodyPr wrap="square" lIns="91440" tIns="45720" rIns="91440" bIns="45720" rtlCol="0" anchor="t">
            <a:noAutofit/>
          </a:bodyPr>
          <a:lstStyle/>
          <a:p>
            <a:pPr algn="ctr">
              <a:defRPr/>
            </a:pPr>
          </a:p>
        </p:txBody>
      </p:sp>
      <p:sp>
        <p:nvSpPr>
          <p:cNvPr id="13" name="AutoShape 13"/>
          <p:cNvSpPr/>
          <p:nvPr/>
        </p:nvSpPr>
        <p:spPr>
          <a:xfrm>
            <a:off x="3892261" y="4095610"/>
            <a:ext cx="4410075"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8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Layer 20: Abstract Reasoning</a:t>
            </a:r>
            <a:endParaRPr lang="en-US" sz="1100"/>
          </a:p>
        </p:txBody>
      </p:sp>
      <p:sp>
        <p:nvSpPr>
          <p:cNvPr id="14" name="AutoShape 14"/>
          <p:cNvSpPr/>
          <p:nvPr/>
        </p:nvSpPr>
        <p:spPr>
          <a:xfrm>
            <a:off x="3901786" y="4362292"/>
            <a:ext cx="4391025"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Logic, emotion, intent</a:t>
            </a:r>
            <a:endParaRPr lang="en-US" sz="1100"/>
          </a:p>
        </p:txBody>
      </p:sp>
      <p:sp>
        <p:nvSpPr>
          <p:cNvPr id="15" name="AutoShape 15"/>
          <p:cNvSpPr/>
          <p:nvPr/>
        </p:nvSpPr>
        <p:spPr>
          <a:xfrm>
            <a:off x="338138" y="5219942"/>
            <a:ext cx="115157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85"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Each layer extracts higher-level features based on the previous layer</a:t>
            </a:r>
            <a:endParaRPr lang="en-US" sz="1100"/>
          </a:p>
        </p:txBody>
      </p:sp>
      <p:sp>
        <p:nvSpPr>
          <p:cNvPr id="16" name="Freeform 16"/>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609519" y="5962594"/>
            <a:ext cx="64039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3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73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Transformer</a:t>
            </a:r>
            <a:r>
              <a:rPr lang="en-US" sz="73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The core architecture of large models, where each layer consists of multi-head attention and feed-forward networks stacked together</a:t>
            </a:r>
            <a:endParaRPr lang="en-US" sz="1100"/>
          </a:p>
        </p:txBody>
      </p:sp>
    </p:spTree>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184678" y="1175203"/>
            <a:ext cx="5819775" cy="6858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2970" b="0" i="0" u="none" strike="noStrike">
                <a:solidFill>
                  <a:srgbClr val="5B92E5"/>
                </a:solidFill>
                <a:latin typeface="Alimama ShuHeiTi"/>
                <a:ea typeface="Alimama ShuHeiTi"/>
                <a:cs typeface="Alimama ShuHeiTi"/>
                <a:sym typeface="Alimama ShuHeiTi"/>
              </a:rPr>
              <a:t>How Do Large Models Work?</a:t>
            </a:r>
            <a:endParaRPr lang="en-US" sz="1100"/>
          </a:p>
        </p:txBody>
      </p:sp>
      <p:sp>
        <p:nvSpPr>
          <p:cNvPr id="3" name="AutoShape 3"/>
          <p:cNvSpPr/>
          <p:nvPr/>
        </p:nvSpPr>
        <p:spPr>
          <a:xfrm>
            <a:off x="3229128" y="2241891"/>
            <a:ext cx="5730875" cy="457200"/>
          </a:xfrm>
          <a:prstGeom prst="rect">
            <a:avLst/>
          </a:prstGeom>
          <a:noFill/>
          <a:ln w="12700">
            <a:noFill/>
            <a:prstDash val="solid"/>
          </a:ln>
        </p:spPr>
        <p:txBody>
          <a:bodyPr wrap="square" lIns="0" tIns="0" rIns="0" bIns="0" rtlCol="0" anchor="ctr">
            <a:noAutofit/>
          </a:bodyPr>
          <a:lstStyle/>
          <a:p>
            <a:pPr indent="0" algn="ctr">
              <a:lnSpc>
                <a:spcPct val="142000"/>
              </a:lnSpc>
              <a:defRPr/>
            </a:pPr>
            <a:r>
              <a:rPr lang="en-US" sz="162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We just learned about the </a:t>
            </a:r>
            <a:r>
              <a:rPr lang="en-US" sz="1625"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capabilities</a:t>
            </a:r>
            <a:r>
              <a:rPr lang="en-US" sz="162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of large models:</a:t>
            </a:r>
            <a:endParaRPr lang="en-US" sz="1100"/>
          </a:p>
        </p:txBody>
      </p:sp>
      <p:sp>
        <p:nvSpPr>
          <p:cNvPr id="4" name="Freeform 4"/>
          <p:cNvSpPr/>
          <p:nvPr/>
        </p:nvSpPr>
        <p:spPr>
          <a:xfrm>
            <a:off x="3298978" y="2924333"/>
            <a:ext cx="1066800" cy="419100"/>
          </a:xfrm>
          <a:custGeom>
            <a:avLst/>
            <a:gdLst/>
            <a:ahLst/>
            <a:cxnLst/>
            <a:rect l="l" t="t" r="r" b="b"/>
            <a:pathLst>
              <a:path w="1066800" h="419100">
                <a:moveTo>
                  <a:pt x="209550" y="0"/>
                </a:moveTo>
                <a:lnTo>
                  <a:pt x="857250" y="0"/>
                </a:lnTo>
                <a:cubicBezTo>
                  <a:pt x="972904" y="0"/>
                  <a:pt x="1066800" y="93896"/>
                  <a:pt x="1066800" y="209550"/>
                </a:cubicBezTo>
                <a:lnTo>
                  <a:pt x="1066800" y="209550"/>
                </a:lnTo>
                <a:cubicBezTo>
                  <a:pt x="1066800" y="325204"/>
                  <a:pt x="972904" y="419100"/>
                  <a:pt x="857250" y="419100"/>
                </a:cubicBezTo>
                <a:lnTo>
                  <a:pt x="209550" y="419100"/>
                </a:lnTo>
                <a:cubicBezTo>
                  <a:pt x="93896" y="419100"/>
                  <a:pt x="0" y="325204"/>
                  <a:pt x="0" y="209550"/>
                </a:cubicBezTo>
                <a:lnTo>
                  <a:pt x="0" y="209550"/>
                </a:lnTo>
                <a:cubicBezTo>
                  <a:pt x="0" y="93896"/>
                  <a:pt x="93896" y="0"/>
                  <a:pt x="20955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3298978" y="2924333"/>
            <a:ext cx="1152525" cy="419100"/>
          </a:xfrm>
          <a:prstGeom prst="rect">
            <a:avLst/>
          </a:prstGeom>
          <a:noFill/>
          <a:ln w="12700">
            <a:noFill/>
            <a:prstDash val="solid"/>
          </a:ln>
        </p:spPr>
        <p:txBody>
          <a:bodyPr wrap="square" lIns="190500" tIns="76200" rIns="190500" bIns="76200" rtlCol="0" anchor="ctr">
            <a:noAutofit/>
          </a:bodyPr>
          <a:lstStyle/>
          <a:p>
            <a:pPr indent="0" algn="l">
              <a:lnSpc>
                <a:spcPct val="133000"/>
              </a:lnSpc>
              <a:defRPr/>
            </a:pPr>
            <a:r>
              <a:rPr lang="en-US" sz="117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Text Generation</a:t>
            </a:r>
            <a:endParaRPr lang="en-US" sz="1100"/>
          </a:p>
        </p:txBody>
      </p:sp>
      <p:sp>
        <p:nvSpPr>
          <p:cNvPr id="6" name="Freeform 6"/>
          <p:cNvSpPr/>
          <p:nvPr/>
        </p:nvSpPr>
        <p:spPr>
          <a:xfrm>
            <a:off x="4594324" y="2924333"/>
            <a:ext cx="1238250" cy="419100"/>
          </a:xfrm>
          <a:custGeom>
            <a:avLst/>
            <a:gdLst/>
            <a:ahLst/>
            <a:cxnLst/>
            <a:rect l="l" t="t" r="r" b="b"/>
            <a:pathLst>
              <a:path w="1238250" h="419100">
                <a:moveTo>
                  <a:pt x="209550" y="0"/>
                </a:moveTo>
                <a:lnTo>
                  <a:pt x="1028700" y="0"/>
                </a:lnTo>
                <a:cubicBezTo>
                  <a:pt x="1144354" y="0"/>
                  <a:pt x="1238250" y="93896"/>
                  <a:pt x="1238250" y="209550"/>
                </a:cubicBezTo>
                <a:lnTo>
                  <a:pt x="1238250" y="209550"/>
                </a:lnTo>
                <a:cubicBezTo>
                  <a:pt x="1238250" y="325204"/>
                  <a:pt x="1144354" y="419100"/>
                  <a:pt x="1028700" y="419100"/>
                </a:cubicBezTo>
                <a:lnTo>
                  <a:pt x="209550" y="419100"/>
                </a:lnTo>
                <a:cubicBezTo>
                  <a:pt x="93896" y="419100"/>
                  <a:pt x="0" y="325204"/>
                  <a:pt x="0" y="209550"/>
                </a:cubicBezTo>
                <a:lnTo>
                  <a:pt x="0" y="209550"/>
                </a:lnTo>
                <a:cubicBezTo>
                  <a:pt x="0" y="93896"/>
                  <a:pt x="93896" y="0"/>
                  <a:pt x="20955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4594324" y="2924333"/>
            <a:ext cx="1323975" cy="419100"/>
          </a:xfrm>
          <a:prstGeom prst="rect">
            <a:avLst/>
          </a:prstGeom>
          <a:noFill/>
          <a:ln w="12700">
            <a:noFill/>
            <a:prstDash val="solid"/>
          </a:ln>
        </p:spPr>
        <p:txBody>
          <a:bodyPr wrap="square" lIns="190500" tIns="76200" rIns="190500" bIns="76200" rtlCol="0" anchor="ctr">
            <a:noAutofit/>
          </a:bodyPr>
          <a:lstStyle/>
          <a:p>
            <a:pPr indent="0" algn="l">
              <a:lnSpc>
                <a:spcPct val="133000"/>
              </a:lnSpc>
              <a:defRPr/>
            </a:pPr>
            <a:r>
              <a:rPr lang="en-US" sz="103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Multimodal Capabilities</a:t>
            </a:r>
            <a:endParaRPr lang="en-US" sz="1100"/>
          </a:p>
        </p:txBody>
      </p:sp>
      <p:sp>
        <p:nvSpPr>
          <p:cNvPr id="8" name="Freeform 8"/>
          <p:cNvSpPr/>
          <p:nvPr/>
        </p:nvSpPr>
        <p:spPr>
          <a:xfrm>
            <a:off x="6061093" y="2924333"/>
            <a:ext cx="1238250" cy="419100"/>
          </a:xfrm>
          <a:custGeom>
            <a:avLst/>
            <a:gdLst/>
            <a:ahLst/>
            <a:cxnLst/>
            <a:rect l="l" t="t" r="r" b="b"/>
            <a:pathLst>
              <a:path w="1238250" h="419100">
                <a:moveTo>
                  <a:pt x="209550" y="0"/>
                </a:moveTo>
                <a:lnTo>
                  <a:pt x="1028700" y="0"/>
                </a:lnTo>
                <a:cubicBezTo>
                  <a:pt x="1144354" y="0"/>
                  <a:pt x="1238250" y="93896"/>
                  <a:pt x="1238250" y="209550"/>
                </a:cubicBezTo>
                <a:lnTo>
                  <a:pt x="1238250" y="209550"/>
                </a:lnTo>
                <a:cubicBezTo>
                  <a:pt x="1238250" y="325204"/>
                  <a:pt x="1144354" y="419100"/>
                  <a:pt x="1028700" y="419100"/>
                </a:cubicBezTo>
                <a:lnTo>
                  <a:pt x="209550" y="419100"/>
                </a:lnTo>
                <a:cubicBezTo>
                  <a:pt x="93896" y="419100"/>
                  <a:pt x="0" y="325204"/>
                  <a:pt x="0" y="209550"/>
                </a:cubicBezTo>
                <a:lnTo>
                  <a:pt x="0" y="209550"/>
                </a:lnTo>
                <a:cubicBezTo>
                  <a:pt x="0" y="93896"/>
                  <a:pt x="93896" y="0"/>
                  <a:pt x="20955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6061093" y="2924333"/>
            <a:ext cx="1323975" cy="419100"/>
          </a:xfrm>
          <a:prstGeom prst="rect">
            <a:avLst/>
          </a:prstGeom>
          <a:noFill/>
          <a:ln w="12700">
            <a:noFill/>
            <a:prstDash val="solid"/>
          </a:ln>
        </p:spPr>
        <p:txBody>
          <a:bodyPr wrap="square" lIns="190500" tIns="76200" rIns="190500" bIns="76200" rtlCol="0" anchor="ctr">
            <a:noAutofit/>
          </a:bodyPr>
          <a:lstStyle/>
          <a:p>
            <a:pPr indent="0" algn="l">
              <a:lnSpc>
                <a:spcPct val="133000"/>
              </a:lnSpc>
              <a:defRPr/>
            </a:pPr>
            <a:r>
              <a:rPr lang="en-US" sz="96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Conversational Applications</a:t>
            </a:r>
            <a:endParaRPr lang="en-US" sz="1100"/>
          </a:p>
        </p:txBody>
      </p:sp>
      <p:sp>
        <p:nvSpPr>
          <p:cNvPr id="10" name="Freeform 10"/>
          <p:cNvSpPr/>
          <p:nvPr/>
        </p:nvSpPr>
        <p:spPr>
          <a:xfrm>
            <a:off x="7527861" y="2924333"/>
            <a:ext cx="1362075" cy="419100"/>
          </a:xfrm>
          <a:custGeom>
            <a:avLst/>
            <a:gdLst/>
            <a:ahLst/>
            <a:cxnLst/>
            <a:rect l="l" t="t" r="r" b="b"/>
            <a:pathLst>
              <a:path w="1362075" h="419100">
                <a:moveTo>
                  <a:pt x="209550" y="0"/>
                </a:moveTo>
                <a:lnTo>
                  <a:pt x="1152525" y="0"/>
                </a:lnTo>
                <a:cubicBezTo>
                  <a:pt x="1268179" y="0"/>
                  <a:pt x="1362075" y="93896"/>
                  <a:pt x="1362075" y="209550"/>
                </a:cubicBezTo>
                <a:lnTo>
                  <a:pt x="1362075" y="209550"/>
                </a:lnTo>
                <a:cubicBezTo>
                  <a:pt x="1362075" y="325204"/>
                  <a:pt x="1268179" y="419100"/>
                  <a:pt x="1152525" y="419100"/>
                </a:cubicBezTo>
                <a:lnTo>
                  <a:pt x="209550" y="419100"/>
                </a:lnTo>
                <a:cubicBezTo>
                  <a:pt x="93896" y="419100"/>
                  <a:pt x="0" y="325204"/>
                  <a:pt x="0" y="209550"/>
                </a:cubicBezTo>
                <a:lnTo>
                  <a:pt x="0" y="209550"/>
                </a:lnTo>
                <a:cubicBezTo>
                  <a:pt x="0" y="93896"/>
                  <a:pt x="93896" y="0"/>
                  <a:pt x="20955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7527861" y="2924333"/>
            <a:ext cx="1447800" cy="419100"/>
          </a:xfrm>
          <a:prstGeom prst="rect">
            <a:avLst/>
          </a:prstGeom>
          <a:noFill/>
          <a:ln w="12700">
            <a:noFill/>
            <a:prstDash val="solid"/>
          </a:ln>
        </p:spPr>
        <p:txBody>
          <a:bodyPr wrap="square" lIns="190500" tIns="76200" rIns="190500" bIns="76200" rtlCol="0" anchor="ctr">
            <a:noAutofit/>
          </a:bodyPr>
          <a:lstStyle/>
          <a:p>
            <a:pPr indent="0" algn="l">
              <a:lnSpc>
                <a:spcPct val="133000"/>
              </a:lnSpc>
              <a:defRPr/>
            </a:pPr>
            <a:r>
              <a:rPr lang="en-US" sz="129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Agent Workflows</a:t>
            </a:r>
            <a:endParaRPr lang="en-US" sz="1100"/>
          </a:p>
        </p:txBody>
      </p:sp>
      <p:sp>
        <p:nvSpPr>
          <p:cNvPr id="12" name="Freeform 12"/>
          <p:cNvSpPr/>
          <p:nvPr/>
        </p:nvSpPr>
        <p:spPr>
          <a:xfrm>
            <a:off x="5002925" y="3771714"/>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5989304" y="3647908"/>
            <a:ext cx="217884" cy="287480"/>
          </a:xfrm>
          <a:custGeom>
            <a:avLst/>
            <a:gdLst/>
            <a:ahLst/>
            <a:cxnLst/>
            <a:rect l="l" t="t" r="r" b="b"/>
            <a:pathLst>
              <a:path w="217884" h="287480">
                <a:moveTo>
                  <a:pt x="96329" y="280504"/>
                </a:moveTo>
                <a:cubicBezTo>
                  <a:pt x="103305" y="287480"/>
                  <a:pt x="114634" y="287480"/>
                  <a:pt x="121610" y="280504"/>
                </a:cubicBezTo>
                <a:lnTo>
                  <a:pt x="210908" y="191207"/>
                </a:lnTo>
                <a:cubicBezTo>
                  <a:pt x="217884" y="184231"/>
                  <a:pt x="217884" y="172902"/>
                  <a:pt x="210908" y="165925"/>
                </a:cubicBezTo>
                <a:cubicBezTo>
                  <a:pt x="203932" y="158948"/>
                  <a:pt x="192602" y="158948"/>
                  <a:pt x="185626" y="165925"/>
                </a:cubicBezTo>
                <a:lnTo>
                  <a:pt x="126802" y="224749"/>
                </a:lnTo>
                <a:lnTo>
                  <a:pt x="126802" y="17859"/>
                </a:lnTo>
                <a:cubicBezTo>
                  <a:pt x="126802" y="7981"/>
                  <a:pt x="118822" y="0"/>
                  <a:pt x="108942" y="0"/>
                </a:cubicBezTo>
                <a:cubicBezTo>
                  <a:pt x="99064" y="0"/>
                  <a:pt x="91084" y="7981"/>
                  <a:pt x="91084" y="17859"/>
                </a:cubicBezTo>
                <a:lnTo>
                  <a:pt x="91084" y="224749"/>
                </a:lnTo>
                <a:lnTo>
                  <a:pt x="32258" y="165925"/>
                </a:lnTo>
                <a:cubicBezTo>
                  <a:pt x="25282" y="158948"/>
                  <a:pt x="13953" y="158948"/>
                  <a:pt x="6976" y="165925"/>
                </a:cubicBezTo>
                <a:cubicBezTo>
                  <a:pt x="0" y="172902"/>
                  <a:pt x="0" y="184231"/>
                  <a:pt x="6976" y="191207"/>
                </a:cubicBezTo>
                <a:lnTo>
                  <a:pt x="96273" y="280504"/>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6426804" y="3771714"/>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3229128" y="4238355"/>
            <a:ext cx="5730875" cy="457200"/>
          </a:xfrm>
          <a:prstGeom prst="rect">
            <a:avLst/>
          </a:prstGeom>
          <a:noFill/>
          <a:ln w="12700">
            <a:noFill/>
            <a:prstDash val="solid"/>
          </a:ln>
        </p:spPr>
        <p:txBody>
          <a:bodyPr wrap="square" lIns="0" tIns="0" rIns="0" bIns="0" rtlCol="0" anchor="ctr">
            <a:noAutofit/>
          </a:bodyPr>
          <a:lstStyle/>
          <a:p>
            <a:pPr indent="0" algn="ctr">
              <a:lnSpc>
                <a:spcPct val="142000"/>
              </a:lnSpc>
              <a:defRPr/>
            </a:pPr>
            <a:r>
              <a:rPr lang="en-US" sz="184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So, how exactly do large models </a:t>
            </a:r>
            <a:r>
              <a:rPr lang="en-US" sz="1845"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work</a:t>
            </a:r>
            <a:r>
              <a:rPr lang="en-US" sz="184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16" name="AutoShape 16"/>
          <p:cNvSpPr/>
          <p:nvPr/>
        </p:nvSpPr>
        <p:spPr>
          <a:xfrm>
            <a:off x="3251353" y="4920797"/>
            <a:ext cx="5686425"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7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The process of applying large models is essentially the process of </a:t>
            </a:r>
            <a:r>
              <a:rPr lang="en-US" sz="87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large model inference</a:t>
            </a:r>
            <a:endParaRPr lang="en-US" sz="1100"/>
          </a:p>
        </p:txBody>
      </p:sp>
      <p:sp>
        <p:nvSpPr>
          <p:cNvPr id="17" name="AutoShape 17"/>
          <p:cNvSpPr/>
          <p:nvPr/>
        </p:nvSpPr>
        <p:spPr>
          <a:xfrm>
            <a:off x="3251353" y="5415986"/>
            <a:ext cx="5686425"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85"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Let's </a:t>
            </a:r>
            <a:r>
              <a:rPr lang="en-US" sz="885"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break it down</a:t>
            </a:r>
            <a:r>
              <a:rPr lang="en-US" sz="885"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with practical examples</a:t>
            </a:r>
            <a:endParaRPr lang="en-US" sz="1100"/>
          </a:p>
        </p:txBody>
      </p:sp>
    </p:spTree>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5B92E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352800" y="2590800"/>
            <a:ext cx="7139305" cy="9144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3420" b="1" i="0" u="none" strike="noStrike">
                <a:solidFill>
                  <a:srgbClr val="FFFFFF"/>
                </a:solidFill>
                <a:latin typeface="Alimama ShuHeiTi"/>
                <a:ea typeface="Alimama ShuHeiTi"/>
                <a:cs typeface="Alimama ShuHeiTi"/>
                <a:sym typeface="Alimama ShuHeiTi"/>
              </a:rPr>
              <a:t>How Does AI Actually Do It?</a:t>
            </a:r>
            <a:endParaRPr lang="en-US" sz="1100"/>
          </a:p>
        </p:txBody>
      </p:sp>
      <p:sp>
        <p:nvSpPr>
          <p:cNvPr id="3" name="AutoShape 3"/>
          <p:cNvSpPr/>
          <p:nvPr/>
        </p:nvSpPr>
        <p:spPr>
          <a:xfrm>
            <a:off x="5207000" y="3733800"/>
            <a:ext cx="3011170" cy="5334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670" b="0" i="0" u="none" strike="noStrike">
                <a:solidFill>
                  <a:srgbClr val="87CEEB"/>
                </a:solidFill>
                <a:latin typeface="MiSans" panose="00000500000000000000" charset="-122"/>
                <a:ea typeface="MiSans" panose="00000500000000000000" charset="-122"/>
                <a:cs typeface="MiSans" panose="00000500000000000000" charset="-122"/>
                <a:sym typeface="MiSans" panose="00000500000000000000" charset="-122"/>
              </a:rPr>
              <a:t>Large Model Inference</a:t>
            </a:r>
            <a:endParaRPr lang="en-US" sz="1100"/>
          </a:p>
        </p:txBody>
      </p:sp>
      <p:sp>
        <p:nvSpPr>
          <p:cNvPr id="4" name="AutoShape 4"/>
          <p:cNvSpPr/>
          <p:nvPr/>
        </p:nvSpPr>
        <p:spPr>
          <a:xfrm>
            <a:off x="5534214" y="1905084"/>
            <a:ext cx="1123950" cy="4572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845"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PART 2</a:t>
            </a:r>
            <a:endParaRPr lang="en-US" sz="1100"/>
          </a:p>
        </p:txBody>
      </p:sp>
    </p:spTree>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615" b="0" i="0" u="none" strike="noStrike">
                <a:solidFill>
                  <a:srgbClr val="5B92E5"/>
                </a:solidFill>
                <a:latin typeface="Alimama ShuHeiTi"/>
                <a:ea typeface="Alimama ShuHeiTi"/>
                <a:cs typeface="Alimama ShuHeiTi"/>
                <a:sym typeface="Alimama ShuHeiTi"/>
              </a:rPr>
              <a:t>Overview of Large Model Inference Process</a:t>
            </a:r>
            <a:endParaRPr lang="en-US" sz="1100"/>
          </a:p>
        </p:txBody>
      </p:sp>
      <p:sp>
        <p:nvSpPr>
          <p:cNvPr id="3" name="Freeform 3"/>
          <p:cNvSpPr/>
          <p:nvPr/>
        </p:nvSpPr>
        <p:spPr>
          <a:xfrm>
            <a:off x="381000" y="3259466"/>
            <a:ext cx="11430000" cy="114300"/>
          </a:xfrm>
          <a:custGeom>
            <a:avLst/>
            <a:gdLst/>
            <a:ahLst/>
            <a:cxnLst/>
            <a:rect l="l" t="t" r="r" b="b"/>
            <a:pathLst>
              <a:path w="11430000" h="114300">
                <a:moveTo>
                  <a:pt x="0" y="0"/>
                </a:moveTo>
                <a:lnTo>
                  <a:pt x="11430000" y="0"/>
                </a:lnTo>
                <a:lnTo>
                  <a:pt x="11430000" y="114300"/>
                </a:lnTo>
                <a:lnTo>
                  <a:pt x="0" y="1143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98318" y="2476768"/>
            <a:ext cx="1034760" cy="1034760"/>
          </a:xfrm>
          <a:custGeom>
            <a:avLst/>
            <a:gdLst/>
            <a:ahLst/>
            <a:cxnLst/>
            <a:rect l="l" t="t" r="r" b="b"/>
            <a:pathLst>
              <a:path w="1034760" h="1034760">
                <a:moveTo>
                  <a:pt x="517381" y="0"/>
                </a:moveTo>
                <a:lnTo>
                  <a:pt x="517381" y="0"/>
                </a:lnTo>
                <a:cubicBezTo>
                  <a:pt x="802931" y="0"/>
                  <a:pt x="1034760" y="231831"/>
                  <a:pt x="1034760" y="517381"/>
                </a:cubicBezTo>
                <a:lnTo>
                  <a:pt x="1034760" y="517381"/>
                </a:lnTo>
                <a:cubicBezTo>
                  <a:pt x="1034760" y="802931"/>
                  <a:pt x="802931" y="1034760"/>
                  <a:pt x="517381" y="1034760"/>
                </a:cubicBezTo>
                <a:lnTo>
                  <a:pt x="517381" y="1034760"/>
                </a:lnTo>
                <a:cubicBezTo>
                  <a:pt x="231831" y="1034760"/>
                  <a:pt x="0" y="802931"/>
                  <a:pt x="0" y="517381"/>
                </a:cubicBezTo>
                <a:lnTo>
                  <a:pt x="0" y="517381"/>
                </a:lnTo>
                <a:cubicBezTo>
                  <a:pt x="0" y="231831"/>
                  <a:pt x="231831" y="0"/>
                  <a:pt x="517381" y="0"/>
                </a:cubicBezTo>
                <a:close/>
              </a:path>
            </a:pathLst>
          </a:custGeom>
          <a:solidFill>
            <a:srgbClr val="00CED1">
              <a:alpha val="100000"/>
            </a:srgbClr>
          </a:solidFill>
          <a:ln w="38100">
            <a:solidFill>
              <a:srgbClr val="FFFFFF">
                <a:alpha val="100000"/>
              </a:srgbClr>
            </a:solidFill>
            <a:prstDash val="solid"/>
          </a:ln>
          <a:effectLst>
            <a:outerShdw blurRad="228600" dist="1905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5" name="AutoShape 5"/>
          <p:cNvSpPr/>
          <p:nvPr/>
        </p:nvSpPr>
        <p:spPr>
          <a:xfrm>
            <a:off x="858062" y="2821372"/>
            <a:ext cx="257175"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7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100"/>
          </a:p>
        </p:txBody>
      </p:sp>
      <p:sp>
        <p:nvSpPr>
          <p:cNvPr id="6" name="AutoShape 6"/>
          <p:cNvSpPr/>
          <p:nvPr/>
        </p:nvSpPr>
        <p:spPr>
          <a:xfrm>
            <a:off x="533346" y="3678492"/>
            <a:ext cx="8572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6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Input Processing</a:t>
            </a:r>
            <a:endParaRPr lang="en-US" sz="1100"/>
          </a:p>
        </p:txBody>
      </p:sp>
      <p:sp>
        <p:nvSpPr>
          <p:cNvPr id="7" name="AutoShape 7"/>
          <p:cNvSpPr/>
          <p:nvPr/>
        </p:nvSpPr>
        <p:spPr>
          <a:xfrm>
            <a:off x="533346" y="3945164"/>
            <a:ext cx="8382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Text to Numbers</a:t>
            </a:r>
            <a:endParaRPr lang="en-US" sz="1100"/>
          </a:p>
        </p:txBody>
      </p:sp>
      <p:sp>
        <p:nvSpPr>
          <p:cNvPr id="8" name="Freeform 8"/>
          <p:cNvSpPr/>
          <p:nvPr/>
        </p:nvSpPr>
        <p:spPr>
          <a:xfrm>
            <a:off x="4005100" y="2552940"/>
            <a:ext cx="882360" cy="882360"/>
          </a:xfrm>
          <a:custGeom>
            <a:avLst/>
            <a:gdLst/>
            <a:ahLst/>
            <a:cxnLst/>
            <a:rect l="l" t="t" r="r" b="b"/>
            <a:pathLst>
              <a:path w="882360" h="882360">
                <a:moveTo>
                  <a:pt x="441181" y="0"/>
                </a:moveTo>
                <a:lnTo>
                  <a:pt x="441181" y="0"/>
                </a:lnTo>
                <a:cubicBezTo>
                  <a:pt x="684675" y="0"/>
                  <a:pt x="882360" y="197686"/>
                  <a:pt x="882360" y="441181"/>
                </a:cubicBezTo>
                <a:lnTo>
                  <a:pt x="882360" y="441181"/>
                </a:lnTo>
                <a:cubicBezTo>
                  <a:pt x="882360" y="684675"/>
                  <a:pt x="684675" y="882360"/>
                  <a:pt x="441181" y="882360"/>
                </a:cubicBezTo>
                <a:lnTo>
                  <a:pt x="441181" y="882360"/>
                </a:lnTo>
                <a:cubicBezTo>
                  <a:pt x="197686" y="882360"/>
                  <a:pt x="0" y="684675"/>
                  <a:pt x="0" y="441181"/>
                </a:cubicBezTo>
                <a:lnTo>
                  <a:pt x="0" y="441181"/>
                </a:lnTo>
                <a:cubicBezTo>
                  <a:pt x="0" y="197686"/>
                  <a:pt x="197686" y="0"/>
                  <a:pt x="441181" y="0"/>
                </a:cubicBezTo>
                <a:close/>
              </a:path>
            </a:pathLst>
          </a:custGeom>
          <a:solidFill>
            <a:srgbClr val="FFFFFF">
              <a:alpha val="100000"/>
            </a:srgbClr>
          </a:solidFill>
          <a:ln w="38100">
            <a:solidFill>
              <a:srgbClr val="5B92E5">
                <a:alpha val="100000"/>
              </a:srgbClr>
            </a:solid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9" name="AutoShape 9"/>
          <p:cNvSpPr/>
          <p:nvPr/>
        </p:nvSpPr>
        <p:spPr>
          <a:xfrm>
            <a:off x="4380688" y="2840320"/>
            <a:ext cx="23812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100"/>
          </a:p>
        </p:txBody>
      </p:sp>
      <p:sp>
        <p:nvSpPr>
          <p:cNvPr id="10" name="AutoShape 10"/>
          <p:cNvSpPr/>
          <p:nvPr/>
        </p:nvSpPr>
        <p:spPr>
          <a:xfrm>
            <a:off x="4063955" y="3602320"/>
            <a:ext cx="8572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Layer-by-Layer Computation</a:t>
            </a:r>
            <a:endParaRPr lang="en-US" sz="1100"/>
          </a:p>
        </p:txBody>
      </p:sp>
      <p:sp>
        <p:nvSpPr>
          <p:cNvPr id="11" name="AutoShape 11"/>
          <p:cNvSpPr/>
          <p:nvPr/>
        </p:nvSpPr>
        <p:spPr>
          <a:xfrm>
            <a:off x="4140128" y="3868992"/>
            <a:ext cx="685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Understanding Semantics</a:t>
            </a:r>
            <a:endParaRPr lang="en-US" sz="1100"/>
          </a:p>
        </p:txBody>
      </p:sp>
      <p:sp>
        <p:nvSpPr>
          <p:cNvPr id="12" name="Freeform 12"/>
          <p:cNvSpPr/>
          <p:nvPr/>
        </p:nvSpPr>
        <p:spPr>
          <a:xfrm>
            <a:off x="7459536" y="2552940"/>
            <a:ext cx="882360" cy="882360"/>
          </a:xfrm>
          <a:custGeom>
            <a:avLst/>
            <a:gdLst/>
            <a:ahLst/>
            <a:cxnLst/>
            <a:rect l="l" t="t" r="r" b="b"/>
            <a:pathLst>
              <a:path w="882360" h="882360">
                <a:moveTo>
                  <a:pt x="441181" y="0"/>
                </a:moveTo>
                <a:lnTo>
                  <a:pt x="441181" y="0"/>
                </a:lnTo>
                <a:cubicBezTo>
                  <a:pt x="684675" y="0"/>
                  <a:pt x="882360" y="197686"/>
                  <a:pt x="882360" y="441181"/>
                </a:cubicBezTo>
                <a:lnTo>
                  <a:pt x="882360" y="441181"/>
                </a:lnTo>
                <a:cubicBezTo>
                  <a:pt x="882360" y="684675"/>
                  <a:pt x="684675" y="882360"/>
                  <a:pt x="441181" y="882360"/>
                </a:cubicBezTo>
                <a:lnTo>
                  <a:pt x="441181" y="882360"/>
                </a:lnTo>
                <a:cubicBezTo>
                  <a:pt x="197686" y="882360"/>
                  <a:pt x="0" y="684675"/>
                  <a:pt x="0" y="441181"/>
                </a:cubicBezTo>
                <a:lnTo>
                  <a:pt x="0" y="441181"/>
                </a:lnTo>
                <a:cubicBezTo>
                  <a:pt x="0" y="197686"/>
                  <a:pt x="197686" y="0"/>
                  <a:pt x="441181" y="0"/>
                </a:cubicBezTo>
                <a:close/>
              </a:path>
            </a:pathLst>
          </a:custGeom>
          <a:solidFill>
            <a:srgbClr val="FFFFFF">
              <a:alpha val="100000"/>
            </a:srgbClr>
          </a:solidFill>
          <a:ln w="38100">
            <a:solidFill>
              <a:srgbClr val="5B92E5">
                <a:alpha val="100000"/>
              </a:srgbClr>
            </a:solid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3" name="AutoShape 13"/>
          <p:cNvSpPr/>
          <p:nvPr/>
        </p:nvSpPr>
        <p:spPr>
          <a:xfrm>
            <a:off x="7832148" y="2840320"/>
            <a:ext cx="24765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3</a:t>
            </a:r>
            <a:endParaRPr lang="en-US" sz="1100"/>
          </a:p>
        </p:txBody>
      </p:sp>
      <p:sp>
        <p:nvSpPr>
          <p:cNvPr id="14" name="AutoShape 14"/>
          <p:cNvSpPr/>
          <p:nvPr/>
        </p:nvSpPr>
        <p:spPr>
          <a:xfrm>
            <a:off x="7708891" y="3602320"/>
            <a:ext cx="4762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Prediction</a:t>
            </a:r>
            <a:endParaRPr lang="en-US" sz="1100"/>
          </a:p>
        </p:txBody>
      </p:sp>
      <p:sp>
        <p:nvSpPr>
          <p:cNvPr id="15" name="AutoShape 15"/>
          <p:cNvSpPr/>
          <p:nvPr/>
        </p:nvSpPr>
        <p:spPr>
          <a:xfrm>
            <a:off x="7594564" y="3868992"/>
            <a:ext cx="685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Calculating Probabilities</a:t>
            </a:r>
            <a:endParaRPr lang="en-US" sz="1100"/>
          </a:p>
        </p:txBody>
      </p:sp>
      <p:sp>
        <p:nvSpPr>
          <p:cNvPr id="16" name="Freeform 16"/>
          <p:cNvSpPr/>
          <p:nvPr/>
        </p:nvSpPr>
        <p:spPr>
          <a:xfrm>
            <a:off x="10913972" y="2552940"/>
            <a:ext cx="882360" cy="882360"/>
          </a:xfrm>
          <a:custGeom>
            <a:avLst/>
            <a:gdLst/>
            <a:ahLst/>
            <a:cxnLst/>
            <a:rect l="l" t="t" r="r" b="b"/>
            <a:pathLst>
              <a:path w="882360" h="882360">
                <a:moveTo>
                  <a:pt x="441181" y="0"/>
                </a:moveTo>
                <a:lnTo>
                  <a:pt x="441181" y="0"/>
                </a:lnTo>
                <a:cubicBezTo>
                  <a:pt x="684675" y="0"/>
                  <a:pt x="882360" y="197686"/>
                  <a:pt x="882360" y="441181"/>
                </a:cubicBezTo>
                <a:lnTo>
                  <a:pt x="882360" y="441181"/>
                </a:lnTo>
                <a:cubicBezTo>
                  <a:pt x="882360" y="684675"/>
                  <a:pt x="684675" y="882360"/>
                  <a:pt x="441181" y="882360"/>
                </a:cubicBezTo>
                <a:lnTo>
                  <a:pt x="441181" y="882360"/>
                </a:lnTo>
                <a:cubicBezTo>
                  <a:pt x="197686" y="882360"/>
                  <a:pt x="0" y="684675"/>
                  <a:pt x="0" y="441181"/>
                </a:cubicBezTo>
                <a:lnTo>
                  <a:pt x="0" y="441181"/>
                </a:lnTo>
                <a:cubicBezTo>
                  <a:pt x="0" y="197686"/>
                  <a:pt x="197686" y="0"/>
                  <a:pt x="441181" y="0"/>
                </a:cubicBezTo>
                <a:close/>
              </a:path>
            </a:pathLst>
          </a:custGeom>
          <a:solidFill>
            <a:srgbClr val="FFFFFF">
              <a:alpha val="100000"/>
            </a:srgbClr>
          </a:solidFill>
          <a:ln w="38100">
            <a:solidFill>
              <a:srgbClr val="5B92E5">
                <a:alpha val="100000"/>
              </a:srgbClr>
            </a:solid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7" name="AutoShape 17"/>
          <p:cNvSpPr/>
          <p:nvPr/>
        </p:nvSpPr>
        <p:spPr>
          <a:xfrm>
            <a:off x="11286719" y="2840320"/>
            <a:ext cx="24765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4</a:t>
            </a:r>
            <a:endParaRPr lang="en-US" sz="1100"/>
          </a:p>
        </p:txBody>
      </p:sp>
      <p:sp>
        <p:nvSpPr>
          <p:cNvPr id="18" name="AutoShape 18"/>
          <p:cNvSpPr/>
          <p:nvPr/>
        </p:nvSpPr>
        <p:spPr>
          <a:xfrm>
            <a:off x="11163327" y="3602320"/>
            <a:ext cx="4762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Generation</a:t>
            </a:r>
            <a:endParaRPr lang="en-US" sz="1100"/>
          </a:p>
        </p:txBody>
      </p:sp>
      <p:sp>
        <p:nvSpPr>
          <p:cNvPr id="19" name="AutoShape 19"/>
          <p:cNvSpPr/>
          <p:nvPr/>
        </p:nvSpPr>
        <p:spPr>
          <a:xfrm>
            <a:off x="11049000" y="3868992"/>
            <a:ext cx="685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Iterative Looping</a:t>
            </a:r>
            <a:endParaRPr lang="en-US" sz="1100"/>
          </a:p>
        </p:txBody>
      </p:sp>
    </p:spTree>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1 Input Processing</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0478"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2 Layer-by-Layer Computation</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Prediction</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Generation</a:t>
            </a:r>
            <a:endParaRPr lang="en-US" sz="1100"/>
          </a:p>
        </p:txBody>
      </p:sp>
      <p:sp>
        <p:nvSpPr>
          <p:cNvPr id="9" name="AutoShape 9"/>
          <p:cNvSpPr/>
          <p:nvPr/>
        </p:nvSpPr>
        <p:spPr>
          <a:xfrm>
            <a:off x="381000" y="838033"/>
            <a:ext cx="11658600" cy="6858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3000" b="0" i="0" u="none" strike="noStrike">
                <a:solidFill>
                  <a:srgbClr val="5B92E5"/>
                </a:solidFill>
                <a:latin typeface="Alimama ShuHeiTi"/>
                <a:ea typeface="Alimama ShuHeiTi"/>
                <a:cs typeface="Alimama ShuHeiTi"/>
                <a:sym typeface="Alimama ShuHeiTi"/>
              </a:rPr>
              <a:t>Step 1 Input Processing: Text → Numbers</a:t>
            </a:r>
            <a:endParaRPr lang="en-US" sz="1100"/>
          </a:p>
        </p:txBody>
      </p:sp>
      <p:sp>
        <p:nvSpPr>
          <p:cNvPr id="10" name="Freeform 10"/>
          <p:cNvSpPr/>
          <p:nvPr/>
        </p:nvSpPr>
        <p:spPr>
          <a:xfrm>
            <a:off x="2512760" y="2781328"/>
            <a:ext cx="1066800" cy="1066800"/>
          </a:xfrm>
          <a:custGeom>
            <a:avLst/>
            <a:gdLst/>
            <a:ahLst/>
            <a:cxnLst/>
            <a:rect l="l" t="t" r="r" b="b"/>
            <a:pathLst>
              <a:path w="1066800" h="1066800">
                <a:moveTo>
                  <a:pt x="533400" y="0"/>
                </a:moveTo>
                <a:lnTo>
                  <a:pt x="533400" y="0"/>
                </a:lnTo>
                <a:cubicBezTo>
                  <a:pt x="827791" y="0"/>
                  <a:pt x="1066800" y="239009"/>
                  <a:pt x="1066800" y="533400"/>
                </a:cubicBezTo>
                <a:lnTo>
                  <a:pt x="1066800" y="533400"/>
                </a:lnTo>
                <a:cubicBezTo>
                  <a:pt x="1066800" y="827791"/>
                  <a:pt x="827791" y="1066800"/>
                  <a:pt x="533400" y="1066800"/>
                </a:cubicBezTo>
                <a:lnTo>
                  <a:pt x="533400" y="1066800"/>
                </a:lnTo>
                <a:cubicBezTo>
                  <a:pt x="239009" y="1066800"/>
                  <a:pt x="0" y="827791"/>
                  <a:pt x="0" y="533400"/>
                </a:cubicBezTo>
                <a:lnTo>
                  <a:pt x="0" y="533400"/>
                </a:lnTo>
                <a:cubicBezTo>
                  <a:pt x="0" y="239009"/>
                  <a:pt x="239009" y="0"/>
                  <a:pt x="5334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2874656" y="3143250"/>
            <a:ext cx="339082" cy="342900"/>
          </a:xfrm>
          <a:custGeom>
            <a:avLst/>
            <a:gdLst/>
            <a:ahLst/>
            <a:cxnLst/>
            <a:rect l="l" t="t" r="r" b="b"/>
            <a:pathLst>
              <a:path w="339082" h="342900">
                <a:moveTo>
                  <a:pt x="128588" y="171450"/>
                </a:moveTo>
                <a:lnTo>
                  <a:pt x="102133" y="197904"/>
                </a:lnTo>
                <a:cubicBezTo>
                  <a:pt x="93696" y="194622"/>
                  <a:pt x="84586" y="192881"/>
                  <a:pt x="75009" y="192881"/>
                </a:cubicBezTo>
                <a:cubicBezTo>
                  <a:pt x="33553" y="192881"/>
                  <a:pt x="0" y="226435"/>
                  <a:pt x="0" y="267891"/>
                </a:cubicBezTo>
                <a:cubicBezTo>
                  <a:pt x="0" y="309347"/>
                  <a:pt x="33553" y="342900"/>
                  <a:pt x="75009" y="342900"/>
                </a:cubicBezTo>
                <a:cubicBezTo>
                  <a:pt x="116465" y="342900"/>
                  <a:pt x="150019" y="309347"/>
                  <a:pt x="150019" y="267891"/>
                </a:cubicBezTo>
                <a:cubicBezTo>
                  <a:pt x="150019" y="258314"/>
                  <a:pt x="148210" y="249204"/>
                  <a:pt x="144996" y="240767"/>
                </a:cubicBezTo>
                <a:lnTo>
                  <a:pt x="334328" y="51435"/>
                </a:lnTo>
                <a:cubicBezTo>
                  <a:pt x="339082" y="46680"/>
                  <a:pt x="339082" y="39045"/>
                  <a:pt x="334328" y="34290"/>
                </a:cubicBezTo>
                <a:cubicBezTo>
                  <a:pt x="315374" y="15337"/>
                  <a:pt x="284701" y="15337"/>
                  <a:pt x="265748" y="34290"/>
                </a:cubicBezTo>
                <a:lnTo>
                  <a:pt x="171450" y="128588"/>
                </a:lnTo>
                <a:lnTo>
                  <a:pt x="144996" y="102133"/>
                </a:lnTo>
                <a:cubicBezTo>
                  <a:pt x="148278" y="93696"/>
                  <a:pt x="150019" y="84586"/>
                  <a:pt x="150019" y="75009"/>
                </a:cubicBezTo>
                <a:cubicBezTo>
                  <a:pt x="150019" y="33553"/>
                  <a:pt x="116465" y="0"/>
                  <a:pt x="75009" y="0"/>
                </a:cubicBezTo>
                <a:cubicBezTo>
                  <a:pt x="33553" y="0"/>
                  <a:pt x="0" y="33553"/>
                  <a:pt x="0" y="75009"/>
                </a:cubicBezTo>
                <a:cubicBezTo>
                  <a:pt x="0" y="116465"/>
                  <a:pt x="33553" y="150019"/>
                  <a:pt x="75009" y="150019"/>
                </a:cubicBezTo>
                <a:cubicBezTo>
                  <a:pt x="84586" y="150019"/>
                  <a:pt x="93696" y="148210"/>
                  <a:pt x="102133" y="144996"/>
                </a:cubicBezTo>
                <a:lnTo>
                  <a:pt x="128588" y="171450"/>
                </a:lnTo>
                <a:close/>
                <a:moveTo>
                  <a:pt x="194154" y="237016"/>
                </a:moveTo>
                <a:lnTo>
                  <a:pt x="265748" y="308610"/>
                </a:lnTo>
                <a:cubicBezTo>
                  <a:pt x="284701" y="327563"/>
                  <a:pt x="315374" y="327563"/>
                  <a:pt x="334328" y="308610"/>
                </a:cubicBezTo>
                <a:cubicBezTo>
                  <a:pt x="339082" y="303855"/>
                  <a:pt x="339082" y="296220"/>
                  <a:pt x="334328" y="291465"/>
                </a:cubicBezTo>
                <a:lnTo>
                  <a:pt x="237016" y="194154"/>
                </a:lnTo>
                <a:lnTo>
                  <a:pt x="194154" y="237016"/>
                </a:lnTo>
                <a:close/>
                <a:moveTo>
                  <a:pt x="42862" y="75009"/>
                </a:moveTo>
                <a:cubicBezTo>
                  <a:pt x="42862" y="57267"/>
                  <a:pt x="57267" y="42862"/>
                  <a:pt x="75009" y="42862"/>
                </a:cubicBezTo>
                <a:cubicBezTo>
                  <a:pt x="92752" y="42862"/>
                  <a:pt x="107156" y="57267"/>
                  <a:pt x="107156" y="75009"/>
                </a:cubicBezTo>
                <a:cubicBezTo>
                  <a:pt x="107156" y="92752"/>
                  <a:pt x="92752" y="107156"/>
                  <a:pt x="75009" y="107156"/>
                </a:cubicBezTo>
                <a:cubicBezTo>
                  <a:pt x="57267" y="107156"/>
                  <a:pt x="42862" y="92752"/>
                  <a:pt x="42862" y="75009"/>
                </a:cubicBezTo>
                <a:close/>
                <a:moveTo>
                  <a:pt x="75009" y="235744"/>
                </a:moveTo>
                <a:cubicBezTo>
                  <a:pt x="92752" y="235744"/>
                  <a:pt x="107156" y="250148"/>
                  <a:pt x="107156" y="267891"/>
                </a:cubicBezTo>
                <a:cubicBezTo>
                  <a:pt x="107156" y="285633"/>
                  <a:pt x="92752" y="300038"/>
                  <a:pt x="75009" y="300038"/>
                </a:cubicBezTo>
                <a:cubicBezTo>
                  <a:pt x="57267" y="300038"/>
                  <a:pt x="42862" y="285633"/>
                  <a:pt x="42862" y="267891"/>
                </a:cubicBezTo>
                <a:cubicBezTo>
                  <a:pt x="42862" y="250148"/>
                  <a:pt x="57267" y="235744"/>
                  <a:pt x="75009" y="235744"/>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2728155" y="4000360"/>
            <a:ext cx="7334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1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1.1 Tokenization</a:t>
            </a:r>
            <a:endParaRPr lang="en-US" sz="1100"/>
          </a:p>
        </p:txBody>
      </p:sp>
      <p:sp>
        <p:nvSpPr>
          <p:cNvPr id="13" name="AutoShape 13"/>
          <p:cNvSpPr/>
          <p:nvPr/>
        </p:nvSpPr>
        <p:spPr>
          <a:xfrm>
            <a:off x="2703179" y="4343205"/>
            <a:ext cx="685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Split Text</a:t>
            </a:r>
            <a:endParaRPr lang="en-US" sz="1100"/>
          </a:p>
        </p:txBody>
      </p:sp>
      <p:sp>
        <p:nvSpPr>
          <p:cNvPr id="14" name="Freeform 14"/>
          <p:cNvSpPr/>
          <p:nvPr/>
        </p:nvSpPr>
        <p:spPr>
          <a:xfrm>
            <a:off x="3922243" y="3567513"/>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5" y="6976"/>
                </a:cubicBezTo>
                <a:cubicBezTo>
                  <a:pt x="158948" y="13952"/>
                  <a:pt x="158948" y="25282"/>
                  <a:pt x="165925" y="32258"/>
                </a:cubicBezTo>
                <a:lnTo>
                  <a:pt x="224749" y="91083"/>
                </a:lnTo>
                <a:lnTo>
                  <a:pt x="17859" y="91083"/>
                </a:lnTo>
                <a:cubicBezTo>
                  <a:pt x="7981" y="91083"/>
                  <a:pt x="0" y="99064"/>
                  <a:pt x="0" y="108942"/>
                </a:cubicBezTo>
                <a:cubicBezTo>
                  <a:pt x="0" y="118820"/>
                  <a:pt x="7981" y="126801"/>
                  <a:pt x="17859" y="126801"/>
                </a:cubicBezTo>
                <a:lnTo>
                  <a:pt x="224749" y="126801"/>
                </a:lnTo>
                <a:lnTo>
                  <a:pt x="165925" y="185626"/>
                </a:lnTo>
                <a:cubicBezTo>
                  <a:pt x="158948" y="192602"/>
                  <a:pt x="158948" y="203932"/>
                  <a:pt x="165925"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4546023" y="2781328"/>
            <a:ext cx="1066800" cy="1066800"/>
          </a:xfrm>
          <a:custGeom>
            <a:avLst/>
            <a:gdLst/>
            <a:ahLst/>
            <a:cxnLst/>
            <a:rect l="l" t="t" r="r" b="b"/>
            <a:pathLst>
              <a:path w="1066800" h="1066800">
                <a:moveTo>
                  <a:pt x="533400" y="0"/>
                </a:moveTo>
                <a:lnTo>
                  <a:pt x="533400" y="0"/>
                </a:lnTo>
                <a:cubicBezTo>
                  <a:pt x="827791" y="0"/>
                  <a:pt x="1066800" y="239009"/>
                  <a:pt x="1066800" y="533400"/>
                </a:cubicBezTo>
                <a:lnTo>
                  <a:pt x="1066800" y="533400"/>
                </a:lnTo>
                <a:cubicBezTo>
                  <a:pt x="1066800" y="827791"/>
                  <a:pt x="827791" y="1066800"/>
                  <a:pt x="533400" y="1066800"/>
                </a:cubicBezTo>
                <a:lnTo>
                  <a:pt x="533400" y="1066800"/>
                </a:lnTo>
                <a:cubicBezTo>
                  <a:pt x="239009" y="1066800"/>
                  <a:pt x="0" y="827791"/>
                  <a:pt x="0" y="533400"/>
                </a:cubicBezTo>
                <a:lnTo>
                  <a:pt x="0" y="533400"/>
                </a:lnTo>
                <a:cubicBezTo>
                  <a:pt x="0" y="239009"/>
                  <a:pt x="239009" y="0"/>
                  <a:pt x="5334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4907851" y="3143250"/>
            <a:ext cx="343035" cy="342900"/>
          </a:xfrm>
          <a:custGeom>
            <a:avLst/>
            <a:gdLst/>
            <a:ahLst/>
            <a:cxnLst/>
            <a:rect l="l" t="t" r="r" b="b"/>
            <a:pathLst>
              <a:path w="343035" h="342900">
                <a:moveTo>
                  <a:pt x="44202" y="153032"/>
                </a:moveTo>
                <a:cubicBezTo>
                  <a:pt x="53109" y="90748"/>
                  <a:pt x="106755" y="42862"/>
                  <a:pt x="171517" y="42862"/>
                </a:cubicBezTo>
                <a:cubicBezTo>
                  <a:pt x="207013" y="42862"/>
                  <a:pt x="239158" y="57262"/>
                  <a:pt x="262466" y="80501"/>
                </a:cubicBezTo>
                <a:cubicBezTo>
                  <a:pt x="262600" y="80635"/>
                  <a:pt x="262733" y="80769"/>
                  <a:pt x="262868" y="80903"/>
                </a:cubicBezTo>
                <a:lnTo>
                  <a:pt x="267958" y="85725"/>
                </a:lnTo>
                <a:lnTo>
                  <a:pt x="235878" y="85725"/>
                </a:lnTo>
                <a:cubicBezTo>
                  <a:pt x="224024" y="85725"/>
                  <a:pt x="214446" y="95302"/>
                  <a:pt x="214446" y="107156"/>
                </a:cubicBezTo>
                <a:cubicBezTo>
                  <a:pt x="214446" y="119010"/>
                  <a:pt x="224024" y="128588"/>
                  <a:pt x="235878" y="128588"/>
                </a:cubicBezTo>
                <a:lnTo>
                  <a:pt x="321603" y="128588"/>
                </a:lnTo>
                <a:cubicBezTo>
                  <a:pt x="333457" y="128588"/>
                  <a:pt x="343034" y="119010"/>
                  <a:pt x="343034" y="107156"/>
                </a:cubicBezTo>
                <a:lnTo>
                  <a:pt x="343034" y="21431"/>
                </a:lnTo>
                <a:cubicBezTo>
                  <a:pt x="343034" y="9577"/>
                  <a:pt x="333457" y="0"/>
                  <a:pt x="321603" y="0"/>
                </a:cubicBezTo>
                <a:cubicBezTo>
                  <a:pt x="309749" y="0"/>
                  <a:pt x="300171" y="9577"/>
                  <a:pt x="300171" y="21431"/>
                </a:cubicBezTo>
                <a:lnTo>
                  <a:pt x="300171" y="57194"/>
                </a:lnTo>
                <a:lnTo>
                  <a:pt x="292604" y="50029"/>
                </a:lnTo>
                <a:cubicBezTo>
                  <a:pt x="261596" y="19154"/>
                  <a:pt x="218733" y="0"/>
                  <a:pt x="171517" y="0"/>
                </a:cubicBezTo>
                <a:cubicBezTo>
                  <a:pt x="85121" y="0"/>
                  <a:pt x="13662" y="63892"/>
                  <a:pt x="1808" y="147005"/>
                </a:cubicBezTo>
                <a:cubicBezTo>
                  <a:pt x="134" y="158725"/>
                  <a:pt x="8238" y="169575"/>
                  <a:pt x="19958" y="171249"/>
                </a:cubicBezTo>
                <a:cubicBezTo>
                  <a:pt x="31679" y="172923"/>
                  <a:pt x="42528" y="164753"/>
                  <a:pt x="44202" y="153098"/>
                </a:cubicBezTo>
                <a:close/>
                <a:moveTo>
                  <a:pt x="341226" y="195895"/>
                </a:moveTo>
                <a:cubicBezTo>
                  <a:pt x="342900" y="184175"/>
                  <a:pt x="334729" y="173325"/>
                  <a:pt x="323076" y="171651"/>
                </a:cubicBezTo>
                <a:cubicBezTo>
                  <a:pt x="311423" y="169977"/>
                  <a:pt x="300506" y="178147"/>
                  <a:pt x="298832" y="189802"/>
                </a:cubicBezTo>
                <a:cubicBezTo>
                  <a:pt x="289925" y="252085"/>
                  <a:pt x="236279" y="299971"/>
                  <a:pt x="171517" y="299971"/>
                </a:cubicBezTo>
                <a:cubicBezTo>
                  <a:pt x="136021" y="299971"/>
                  <a:pt x="103876" y="285571"/>
                  <a:pt x="80568" y="262332"/>
                </a:cubicBezTo>
                <a:cubicBezTo>
                  <a:pt x="80434" y="262198"/>
                  <a:pt x="80301" y="262064"/>
                  <a:pt x="80166" y="261930"/>
                </a:cubicBezTo>
                <a:lnTo>
                  <a:pt x="75076" y="257108"/>
                </a:lnTo>
                <a:lnTo>
                  <a:pt x="107156" y="257108"/>
                </a:lnTo>
                <a:cubicBezTo>
                  <a:pt x="119010" y="257108"/>
                  <a:pt x="128588" y="247531"/>
                  <a:pt x="128588" y="235676"/>
                </a:cubicBezTo>
                <a:cubicBezTo>
                  <a:pt x="128588" y="223824"/>
                  <a:pt x="119010" y="214246"/>
                  <a:pt x="107156" y="214246"/>
                </a:cubicBezTo>
                <a:lnTo>
                  <a:pt x="21498" y="214312"/>
                </a:lnTo>
                <a:cubicBezTo>
                  <a:pt x="15806" y="214312"/>
                  <a:pt x="10315" y="216590"/>
                  <a:pt x="6295" y="220675"/>
                </a:cubicBezTo>
                <a:cubicBezTo>
                  <a:pt x="2277" y="224760"/>
                  <a:pt x="0" y="230185"/>
                  <a:pt x="67" y="235944"/>
                </a:cubicBezTo>
                <a:lnTo>
                  <a:pt x="738" y="321000"/>
                </a:lnTo>
                <a:cubicBezTo>
                  <a:pt x="804" y="332854"/>
                  <a:pt x="10515" y="342364"/>
                  <a:pt x="22369" y="342229"/>
                </a:cubicBezTo>
                <a:cubicBezTo>
                  <a:pt x="34222" y="342096"/>
                  <a:pt x="43733" y="332452"/>
                  <a:pt x="43599" y="320598"/>
                </a:cubicBezTo>
                <a:lnTo>
                  <a:pt x="43331" y="286107"/>
                </a:lnTo>
                <a:lnTo>
                  <a:pt x="50497" y="292871"/>
                </a:lnTo>
                <a:cubicBezTo>
                  <a:pt x="81506" y="323746"/>
                  <a:pt x="124301" y="342900"/>
                  <a:pt x="171517" y="342900"/>
                </a:cubicBezTo>
                <a:cubicBezTo>
                  <a:pt x="257913" y="342900"/>
                  <a:pt x="329372" y="279008"/>
                  <a:pt x="341226" y="195895"/>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4650067" y="4000360"/>
            <a:ext cx="95250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7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1.2 Embedding</a:t>
            </a:r>
            <a:endParaRPr lang="en-US" sz="1100"/>
          </a:p>
        </p:txBody>
      </p:sp>
      <p:sp>
        <p:nvSpPr>
          <p:cNvPr id="18" name="AutoShape 18"/>
          <p:cNvSpPr/>
          <p:nvPr/>
        </p:nvSpPr>
        <p:spPr>
          <a:xfrm>
            <a:off x="4736441" y="4343205"/>
            <a:ext cx="685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Convert to Vectors</a:t>
            </a:r>
            <a:endParaRPr lang="en-US" sz="1100"/>
          </a:p>
        </p:txBody>
      </p:sp>
      <p:sp>
        <p:nvSpPr>
          <p:cNvPr id="19" name="Freeform 19"/>
          <p:cNvSpPr/>
          <p:nvPr/>
        </p:nvSpPr>
        <p:spPr>
          <a:xfrm>
            <a:off x="5955506" y="3567513"/>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6" y="6976"/>
                </a:cubicBezTo>
                <a:cubicBezTo>
                  <a:pt x="158948" y="13952"/>
                  <a:pt x="158948" y="25282"/>
                  <a:pt x="165926" y="32258"/>
                </a:cubicBezTo>
                <a:lnTo>
                  <a:pt x="224749" y="91083"/>
                </a:lnTo>
                <a:lnTo>
                  <a:pt x="17859" y="91083"/>
                </a:lnTo>
                <a:cubicBezTo>
                  <a:pt x="7981" y="91083"/>
                  <a:pt x="0" y="99064"/>
                  <a:pt x="0" y="108942"/>
                </a:cubicBezTo>
                <a:cubicBezTo>
                  <a:pt x="0" y="118820"/>
                  <a:pt x="7981" y="126801"/>
                  <a:pt x="17859" y="126801"/>
                </a:cubicBezTo>
                <a:lnTo>
                  <a:pt x="224749" y="126801"/>
                </a:lnTo>
                <a:lnTo>
                  <a:pt x="165926" y="185626"/>
                </a:lnTo>
                <a:cubicBezTo>
                  <a:pt x="158948" y="192602"/>
                  <a:pt x="158948" y="203932"/>
                  <a:pt x="165926"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6579285" y="2781328"/>
            <a:ext cx="1066800" cy="1066800"/>
          </a:xfrm>
          <a:custGeom>
            <a:avLst/>
            <a:gdLst/>
            <a:ahLst/>
            <a:cxnLst/>
            <a:rect l="l" t="t" r="r" b="b"/>
            <a:pathLst>
              <a:path w="1066800" h="1066800">
                <a:moveTo>
                  <a:pt x="533400" y="0"/>
                </a:moveTo>
                <a:lnTo>
                  <a:pt x="533400" y="0"/>
                </a:lnTo>
                <a:cubicBezTo>
                  <a:pt x="827791" y="0"/>
                  <a:pt x="1066800" y="239009"/>
                  <a:pt x="1066800" y="533400"/>
                </a:cubicBezTo>
                <a:lnTo>
                  <a:pt x="1066800" y="533400"/>
                </a:lnTo>
                <a:cubicBezTo>
                  <a:pt x="1066800" y="827791"/>
                  <a:pt x="827791" y="1066800"/>
                  <a:pt x="533400" y="1066800"/>
                </a:cubicBezTo>
                <a:lnTo>
                  <a:pt x="533400" y="1066800"/>
                </a:lnTo>
                <a:cubicBezTo>
                  <a:pt x="239009" y="1066800"/>
                  <a:pt x="0" y="827791"/>
                  <a:pt x="0" y="533400"/>
                </a:cubicBezTo>
                <a:lnTo>
                  <a:pt x="0" y="533400"/>
                </a:lnTo>
                <a:cubicBezTo>
                  <a:pt x="0" y="239009"/>
                  <a:pt x="239009" y="0"/>
                  <a:pt x="5334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6983976" y="3143250"/>
            <a:ext cx="257242" cy="347052"/>
          </a:xfrm>
          <a:custGeom>
            <a:avLst/>
            <a:gdLst/>
            <a:ahLst/>
            <a:cxnLst/>
            <a:rect l="l" t="t" r="r" b="b"/>
            <a:pathLst>
              <a:path w="257242" h="347052">
                <a:moveTo>
                  <a:pt x="67" y="126310"/>
                </a:moveTo>
                <a:cubicBezTo>
                  <a:pt x="67" y="56525"/>
                  <a:pt x="57663" y="0"/>
                  <a:pt x="128654" y="0"/>
                </a:cubicBezTo>
                <a:cubicBezTo>
                  <a:pt x="199646" y="0"/>
                  <a:pt x="257242" y="56525"/>
                  <a:pt x="257242" y="126310"/>
                </a:cubicBezTo>
                <a:cubicBezTo>
                  <a:pt x="257242" y="206209"/>
                  <a:pt x="176741" y="301981"/>
                  <a:pt x="143121" y="338480"/>
                </a:cubicBezTo>
                <a:cubicBezTo>
                  <a:pt x="135218" y="347052"/>
                  <a:pt x="122024" y="347052"/>
                  <a:pt x="114121" y="338480"/>
                </a:cubicBezTo>
                <a:cubicBezTo>
                  <a:pt x="80501" y="301981"/>
                  <a:pt x="0" y="206209"/>
                  <a:pt x="0" y="126310"/>
                </a:cubicBezTo>
                <a:close/>
                <a:moveTo>
                  <a:pt x="128654" y="171450"/>
                </a:moveTo>
                <a:cubicBezTo>
                  <a:pt x="152311" y="171450"/>
                  <a:pt x="171517" y="152244"/>
                  <a:pt x="171517" y="128588"/>
                </a:cubicBezTo>
                <a:cubicBezTo>
                  <a:pt x="171517" y="104931"/>
                  <a:pt x="152311" y="85725"/>
                  <a:pt x="128654" y="85725"/>
                </a:cubicBezTo>
                <a:cubicBezTo>
                  <a:pt x="104998" y="85725"/>
                  <a:pt x="85792" y="104931"/>
                  <a:pt x="85792" y="128588"/>
                </a:cubicBezTo>
                <a:cubicBezTo>
                  <a:pt x="85792" y="152244"/>
                  <a:pt x="104998" y="171450"/>
                  <a:pt x="128654" y="17145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6585509" y="4000360"/>
            <a:ext cx="11525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5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1.3 Positional Encoding</a:t>
            </a:r>
            <a:endParaRPr lang="en-US" sz="1100"/>
          </a:p>
        </p:txBody>
      </p:sp>
      <p:sp>
        <p:nvSpPr>
          <p:cNvPr id="23" name="AutoShape 23"/>
          <p:cNvSpPr/>
          <p:nvPr/>
        </p:nvSpPr>
        <p:spPr>
          <a:xfrm>
            <a:off x="6769704" y="4343205"/>
            <a:ext cx="685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Add Position</a:t>
            </a:r>
            <a:endParaRPr lang="en-US" sz="1100"/>
          </a:p>
        </p:txBody>
      </p:sp>
      <p:sp>
        <p:nvSpPr>
          <p:cNvPr id="24" name="Freeform 24"/>
          <p:cNvSpPr/>
          <p:nvPr/>
        </p:nvSpPr>
        <p:spPr>
          <a:xfrm>
            <a:off x="7988769" y="3567513"/>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6" y="6976"/>
                </a:cubicBezTo>
                <a:cubicBezTo>
                  <a:pt x="158948" y="13952"/>
                  <a:pt x="158948" y="25282"/>
                  <a:pt x="165926" y="32258"/>
                </a:cubicBezTo>
                <a:lnTo>
                  <a:pt x="224749" y="91083"/>
                </a:lnTo>
                <a:lnTo>
                  <a:pt x="17859" y="91083"/>
                </a:lnTo>
                <a:cubicBezTo>
                  <a:pt x="7981" y="91083"/>
                  <a:pt x="0" y="99064"/>
                  <a:pt x="0" y="108942"/>
                </a:cubicBezTo>
                <a:cubicBezTo>
                  <a:pt x="0" y="118820"/>
                  <a:pt x="7981" y="126801"/>
                  <a:pt x="17859" y="126801"/>
                </a:cubicBezTo>
                <a:lnTo>
                  <a:pt x="224749" y="126801"/>
                </a:lnTo>
                <a:lnTo>
                  <a:pt x="165926" y="185626"/>
                </a:lnTo>
                <a:cubicBezTo>
                  <a:pt x="158948" y="192602"/>
                  <a:pt x="158948" y="203932"/>
                  <a:pt x="165926"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5" name="Freeform 25"/>
          <p:cNvSpPr/>
          <p:nvPr/>
        </p:nvSpPr>
        <p:spPr>
          <a:xfrm>
            <a:off x="8612548" y="2781328"/>
            <a:ext cx="1066800" cy="1066800"/>
          </a:xfrm>
          <a:custGeom>
            <a:avLst/>
            <a:gdLst/>
            <a:ahLst/>
            <a:cxnLst/>
            <a:rect l="l" t="t" r="r" b="b"/>
            <a:pathLst>
              <a:path w="1066800" h="1066800">
                <a:moveTo>
                  <a:pt x="533400" y="0"/>
                </a:moveTo>
                <a:lnTo>
                  <a:pt x="533400" y="0"/>
                </a:lnTo>
                <a:cubicBezTo>
                  <a:pt x="827791" y="0"/>
                  <a:pt x="1066800" y="239009"/>
                  <a:pt x="1066800" y="533400"/>
                </a:cubicBezTo>
                <a:lnTo>
                  <a:pt x="1066800" y="533400"/>
                </a:lnTo>
                <a:cubicBezTo>
                  <a:pt x="1066800" y="827791"/>
                  <a:pt x="827791" y="1066800"/>
                  <a:pt x="533400" y="1066800"/>
                </a:cubicBezTo>
                <a:lnTo>
                  <a:pt x="533400" y="1066800"/>
                </a:lnTo>
                <a:cubicBezTo>
                  <a:pt x="239009" y="1066800"/>
                  <a:pt x="0" y="827791"/>
                  <a:pt x="0" y="533400"/>
                </a:cubicBezTo>
                <a:lnTo>
                  <a:pt x="0" y="533400"/>
                </a:lnTo>
                <a:cubicBezTo>
                  <a:pt x="0" y="239009"/>
                  <a:pt x="239009" y="0"/>
                  <a:pt x="5334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6" name="Freeform 26"/>
          <p:cNvSpPr/>
          <p:nvPr/>
        </p:nvSpPr>
        <p:spPr>
          <a:xfrm>
            <a:off x="8974444" y="3142111"/>
            <a:ext cx="342900" cy="345178"/>
          </a:xfrm>
          <a:custGeom>
            <a:avLst/>
            <a:gdLst/>
            <a:ahLst/>
            <a:cxnLst/>
            <a:rect l="l" t="t" r="r" b="b"/>
            <a:pathLst>
              <a:path w="342900" h="345178">
                <a:moveTo>
                  <a:pt x="155711" y="4623"/>
                </a:moveTo>
                <a:cubicBezTo>
                  <a:pt x="165691" y="0"/>
                  <a:pt x="177209" y="0"/>
                  <a:pt x="187189" y="4623"/>
                </a:cubicBezTo>
                <a:lnTo>
                  <a:pt x="333591" y="72264"/>
                </a:lnTo>
                <a:cubicBezTo>
                  <a:pt x="339283" y="74876"/>
                  <a:pt x="342900" y="80569"/>
                  <a:pt x="342900" y="86864"/>
                </a:cubicBezTo>
                <a:cubicBezTo>
                  <a:pt x="342900" y="93159"/>
                  <a:pt x="339283" y="98852"/>
                  <a:pt x="333591" y="101464"/>
                </a:cubicBezTo>
                <a:lnTo>
                  <a:pt x="187189" y="169105"/>
                </a:lnTo>
                <a:cubicBezTo>
                  <a:pt x="177209" y="173728"/>
                  <a:pt x="165691" y="173728"/>
                  <a:pt x="155711" y="169105"/>
                </a:cubicBezTo>
                <a:lnTo>
                  <a:pt x="9309" y="101464"/>
                </a:lnTo>
                <a:cubicBezTo>
                  <a:pt x="3617" y="98785"/>
                  <a:pt x="0" y="93092"/>
                  <a:pt x="0" y="86864"/>
                </a:cubicBezTo>
                <a:cubicBezTo>
                  <a:pt x="0" y="80636"/>
                  <a:pt x="3617" y="74876"/>
                  <a:pt x="9309" y="72264"/>
                </a:cubicBezTo>
                <a:lnTo>
                  <a:pt x="155711" y="4623"/>
                </a:lnTo>
                <a:close/>
                <a:moveTo>
                  <a:pt x="32214" y="147407"/>
                </a:moveTo>
                <a:lnTo>
                  <a:pt x="142250" y="198240"/>
                </a:lnTo>
                <a:cubicBezTo>
                  <a:pt x="160801" y="206812"/>
                  <a:pt x="182166" y="206812"/>
                  <a:pt x="200717" y="198240"/>
                </a:cubicBezTo>
                <a:lnTo>
                  <a:pt x="310752" y="147407"/>
                </a:lnTo>
                <a:lnTo>
                  <a:pt x="333591" y="157989"/>
                </a:lnTo>
                <a:cubicBezTo>
                  <a:pt x="339283" y="160601"/>
                  <a:pt x="342900" y="166294"/>
                  <a:pt x="342900" y="172589"/>
                </a:cubicBezTo>
                <a:cubicBezTo>
                  <a:pt x="342900" y="178884"/>
                  <a:pt x="339283" y="184577"/>
                  <a:pt x="333591" y="187189"/>
                </a:cubicBezTo>
                <a:lnTo>
                  <a:pt x="187189" y="254830"/>
                </a:lnTo>
                <a:cubicBezTo>
                  <a:pt x="177209" y="259453"/>
                  <a:pt x="165691" y="259453"/>
                  <a:pt x="155711" y="254830"/>
                </a:cubicBezTo>
                <a:lnTo>
                  <a:pt x="9309" y="187189"/>
                </a:lnTo>
                <a:cubicBezTo>
                  <a:pt x="3617" y="184510"/>
                  <a:pt x="0" y="178817"/>
                  <a:pt x="0" y="172589"/>
                </a:cubicBezTo>
                <a:cubicBezTo>
                  <a:pt x="0" y="166361"/>
                  <a:pt x="3617" y="160601"/>
                  <a:pt x="9309" y="157989"/>
                </a:cubicBezTo>
                <a:lnTo>
                  <a:pt x="32148" y="147407"/>
                </a:lnTo>
                <a:close/>
                <a:moveTo>
                  <a:pt x="9309" y="243714"/>
                </a:moveTo>
                <a:lnTo>
                  <a:pt x="32148" y="233132"/>
                </a:lnTo>
                <a:lnTo>
                  <a:pt x="142183" y="283965"/>
                </a:lnTo>
                <a:cubicBezTo>
                  <a:pt x="160734" y="292537"/>
                  <a:pt x="182099" y="292537"/>
                  <a:pt x="200650" y="283965"/>
                </a:cubicBezTo>
                <a:lnTo>
                  <a:pt x="310686" y="233132"/>
                </a:lnTo>
                <a:lnTo>
                  <a:pt x="333524" y="243714"/>
                </a:lnTo>
                <a:cubicBezTo>
                  <a:pt x="339217" y="246326"/>
                  <a:pt x="342833" y="252019"/>
                  <a:pt x="342833" y="258314"/>
                </a:cubicBezTo>
                <a:cubicBezTo>
                  <a:pt x="342833" y="264609"/>
                  <a:pt x="339217" y="270302"/>
                  <a:pt x="333524" y="272914"/>
                </a:cubicBezTo>
                <a:lnTo>
                  <a:pt x="187122" y="340555"/>
                </a:lnTo>
                <a:cubicBezTo>
                  <a:pt x="177143" y="345178"/>
                  <a:pt x="165623" y="345178"/>
                  <a:pt x="155644" y="340555"/>
                </a:cubicBezTo>
                <a:lnTo>
                  <a:pt x="9309" y="272914"/>
                </a:lnTo>
                <a:cubicBezTo>
                  <a:pt x="3617" y="270235"/>
                  <a:pt x="0" y="264542"/>
                  <a:pt x="0" y="258314"/>
                </a:cubicBezTo>
                <a:cubicBezTo>
                  <a:pt x="0" y="252086"/>
                  <a:pt x="3617" y="246326"/>
                  <a:pt x="9309" y="243714"/>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8619043" y="4000360"/>
            <a:ext cx="11525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4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1.4 Final Representation</a:t>
            </a:r>
            <a:endParaRPr lang="en-US" sz="1100"/>
          </a:p>
        </p:txBody>
      </p:sp>
      <p:sp>
        <p:nvSpPr>
          <p:cNvPr id="28" name="AutoShape 28"/>
          <p:cNvSpPr/>
          <p:nvPr/>
        </p:nvSpPr>
        <p:spPr>
          <a:xfrm>
            <a:off x="8802967" y="4343205"/>
            <a:ext cx="685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Add Vectors</a:t>
            </a:r>
            <a:endParaRPr lang="en-US" sz="1100"/>
          </a:p>
        </p:txBody>
      </p:sp>
      <p:sp>
        <p:nvSpPr>
          <p:cNvPr id="29" name="Freeform 29"/>
          <p:cNvSpPr/>
          <p:nvPr/>
        </p:nvSpPr>
        <p:spPr>
          <a:xfrm>
            <a:off x="4699451" y="4952730"/>
            <a:ext cx="2790825" cy="571500"/>
          </a:xfrm>
          <a:custGeom>
            <a:avLst/>
            <a:gdLst/>
            <a:ahLst/>
            <a:cxnLst/>
            <a:rect l="l" t="t" r="r" b="b"/>
            <a:pathLst>
              <a:path w="2790825" h="571500">
                <a:moveTo>
                  <a:pt x="114300" y="0"/>
                </a:moveTo>
                <a:lnTo>
                  <a:pt x="2676525" y="0"/>
                </a:lnTo>
                <a:cubicBezTo>
                  <a:pt x="2739608" y="0"/>
                  <a:pt x="2790825" y="51217"/>
                  <a:pt x="2790825" y="114300"/>
                </a:cubicBezTo>
                <a:lnTo>
                  <a:pt x="2790825" y="457200"/>
                </a:lnTo>
                <a:cubicBezTo>
                  <a:pt x="2790825" y="520283"/>
                  <a:pt x="2739608" y="571500"/>
                  <a:pt x="2676525" y="571500"/>
                </a:cubicBezTo>
                <a:lnTo>
                  <a:pt x="114300" y="571500"/>
                </a:lnTo>
                <a:cubicBezTo>
                  <a:pt x="51217" y="571500"/>
                  <a:pt x="0" y="520283"/>
                  <a:pt x="0" y="457200"/>
                </a:cubicBezTo>
                <a:lnTo>
                  <a:pt x="0" y="114300"/>
                </a:lnTo>
                <a:cubicBezTo>
                  <a:pt x="0" y="51217"/>
                  <a:pt x="51217" y="0"/>
                  <a:pt x="1143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0" name="Freeform 30"/>
          <p:cNvSpPr/>
          <p:nvPr/>
        </p:nvSpPr>
        <p:spPr>
          <a:xfrm>
            <a:off x="5049387" y="5139714"/>
            <a:ext cx="128588" cy="176808"/>
          </a:xfrm>
          <a:custGeom>
            <a:avLst/>
            <a:gdLst/>
            <a:ahLst/>
            <a:cxnLst/>
            <a:rect l="l" t="t" r="r" b="b"/>
            <a:pathLst>
              <a:path w="128588" h="176808">
                <a:moveTo>
                  <a:pt x="98081" y="128588"/>
                </a:moveTo>
                <a:cubicBezTo>
                  <a:pt x="100526" y="121120"/>
                  <a:pt x="105415" y="114356"/>
                  <a:pt x="110940" y="108529"/>
                </a:cubicBezTo>
                <a:cubicBezTo>
                  <a:pt x="121890" y="97010"/>
                  <a:pt x="128587" y="81439"/>
                  <a:pt x="128587" y="64294"/>
                </a:cubicBezTo>
                <a:cubicBezTo>
                  <a:pt x="128587" y="28799"/>
                  <a:pt x="99789" y="0"/>
                  <a:pt x="64294" y="0"/>
                </a:cubicBezTo>
                <a:cubicBezTo>
                  <a:pt x="28799" y="0"/>
                  <a:pt x="0" y="28799"/>
                  <a:pt x="0" y="64294"/>
                </a:cubicBezTo>
                <a:cubicBezTo>
                  <a:pt x="0" y="81439"/>
                  <a:pt x="6697" y="97010"/>
                  <a:pt x="17647" y="108529"/>
                </a:cubicBezTo>
                <a:cubicBezTo>
                  <a:pt x="23172" y="114356"/>
                  <a:pt x="28095" y="121120"/>
                  <a:pt x="30505" y="128588"/>
                </a:cubicBezTo>
                <a:lnTo>
                  <a:pt x="98048" y="128588"/>
                </a:lnTo>
                <a:close/>
                <a:moveTo>
                  <a:pt x="96441" y="144661"/>
                </a:moveTo>
                <a:lnTo>
                  <a:pt x="32148" y="144661"/>
                </a:lnTo>
                <a:lnTo>
                  <a:pt x="32148" y="150019"/>
                </a:lnTo>
                <a:cubicBezTo>
                  <a:pt x="32148" y="164821"/>
                  <a:pt x="44135" y="176808"/>
                  <a:pt x="58936" y="176808"/>
                </a:cubicBezTo>
                <a:lnTo>
                  <a:pt x="69652" y="176808"/>
                </a:lnTo>
                <a:cubicBezTo>
                  <a:pt x="84452" y="176808"/>
                  <a:pt x="96441" y="164821"/>
                  <a:pt x="96441" y="150019"/>
                </a:cubicBezTo>
                <a:lnTo>
                  <a:pt x="96441" y="144661"/>
                </a:lnTo>
                <a:close/>
                <a:moveTo>
                  <a:pt x="61615" y="37504"/>
                </a:moveTo>
                <a:cubicBezTo>
                  <a:pt x="48287" y="37504"/>
                  <a:pt x="37504" y="48287"/>
                  <a:pt x="37504" y="61615"/>
                </a:cubicBezTo>
                <a:cubicBezTo>
                  <a:pt x="37504" y="66069"/>
                  <a:pt x="33922" y="69652"/>
                  <a:pt x="29468" y="69652"/>
                </a:cubicBezTo>
                <a:cubicBezTo>
                  <a:pt x="25014" y="69652"/>
                  <a:pt x="21431" y="66069"/>
                  <a:pt x="21431" y="61615"/>
                </a:cubicBezTo>
                <a:cubicBezTo>
                  <a:pt x="21431" y="39413"/>
                  <a:pt x="39413" y="21431"/>
                  <a:pt x="61615" y="21431"/>
                </a:cubicBezTo>
                <a:cubicBezTo>
                  <a:pt x="66069" y="21431"/>
                  <a:pt x="69652" y="25014"/>
                  <a:pt x="69652" y="29468"/>
                </a:cubicBezTo>
                <a:cubicBezTo>
                  <a:pt x="69652" y="33922"/>
                  <a:pt x="66069" y="37504"/>
                  <a:pt x="61615" y="37504"/>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5237505" y="5105074"/>
            <a:ext cx="2217999" cy="211448"/>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dirty="0" err="1">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Unified Example</a:t>
            </a:r>
            <a:r>
              <a:rPr lang="en-US" sz="700" b="0" i="0" u="none" strike="noStrike" dirty="0">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a:t>
            </a:r>
            <a:r>
              <a:rPr lang="en-US" sz="700" b="1" i="0" u="none" strike="noStrike" dirty="0">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"What is AI?"</a:t>
            </a:r>
            <a:endParaRPr lang="en-US" sz="1100" dirty="0"/>
          </a:p>
        </p:txBody>
      </p:sp>
    </p:spTree>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1 Input Processing</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0478"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2 Layer-by-Layer Calculation</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Prediction</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Generation</a:t>
            </a:r>
            <a:endParaRPr lang="en-US" sz="1100"/>
          </a:p>
        </p:txBody>
      </p:sp>
      <p:sp>
        <p:nvSpPr>
          <p:cNvPr id="9" name="AutoShape 9"/>
          <p:cNvSpPr/>
          <p:nvPr/>
        </p:nvSpPr>
        <p:spPr>
          <a:xfrm>
            <a:off x="381000" y="76186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615" b="0" i="0" u="none" strike="noStrike">
                <a:solidFill>
                  <a:srgbClr val="5B92E5"/>
                </a:solidFill>
                <a:latin typeface="Alimama ShuHeiTi"/>
                <a:ea typeface="Alimama ShuHeiTi"/>
                <a:cs typeface="Alimama ShuHeiTi"/>
                <a:sym typeface="Alimama ShuHeiTi"/>
              </a:rPr>
              <a:t>Step 1.1 Tokenization</a:t>
            </a:r>
            <a:endParaRPr lang="en-US" sz="1100"/>
          </a:p>
        </p:txBody>
      </p:sp>
      <p:sp>
        <p:nvSpPr>
          <p:cNvPr id="10" name="AutoShape 10"/>
          <p:cNvSpPr/>
          <p:nvPr/>
        </p:nvSpPr>
        <p:spPr>
          <a:xfrm>
            <a:off x="333375" y="1792839"/>
            <a:ext cx="11525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8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Split sentences into Tokens and look up the vocabulary to get Token IDs</a:t>
            </a:r>
            <a:endParaRPr lang="en-US" sz="1100"/>
          </a:p>
        </p:txBody>
      </p:sp>
      <p:sp>
        <p:nvSpPr>
          <p:cNvPr id="11" name="Freeform 11"/>
          <p:cNvSpPr/>
          <p:nvPr/>
        </p:nvSpPr>
        <p:spPr>
          <a:xfrm>
            <a:off x="381000" y="2288028"/>
            <a:ext cx="11430000" cy="1752600"/>
          </a:xfrm>
          <a:custGeom>
            <a:avLst/>
            <a:gdLst/>
            <a:ahLst/>
            <a:cxnLst/>
            <a:rect l="l" t="t" r="r" b="b"/>
            <a:pathLst>
              <a:path w="11430000" h="1752600">
                <a:moveTo>
                  <a:pt x="152406" y="0"/>
                </a:moveTo>
                <a:lnTo>
                  <a:pt x="11277594" y="0"/>
                </a:lnTo>
                <a:cubicBezTo>
                  <a:pt x="11361765" y="0"/>
                  <a:pt x="11430000" y="68235"/>
                  <a:pt x="11430000" y="152406"/>
                </a:cubicBezTo>
                <a:lnTo>
                  <a:pt x="11430000" y="1600194"/>
                </a:lnTo>
                <a:cubicBezTo>
                  <a:pt x="11430000" y="1684365"/>
                  <a:pt x="11361765" y="1752600"/>
                  <a:pt x="11277594" y="1752600"/>
                </a:cubicBezTo>
                <a:lnTo>
                  <a:pt x="152406" y="1752600"/>
                </a:lnTo>
                <a:cubicBezTo>
                  <a:pt x="68235" y="1752600"/>
                  <a:pt x="0" y="1684365"/>
                  <a:pt x="0" y="1600194"/>
                </a:cubicBezTo>
                <a:lnTo>
                  <a:pt x="0" y="152406"/>
                </a:lnTo>
                <a:cubicBezTo>
                  <a:pt x="0" y="68290"/>
                  <a:pt x="68290" y="0"/>
                  <a:pt x="152406"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5002789" y="2516544"/>
            <a:ext cx="142875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07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"What is AI?"</a:t>
            </a:r>
            <a:endParaRPr lang="en-US" sz="1100"/>
          </a:p>
        </p:txBody>
      </p:sp>
      <p:sp>
        <p:nvSpPr>
          <p:cNvPr id="13" name="Freeform 13"/>
          <p:cNvSpPr/>
          <p:nvPr/>
        </p:nvSpPr>
        <p:spPr>
          <a:xfrm>
            <a:off x="6460520" y="2581716"/>
            <a:ext cx="229984" cy="174308"/>
          </a:xfrm>
          <a:custGeom>
            <a:avLst/>
            <a:gdLst/>
            <a:ahLst/>
            <a:cxnLst/>
            <a:rect l="l" t="t" r="r" b="b"/>
            <a:pathLst>
              <a:path w="229984" h="174308">
                <a:moveTo>
                  <a:pt x="224403" y="97245"/>
                </a:moveTo>
                <a:cubicBezTo>
                  <a:pt x="229984" y="91662"/>
                  <a:pt x="229984" y="82600"/>
                  <a:pt x="224403" y="77019"/>
                </a:cubicBezTo>
                <a:lnTo>
                  <a:pt x="152966" y="5581"/>
                </a:lnTo>
                <a:cubicBezTo>
                  <a:pt x="147384" y="0"/>
                  <a:pt x="138321" y="0"/>
                  <a:pt x="132740" y="5581"/>
                </a:cubicBezTo>
                <a:cubicBezTo>
                  <a:pt x="127159" y="11162"/>
                  <a:pt x="127159" y="20226"/>
                  <a:pt x="132740" y="25807"/>
                </a:cubicBezTo>
                <a:lnTo>
                  <a:pt x="179799" y="72866"/>
                </a:lnTo>
                <a:lnTo>
                  <a:pt x="14288" y="72866"/>
                </a:lnTo>
                <a:cubicBezTo>
                  <a:pt x="6386" y="72866"/>
                  <a:pt x="0" y="79251"/>
                  <a:pt x="0" y="87154"/>
                </a:cubicBezTo>
                <a:cubicBezTo>
                  <a:pt x="0" y="95057"/>
                  <a:pt x="6386" y="101442"/>
                  <a:pt x="14288" y="101442"/>
                </a:cubicBezTo>
                <a:lnTo>
                  <a:pt x="179799" y="101442"/>
                </a:lnTo>
                <a:lnTo>
                  <a:pt x="132740" y="148501"/>
                </a:lnTo>
                <a:cubicBezTo>
                  <a:pt x="127159" y="154082"/>
                  <a:pt x="127159" y="163146"/>
                  <a:pt x="132740" y="168727"/>
                </a:cubicBezTo>
                <a:cubicBezTo>
                  <a:pt x="138321" y="174308"/>
                  <a:pt x="147384" y="174308"/>
                  <a:pt x="152966" y="168727"/>
                </a:cubicBezTo>
                <a:lnTo>
                  <a:pt x="224403" y="9728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6869987" y="2526013"/>
            <a:ext cx="282569" cy="285750"/>
          </a:xfrm>
          <a:custGeom>
            <a:avLst/>
            <a:gdLst/>
            <a:ahLst/>
            <a:cxnLst/>
            <a:rect l="l" t="t" r="r" b="b"/>
            <a:pathLst>
              <a:path w="282569" h="285750">
                <a:moveTo>
                  <a:pt x="107156" y="142875"/>
                </a:moveTo>
                <a:lnTo>
                  <a:pt x="85112" y="164920"/>
                </a:lnTo>
                <a:cubicBezTo>
                  <a:pt x="78080" y="162185"/>
                  <a:pt x="70489" y="160734"/>
                  <a:pt x="62508" y="160734"/>
                </a:cubicBezTo>
                <a:cubicBezTo>
                  <a:pt x="27962" y="160734"/>
                  <a:pt x="0" y="188695"/>
                  <a:pt x="0" y="223242"/>
                </a:cubicBezTo>
                <a:cubicBezTo>
                  <a:pt x="0" y="257788"/>
                  <a:pt x="27962" y="285750"/>
                  <a:pt x="62508" y="285750"/>
                </a:cubicBezTo>
                <a:cubicBezTo>
                  <a:pt x="97055" y="285750"/>
                  <a:pt x="125016" y="257788"/>
                  <a:pt x="125016" y="223242"/>
                </a:cubicBezTo>
                <a:cubicBezTo>
                  <a:pt x="125016" y="215261"/>
                  <a:pt x="123509" y="207670"/>
                  <a:pt x="120830" y="200638"/>
                </a:cubicBezTo>
                <a:lnTo>
                  <a:pt x="278606" y="42863"/>
                </a:lnTo>
                <a:cubicBezTo>
                  <a:pt x="282569" y="38900"/>
                  <a:pt x="282569" y="32537"/>
                  <a:pt x="278606" y="28575"/>
                </a:cubicBezTo>
                <a:cubicBezTo>
                  <a:pt x="262813" y="12781"/>
                  <a:pt x="237251" y="12781"/>
                  <a:pt x="221456" y="28575"/>
                </a:cubicBezTo>
                <a:lnTo>
                  <a:pt x="142875" y="107156"/>
                </a:lnTo>
                <a:lnTo>
                  <a:pt x="120830" y="85112"/>
                </a:lnTo>
                <a:cubicBezTo>
                  <a:pt x="123565" y="78080"/>
                  <a:pt x="125016" y="70489"/>
                  <a:pt x="125016" y="62508"/>
                </a:cubicBezTo>
                <a:cubicBezTo>
                  <a:pt x="125016" y="27962"/>
                  <a:pt x="97055" y="0"/>
                  <a:pt x="62508" y="0"/>
                </a:cubicBezTo>
                <a:cubicBezTo>
                  <a:pt x="27962" y="0"/>
                  <a:pt x="0" y="27962"/>
                  <a:pt x="0" y="62508"/>
                </a:cubicBezTo>
                <a:cubicBezTo>
                  <a:pt x="0" y="97055"/>
                  <a:pt x="27962" y="125016"/>
                  <a:pt x="62508" y="125016"/>
                </a:cubicBezTo>
                <a:cubicBezTo>
                  <a:pt x="70489" y="125016"/>
                  <a:pt x="78080" y="123509"/>
                  <a:pt x="85112" y="120830"/>
                </a:cubicBezTo>
                <a:lnTo>
                  <a:pt x="107156" y="142875"/>
                </a:lnTo>
                <a:close/>
                <a:moveTo>
                  <a:pt x="161795" y="197514"/>
                </a:moveTo>
                <a:lnTo>
                  <a:pt x="221456" y="257175"/>
                </a:lnTo>
                <a:cubicBezTo>
                  <a:pt x="237251" y="272969"/>
                  <a:pt x="262813" y="272969"/>
                  <a:pt x="278606" y="257175"/>
                </a:cubicBezTo>
                <a:cubicBezTo>
                  <a:pt x="282569" y="253213"/>
                  <a:pt x="282569" y="246850"/>
                  <a:pt x="278606" y="242887"/>
                </a:cubicBezTo>
                <a:lnTo>
                  <a:pt x="197514" y="161795"/>
                </a:lnTo>
                <a:lnTo>
                  <a:pt x="161795" y="197514"/>
                </a:lnTo>
                <a:close/>
                <a:moveTo>
                  <a:pt x="35719" y="62508"/>
                </a:moveTo>
                <a:cubicBezTo>
                  <a:pt x="35719" y="47723"/>
                  <a:pt x="47723" y="35719"/>
                  <a:pt x="62508" y="35719"/>
                </a:cubicBezTo>
                <a:cubicBezTo>
                  <a:pt x="77293" y="35719"/>
                  <a:pt x="89298" y="47723"/>
                  <a:pt x="89298" y="62508"/>
                </a:cubicBezTo>
                <a:cubicBezTo>
                  <a:pt x="89298" y="77293"/>
                  <a:pt x="77293" y="89298"/>
                  <a:pt x="62508" y="89298"/>
                </a:cubicBezTo>
                <a:cubicBezTo>
                  <a:pt x="47723" y="89298"/>
                  <a:pt x="35719" y="77293"/>
                  <a:pt x="35719" y="62508"/>
                </a:cubicBezTo>
                <a:close/>
                <a:moveTo>
                  <a:pt x="62508" y="196452"/>
                </a:moveTo>
                <a:cubicBezTo>
                  <a:pt x="77293" y="196452"/>
                  <a:pt x="89298" y="208457"/>
                  <a:pt x="89298" y="223242"/>
                </a:cubicBezTo>
                <a:cubicBezTo>
                  <a:pt x="89298" y="238027"/>
                  <a:pt x="77293" y="250031"/>
                  <a:pt x="62508" y="250031"/>
                </a:cubicBezTo>
                <a:cubicBezTo>
                  <a:pt x="47723" y="250031"/>
                  <a:pt x="35719" y="238027"/>
                  <a:pt x="35719" y="223242"/>
                </a:cubicBezTo>
                <a:cubicBezTo>
                  <a:pt x="35719" y="208457"/>
                  <a:pt x="47723" y="196452"/>
                  <a:pt x="62508" y="196452"/>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3989000" y="3058547"/>
            <a:ext cx="950768" cy="741218"/>
          </a:xfrm>
          <a:custGeom>
            <a:avLst/>
            <a:gdLst/>
            <a:ahLst/>
            <a:cxnLst/>
            <a:rect l="l" t="t" r="r" b="b"/>
            <a:pathLst>
              <a:path w="950768" h="741218">
                <a:moveTo>
                  <a:pt x="114303" y="0"/>
                </a:moveTo>
                <a:lnTo>
                  <a:pt x="836465" y="0"/>
                </a:lnTo>
                <a:cubicBezTo>
                  <a:pt x="899593" y="0"/>
                  <a:pt x="950768" y="51175"/>
                  <a:pt x="950768" y="114303"/>
                </a:cubicBezTo>
                <a:lnTo>
                  <a:pt x="950768" y="626915"/>
                </a:lnTo>
                <a:cubicBezTo>
                  <a:pt x="950768" y="690043"/>
                  <a:pt x="899593" y="741218"/>
                  <a:pt x="836465" y="741218"/>
                </a:cubicBezTo>
                <a:lnTo>
                  <a:pt x="114303" y="741218"/>
                </a:lnTo>
                <a:cubicBezTo>
                  <a:pt x="51218" y="741218"/>
                  <a:pt x="0" y="690001"/>
                  <a:pt x="0" y="626915"/>
                </a:cubicBezTo>
                <a:lnTo>
                  <a:pt x="0" y="114303"/>
                </a:lnTo>
                <a:cubicBezTo>
                  <a:pt x="0" y="51218"/>
                  <a:pt x="51218" y="0"/>
                  <a:pt x="114303"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16" name="AutoShape 16"/>
          <p:cNvSpPr/>
          <p:nvPr/>
        </p:nvSpPr>
        <p:spPr>
          <a:xfrm>
            <a:off x="4140534" y="3181406"/>
            <a:ext cx="64770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85"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What</a:t>
            </a:r>
            <a:endParaRPr lang="en-US" sz="1100"/>
          </a:p>
        </p:txBody>
      </p:sp>
      <p:sp>
        <p:nvSpPr>
          <p:cNvPr id="17" name="AutoShape 17"/>
          <p:cNvSpPr/>
          <p:nvPr/>
        </p:nvSpPr>
        <p:spPr>
          <a:xfrm>
            <a:off x="4150059" y="3448078"/>
            <a:ext cx="62865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 1234</a:t>
            </a:r>
            <a:endParaRPr lang="en-US" sz="1100"/>
          </a:p>
        </p:txBody>
      </p:sp>
      <p:sp>
        <p:nvSpPr>
          <p:cNvPr id="18" name="Freeform 18"/>
          <p:cNvSpPr/>
          <p:nvPr/>
        </p:nvSpPr>
        <p:spPr>
          <a:xfrm>
            <a:off x="5111434" y="3058547"/>
            <a:ext cx="893618" cy="741218"/>
          </a:xfrm>
          <a:custGeom>
            <a:avLst/>
            <a:gdLst/>
            <a:ahLst/>
            <a:cxnLst/>
            <a:rect l="l" t="t" r="r" b="b"/>
            <a:pathLst>
              <a:path w="893618" h="741218">
                <a:moveTo>
                  <a:pt x="114303" y="0"/>
                </a:moveTo>
                <a:lnTo>
                  <a:pt x="779315" y="0"/>
                </a:lnTo>
                <a:cubicBezTo>
                  <a:pt x="842401" y="0"/>
                  <a:pt x="893618" y="51218"/>
                  <a:pt x="893618" y="114303"/>
                </a:cubicBezTo>
                <a:lnTo>
                  <a:pt x="893618" y="626915"/>
                </a:lnTo>
                <a:cubicBezTo>
                  <a:pt x="893618" y="690001"/>
                  <a:pt x="842401" y="741218"/>
                  <a:pt x="779315" y="741218"/>
                </a:cubicBezTo>
                <a:lnTo>
                  <a:pt x="114303" y="741218"/>
                </a:lnTo>
                <a:cubicBezTo>
                  <a:pt x="51218" y="741218"/>
                  <a:pt x="0" y="690001"/>
                  <a:pt x="0" y="626915"/>
                </a:cubicBezTo>
                <a:lnTo>
                  <a:pt x="0" y="114303"/>
                </a:lnTo>
                <a:cubicBezTo>
                  <a:pt x="0" y="51218"/>
                  <a:pt x="51218" y="0"/>
                  <a:pt x="114303"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19" name="AutoShape 19"/>
          <p:cNvSpPr/>
          <p:nvPr/>
        </p:nvSpPr>
        <p:spPr>
          <a:xfrm>
            <a:off x="5262968" y="3181406"/>
            <a:ext cx="5905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85"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is</a:t>
            </a:r>
            <a:endParaRPr lang="en-US" sz="1100"/>
          </a:p>
        </p:txBody>
      </p:sp>
      <p:sp>
        <p:nvSpPr>
          <p:cNvPr id="20" name="AutoShape 20"/>
          <p:cNvSpPr/>
          <p:nvPr/>
        </p:nvSpPr>
        <p:spPr>
          <a:xfrm>
            <a:off x="5272493" y="3448078"/>
            <a:ext cx="5715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 567</a:t>
            </a:r>
            <a:endParaRPr lang="en-US" sz="1100"/>
          </a:p>
        </p:txBody>
      </p:sp>
      <p:sp>
        <p:nvSpPr>
          <p:cNvPr id="21" name="Freeform 21"/>
          <p:cNvSpPr/>
          <p:nvPr/>
        </p:nvSpPr>
        <p:spPr>
          <a:xfrm>
            <a:off x="6170955" y="3058547"/>
            <a:ext cx="969818" cy="741218"/>
          </a:xfrm>
          <a:custGeom>
            <a:avLst/>
            <a:gdLst/>
            <a:ahLst/>
            <a:cxnLst/>
            <a:rect l="l" t="t" r="r" b="b"/>
            <a:pathLst>
              <a:path w="969818" h="741218">
                <a:moveTo>
                  <a:pt x="114303" y="0"/>
                </a:moveTo>
                <a:lnTo>
                  <a:pt x="855515" y="0"/>
                </a:lnTo>
                <a:cubicBezTo>
                  <a:pt x="918643" y="0"/>
                  <a:pt x="969818" y="51175"/>
                  <a:pt x="969818" y="114303"/>
                </a:cubicBezTo>
                <a:lnTo>
                  <a:pt x="969818" y="626915"/>
                </a:lnTo>
                <a:cubicBezTo>
                  <a:pt x="969818" y="690043"/>
                  <a:pt x="918643" y="741218"/>
                  <a:pt x="855515" y="741218"/>
                </a:cubicBezTo>
                <a:lnTo>
                  <a:pt x="114303" y="741218"/>
                </a:lnTo>
                <a:cubicBezTo>
                  <a:pt x="51218" y="741218"/>
                  <a:pt x="0" y="690001"/>
                  <a:pt x="0" y="626915"/>
                </a:cubicBezTo>
                <a:lnTo>
                  <a:pt x="0" y="114303"/>
                </a:lnTo>
                <a:cubicBezTo>
                  <a:pt x="0" y="51218"/>
                  <a:pt x="51218" y="0"/>
                  <a:pt x="114303" y="0"/>
                </a:cubicBezTo>
                <a:close/>
              </a:path>
            </a:pathLst>
          </a:custGeom>
          <a:solidFill>
            <a:srgbClr val="FFFFFF">
              <a:alpha val="100000"/>
            </a:srgbClr>
          </a:solidFill>
          <a:ln w="12700">
            <a:solidFill>
              <a:srgbClr val="1E90FF">
                <a:alpha val="100000"/>
              </a:srgbClr>
            </a:solidFill>
            <a:prstDash val="solid"/>
          </a:ln>
        </p:spPr>
        <p:txBody>
          <a:bodyPr wrap="square" lIns="91440" tIns="45720" rIns="91440" bIns="45720" rtlCol="0" anchor="t">
            <a:noAutofit/>
          </a:bodyPr>
          <a:lstStyle/>
          <a:p>
            <a:pPr algn="ctr">
              <a:defRPr/>
            </a:pPr>
          </a:p>
        </p:txBody>
      </p:sp>
      <p:sp>
        <p:nvSpPr>
          <p:cNvPr id="22" name="AutoShape 22"/>
          <p:cNvSpPr/>
          <p:nvPr/>
        </p:nvSpPr>
        <p:spPr>
          <a:xfrm>
            <a:off x="6322489" y="3181406"/>
            <a:ext cx="6667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85"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AI</a:t>
            </a:r>
            <a:endParaRPr lang="en-US" sz="1100"/>
          </a:p>
        </p:txBody>
      </p:sp>
      <p:sp>
        <p:nvSpPr>
          <p:cNvPr id="23" name="AutoShape 23"/>
          <p:cNvSpPr/>
          <p:nvPr/>
        </p:nvSpPr>
        <p:spPr>
          <a:xfrm>
            <a:off x="6332014" y="3448078"/>
            <a:ext cx="6477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 8901</a:t>
            </a:r>
            <a:endParaRPr lang="en-US" sz="1100"/>
          </a:p>
        </p:txBody>
      </p:sp>
      <p:sp>
        <p:nvSpPr>
          <p:cNvPr id="24" name="Freeform 24"/>
          <p:cNvSpPr/>
          <p:nvPr/>
        </p:nvSpPr>
        <p:spPr>
          <a:xfrm>
            <a:off x="7310031" y="3058547"/>
            <a:ext cx="893618" cy="741218"/>
          </a:xfrm>
          <a:custGeom>
            <a:avLst/>
            <a:gdLst/>
            <a:ahLst/>
            <a:cxnLst/>
            <a:rect l="l" t="t" r="r" b="b"/>
            <a:pathLst>
              <a:path w="893618" h="741218">
                <a:moveTo>
                  <a:pt x="114303" y="0"/>
                </a:moveTo>
                <a:lnTo>
                  <a:pt x="779315" y="0"/>
                </a:lnTo>
                <a:cubicBezTo>
                  <a:pt x="842401" y="0"/>
                  <a:pt x="893618" y="51218"/>
                  <a:pt x="893618" y="114303"/>
                </a:cubicBezTo>
                <a:lnTo>
                  <a:pt x="893618" y="626915"/>
                </a:lnTo>
                <a:cubicBezTo>
                  <a:pt x="893618" y="690001"/>
                  <a:pt x="842401" y="741218"/>
                  <a:pt x="779315" y="741218"/>
                </a:cubicBezTo>
                <a:lnTo>
                  <a:pt x="114303" y="741218"/>
                </a:lnTo>
                <a:cubicBezTo>
                  <a:pt x="51218" y="741218"/>
                  <a:pt x="0" y="690001"/>
                  <a:pt x="0" y="626915"/>
                </a:cubicBezTo>
                <a:lnTo>
                  <a:pt x="0" y="114303"/>
                </a:lnTo>
                <a:cubicBezTo>
                  <a:pt x="0" y="51218"/>
                  <a:pt x="51218" y="0"/>
                  <a:pt x="114303"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25" name="AutoShape 25"/>
          <p:cNvSpPr/>
          <p:nvPr/>
        </p:nvSpPr>
        <p:spPr>
          <a:xfrm>
            <a:off x="7461565" y="3181406"/>
            <a:ext cx="5905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85"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26" name="AutoShape 26"/>
          <p:cNvSpPr/>
          <p:nvPr/>
        </p:nvSpPr>
        <p:spPr>
          <a:xfrm>
            <a:off x="7471090" y="3448078"/>
            <a:ext cx="5715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 234</a:t>
            </a:r>
            <a:endParaRPr lang="en-US" sz="1100"/>
          </a:p>
        </p:txBody>
      </p:sp>
      <p:sp>
        <p:nvSpPr>
          <p:cNvPr id="27" name="Freeform 27"/>
          <p:cNvSpPr/>
          <p:nvPr/>
        </p:nvSpPr>
        <p:spPr>
          <a:xfrm>
            <a:off x="1322705" y="4265295"/>
            <a:ext cx="1135380" cy="1104900"/>
          </a:xfrm>
          <a:custGeom>
            <a:avLst/>
            <a:gdLst/>
            <a:ahLst/>
            <a:cxnLst/>
            <a:rect l="l" t="t" r="r" b="b"/>
            <a:pathLst>
              <a:path w="1135380" h="1104900">
                <a:moveTo>
                  <a:pt x="122746" y="0"/>
                </a:moveTo>
                <a:lnTo>
                  <a:pt x="1012635" y="0"/>
                </a:lnTo>
                <a:cubicBezTo>
                  <a:pt x="1080425" y="0"/>
                  <a:pt x="1135380" y="51175"/>
                  <a:pt x="1135380" y="114303"/>
                </a:cubicBezTo>
                <a:lnTo>
                  <a:pt x="1135380" y="990597"/>
                </a:lnTo>
                <a:cubicBezTo>
                  <a:pt x="1135380" y="1053725"/>
                  <a:pt x="1080425" y="1104900"/>
                  <a:pt x="1012635" y="1104900"/>
                </a:cubicBezTo>
                <a:lnTo>
                  <a:pt x="122746" y="1104900"/>
                </a:lnTo>
                <a:cubicBezTo>
                  <a:pt x="54955" y="1104900"/>
                  <a:pt x="0" y="1053725"/>
                  <a:pt x="0" y="990597"/>
                </a:cubicBezTo>
                <a:lnTo>
                  <a:pt x="0" y="114303"/>
                </a:lnTo>
                <a:cubicBezTo>
                  <a:pt x="0" y="51175"/>
                  <a:pt x="54955" y="0"/>
                  <a:pt x="122746"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8" name="AutoShape 28"/>
          <p:cNvSpPr/>
          <p:nvPr/>
        </p:nvSpPr>
        <p:spPr>
          <a:xfrm>
            <a:off x="1403350" y="4418965"/>
            <a:ext cx="10160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Mainstream Vocabulary Size</a:t>
            </a:r>
            <a:endParaRPr lang="en-US" sz="1100"/>
          </a:p>
        </p:txBody>
      </p:sp>
      <p:sp>
        <p:nvSpPr>
          <p:cNvPr id="29" name="AutoShape 29"/>
          <p:cNvSpPr/>
          <p:nvPr/>
        </p:nvSpPr>
        <p:spPr>
          <a:xfrm>
            <a:off x="1403530" y="4684021"/>
            <a:ext cx="895350" cy="3429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27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100K+</a:t>
            </a:r>
            <a:endParaRPr lang="en-US" sz="1100"/>
          </a:p>
        </p:txBody>
      </p:sp>
      <p:sp>
        <p:nvSpPr>
          <p:cNvPr id="30" name="AutoShape 30"/>
          <p:cNvSpPr/>
          <p:nvPr/>
        </p:nvSpPr>
        <p:spPr>
          <a:xfrm>
            <a:off x="1441630" y="5026875"/>
            <a:ext cx="819150"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Token</a:t>
            </a:r>
            <a:endParaRPr lang="en-US" sz="1100"/>
          </a:p>
        </p:txBody>
      </p:sp>
      <p:sp>
        <p:nvSpPr>
          <p:cNvPr id="31" name="Freeform 31"/>
          <p:cNvSpPr/>
          <p:nvPr/>
        </p:nvSpPr>
        <p:spPr>
          <a:xfrm>
            <a:off x="2584901" y="4674552"/>
            <a:ext cx="250031" cy="285750"/>
          </a:xfrm>
          <a:custGeom>
            <a:avLst/>
            <a:gdLst/>
            <a:ahLst/>
            <a:cxnLst/>
            <a:rect l="l" t="t" r="r" b="b"/>
            <a:pathLst>
              <a:path w="250031" h="285750">
                <a:moveTo>
                  <a:pt x="250031" y="114858"/>
                </a:moveTo>
                <a:cubicBezTo>
                  <a:pt x="241771" y="120327"/>
                  <a:pt x="232283" y="124737"/>
                  <a:pt x="222405" y="128253"/>
                </a:cubicBezTo>
                <a:cubicBezTo>
                  <a:pt x="196174" y="137629"/>
                  <a:pt x="161740" y="142875"/>
                  <a:pt x="125016" y="142875"/>
                </a:cubicBezTo>
                <a:cubicBezTo>
                  <a:pt x="88292" y="142875"/>
                  <a:pt x="53801" y="137573"/>
                  <a:pt x="27626" y="128253"/>
                </a:cubicBezTo>
                <a:cubicBezTo>
                  <a:pt x="17804" y="124737"/>
                  <a:pt x="8260" y="120327"/>
                  <a:pt x="0" y="114858"/>
                </a:cubicBezTo>
                <a:lnTo>
                  <a:pt x="0" y="160734"/>
                </a:lnTo>
                <a:cubicBezTo>
                  <a:pt x="0" y="185403"/>
                  <a:pt x="55978" y="205383"/>
                  <a:pt x="125016" y="205383"/>
                </a:cubicBezTo>
                <a:cubicBezTo>
                  <a:pt x="194053" y="205383"/>
                  <a:pt x="250031" y="185403"/>
                  <a:pt x="250031" y="160734"/>
                </a:cubicBezTo>
                <a:lnTo>
                  <a:pt x="250031" y="114858"/>
                </a:lnTo>
                <a:close/>
                <a:moveTo>
                  <a:pt x="250031" y="71438"/>
                </a:moveTo>
                <a:lnTo>
                  <a:pt x="250031" y="44648"/>
                </a:lnTo>
                <a:cubicBezTo>
                  <a:pt x="250031" y="19980"/>
                  <a:pt x="194053" y="0"/>
                  <a:pt x="125016" y="0"/>
                </a:cubicBezTo>
                <a:cubicBezTo>
                  <a:pt x="55978" y="0"/>
                  <a:pt x="0" y="19980"/>
                  <a:pt x="0" y="44648"/>
                </a:cubicBezTo>
                <a:lnTo>
                  <a:pt x="0" y="71438"/>
                </a:lnTo>
                <a:cubicBezTo>
                  <a:pt x="0" y="96106"/>
                  <a:pt x="55978" y="116086"/>
                  <a:pt x="125016" y="116086"/>
                </a:cubicBezTo>
                <a:cubicBezTo>
                  <a:pt x="194053" y="116086"/>
                  <a:pt x="250031" y="96106"/>
                  <a:pt x="250031" y="71438"/>
                </a:cubicBezTo>
                <a:close/>
                <a:moveTo>
                  <a:pt x="222405" y="217550"/>
                </a:moveTo>
                <a:cubicBezTo>
                  <a:pt x="196230" y="226870"/>
                  <a:pt x="161795" y="232173"/>
                  <a:pt x="125016" y="232173"/>
                </a:cubicBezTo>
                <a:cubicBezTo>
                  <a:pt x="88236" y="232173"/>
                  <a:pt x="53801" y="226870"/>
                  <a:pt x="27626" y="217550"/>
                </a:cubicBezTo>
                <a:cubicBezTo>
                  <a:pt x="17804" y="214033"/>
                  <a:pt x="8260" y="209624"/>
                  <a:pt x="0" y="204155"/>
                </a:cubicBezTo>
                <a:lnTo>
                  <a:pt x="0" y="241102"/>
                </a:lnTo>
                <a:cubicBezTo>
                  <a:pt x="0" y="265770"/>
                  <a:pt x="55978" y="285750"/>
                  <a:pt x="125016" y="285750"/>
                </a:cubicBezTo>
                <a:cubicBezTo>
                  <a:pt x="194053" y="285750"/>
                  <a:pt x="250031" y="265770"/>
                  <a:pt x="250031" y="241102"/>
                </a:cubicBezTo>
                <a:lnTo>
                  <a:pt x="250031" y="204155"/>
                </a:lnTo>
                <a:cubicBezTo>
                  <a:pt x="241771" y="209624"/>
                  <a:pt x="232283" y="214033"/>
                  <a:pt x="222405" y="21755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32" name="AutoShape 32"/>
          <p:cNvSpPr/>
          <p:nvPr/>
        </p:nvSpPr>
        <p:spPr>
          <a:xfrm>
            <a:off x="3038475" y="4684161"/>
            <a:ext cx="22764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65"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Each Token corresponds to a unique numeric ID</a:t>
            </a:r>
            <a:endParaRPr lang="en-US" sz="1100"/>
          </a:p>
        </p:txBody>
      </p:sp>
      <p:sp>
        <p:nvSpPr>
          <p:cNvPr id="33" name="Freeform 33"/>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4" name="AutoShape 34"/>
          <p:cNvSpPr/>
          <p:nvPr/>
        </p:nvSpPr>
        <p:spPr>
          <a:xfrm>
            <a:off x="609519" y="5829328"/>
            <a:ext cx="11061700" cy="5334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4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04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Token</a:t>
            </a:r>
            <a:r>
              <a:rPr lang="en-US" sz="104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The basic unit of text processing in large models, which can be a word, subword, or character; </a:t>
            </a:r>
            <a:r>
              <a:rPr lang="en-US" sz="104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Tokenization</a:t>
            </a:r>
            <a:r>
              <a:rPr lang="en-US" sz="104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The process of splitting raw text into Token sequences; </a:t>
            </a:r>
            <a:r>
              <a:rPr lang="en-US" sz="104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BBPE (Byte-Level Byte Pair Encoding)</a:t>
            </a:r>
            <a:r>
              <a:rPr lang="en-US" sz="104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A tokenization method that applies the BPE algorithm at the byte level, effectively handling multiple languages and special characters</a:t>
            </a:r>
            <a:endParaRPr lang="en-US" sz="1100"/>
          </a:p>
        </p:txBody>
      </p:sp>
      <p:sp>
        <p:nvSpPr>
          <p:cNvPr id="35" name="Freeform 35"/>
          <p:cNvSpPr/>
          <p:nvPr/>
        </p:nvSpPr>
        <p:spPr>
          <a:xfrm>
            <a:off x="6170613" y="4219575"/>
            <a:ext cx="5210175" cy="1066800"/>
          </a:xfrm>
          <a:custGeom>
            <a:avLst/>
            <a:gdLst/>
            <a:ahLst/>
            <a:cxnLst/>
            <a:rect l="l" t="t" r="r" b="b"/>
            <a:pathLst>
              <a:path w="5210175" h="1066800">
                <a:moveTo>
                  <a:pt x="114297" y="0"/>
                </a:moveTo>
                <a:lnTo>
                  <a:pt x="5095878" y="0"/>
                </a:lnTo>
                <a:cubicBezTo>
                  <a:pt x="5159003" y="0"/>
                  <a:pt x="5210175" y="51172"/>
                  <a:pt x="5210175" y="114297"/>
                </a:cubicBezTo>
                <a:lnTo>
                  <a:pt x="5210175" y="952503"/>
                </a:lnTo>
                <a:cubicBezTo>
                  <a:pt x="5210175" y="1015628"/>
                  <a:pt x="5159003" y="1066800"/>
                  <a:pt x="5095878" y="1066800"/>
                </a:cubicBezTo>
                <a:lnTo>
                  <a:pt x="114297" y="1066800"/>
                </a:lnTo>
                <a:cubicBezTo>
                  <a:pt x="51172" y="1066800"/>
                  <a:pt x="0" y="1015628"/>
                  <a:pt x="0" y="952503"/>
                </a:cubicBezTo>
                <a:lnTo>
                  <a:pt x="0" y="114297"/>
                </a:lnTo>
                <a:cubicBezTo>
                  <a:pt x="0" y="51172"/>
                  <a:pt x="51172" y="0"/>
                  <a:pt x="114297"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36" name="Freeform 36"/>
          <p:cNvSpPr/>
          <p:nvPr/>
        </p:nvSpPr>
        <p:spPr>
          <a:xfrm>
            <a:off x="6375400" y="4414838"/>
            <a:ext cx="142875" cy="196452"/>
          </a:xfrm>
          <a:custGeom>
            <a:avLst/>
            <a:gdLst/>
            <a:ahLst/>
            <a:cxnLst/>
            <a:rect l="l" t="t" r="r" b="b"/>
            <a:pathLst>
              <a:path w="142875" h="196452">
                <a:moveTo>
                  <a:pt x="108979" y="142875"/>
                </a:moveTo>
                <a:cubicBezTo>
                  <a:pt x="111696" y="134578"/>
                  <a:pt x="117128" y="127062"/>
                  <a:pt x="123267" y="120588"/>
                </a:cubicBezTo>
                <a:cubicBezTo>
                  <a:pt x="135434" y="107789"/>
                  <a:pt x="142875" y="90488"/>
                  <a:pt x="142875" y="71438"/>
                </a:cubicBezTo>
                <a:cubicBezTo>
                  <a:pt x="142875" y="31998"/>
                  <a:pt x="110877" y="0"/>
                  <a:pt x="71438"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2"/>
                  <a:pt x="65484" y="196452"/>
                </a:cubicBezTo>
                <a:lnTo>
                  <a:pt x="77391" y="196452"/>
                </a:lnTo>
                <a:cubicBezTo>
                  <a:pt x="93836" y="196452"/>
                  <a:pt x="107156" y="183133"/>
                  <a:pt x="107156" y="166688"/>
                </a:cubicBezTo>
                <a:lnTo>
                  <a:pt x="107156" y="160734"/>
                </a:lnTo>
                <a:close/>
                <a:moveTo>
                  <a:pt x="68461" y="41673"/>
                </a:moveTo>
                <a:cubicBezTo>
                  <a:pt x="53652" y="41673"/>
                  <a:pt x="41673" y="53652"/>
                  <a:pt x="41673" y="68461"/>
                </a:cubicBezTo>
                <a:cubicBezTo>
                  <a:pt x="41673"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3"/>
                  <a:pt x="68461" y="41673"/>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7" name="AutoShape 37"/>
          <p:cNvSpPr/>
          <p:nvPr/>
        </p:nvSpPr>
        <p:spPr>
          <a:xfrm>
            <a:off x="6680200" y="4376738"/>
            <a:ext cx="3667125" cy="75247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03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Try tokenization on this website:</a:t>
            </a:r>
            <a:endParaRPr lang="en-US" sz="1100"/>
          </a:p>
          <a:p>
            <a:pPr indent="0" algn="l">
              <a:lnSpc>
                <a:spcPct val="142000"/>
              </a:lnSpc>
            </a:pPr>
            <a:r>
              <a:rPr lang="en-US" sz="1035" b="0" i="0" u="none" strike="noStrike">
                <a:solidFill>
                  <a:srgbClr val="00CED1"/>
                </a:solidFill>
                <a:highlight>
                  <a:srgbClr val="FFFFFF">
                    <a:alpha val="100000"/>
                  </a:srgbClr>
                </a:highlight>
                <a:latin typeface="MiSans" panose="00000500000000000000" charset="-122"/>
                <a:ea typeface="MiSans" panose="00000500000000000000" charset="-122"/>
                <a:cs typeface="MiSans" panose="00000500000000000000" charset="-122"/>
                <a:sym typeface="MiSans" panose="00000500000000000000" charset="-122"/>
              </a:rPr>
              <a:t>https://tiktokenizer.vercel.app/</a:t>
            </a:r>
            <a:endParaRPr lang="en-US" sz="1200" b="0" i="0" u="none" strike="noStrike">
              <a:solidFill>
                <a:srgbClr val="00CED1"/>
              </a:solidFill>
              <a:highlight>
                <a:srgbClr val="FFFFFF">
                  <a:alpha val="100000"/>
                </a:srgbClr>
              </a:highlight>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42000"/>
              </a:lnSpc>
            </a:pPr>
            <a:r>
              <a:rPr lang="en-US" sz="103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Enter any text and you will see how it is split into tokens</a:t>
            </a:r>
            <a:endPar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endParaRPr>
          </a:p>
        </p:txBody>
      </p:sp>
    </p:spTree>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1 Input Processing</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0478"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2 Layer-by-Layer Computation</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Prediction</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Generation</a:t>
            </a:r>
            <a:endParaRPr lang="en-US" sz="1100"/>
          </a:p>
        </p:txBody>
      </p:sp>
      <p:sp>
        <p:nvSpPr>
          <p:cNvPr id="9" name="AutoShape 9"/>
          <p:cNvSpPr/>
          <p:nvPr/>
        </p:nvSpPr>
        <p:spPr>
          <a:xfrm>
            <a:off x="381000" y="76186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615" b="0" i="0" u="none" strike="noStrike">
                <a:solidFill>
                  <a:srgbClr val="5B92E5"/>
                </a:solidFill>
                <a:latin typeface="Alimama ShuHeiTi"/>
                <a:ea typeface="Alimama ShuHeiTi"/>
                <a:cs typeface="Alimama ShuHeiTi"/>
                <a:sym typeface="Alimama ShuHeiTi"/>
              </a:rPr>
              <a:t>Step 1.2 Vectorization</a:t>
            </a:r>
            <a:endParaRPr lang="en-US" sz="1100"/>
          </a:p>
        </p:txBody>
      </p:sp>
      <p:sp>
        <p:nvSpPr>
          <p:cNvPr id="10" name="AutoShape 10"/>
          <p:cNvSpPr/>
          <p:nvPr/>
        </p:nvSpPr>
        <p:spPr>
          <a:xfrm>
            <a:off x="333375" y="2324426"/>
            <a:ext cx="11525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8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Map Tokens to high-dimensional vectors to capture semantic features</a:t>
            </a:r>
            <a:endParaRPr lang="en-US" sz="1100"/>
          </a:p>
        </p:txBody>
      </p:sp>
      <p:sp>
        <p:nvSpPr>
          <p:cNvPr id="11" name="Freeform 11"/>
          <p:cNvSpPr/>
          <p:nvPr/>
        </p:nvSpPr>
        <p:spPr>
          <a:xfrm>
            <a:off x="3226053" y="2819614"/>
            <a:ext cx="866775" cy="647700"/>
          </a:xfrm>
          <a:custGeom>
            <a:avLst/>
            <a:gdLst/>
            <a:ahLst/>
            <a:cxnLst/>
            <a:rect l="l" t="t" r="r" b="b"/>
            <a:pathLst>
              <a:path w="866775" h="647700">
                <a:moveTo>
                  <a:pt x="114300" y="0"/>
                </a:moveTo>
                <a:lnTo>
                  <a:pt x="752475" y="0"/>
                </a:lnTo>
                <a:cubicBezTo>
                  <a:pt x="815558" y="0"/>
                  <a:pt x="866775" y="51217"/>
                  <a:pt x="866775" y="114300"/>
                </a:cubicBezTo>
                <a:lnTo>
                  <a:pt x="866775" y="533400"/>
                </a:lnTo>
                <a:cubicBezTo>
                  <a:pt x="866775" y="596527"/>
                  <a:pt x="815602" y="647700"/>
                  <a:pt x="752475" y="647700"/>
                </a:cubicBezTo>
                <a:lnTo>
                  <a:pt x="114300" y="647700"/>
                </a:lnTo>
                <a:cubicBezTo>
                  <a:pt x="51217" y="647700"/>
                  <a:pt x="0" y="596483"/>
                  <a:pt x="0" y="533400"/>
                </a:cubicBezTo>
                <a:lnTo>
                  <a:pt x="0" y="114300"/>
                </a:lnTo>
                <a:cubicBezTo>
                  <a:pt x="0" y="51217"/>
                  <a:pt x="51217" y="0"/>
                  <a:pt x="1143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3226053" y="2819614"/>
            <a:ext cx="1009650" cy="647700"/>
          </a:xfrm>
          <a:prstGeom prst="rect">
            <a:avLst/>
          </a:prstGeom>
          <a:noFill/>
          <a:ln w="12700">
            <a:noFill/>
            <a:prstDash val="solid"/>
          </a:ln>
        </p:spPr>
        <p:txBody>
          <a:bodyPr wrap="square" lIns="304800" tIns="152400" rIns="304800" bIns="152400" rtlCol="0" anchor="ctr">
            <a:noAutofit/>
          </a:bodyPr>
          <a:lstStyle/>
          <a:p>
            <a:pPr indent="0" algn="l">
              <a:lnSpc>
                <a:spcPct val="100000"/>
              </a:lnSpc>
              <a:defRPr/>
            </a:pPr>
            <a:r>
              <a:rPr lang="en-US" sz="2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AI</a:t>
            </a:r>
            <a:endParaRPr lang="en-US" sz="1100"/>
          </a:p>
        </p:txBody>
      </p:sp>
      <p:sp>
        <p:nvSpPr>
          <p:cNvPr id="13" name="AutoShape 13"/>
          <p:cNvSpPr/>
          <p:nvPr/>
        </p:nvSpPr>
        <p:spPr>
          <a:xfrm>
            <a:off x="3417905" y="3619500"/>
            <a:ext cx="57150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85"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Token</a:t>
            </a:r>
            <a:endParaRPr lang="en-US" sz="1100"/>
          </a:p>
        </p:txBody>
      </p:sp>
      <p:sp>
        <p:nvSpPr>
          <p:cNvPr id="14" name="Freeform 14"/>
          <p:cNvSpPr/>
          <p:nvPr/>
        </p:nvSpPr>
        <p:spPr>
          <a:xfrm>
            <a:off x="4515147" y="3222125"/>
            <a:ext cx="344976" cy="261463"/>
          </a:xfrm>
          <a:custGeom>
            <a:avLst/>
            <a:gdLst/>
            <a:ahLst/>
            <a:cxnLst/>
            <a:rect l="l" t="t" r="r" b="b"/>
            <a:pathLst>
              <a:path w="344976" h="261463">
                <a:moveTo>
                  <a:pt x="336605" y="145867"/>
                </a:moveTo>
                <a:cubicBezTo>
                  <a:pt x="344976" y="137495"/>
                  <a:pt x="344976" y="123900"/>
                  <a:pt x="336605" y="115528"/>
                </a:cubicBezTo>
                <a:lnTo>
                  <a:pt x="229448" y="8372"/>
                </a:lnTo>
                <a:cubicBezTo>
                  <a:pt x="221077" y="0"/>
                  <a:pt x="207481" y="0"/>
                  <a:pt x="199111" y="8372"/>
                </a:cubicBezTo>
                <a:cubicBezTo>
                  <a:pt x="190737" y="16743"/>
                  <a:pt x="190737" y="30339"/>
                  <a:pt x="199111" y="38711"/>
                </a:cubicBezTo>
                <a:lnTo>
                  <a:pt x="269698" y="109300"/>
                </a:lnTo>
                <a:lnTo>
                  <a:pt x="21431" y="109300"/>
                </a:lnTo>
                <a:cubicBezTo>
                  <a:pt x="9577" y="109300"/>
                  <a:pt x="0" y="118877"/>
                  <a:pt x="0" y="130731"/>
                </a:cubicBezTo>
                <a:cubicBezTo>
                  <a:pt x="0" y="142585"/>
                  <a:pt x="9577" y="152162"/>
                  <a:pt x="21431" y="152162"/>
                </a:cubicBezTo>
                <a:lnTo>
                  <a:pt x="269698" y="152162"/>
                </a:lnTo>
                <a:lnTo>
                  <a:pt x="199111" y="222751"/>
                </a:lnTo>
                <a:cubicBezTo>
                  <a:pt x="190737" y="231123"/>
                  <a:pt x="190737" y="244719"/>
                  <a:pt x="199111" y="253090"/>
                </a:cubicBezTo>
                <a:cubicBezTo>
                  <a:pt x="207481" y="261462"/>
                  <a:pt x="221077" y="261462"/>
                  <a:pt x="229448" y="253090"/>
                </a:cubicBezTo>
                <a:lnTo>
                  <a:pt x="336605" y="145934"/>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5355512" y="2828273"/>
            <a:ext cx="750743" cy="703118"/>
          </a:xfrm>
          <a:custGeom>
            <a:avLst/>
            <a:gdLst/>
            <a:ahLst/>
            <a:cxnLst/>
            <a:rect l="l" t="t" r="r" b="b"/>
            <a:pathLst>
              <a:path w="750743" h="703118">
                <a:moveTo>
                  <a:pt x="114299" y="0"/>
                </a:moveTo>
                <a:lnTo>
                  <a:pt x="636444" y="0"/>
                </a:lnTo>
                <a:cubicBezTo>
                  <a:pt x="699527" y="0"/>
                  <a:pt x="750743" y="51217"/>
                  <a:pt x="750743" y="114299"/>
                </a:cubicBezTo>
                <a:lnTo>
                  <a:pt x="750743" y="588819"/>
                </a:lnTo>
                <a:cubicBezTo>
                  <a:pt x="750743" y="651902"/>
                  <a:pt x="699527" y="703118"/>
                  <a:pt x="636444" y="703118"/>
                </a:cubicBezTo>
                <a:lnTo>
                  <a:pt x="114299" y="703118"/>
                </a:lnTo>
                <a:cubicBezTo>
                  <a:pt x="51217" y="703118"/>
                  <a:pt x="0" y="651902"/>
                  <a:pt x="0" y="588819"/>
                </a:cubicBezTo>
                <a:lnTo>
                  <a:pt x="0" y="114299"/>
                </a:lnTo>
                <a:cubicBezTo>
                  <a:pt x="0" y="51217"/>
                  <a:pt x="51217" y="0"/>
                  <a:pt x="114299" y="0"/>
                </a:cubicBezTo>
                <a:close/>
              </a:path>
            </a:pathLst>
          </a:custGeom>
          <a:solidFill>
            <a:srgbClr val="5B92E5">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16" name="AutoShape 16"/>
          <p:cNvSpPr/>
          <p:nvPr/>
        </p:nvSpPr>
        <p:spPr>
          <a:xfrm>
            <a:off x="5281910" y="3619500"/>
            <a:ext cx="9810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85"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Embedding</a:t>
            </a:r>
            <a:endParaRPr lang="en-US" sz="1100"/>
          </a:p>
        </p:txBody>
      </p:sp>
      <p:sp>
        <p:nvSpPr>
          <p:cNvPr id="17" name="Freeform 17"/>
          <p:cNvSpPr/>
          <p:nvPr/>
        </p:nvSpPr>
        <p:spPr>
          <a:xfrm>
            <a:off x="6603747" y="3222125"/>
            <a:ext cx="344976" cy="261463"/>
          </a:xfrm>
          <a:custGeom>
            <a:avLst/>
            <a:gdLst/>
            <a:ahLst/>
            <a:cxnLst/>
            <a:rect l="l" t="t" r="r" b="b"/>
            <a:pathLst>
              <a:path w="344976" h="261463">
                <a:moveTo>
                  <a:pt x="336605" y="145867"/>
                </a:moveTo>
                <a:cubicBezTo>
                  <a:pt x="344976" y="137495"/>
                  <a:pt x="344976" y="123900"/>
                  <a:pt x="336605" y="115528"/>
                </a:cubicBezTo>
                <a:lnTo>
                  <a:pt x="229448" y="8372"/>
                </a:lnTo>
                <a:cubicBezTo>
                  <a:pt x="221077" y="0"/>
                  <a:pt x="207481" y="0"/>
                  <a:pt x="199111" y="8372"/>
                </a:cubicBezTo>
                <a:cubicBezTo>
                  <a:pt x="190737" y="16743"/>
                  <a:pt x="190737" y="30339"/>
                  <a:pt x="199111" y="38711"/>
                </a:cubicBezTo>
                <a:lnTo>
                  <a:pt x="269698" y="109300"/>
                </a:lnTo>
                <a:lnTo>
                  <a:pt x="21431" y="109300"/>
                </a:lnTo>
                <a:cubicBezTo>
                  <a:pt x="9577" y="109300"/>
                  <a:pt x="0" y="118877"/>
                  <a:pt x="0" y="130731"/>
                </a:cubicBezTo>
                <a:cubicBezTo>
                  <a:pt x="0" y="142585"/>
                  <a:pt x="9577" y="152162"/>
                  <a:pt x="21431" y="152162"/>
                </a:cubicBezTo>
                <a:lnTo>
                  <a:pt x="269698" y="152162"/>
                </a:lnTo>
                <a:lnTo>
                  <a:pt x="199111" y="222751"/>
                </a:lnTo>
                <a:cubicBezTo>
                  <a:pt x="190737" y="231123"/>
                  <a:pt x="190737" y="244719"/>
                  <a:pt x="199111" y="253090"/>
                </a:cubicBezTo>
                <a:cubicBezTo>
                  <a:pt x="207481" y="261462"/>
                  <a:pt x="221077" y="261462"/>
                  <a:pt x="229448" y="253090"/>
                </a:cubicBezTo>
                <a:lnTo>
                  <a:pt x="336605" y="145934"/>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7379168" y="2849109"/>
            <a:ext cx="1579418" cy="665018"/>
          </a:xfrm>
          <a:custGeom>
            <a:avLst/>
            <a:gdLst/>
            <a:ahLst/>
            <a:cxnLst/>
            <a:rect l="l" t="t" r="r" b="b"/>
            <a:pathLst>
              <a:path w="1579418" h="665018">
                <a:moveTo>
                  <a:pt x="114303" y="0"/>
                </a:moveTo>
                <a:lnTo>
                  <a:pt x="1465115" y="0"/>
                </a:lnTo>
                <a:cubicBezTo>
                  <a:pt x="1528243" y="0"/>
                  <a:pt x="1579418" y="51175"/>
                  <a:pt x="1579418" y="114303"/>
                </a:cubicBezTo>
                <a:lnTo>
                  <a:pt x="1579418" y="550715"/>
                </a:lnTo>
                <a:cubicBezTo>
                  <a:pt x="1579418" y="613843"/>
                  <a:pt x="1528243" y="665018"/>
                  <a:pt x="1465115" y="665018"/>
                </a:cubicBezTo>
                <a:lnTo>
                  <a:pt x="114303" y="665018"/>
                </a:lnTo>
                <a:cubicBezTo>
                  <a:pt x="51175" y="665018"/>
                  <a:pt x="0" y="613843"/>
                  <a:pt x="0" y="550715"/>
                </a:cubicBezTo>
                <a:lnTo>
                  <a:pt x="0" y="114303"/>
                </a:lnTo>
                <a:cubicBezTo>
                  <a:pt x="0" y="51175"/>
                  <a:pt x="51175" y="0"/>
                  <a:pt x="114303" y="0"/>
                </a:cubicBezTo>
                <a:close/>
              </a:path>
            </a:pathLst>
          </a:custGeom>
          <a:noFill/>
          <a:ln w="12700">
            <a:solidFill>
              <a:srgbClr val="00CED1">
                <a:alpha val="100000"/>
              </a:srgbClr>
            </a:solidFill>
            <a:prstDash val="solid"/>
          </a:ln>
        </p:spPr>
        <p:txBody>
          <a:bodyPr wrap="square" lIns="91440" tIns="45720" rIns="91440" bIns="45720" rtlCol="0" anchor="t">
            <a:noAutofit/>
          </a:bodyPr>
          <a:lstStyle/>
          <a:p>
            <a:pPr algn="ctr">
              <a:defRPr/>
            </a:pPr>
          </a:p>
        </p:txBody>
      </p:sp>
      <p:sp>
        <p:nvSpPr>
          <p:cNvPr id="19" name="Freeform 19"/>
          <p:cNvSpPr/>
          <p:nvPr/>
        </p:nvSpPr>
        <p:spPr>
          <a:xfrm>
            <a:off x="7578328" y="3048270"/>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7730539" y="3048270"/>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7882749" y="3048270"/>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2" name="Freeform 22"/>
          <p:cNvSpPr/>
          <p:nvPr/>
        </p:nvSpPr>
        <p:spPr>
          <a:xfrm>
            <a:off x="8034960" y="3048270"/>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3" name="Freeform 23"/>
          <p:cNvSpPr/>
          <p:nvPr/>
        </p:nvSpPr>
        <p:spPr>
          <a:xfrm>
            <a:off x="8187170" y="3048270"/>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4" name="Freeform 24"/>
          <p:cNvSpPr/>
          <p:nvPr/>
        </p:nvSpPr>
        <p:spPr>
          <a:xfrm>
            <a:off x="8339381" y="3048270"/>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5" name="Freeform 25"/>
          <p:cNvSpPr/>
          <p:nvPr/>
        </p:nvSpPr>
        <p:spPr>
          <a:xfrm>
            <a:off x="8491592" y="3048270"/>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6" name="Freeform 26"/>
          <p:cNvSpPr/>
          <p:nvPr/>
        </p:nvSpPr>
        <p:spPr>
          <a:xfrm>
            <a:off x="8643802" y="3048270"/>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7" name="Freeform 27"/>
          <p:cNvSpPr/>
          <p:nvPr/>
        </p:nvSpPr>
        <p:spPr>
          <a:xfrm>
            <a:off x="7578328" y="3200484"/>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8" name="Freeform 28"/>
          <p:cNvSpPr/>
          <p:nvPr/>
        </p:nvSpPr>
        <p:spPr>
          <a:xfrm>
            <a:off x="7730539" y="3200484"/>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9" name="Freeform 29"/>
          <p:cNvSpPr/>
          <p:nvPr/>
        </p:nvSpPr>
        <p:spPr>
          <a:xfrm>
            <a:off x="7882749" y="3200484"/>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0" name="Freeform 30"/>
          <p:cNvSpPr/>
          <p:nvPr/>
        </p:nvSpPr>
        <p:spPr>
          <a:xfrm>
            <a:off x="8034960" y="3200484"/>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1" name="Freeform 31"/>
          <p:cNvSpPr/>
          <p:nvPr/>
        </p:nvSpPr>
        <p:spPr>
          <a:xfrm>
            <a:off x="8187170" y="3200484"/>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2" name="Freeform 32"/>
          <p:cNvSpPr/>
          <p:nvPr/>
        </p:nvSpPr>
        <p:spPr>
          <a:xfrm>
            <a:off x="8339381" y="3200484"/>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3" name="Freeform 33"/>
          <p:cNvSpPr/>
          <p:nvPr/>
        </p:nvSpPr>
        <p:spPr>
          <a:xfrm>
            <a:off x="8491592" y="3200484"/>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4" name="Freeform 34"/>
          <p:cNvSpPr/>
          <p:nvPr/>
        </p:nvSpPr>
        <p:spPr>
          <a:xfrm>
            <a:off x="8643802" y="3200484"/>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5" name="AutoShape 35"/>
          <p:cNvSpPr/>
          <p:nvPr/>
        </p:nvSpPr>
        <p:spPr>
          <a:xfrm>
            <a:off x="7704426" y="3598664"/>
            <a:ext cx="100965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High-dimensional Vector</a:t>
            </a:r>
            <a:endParaRPr lang="en-US" sz="1100"/>
          </a:p>
        </p:txBody>
      </p:sp>
      <p:sp>
        <p:nvSpPr>
          <p:cNvPr id="45" name="Freeform 45"/>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6" name="AutoShape 46"/>
          <p:cNvSpPr/>
          <p:nvPr/>
        </p:nvSpPr>
        <p:spPr>
          <a:xfrm>
            <a:off x="609519" y="5962594"/>
            <a:ext cx="80994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88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Embedding</a:t>
            </a:r>
            <a:r>
              <a:rPr lang="en-US" sz="88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A technique that maps Tokens to numerical vectors; </a:t>
            </a:r>
            <a:r>
              <a:rPr lang="en-US" sz="88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Vector</a:t>
            </a:r>
            <a:r>
              <a:rPr lang="en-US" sz="88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An ordered set of numbers representing features</a:t>
            </a:r>
            <a:endParaRPr lang="en-US" sz="1100"/>
          </a:p>
        </p:txBody>
      </p:sp>
      <p:sp>
        <p:nvSpPr>
          <p:cNvPr id="47" name="Freeform 47"/>
          <p:cNvSpPr/>
          <p:nvPr/>
        </p:nvSpPr>
        <p:spPr>
          <a:xfrm>
            <a:off x="5559380" y="3010709"/>
            <a:ext cx="342900" cy="300038"/>
          </a:xfrm>
          <a:custGeom>
            <a:avLst/>
            <a:gdLst/>
            <a:ahLst/>
            <a:cxnLst/>
            <a:rect l="l" t="t" r="r" b="b"/>
            <a:pathLst>
              <a:path w="342900" h="300038">
                <a:moveTo>
                  <a:pt x="0" y="32146"/>
                </a:moveTo>
                <a:cubicBezTo>
                  <a:pt x="0" y="14400"/>
                  <a:pt x="14399" y="0"/>
                  <a:pt x="32148" y="0"/>
                </a:cubicBezTo>
                <a:lnTo>
                  <a:pt x="96441" y="0"/>
                </a:lnTo>
                <a:cubicBezTo>
                  <a:pt x="114188" y="0"/>
                  <a:pt x="128588" y="14400"/>
                  <a:pt x="128588" y="32146"/>
                </a:cubicBezTo>
                <a:lnTo>
                  <a:pt x="128588" y="42863"/>
                </a:lnTo>
                <a:lnTo>
                  <a:pt x="214312" y="42863"/>
                </a:lnTo>
                <a:lnTo>
                  <a:pt x="214312" y="32146"/>
                </a:lnTo>
                <a:cubicBezTo>
                  <a:pt x="214312" y="14400"/>
                  <a:pt x="228712" y="0"/>
                  <a:pt x="246459" y="0"/>
                </a:cubicBezTo>
                <a:lnTo>
                  <a:pt x="310752" y="0"/>
                </a:lnTo>
                <a:cubicBezTo>
                  <a:pt x="328501" y="0"/>
                  <a:pt x="342900" y="14400"/>
                  <a:pt x="342900" y="32146"/>
                </a:cubicBezTo>
                <a:lnTo>
                  <a:pt x="342900" y="96442"/>
                </a:lnTo>
                <a:cubicBezTo>
                  <a:pt x="342900" y="114188"/>
                  <a:pt x="328501" y="128588"/>
                  <a:pt x="310752" y="128588"/>
                </a:cubicBezTo>
                <a:lnTo>
                  <a:pt x="246459" y="128588"/>
                </a:lnTo>
                <a:cubicBezTo>
                  <a:pt x="228712" y="128588"/>
                  <a:pt x="214312" y="114188"/>
                  <a:pt x="214312" y="96442"/>
                </a:cubicBezTo>
                <a:lnTo>
                  <a:pt x="214312" y="85725"/>
                </a:lnTo>
                <a:lnTo>
                  <a:pt x="128588" y="85725"/>
                </a:lnTo>
                <a:lnTo>
                  <a:pt x="128588" y="96442"/>
                </a:lnTo>
                <a:cubicBezTo>
                  <a:pt x="128588" y="101330"/>
                  <a:pt x="127450" y="106019"/>
                  <a:pt x="125506" y="110170"/>
                </a:cubicBezTo>
                <a:lnTo>
                  <a:pt x="171450" y="171450"/>
                </a:lnTo>
                <a:lnTo>
                  <a:pt x="225027" y="171450"/>
                </a:lnTo>
                <a:cubicBezTo>
                  <a:pt x="242776" y="171450"/>
                  <a:pt x="257175" y="185850"/>
                  <a:pt x="257175" y="203596"/>
                </a:cubicBezTo>
                <a:lnTo>
                  <a:pt x="257175" y="267892"/>
                </a:lnTo>
                <a:cubicBezTo>
                  <a:pt x="257175" y="285638"/>
                  <a:pt x="242776" y="300038"/>
                  <a:pt x="225027" y="300038"/>
                </a:cubicBezTo>
                <a:lnTo>
                  <a:pt x="160734" y="300038"/>
                </a:lnTo>
                <a:cubicBezTo>
                  <a:pt x="142987" y="300038"/>
                  <a:pt x="128588" y="285638"/>
                  <a:pt x="128588" y="267892"/>
                </a:cubicBezTo>
                <a:lnTo>
                  <a:pt x="128588" y="203596"/>
                </a:lnTo>
                <a:cubicBezTo>
                  <a:pt x="128588" y="198708"/>
                  <a:pt x="129725" y="194019"/>
                  <a:pt x="131669" y="189868"/>
                </a:cubicBezTo>
                <a:lnTo>
                  <a:pt x="85725" y="128588"/>
                </a:lnTo>
                <a:lnTo>
                  <a:pt x="32148" y="128588"/>
                </a:lnTo>
                <a:cubicBezTo>
                  <a:pt x="14399" y="128588"/>
                  <a:pt x="0" y="114188"/>
                  <a:pt x="0" y="96442"/>
                </a:cubicBezTo>
                <a:lnTo>
                  <a:pt x="0" y="32146"/>
                </a:lnTo>
                <a:close/>
              </a:path>
            </a:pathLst>
          </a:custGeom>
          <a:solidFill>
            <a:srgbClr val="FFFFFF">
              <a:alpha val="100000"/>
            </a:srgbClr>
          </a:solidFill>
          <a:ln w="12700" cap="flat">
            <a:solidFill>
              <a:srgbClr val="8DAAC2">
                <a:alpha val="100000"/>
              </a:srgbClr>
            </a:solidFill>
            <a:prstDash val="solid"/>
          </a:ln>
        </p:spPr>
        <p:txBody>
          <a:bodyPr wrap="square" lIns="91440" tIns="45720" rIns="91440" bIns="45720" rtlCol="0" anchor="t">
            <a:noAutofit/>
          </a:bodyPr>
          <a:lstStyle/>
          <a:p>
            <a:pPr indent="0" algn="l">
              <a:lnSpc>
                <a:spcPct val="100000"/>
              </a:lnSpc>
              <a:defRPr/>
            </a:pPr>
            <a:r>
              <a:rPr lang="en-US" sz="23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51" name="Freeform 33"/>
          <p:cNvSpPr/>
          <p:nvPr/>
        </p:nvSpPr>
        <p:spPr>
          <a:xfrm>
            <a:off x="1064260" y="4344035"/>
            <a:ext cx="9701530" cy="922020"/>
          </a:xfrm>
          <a:custGeom>
            <a:avLst/>
            <a:gdLst/>
            <a:ahLst/>
            <a:cxnLst/>
            <a:rect l="l" t="t" r="r" b="b"/>
            <a:pathLst>
              <a:path w="11409218" h="741218">
                <a:moveTo>
                  <a:pt x="114303" y="0"/>
                </a:moveTo>
                <a:lnTo>
                  <a:pt x="11294915" y="0"/>
                </a:lnTo>
                <a:cubicBezTo>
                  <a:pt x="11358043" y="0"/>
                  <a:pt x="11409218" y="51175"/>
                  <a:pt x="11409218" y="114303"/>
                </a:cubicBezTo>
                <a:lnTo>
                  <a:pt x="11409218" y="626915"/>
                </a:lnTo>
                <a:cubicBezTo>
                  <a:pt x="11409218" y="690043"/>
                  <a:pt x="11358043" y="741218"/>
                  <a:pt x="11294915" y="741218"/>
                </a:cubicBezTo>
                <a:lnTo>
                  <a:pt x="114303" y="741218"/>
                </a:lnTo>
                <a:cubicBezTo>
                  <a:pt x="51218" y="741218"/>
                  <a:pt x="0" y="690001"/>
                  <a:pt x="0" y="626915"/>
                </a:cubicBezTo>
                <a:lnTo>
                  <a:pt x="0" y="114303"/>
                </a:lnTo>
                <a:cubicBezTo>
                  <a:pt x="0" y="51218"/>
                  <a:pt x="51218" y="0"/>
                  <a:pt x="114303" y="0"/>
                </a:cubicBezTo>
                <a:close/>
              </a:path>
            </a:pathLst>
          </a:custGeom>
          <a:noFill/>
          <a:ln w="12700" cap="flat">
            <a:solidFill>
              <a:srgbClr val="8DAAC2">
                <a:alpha val="100000"/>
              </a:srgbClr>
            </a:solidFill>
            <a:prstDash val="solid"/>
          </a:ln>
        </p:spPr>
        <p:txBody>
          <a:bodyPr wrap="square" lIns="91440" tIns="45720" rIns="91440" bIns="45720" rtlCol="0" anchor="t">
            <a:noAutofit/>
          </a:bodyPr>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48" name="文本框 47"/>
          <p:cNvSpPr txBox="1"/>
          <p:nvPr/>
        </p:nvSpPr>
        <p:spPr>
          <a:xfrm>
            <a:off x="1334135" y="4452620"/>
            <a:ext cx="8917305" cy="738505"/>
          </a:xfrm>
          <a:prstGeom prst="rect">
            <a:avLst/>
          </a:prstGeom>
        </p:spPr>
        <p:txBody>
          <a:bodyPr wrap="square">
            <a:spAutoFit/>
          </a:bodyPr>
          <a:p>
            <a:pPr marL="0" algn="ctr">
              <a:lnSpc>
                <a:spcPct val="117000"/>
              </a:lnSpc>
              <a:buSzTx/>
              <a:defRPr/>
            </a:pPr>
            <a:r>
              <a:rPr lang="en-US" sz="1800" b="0" i="0">
                <a:solidFill>
                  <a:srgbClr val="333333"/>
                </a:solidFill>
                <a:latin typeface="MiSans" panose="00000500000000000000" charset="-122"/>
                <a:ea typeface="MiSans" panose="00000500000000000000" charset="-122"/>
                <a:cs typeface="MiSans" panose="00000500000000000000" charset="-122"/>
              </a:rPr>
              <a:t>The higher the dimension, the greater the model's capacity to capture subtle semantic features, but the higher the computational cost as well</a:t>
            </a:r>
            <a:endParaRPr lang="en-US" sz="1800" b="0" i="0">
              <a:solidFill>
                <a:srgbClr val="333333"/>
              </a:solidFill>
              <a:latin typeface="MiSans" panose="00000500000000000000" charset="-122"/>
              <a:ea typeface="MiSans" panose="00000500000000000000" charset="-122"/>
              <a:cs typeface="MiSans" panose="00000500000000000000" charset="-122"/>
            </a:endParaRPr>
          </a:p>
        </p:txBody>
      </p:sp>
    </p:spTree>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1 Input Processing</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0478"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2 Layer-by-Layer Computation</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Prediction</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Generation</a:t>
            </a:r>
            <a:endParaRPr lang="en-US" sz="1100"/>
          </a:p>
        </p:txBody>
      </p:sp>
      <p:sp>
        <p:nvSpPr>
          <p:cNvPr id="9" name="AutoShape 9"/>
          <p:cNvSpPr/>
          <p:nvPr/>
        </p:nvSpPr>
        <p:spPr>
          <a:xfrm>
            <a:off x="381000" y="76186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615" b="0" i="0" u="none" strike="noStrike">
                <a:solidFill>
                  <a:srgbClr val="5B92E5"/>
                </a:solidFill>
                <a:latin typeface="Alimama ShuHeiTi"/>
                <a:ea typeface="Alimama ShuHeiTi"/>
                <a:cs typeface="Alimama ShuHeiTi"/>
                <a:sym typeface="Alimama ShuHeiTi"/>
              </a:rPr>
              <a:t>Step 1.3 Positional Encoding</a:t>
            </a:r>
            <a:endParaRPr lang="en-US" sz="1100"/>
          </a:p>
        </p:txBody>
      </p:sp>
      <p:sp>
        <p:nvSpPr>
          <p:cNvPr id="10" name="AutoShape 10"/>
          <p:cNvSpPr/>
          <p:nvPr/>
        </p:nvSpPr>
        <p:spPr>
          <a:xfrm>
            <a:off x="333375" y="1831125"/>
            <a:ext cx="11525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8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Provides word order information to the model, distinguishing identical words at different positions</a:t>
            </a:r>
            <a:endParaRPr lang="en-US" sz="1100"/>
          </a:p>
        </p:txBody>
      </p:sp>
      <p:sp>
        <p:nvSpPr>
          <p:cNvPr id="11" name="Freeform 11"/>
          <p:cNvSpPr/>
          <p:nvPr/>
        </p:nvSpPr>
        <p:spPr>
          <a:xfrm>
            <a:off x="381000" y="2326314"/>
            <a:ext cx="5562600" cy="2019300"/>
          </a:xfrm>
          <a:custGeom>
            <a:avLst/>
            <a:gdLst/>
            <a:ahLst/>
            <a:cxnLst/>
            <a:rect l="l" t="t" r="r" b="b"/>
            <a:pathLst>
              <a:path w="5562600" h="2019300">
                <a:moveTo>
                  <a:pt x="152397" y="0"/>
                </a:moveTo>
                <a:lnTo>
                  <a:pt x="5410203" y="0"/>
                </a:lnTo>
                <a:cubicBezTo>
                  <a:pt x="5494371" y="0"/>
                  <a:pt x="5562600" y="68229"/>
                  <a:pt x="5562600" y="152397"/>
                </a:cubicBezTo>
                <a:lnTo>
                  <a:pt x="5562600" y="1866903"/>
                </a:lnTo>
                <a:cubicBezTo>
                  <a:pt x="5562600" y="1951071"/>
                  <a:pt x="5494371" y="2019300"/>
                  <a:pt x="5410203" y="2019300"/>
                </a:cubicBezTo>
                <a:lnTo>
                  <a:pt x="152397" y="2019300"/>
                </a:lnTo>
                <a:cubicBezTo>
                  <a:pt x="68229" y="2019300"/>
                  <a:pt x="0" y="1951071"/>
                  <a:pt x="0" y="1866903"/>
                </a:cubicBezTo>
                <a:lnTo>
                  <a:pt x="0" y="152397"/>
                </a:lnTo>
                <a:cubicBezTo>
                  <a:pt x="0" y="68229"/>
                  <a:pt x="68229" y="0"/>
                  <a:pt x="152397"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561894" y="2554839"/>
            <a:ext cx="5200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85"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"What is AI?"</a:t>
            </a:r>
            <a:endParaRPr lang="en-US" sz="1100"/>
          </a:p>
        </p:txBody>
      </p:sp>
      <p:sp>
        <p:nvSpPr>
          <p:cNvPr id="13" name="Freeform 13"/>
          <p:cNvSpPr/>
          <p:nvPr/>
        </p:nvSpPr>
        <p:spPr>
          <a:xfrm>
            <a:off x="609519" y="2973856"/>
            <a:ext cx="762000" cy="304800"/>
          </a:xfrm>
          <a:custGeom>
            <a:avLst/>
            <a:gdLst/>
            <a:ahLst/>
            <a:cxnLst/>
            <a:rect l="l" t="t" r="r" b="b"/>
            <a:pathLst>
              <a:path w="762000" h="304800">
                <a:moveTo>
                  <a:pt x="38100" y="0"/>
                </a:moveTo>
                <a:lnTo>
                  <a:pt x="723900" y="0"/>
                </a:lnTo>
                <a:cubicBezTo>
                  <a:pt x="744927" y="0"/>
                  <a:pt x="762000" y="17073"/>
                  <a:pt x="762000" y="38100"/>
                </a:cubicBezTo>
                <a:lnTo>
                  <a:pt x="762000" y="266700"/>
                </a:lnTo>
                <a:cubicBezTo>
                  <a:pt x="762000" y="287727"/>
                  <a:pt x="744927" y="304800"/>
                  <a:pt x="723900" y="304800"/>
                </a:cubicBezTo>
                <a:lnTo>
                  <a:pt x="38100" y="304800"/>
                </a:lnTo>
                <a:cubicBezTo>
                  <a:pt x="17073" y="304800"/>
                  <a:pt x="0" y="287727"/>
                  <a:pt x="0" y="2667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571419" y="2973856"/>
            <a:ext cx="838200" cy="304800"/>
          </a:xfrm>
          <a:prstGeom prst="rect">
            <a:avLst/>
          </a:prstGeom>
          <a:noFill/>
          <a:ln w="12700">
            <a:noFill/>
            <a:prstDash val="solid"/>
          </a:ln>
        </p:spPr>
        <p:txBody>
          <a:bodyPr wrap="square" lIns="114300" tIns="38100" rIns="114300" bIns="38100" rtlCol="0" anchor="ctr">
            <a:noAutofit/>
          </a:bodyPr>
          <a:lstStyle/>
          <a:p>
            <a:pPr indent="0" algn="ctr">
              <a:lnSpc>
                <a:spcPct val="133000"/>
              </a:lnSpc>
              <a:defRPr/>
            </a:pPr>
            <a:r>
              <a:rPr lang="en-US" sz="1075"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What</a:t>
            </a:r>
            <a:endParaRPr lang="en-US" sz="1100"/>
          </a:p>
        </p:txBody>
      </p:sp>
      <p:sp>
        <p:nvSpPr>
          <p:cNvPr id="15" name="AutoShape 15"/>
          <p:cNvSpPr/>
          <p:nvPr/>
        </p:nvSpPr>
        <p:spPr>
          <a:xfrm>
            <a:off x="1485710" y="3011872"/>
            <a:ext cx="4381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Position 1</a:t>
            </a:r>
            <a:endParaRPr lang="en-US" sz="1100"/>
          </a:p>
        </p:txBody>
      </p:sp>
      <p:sp>
        <p:nvSpPr>
          <p:cNvPr id="16" name="Freeform 16"/>
          <p:cNvSpPr/>
          <p:nvPr/>
        </p:nvSpPr>
        <p:spPr>
          <a:xfrm>
            <a:off x="609519" y="3392602"/>
            <a:ext cx="762000" cy="304800"/>
          </a:xfrm>
          <a:custGeom>
            <a:avLst/>
            <a:gdLst/>
            <a:ahLst/>
            <a:cxnLst/>
            <a:rect l="l" t="t" r="r" b="b"/>
            <a:pathLst>
              <a:path w="762000" h="304800">
                <a:moveTo>
                  <a:pt x="38100" y="0"/>
                </a:moveTo>
                <a:lnTo>
                  <a:pt x="723900" y="0"/>
                </a:lnTo>
                <a:cubicBezTo>
                  <a:pt x="744927" y="0"/>
                  <a:pt x="762000" y="17073"/>
                  <a:pt x="762000" y="38100"/>
                </a:cubicBezTo>
                <a:lnTo>
                  <a:pt x="762000" y="266700"/>
                </a:lnTo>
                <a:cubicBezTo>
                  <a:pt x="762000" y="287727"/>
                  <a:pt x="744927" y="304800"/>
                  <a:pt x="723900" y="304800"/>
                </a:cubicBezTo>
                <a:lnTo>
                  <a:pt x="38100" y="304800"/>
                </a:lnTo>
                <a:cubicBezTo>
                  <a:pt x="17073" y="304800"/>
                  <a:pt x="0" y="287727"/>
                  <a:pt x="0" y="2667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571419" y="3392602"/>
            <a:ext cx="838200" cy="304800"/>
          </a:xfrm>
          <a:prstGeom prst="rect">
            <a:avLst/>
          </a:prstGeom>
          <a:noFill/>
          <a:ln w="12700">
            <a:noFill/>
            <a:prstDash val="solid"/>
          </a:ln>
        </p:spPr>
        <p:txBody>
          <a:bodyPr wrap="square" lIns="114300" tIns="38100" rIns="114300" bIns="38100" rtlCol="0" anchor="ctr">
            <a:noAutofit/>
          </a:bodyPr>
          <a:lstStyle/>
          <a:p>
            <a:pPr indent="0" algn="ctr">
              <a:lnSpc>
                <a:spcPct val="133000"/>
              </a:lnSpc>
              <a:defRPr/>
            </a:pPr>
            <a:r>
              <a:rPr lang="en-US" sz="1075"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is</a:t>
            </a:r>
            <a:endParaRPr lang="en-US" sz="1100"/>
          </a:p>
        </p:txBody>
      </p:sp>
      <p:sp>
        <p:nvSpPr>
          <p:cNvPr id="18" name="AutoShape 18"/>
          <p:cNvSpPr/>
          <p:nvPr/>
        </p:nvSpPr>
        <p:spPr>
          <a:xfrm>
            <a:off x="1485710" y="3430619"/>
            <a:ext cx="4667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Position 2</a:t>
            </a:r>
            <a:endParaRPr lang="en-US" sz="1100"/>
          </a:p>
        </p:txBody>
      </p:sp>
      <p:sp>
        <p:nvSpPr>
          <p:cNvPr id="19" name="Freeform 19"/>
          <p:cNvSpPr/>
          <p:nvPr/>
        </p:nvSpPr>
        <p:spPr>
          <a:xfrm>
            <a:off x="609519" y="3811358"/>
            <a:ext cx="762000" cy="304800"/>
          </a:xfrm>
          <a:custGeom>
            <a:avLst/>
            <a:gdLst/>
            <a:ahLst/>
            <a:cxnLst/>
            <a:rect l="l" t="t" r="r" b="b"/>
            <a:pathLst>
              <a:path w="762000" h="304800">
                <a:moveTo>
                  <a:pt x="38100" y="0"/>
                </a:moveTo>
                <a:lnTo>
                  <a:pt x="723900" y="0"/>
                </a:lnTo>
                <a:cubicBezTo>
                  <a:pt x="744927" y="0"/>
                  <a:pt x="762000" y="17073"/>
                  <a:pt x="762000" y="38100"/>
                </a:cubicBezTo>
                <a:lnTo>
                  <a:pt x="762000" y="266700"/>
                </a:lnTo>
                <a:cubicBezTo>
                  <a:pt x="762000" y="287727"/>
                  <a:pt x="744927" y="304800"/>
                  <a:pt x="723900" y="304800"/>
                </a:cubicBezTo>
                <a:lnTo>
                  <a:pt x="38100" y="304800"/>
                </a:lnTo>
                <a:cubicBezTo>
                  <a:pt x="17073" y="304800"/>
                  <a:pt x="0" y="287727"/>
                  <a:pt x="0" y="266700"/>
                </a:cubicBezTo>
                <a:lnTo>
                  <a:pt x="0" y="38100"/>
                </a:lnTo>
                <a:cubicBezTo>
                  <a:pt x="0" y="17073"/>
                  <a:pt x="17073" y="0"/>
                  <a:pt x="38100"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571419" y="3811358"/>
            <a:ext cx="838200" cy="304800"/>
          </a:xfrm>
          <a:prstGeom prst="rect">
            <a:avLst/>
          </a:prstGeom>
          <a:noFill/>
          <a:ln w="12700">
            <a:noFill/>
            <a:prstDash val="solid"/>
          </a:ln>
        </p:spPr>
        <p:txBody>
          <a:bodyPr wrap="square" lIns="114300" tIns="38100" rIns="114300" bIns="38100" rtlCol="0" anchor="ctr">
            <a:noAutofit/>
          </a:bodyPr>
          <a:lstStyle/>
          <a:p>
            <a:pPr indent="0" algn="ctr">
              <a:lnSpc>
                <a:spcPct val="133000"/>
              </a:lnSpc>
              <a:defRPr/>
            </a:pPr>
            <a:r>
              <a:rPr lang="en-US" sz="1075"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AI</a:t>
            </a:r>
            <a:endParaRPr lang="en-US" sz="1100"/>
          </a:p>
        </p:txBody>
      </p:sp>
      <p:sp>
        <p:nvSpPr>
          <p:cNvPr id="21" name="AutoShape 21"/>
          <p:cNvSpPr/>
          <p:nvPr/>
        </p:nvSpPr>
        <p:spPr>
          <a:xfrm>
            <a:off x="1485710" y="3849365"/>
            <a:ext cx="4667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Position 3</a:t>
            </a:r>
            <a:endParaRPr lang="en-US" sz="1100"/>
          </a:p>
        </p:txBody>
      </p:sp>
      <p:sp>
        <p:nvSpPr>
          <p:cNvPr id="22" name="Freeform 22"/>
          <p:cNvSpPr/>
          <p:nvPr/>
        </p:nvSpPr>
        <p:spPr>
          <a:xfrm>
            <a:off x="6248346" y="2326314"/>
            <a:ext cx="5562600" cy="2019300"/>
          </a:xfrm>
          <a:custGeom>
            <a:avLst/>
            <a:gdLst/>
            <a:ahLst/>
            <a:cxnLst/>
            <a:rect l="l" t="t" r="r" b="b"/>
            <a:pathLst>
              <a:path w="5562600" h="2019300">
                <a:moveTo>
                  <a:pt x="152397" y="0"/>
                </a:moveTo>
                <a:lnTo>
                  <a:pt x="5410203" y="0"/>
                </a:lnTo>
                <a:cubicBezTo>
                  <a:pt x="5494371" y="0"/>
                  <a:pt x="5562600" y="68229"/>
                  <a:pt x="5562600" y="152397"/>
                </a:cubicBezTo>
                <a:lnTo>
                  <a:pt x="5562600" y="1866903"/>
                </a:lnTo>
                <a:cubicBezTo>
                  <a:pt x="5562600" y="1951071"/>
                  <a:pt x="5494371" y="2019300"/>
                  <a:pt x="5410203" y="2019300"/>
                </a:cubicBezTo>
                <a:lnTo>
                  <a:pt x="152397" y="2019300"/>
                </a:lnTo>
                <a:cubicBezTo>
                  <a:pt x="68229" y="2019300"/>
                  <a:pt x="0" y="1951071"/>
                  <a:pt x="0" y="1866903"/>
                </a:cubicBezTo>
                <a:lnTo>
                  <a:pt x="0" y="152397"/>
                </a:lnTo>
                <a:cubicBezTo>
                  <a:pt x="0" y="68229"/>
                  <a:pt x="68229" y="0"/>
                  <a:pt x="152397"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6429240" y="2554839"/>
            <a:ext cx="5200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85"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"Is What AI"</a:t>
            </a:r>
            <a:endParaRPr lang="en-US" sz="1100"/>
          </a:p>
        </p:txBody>
      </p:sp>
      <p:sp>
        <p:nvSpPr>
          <p:cNvPr id="24" name="Freeform 24"/>
          <p:cNvSpPr/>
          <p:nvPr/>
        </p:nvSpPr>
        <p:spPr>
          <a:xfrm>
            <a:off x="6476865" y="2973856"/>
            <a:ext cx="762000" cy="304800"/>
          </a:xfrm>
          <a:custGeom>
            <a:avLst/>
            <a:gdLst/>
            <a:ahLst/>
            <a:cxnLst/>
            <a:rect l="l" t="t" r="r" b="b"/>
            <a:pathLst>
              <a:path w="762000" h="304800">
                <a:moveTo>
                  <a:pt x="38100" y="0"/>
                </a:moveTo>
                <a:lnTo>
                  <a:pt x="723900" y="0"/>
                </a:lnTo>
                <a:cubicBezTo>
                  <a:pt x="744927" y="0"/>
                  <a:pt x="762000" y="17073"/>
                  <a:pt x="762000" y="38100"/>
                </a:cubicBezTo>
                <a:lnTo>
                  <a:pt x="762000" y="266700"/>
                </a:lnTo>
                <a:cubicBezTo>
                  <a:pt x="762000" y="287727"/>
                  <a:pt x="744927" y="304800"/>
                  <a:pt x="723900" y="304800"/>
                </a:cubicBezTo>
                <a:lnTo>
                  <a:pt x="38100" y="304800"/>
                </a:lnTo>
                <a:cubicBezTo>
                  <a:pt x="17073" y="304800"/>
                  <a:pt x="0" y="287727"/>
                  <a:pt x="0" y="2667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5" name="AutoShape 25"/>
          <p:cNvSpPr/>
          <p:nvPr/>
        </p:nvSpPr>
        <p:spPr>
          <a:xfrm>
            <a:off x="6438765" y="2973856"/>
            <a:ext cx="838200" cy="304800"/>
          </a:xfrm>
          <a:prstGeom prst="rect">
            <a:avLst/>
          </a:prstGeom>
          <a:noFill/>
          <a:ln w="12700">
            <a:noFill/>
            <a:prstDash val="solid"/>
          </a:ln>
        </p:spPr>
        <p:txBody>
          <a:bodyPr wrap="square" lIns="114300" tIns="38100" rIns="114300" bIns="38100" rtlCol="0" anchor="ctr">
            <a:noAutofit/>
          </a:bodyPr>
          <a:lstStyle/>
          <a:p>
            <a:pPr indent="0" algn="ctr">
              <a:lnSpc>
                <a:spcPct val="133000"/>
              </a:lnSpc>
              <a:defRPr/>
            </a:pPr>
            <a:r>
              <a:rPr lang="en-US" sz="1075"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Is</a:t>
            </a:r>
            <a:endParaRPr lang="en-US" sz="1100"/>
          </a:p>
        </p:txBody>
      </p:sp>
      <p:sp>
        <p:nvSpPr>
          <p:cNvPr id="26" name="AutoShape 26"/>
          <p:cNvSpPr/>
          <p:nvPr/>
        </p:nvSpPr>
        <p:spPr>
          <a:xfrm>
            <a:off x="7353056" y="3011872"/>
            <a:ext cx="4381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Position 1</a:t>
            </a:r>
            <a:endParaRPr lang="en-US" sz="1100"/>
          </a:p>
        </p:txBody>
      </p:sp>
      <p:sp>
        <p:nvSpPr>
          <p:cNvPr id="27" name="Freeform 27"/>
          <p:cNvSpPr/>
          <p:nvPr/>
        </p:nvSpPr>
        <p:spPr>
          <a:xfrm>
            <a:off x="6476865" y="3392602"/>
            <a:ext cx="762000" cy="304800"/>
          </a:xfrm>
          <a:custGeom>
            <a:avLst/>
            <a:gdLst/>
            <a:ahLst/>
            <a:cxnLst/>
            <a:rect l="l" t="t" r="r" b="b"/>
            <a:pathLst>
              <a:path w="762000" h="304800">
                <a:moveTo>
                  <a:pt x="38100" y="0"/>
                </a:moveTo>
                <a:lnTo>
                  <a:pt x="723900" y="0"/>
                </a:lnTo>
                <a:cubicBezTo>
                  <a:pt x="744927" y="0"/>
                  <a:pt x="762000" y="17073"/>
                  <a:pt x="762000" y="38100"/>
                </a:cubicBezTo>
                <a:lnTo>
                  <a:pt x="762000" y="266700"/>
                </a:lnTo>
                <a:cubicBezTo>
                  <a:pt x="762000" y="287727"/>
                  <a:pt x="744927" y="304800"/>
                  <a:pt x="723900" y="304800"/>
                </a:cubicBezTo>
                <a:lnTo>
                  <a:pt x="38100" y="304800"/>
                </a:lnTo>
                <a:cubicBezTo>
                  <a:pt x="17073" y="304800"/>
                  <a:pt x="0" y="287727"/>
                  <a:pt x="0" y="2667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8" name="AutoShape 28"/>
          <p:cNvSpPr/>
          <p:nvPr/>
        </p:nvSpPr>
        <p:spPr>
          <a:xfrm>
            <a:off x="6438765" y="3392602"/>
            <a:ext cx="838200" cy="304800"/>
          </a:xfrm>
          <a:prstGeom prst="rect">
            <a:avLst/>
          </a:prstGeom>
          <a:noFill/>
          <a:ln w="12700">
            <a:noFill/>
            <a:prstDash val="solid"/>
          </a:ln>
        </p:spPr>
        <p:txBody>
          <a:bodyPr wrap="square" lIns="114300" tIns="38100" rIns="114300" bIns="38100" rtlCol="0" anchor="ctr">
            <a:noAutofit/>
          </a:bodyPr>
          <a:lstStyle/>
          <a:p>
            <a:pPr indent="0" algn="ctr">
              <a:lnSpc>
                <a:spcPct val="133000"/>
              </a:lnSpc>
              <a:defRPr/>
            </a:pPr>
            <a:r>
              <a:rPr lang="en-US" sz="1075"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What</a:t>
            </a:r>
            <a:endParaRPr lang="en-US" sz="1100"/>
          </a:p>
        </p:txBody>
      </p:sp>
      <p:sp>
        <p:nvSpPr>
          <p:cNvPr id="29" name="AutoShape 29"/>
          <p:cNvSpPr/>
          <p:nvPr/>
        </p:nvSpPr>
        <p:spPr>
          <a:xfrm>
            <a:off x="7353056" y="3430619"/>
            <a:ext cx="4667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Position 2</a:t>
            </a:r>
            <a:endParaRPr lang="en-US" sz="1100"/>
          </a:p>
        </p:txBody>
      </p:sp>
      <p:sp>
        <p:nvSpPr>
          <p:cNvPr id="30" name="Freeform 30"/>
          <p:cNvSpPr/>
          <p:nvPr/>
        </p:nvSpPr>
        <p:spPr>
          <a:xfrm>
            <a:off x="6476865" y="3811358"/>
            <a:ext cx="762000" cy="304800"/>
          </a:xfrm>
          <a:custGeom>
            <a:avLst/>
            <a:gdLst/>
            <a:ahLst/>
            <a:cxnLst/>
            <a:rect l="l" t="t" r="r" b="b"/>
            <a:pathLst>
              <a:path w="762000" h="304800">
                <a:moveTo>
                  <a:pt x="38100" y="0"/>
                </a:moveTo>
                <a:lnTo>
                  <a:pt x="723900" y="0"/>
                </a:lnTo>
                <a:cubicBezTo>
                  <a:pt x="744927" y="0"/>
                  <a:pt x="762000" y="17073"/>
                  <a:pt x="762000" y="38100"/>
                </a:cubicBezTo>
                <a:lnTo>
                  <a:pt x="762000" y="266700"/>
                </a:lnTo>
                <a:cubicBezTo>
                  <a:pt x="762000" y="287727"/>
                  <a:pt x="744927" y="304800"/>
                  <a:pt x="723900" y="304800"/>
                </a:cubicBezTo>
                <a:lnTo>
                  <a:pt x="38100" y="304800"/>
                </a:lnTo>
                <a:cubicBezTo>
                  <a:pt x="17073" y="304800"/>
                  <a:pt x="0" y="287727"/>
                  <a:pt x="0" y="266700"/>
                </a:cubicBezTo>
                <a:lnTo>
                  <a:pt x="0" y="38100"/>
                </a:lnTo>
                <a:cubicBezTo>
                  <a:pt x="0" y="17073"/>
                  <a:pt x="17073" y="0"/>
                  <a:pt x="38100"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6438765" y="3811358"/>
            <a:ext cx="838200" cy="304800"/>
          </a:xfrm>
          <a:prstGeom prst="rect">
            <a:avLst/>
          </a:prstGeom>
          <a:noFill/>
          <a:ln w="12700">
            <a:noFill/>
            <a:prstDash val="solid"/>
          </a:ln>
        </p:spPr>
        <p:txBody>
          <a:bodyPr wrap="square" lIns="114300" tIns="38100" rIns="114300" bIns="38100" rtlCol="0" anchor="ctr">
            <a:noAutofit/>
          </a:bodyPr>
          <a:lstStyle/>
          <a:p>
            <a:pPr indent="0" algn="ctr">
              <a:lnSpc>
                <a:spcPct val="133000"/>
              </a:lnSpc>
              <a:defRPr/>
            </a:pPr>
            <a:r>
              <a:rPr lang="en-US" sz="1075"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AI</a:t>
            </a:r>
            <a:endParaRPr lang="en-US" sz="1100"/>
          </a:p>
        </p:txBody>
      </p:sp>
      <p:sp>
        <p:nvSpPr>
          <p:cNvPr id="32" name="AutoShape 32"/>
          <p:cNvSpPr/>
          <p:nvPr/>
        </p:nvSpPr>
        <p:spPr>
          <a:xfrm>
            <a:off x="7353056" y="3849365"/>
            <a:ext cx="4667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Position 3</a:t>
            </a:r>
            <a:endParaRPr lang="en-US" sz="1100"/>
          </a:p>
        </p:txBody>
      </p:sp>
      <p:sp>
        <p:nvSpPr>
          <p:cNvPr id="33" name="Freeform 33"/>
          <p:cNvSpPr/>
          <p:nvPr/>
        </p:nvSpPr>
        <p:spPr>
          <a:xfrm>
            <a:off x="389659" y="4581608"/>
            <a:ext cx="11409218" cy="741218"/>
          </a:xfrm>
          <a:custGeom>
            <a:avLst/>
            <a:gdLst/>
            <a:ahLst/>
            <a:cxnLst/>
            <a:rect l="l" t="t" r="r" b="b"/>
            <a:pathLst>
              <a:path w="11409218" h="741218">
                <a:moveTo>
                  <a:pt x="114303" y="0"/>
                </a:moveTo>
                <a:lnTo>
                  <a:pt x="11294915" y="0"/>
                </a:lnTo>
                <a:cubicBezTo>
                  <a:pt x="11358043" y="0"/>
                  <a:pt x="11409218" y="51175"/>
                  <a:pt x="11409218" y="114303"/>
                </a:cubicBezTo>
                <a:lnTo>
                  <a:pt x="11409218" y="626915"/>
                </a:lnTo>
                <a:cubicBezTo>
                  <a:pt x="11409218" y="690043"/>
                  <a:pt x="11358043" y="741218"/>
                  <a:pt x="11294915" y="741218"/>
                </a:cubicBezTo>
                <a:lnTo>
                  <a:pt x="114303" y="741218"/>
                </a:lnTo>
                <a:cubicBezTo>
                  <a:pt x="51218" y="741218"/>
                  <a:pt x="0" y="690001"/>
                  <a:pt x="0" y="626915"/>
                </a:cubicBezTo>
                <a:lnTo>
                  <a:pt x="0" y="114303"/>
                </a:lnTo>
                <a:cubicBezTo>
                  <a:pt x="0" y="51218"/>
                  <a:pt x="51218" y="0"/>
                  <a:pt x="114303" y="0"/>
                </a:cubicBezTo>
                <a:close/>
              </a:path>
            </a:pathLst>
          </a:custGeom>
          <a:noFill/>
          <a:ln w="12700" cap="flat">
            <a:solidFill>
              <a:srgbClr val="8DAAC2">
                <a:alpha val="100000"/>
              </a:srgbClr>
            </a:solid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34" name="AutoShape 34"/>
          <p:cNvSpPr/>
          <p:nvPr/>
        </p:nvSpPr>
        <p:spPr>
          <a:xfrm>
            <a:off x="531668" y="4780769"/>
            <a:ext cx="11125200" cy="3429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99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Word Vector </a:t>
            </a:r>
            <a:r>
              <a:rPr lang="en-US" sz="127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a:t>
            </a:r>
            <a:r>
              <a:rPr lang="en-US" sz="99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Position Vector </a:t>
            </a:r>
            <a:r>
              <a:rPr lang="en-US" sz="99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a:t>
            </a:r>
            <a:r>
              <a:rPr lang="en-US" sz="99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Final Vector</a:t>
            </a:r>
            <a:endParaRPr lang="en-US" sz="1100"/>
          </a:p>
        </p:txBody>
      </p:sp>
      <p:sp>
        <p:nvSpPr>
          <p:cNvPr id="35" name="Freeform 35"/>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6" name="AutoShape 36"/>
          <p:cNvSpPr/>
          <p:nvPr/>
        </p:nvSpPr>
        <p:spPr>
          <a:xfrm>
            <a:off x="609519" y="5962594"/>
            <a:ext cx="6113570" cy="218591"/>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700" b="1"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Positional </a:t>
            </a:r>
            <a:r>
              <a:rPr lang="en-US" sz="700" b="1"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Encoding</a:t>
            </a:r>
            <a:r>
              <a:rPr lang="en-US" sz="7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a:t>
            </a:r>
            <a:r>
              <a:rPr lang="en-US" sz="700" b="0"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 technique that provides word order information to the model</a:t>
            </a:r>
            <a:endParaRPr lang="en-US" sz="1100" dirty="0"/>
          </a:p>
        </p:txBody>
      </p:sp>
    </p:spTree>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1 Input Processing</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-&gt;</a:t>
            </a:r>
            <a:endParaRPr lang="en-US" sz="1100"/>
          </a:p>
        </p:txBody>
      </p:sp>
      <p:sp>
        <p:nvSpPr>
          <p:cNvPr id="4" name="AutoShape 4"/>
          <p:cNvSpPr/>
          <p:nvPr/>
        </p:nvSpPr>
        <p:spPr>
          <a:xfrm>
            <a:off x="1764425" y="381000"/>
            <a:ext cx="1180478"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2 Layer-by-Layer Computation</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-&gt;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Prediction</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-&gt;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Generation</a:t>
            </a:r>
            <a:endParaRPr lang="en-US" sz="1100"/>
          </a:p>
        </p:txBody>
      </p:sp>
      <p:sp>
        <p:nvSpPr>
          <p:cNvPr id="9" name="AutoShape 9"/>
          <p:cNvSpPr/>
          <p:nvPr/>
        </p:nvSpPr>
        <p:spPr>
          <a:xfrm>
            <a:off x="381000" y="76187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615" b="0" i="0" u="none" strike="noStrike">
                <a:solidFill>
                  <a:srgbClr val="5B92E5"/>
                </a:solidFill>
                <a:latin typeface="Alimama ShuHeiTi"/>
                <a:ea typeface="Alimama ShuHeiTi"/>
                <a:cs typeface="Alimama ShuHeiTi"/>
                <a:sym typeface="Alimama ShuHeiTi"/>
              </a:rPr>
              <a:t>Step 1.4 Final Representation</a:t>
            </a:r>
            <a:endParaRPr lang="en-US" sz="1100"/>
          </a:p>
        </p:txBody>
      </p:sp>
      <p:sp>
        <p:nvSpPr>
          <p:cNvPr id="10" name="AutoShape 10"/>
          <p:cNvSpPr/>
          <p:nvPr/>
        </p:nvSpPr>
        <p:spPr>
          <a:xfrm>
            <a:off x="333375" y="2596381"/>
            <a:ext cx="11525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8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Fusing semantic features with positional information to form the final input representation</a:t>
            </a:r>
            <a:endParaRPr lang="en-US" sz="1100"/>
          </a:p>
        </p:txBody>
      </p:sp>
      <p:sp>
        <p:nvSpPr>
          <p:cNvPr id="11" name="Freeform 11"/>
          <p:cNvSpPr/>
          <p:nvPr/>
        </p:nvSpPr>
        <p:spPr>
          <a:xfrm>
            <a:off x="3266236" y="3193711"/>
            <a:ext cx="1274618" cy="665018"/>
          </a:xfrm>
          <a:custGeom>
            <a:avLst/>
            <a:gdLst/>
            <a:ahLst/>
            <a:cxnLst/>
            <a:rect l="l" t="t" r="r" b="b"/>
            <a:pathLst>
              <a:path w="1274618" h="665018">
                <a:moveTo>
                  <a:pt x="114303" y="0"/>
                </a:moveTo>
                <a:lnTo>
                  <a:pt x="1160315" y="0"/>
                </a:lnTo>
                <a:cubicBezTo>
                  <a:pt x="1223443" y="0"/>
                  <a:pt x="1274618" y="51175"/>
                  <a:pt x="1274618" y="114303"/>
                </a:cubicBezTo>
                <a:lnTo>
                  <a:pt x="1274618" y="550715"/>
                </a:lnTo>
                <a:cubicBezTo>
                  <a:pt x="1274618" y="613843"/>
                  <a:pt x="1223443" y="665018"/>
                  <a:pt x="1160315" y="665018"/>
                </a:cubicBezTo>
                <a:lnTo>
                  <a:pt x="114303" y="665018"/>
                </a:lnTo>
                <a:cubicBezTo>
                  <a:pt x="51175" y="665018"/>
                  <a:pt x="0" y="613843"/>
                  <a:pt x="0" y="550715"/>
                </a:cubicBezTo>
                <a:lnTo>
                  <a:pt x="0" y="114303"/>
                </a:lnTo>
                <a:cubicBezTo>
                  <a:pt x="0" y="51175"/>
                  <a:pt x="51175" y="0"/>
                  <a:pt x="114303" y="0"/>
                </a:cubicBezTo>
                <a:close/>
              </a:path>
            </a:pathLst>
          </a:custGeom>
          <a:no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12" name="Freeform 12"/>
          <p:cNvSpPr/>
          <p:nvPr/>
        </p:nvSpPr>
        <p:spPr>
          <a:xfrm>
            <a:off x="3465395"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3617606"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3769816"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3922027"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4074237"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7" name="Freeform 17"/>
          <p:cNvSpPr/>
          <p:nvPr/>
        </p:nvSpPr>
        <p:spPr>
          <a:xfrm>
            <a:off x="4226448"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3465395"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3617606"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3769816"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3922027"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2" name="Freeform 22"/>
          <p:cNvSpPr/>
          <p:nvPr/>
        </p:nvSpPr>
        <p:spPr>
          <a:xfrm>
            <a:off x="4074237"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3" name="Freeform 23"/>
          <p:cNvSpPr/>
          <p:nvPr/>
        </p:nvSpPr>
        <p:spPr>
          <a:xfrm>
            <a:off x="4226448"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4" name="AutoShape 24"/>
          <p:cNvSpPr/>
          <p:nvPr/>
        </p:nvSpPr>
        <p:spPr>
          <a:xfrm>
            <a:off x="3645748" y="3981283"/>
            <a:ext cx="6000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45"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Word Vector</a:t>
            </a:r>
            <a:endParaRPr lang="en-US" sz="1100"/>
          </a:p>
        </p:txBody>
      </p:sp>
      <p:sp>
        <p:nvSpPr>
          <p:cNvPr id="25" name="AutoShape 25"/>
          <p:cNvSpPr/>
          <p:nvPr/>
        </p:nvSpPr>
        <p:spPr>
          <a:xfrm>
            <a:off x="3598123" y="4247815"/>
            <a:ext cx="685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Semantic Features</a:t>
            </a:r>
            <a:endParaRPr lang="en-US" sz="1100"/>
          </a:p>
        </p:txBody>
      </p:sp>
      <p:sp>
        <p:nvSpPr>
          <p:cNvPr id="26" name="AutoShape 26"/>
          <p:cNvSpPr/>
          <p:nvPr/>
        </p:nvSpPr>
        <p:spPr>
          <a:xfrm>
            <a:off x="4853150" y="3602050"/>
            <a:ext cx="504825" cy="457200"/>
          </a:xfrm>
          <a:prstGeom prst="rect">
            <a:avLst/>
          </a:prstGeom>
          <a:noFill/>
          <a:ln w="12700">
            <a:noFill/>
            <a:prstDash val="solid"/>
          </a:ln>
        </p:spPr>
        <p:txBody>
          <a:bodyPr wrap="square" lIns="0" tIns="0" rIns="0" bIns="0" rtlCol="0" anchor="ctr">
            <a:noAutofit/>
          </a:bodyPr>
          <a:lstStyle/>
          <a:p>
            <a:pPr indent="0" algn="l">
              <a:lnSpc>
                <a:spcPct val="83000"/>
              </a:lnSpc>
              <a:defRPr/>
            </a:pPr>
            <a:r>
              <a:rPr lang="en-US" sz="1845"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27" name="Freeform 27"/>
          <p:cNvSpPr/>
          <p:nvPr/>
        </p:nvSpPr>
        <p:spPr>
          <a:xfrm>
            <a:off x="5441833" y="3193711"/>
            <a:ext cx="1274618" cy="665018"/>
          </a:xfrm>
          <a:custGeom>
            <a:avLst/>
            <a:gdLst/>
            <a:ahLst/>
            <a:cxnLst/>
            <a:rect l="l" t="t" r="r" b="b"/>
            <a:pathLst>
              <a:path w="1274618" h="665018">
                <a:moveTo>
                  <a:pt x="114303" y="0"/>
                </a:moveTo>
                <a:lnTo>
                  <a:pt x="1160315" y="0"/>
                </a:lnTo>
                <a:cubicBezTo>
                  <a:pt x="1223443" y="0"/>
                  <a:pt x="1274618" y="51175"/>
                  <a:pt x="1274618" y="114303"/>
                </a:cubicBezTo>
                <a:lnTo>
                  <a:pt x="1274618" y="550715"/>
                </a:lnTo>
                <a:cubicBezTo>
                  <a:pt x="1274618" y="613843"/>
                  <a:pt x="1223443" y="665018"/>
                  <a:pt x="1160315" y="665018"/>
                </a:cubicBezTo>
                <a:lnTo>
                  <a:pt x="114303" y="665018"/>
                </a:lnTo>
                <a:cubicBezTo>
                  <a:pt x="51175" y="665018"/>
                  <a:pt x="0" y="613843"/>
                  <a:pt x="0" y="550715"/>
                </a:cubicBezTo>
                <a:lnTo>
                  <a:pt x="0" y="114303"/>
                </a:lnTo>
                <a:cubicBezTo>
                  <a:pt x="0" y="51175"/>
                  <a:pt x="51175" y="0"/>
                  <a:pt x="114303" y="0"/>
                </a:cubicBezTo>
                <a:close/>
              </a:path>
            </a:pathLst>
          </a:custGeom>
          <a:solidFill>
            <a:srgbClr val="5B92E5">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28" name="Freeform 28"/>
          <p:cNvSpPr/>
          <p:nvPr/>
        </p:nvSpPr>
        <p:spPr>
          <a:xfrm>
            <a:off x="5640992"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29" name="Freeform 29"/>
          <p:cNvSpPr/>
          <p:nvPr/>
        </p:nvSpPr>
        <p:spPr>
          <a:xfrm>
            <a:off x="5793202"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30" name="Freeform 30"/>
          <p:cNvSpPr/>
          <p:nvPr/>
        </p:nvSpPr>
        <p:spPr>
          <a:xfrm>
            <a:off x="5945413"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31" name="Freeform 31"/>
          <p:cNvSpPr/>
          <p:nvPr/>
        </p:nvSpPr>
        <p:spPr>
          <a:xfrm>
            <a:off x="6097623"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32" name="Freeform 32"/>
          <p:cNvSpPr/>
          <p:nvPr/>
        </p:nvSpPr>
        <p:spPr>
          <a:xfrm>
            <a:off x="6249834"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33" name="Freeform 33"/>
          <p:cNvSpPr/>
          <p:nvPr/>
        </p:nvSpPr>
        <p:spPr>
          <a:xfrm>
            <a:off x="6402045"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34" name="Freeform 34"/>
          <p:cNvSpPr/>
          <p:nvPr/>
        </p:nvSpPr>
        <p:spPr>
          <a:xfrm>
            <a:off x="5640992"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35" name="Freeform 35"/>
          <p:cNvSpPr/>
          <p:nvPr/>
        </p:nvSpPr>
        <p:spPr>
          <a:xfrm>
            <a:off x="5793202"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36" name="Freeform 36"/>
          <p:cNvSpPr/>
          <p:nvPr/>
        </p:nvSpPr>
        <p:spPr>
          <a:xfrm>
            <a:off x="5945413"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37" name="Freeform 37"/>
          <p:cNvSpPr/>
          <p:nvPr/>
        </p:nvSpPr>
        <p:spPr>
          <a:xfrm>
            <a:off x="6097623"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38" name="Freeform 38"/>
          <p:cNvSpPr/>
          <p:nvPr/>
        </p:nvSpPr>
        <p:spPr>
          <a:xfrm>
            <a:off x="6249834"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39" name="Freeform 39"/>
          <p:cNvSpPr/>
          <p:nvPr/>
        </p:nvSpPr>
        <p:spPr>
          <a:xfrm>
            <a:off x="6402045"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40" name="AutoShape 40"/>
          <p:cNvSpPr/>
          <p:nvPr/>
        </p:nvSpPr>
        <p:spPr>
          <a:xfrm>
            <a:off x="5735700" y="3981283"/>
            <a:ext cx="771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5" b="1" i="0" u="none" strike="noStrike">
                <a:solidFill>
                  <a:srgbClr val="87CEEB"/>
                </a:solidFill>
                <a:latin typeface="MiSans" panose="00000500000000000000" charset="-122"/>
                <a:ea typeface="MiSans" panose="00000500000000000000" charset="-122"/>
                <a:cs typeface="MiSans" panose="00000500000000000000" charset="-122"/>
                <a:sym typeface="MiSans" panose="00000500000000000000" charset="-122"/>
              </a:rPr>
              <a:t>Positional Vector</a:t>
            </a:r>
            <a:endParaRPr lang="en-US" sz="1100"/>
          </a:p>
        </p:txBody>
      </p:sp>
      <p:sp>
        <p:nvSpPr>
          <p:cNvPr id="41" name="AutoShape 41"/>
          <p:cNvSpPr/>
          <p:nvPr/>
        </p:nvSpPr>
        <p:spPr>
          <a:xfrm>
            <a:off x="5773719" y="4247815"/>
            <a:ext cx="685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Sequential Information</a:t>
            </a:r>
            <a:endParaRPr lang="en-US" sz="1100"/>
          </a:p>
        </p:txBody>
      </p:sp>
      <p:sp>
        <p:nvSpPr>
          <p:cNvPr id="42" name="AutoShape 42"/>
          <p:cNvSpPr/>
          <p:nvPr/>
        </p:nvSpPr>
        <p:spPr>
          <a:xfrm>
            <a:off x="7028746" y="3602050"/>
            <a:ext cx="504825" cy="457200"/>
          </a:xfrm>
          <a:prstGeom prst="rect">
            <a:avLst/>
          </a:prstGeom>
          <a:noFill/>
          <a:ln w="12700">
            <a:noFill/>
            <a:prstDash val="solid"/>
          </a:ln>
        </p:spPr>
        <p:txBody>
          <a:bodyPr wrap="square" lIns="0" tIns="0" rIns="0" bIns="0" rtlCol="0" anchor="ctr">
            <a:noAutofit/>
          </a:bodyPr>
          <a:lstStyle/>
          <a:p>
            <a:pPr indent="0" algn="l">
              <a:lnSpc>
                <a:spcPct val="83000"/>
              </a:lnSpc>
              <a:defRPr/>
            </a:pPr>
            <a:r>
              <a:rPr lang="en-US" sz="1845"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3" name="Freeform 43"/>
          <p:cNvSpPr/>
          <p:nvPr/>
        </p:nvSpPr>
        <p:spPr>
          <a:xfrm>
            <a:off x="7626088" y="3185050"/>
            <a:ext cx="1291935" cy="682335"/>
          </a:xfrm>
          <a:custGeom>
            <a:avLst/>
            <a:gdLst/>
            <a:ahLst/>
            <a:cxnLst/>
            <a:rect l="l" t="t" r="r" b="b"/>
            <a:pathLst>
              <a:path w="1291935" h="682335">
                <a:moveTo>
                  <a:pt x="114297" y="0"/>
                </a:moveTo>
                <a:lnTo>
                  <a:pt x="1177638" y="0"/>
                </a:lnTo>
                <a:cubicBezTo>
                  <a:pt x="1240721" y="0"/>
                  <a:pt x="1291935" y="51215"/>
                  <a:pt x="1291935" y="114297"/>
                </a:cubicBezTo>
                <a:lnTo>
                  <a:pt x="1291935" y="568038"/>
                </a:lnTo>
                <a:cubicBezTo>
                  <a:pt x="1291935" y="631163"/>
                  <a:pt x="1240763" y="682335"/>
                  <a:pt x="1177638" y="682335"/>
                </a:cubicBezTo>
                <a:lnTo>
                  <a:pt x="114297" y="682335"/>
                </a:lnTo>
                <a:cubicBezTo>
                  <a:pt x="51215" y="682335"/>
                  <a:pt x="0" y="631121"/>
                  <a:pt x="0" y="568038"/>
                </a:cubicBezTo>
                <a:lnTo>
                  <a:pt x="0" y="114297"/>
                </a:lnTo>
                <a:cubicBezTo>
                  <a:pt x="0" y="51215"/>
                  <a:pt x="51215" y="0"/>
                  <a:pt x="114297" y="0"/>
                </a:cubicBezTo>
                <a:close/>
              </a:path>
            </a:pathLst>
          </a:custGeom>
          <a:noFill/>
          <a:ln w="38100">
            <a:solidFill>
              <a:srgbClr val="00CED1">
                <a:alpha val="100000"/>
              </a:srgbClr>
            </a:solidFill>
            <a:prstDash val="solid"/>
          </a:ln>
        </p:spPr>
        <p:txBody>
          <a:bodyPr wrap="square" lIns="91440" tIns="45720" rIns="91440" bIns="45720" rtlCol="0" anchor="t">
            <a:noAutofit/>
          </a:bodyPr>
          <a:lstStyle/>
          <a:p>
            <a:pPr algn="ctr">
              <a:defRPr/>
            </a:pPr>
          </a:p>
        </p:txBody>
      </p:sp>
      <p:sp>
        <p:nvSpPr>
          <p:cNvPr id="44" name="Freeform 44"/>
          <p:cNvSpPr/>
          <p:nvPr/>
        </p:nvSpPr>
        <p:spPr>
          <a:xfrm>
            <a:off x="7833906"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45" name="Freeform 45"/>
          <p:cNvSpPr/>
          <p:nvPr/>
        </p:nvSpPr>
        <p:spPr>
          <a:xfrm>
            <a:off x="7986117"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46" name="Freeform 46"/>
          <p:cNvSpPr/>
          <p:nvPr/>
        </p:nvSpPr>
        <p:spPr>
          <a:xfrm>
            <a:off x="8138328"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47" name="Freeform 47"/>
          <p:cNvSpPr/>
          <p:nvPr/>
        </p:nvSpPr>
        <p:spPr>
          <a:xfrm>
            <a:off x="8290538"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48" name="Freeform 48"/>
          <p:cNvSpPr/>
          <p:nvPr/>
        </p:nvSpPr>
        <p:spPr>
          <a:xfrm>
            <a:off x="8442749"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49" name="Freeform 49"/>
          <p:cNvSpPr/>
          <p:nvPr/>
        </p:nvSpPr>
        <p:spPr>
          <a:xfrm>
            <a:off x="8594959"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50" name="Freeform 50"/>
          <p:cNvSpPr/>
          <p:nvPr/>
        </p:nvSpPr>
        <p:spPr>
          <a:xfrm>
            <a:off x="7833906"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51" name="Freeform 51"/>
          <p:cNvSpPr/>
          <p:nvPr/>
        </p:nvSpPr>
        <p:spPr>
          <a:xfrm>
            <a:off x="7986117"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52" name="Freeform 52"/>
          <p:cNvSpPr/>
          <p:nvPr/>
        </p:nvSpPr>
        <p:spPr>
          <a:xfrm>
            <a:off x="8138328"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53" name="Freeform 53"/>
          <p:cNvSpPr/>
          <p:nvPr/>
        </p:nvSpPr>
        <p:spPr>
          <a:xfrm>
            <a:off x="8290538"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54" name="Freeform 54"/>
          <p:cNvSpPr/>
          <p:nvPr/>
        </p:nvSpPr>
        <p:spPr>
          <a:xfrm>
            <a:off x="8442749"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55" name="Freeform 55"/>
          <p:cNvSpPr/>
          <p:nvPr/>
        </p:nvSpPr>
        <p:spPr>
          <a:xfrm>
            <a:off x="8594959"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56" name="AutoShape 56"/>
          <p:cNvSpPr/>
          <p:nvPr/>
        </p:nvSpPr>
        <p:spPr>
          <a:xfrm>
            <a:off x="7928615" y="3998602"/>
            <a:ext cx="771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15"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Final Vector</a:t>
            </a:r>
            <a:endParaRPr lang="en-US" sz="1100"/>
          </a:p>
        </p:txBody>
      </p:sp>
      <p:sp>
        <p:nvSpPr>
          <p:cNvPr id="57" name="AutoShape 57"/>
          <p:cNvSpPr/>
          <p:nvPr/>
        </p:nvSpPr>
        <p:spPr>
          <a:xfrm>
            <a:off x="7966634" y="4265135"/>
            <a:ext cx="685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Complete Representation</a:t>
            </a:r>
            <a:endParaRPr lang="en-US" sz="1100"/>
          </a:p>
        </p:txBody>
      </p:sp>
      <p:sp>
        <p:nvSpPr>
          <p:cNvPr id="58" name="Freeform 58"/>
          <p:cNvSpPr/>
          <p:nvPr/>
        </p:nvSpPr>
        <p:spPr>
          <a:xfrm>
            <a:off x="3522626" y="4883320"/>
            <a:ext cx="5151293" cy="588818"/>
          </a:xfrm>
          <a:custGeom>
            <a:avLst/>
            <a:gdLst/>
            <a:ahLst/>
            <a:cxnLst/>
            <a:rect l="l" t="t" r="r" b="b"/>
            <a:pathLst>
              <a:path w="5151293" h="588818">
                <a:moveTo>
                  <a:pt x="114301" y="0"/>
                </a:moveTo>
                <a:lnTo>
                  <a:pt x="5036991" y="0"/>
                </a:lnTo>
                <a:cubicBezTo>
                  <a:pt x="5100119" y="0"/>
                  <a:pt x="5151293" y="51173"/>
                  <a:pt x="5151293" y="114301"/>
                </a:cubicBezTo>
                <a:lnTo>
                  <a:pt x="5151293" y="474516"/>
                </a:lnTo>
                <a:cubicBezTo>
                  <a:pt x="5151293" y="537644"/>
                  <a:pt x="5100119" y="588818"/>
                  <a:pt x="5036991" y="588818"/>
                </a:cubicBezTo>
                <a:lnTo>
                  <a:pt x="114301" y="588818"/>
                </a:lnTo>
                <a:cubicBezTo>
                  <a:pt x="51217" y="588818"/>
                  <a:pt x="0" y="537601"/>
                  <a:pt x="0" y="474516"/>
                </a:cubicBezTo>
                <a:lnTo>
                  <a:pt x="0" y="114301"/>
                </a:lnTo>
                <a:cubicBezTo>
                  <a:pt x="0" y="51217"/>
                  <a:pt x="51217" y="0"/>
                  <a:pt x="114301" y="0"/>
                </a:cubicBezTo>
                <a:close/>
              </a:path>
            </a:pathLst>
          </a:custGeom>
          <a:solidFill>
            <a:srgbClr val="00CED1">
              <a:alpha val="100000"/>
            </a:srgbClr>
          </a:solidFill>
          <a:ln w="12700">
            <a:solidFill>
              <a:srgbClr val="00CED1">
                <a:alpha val="100000"/>
              </a:srgbClr>
            </a:solidFill>
            <a:prstDash val="solid"/>
          </a:ln>
        </p:spPr>
        <p:txBody>
          <a:bodyPr wrap="square" lIns="91440" tIns="45720" rIns="91440" bIns="45720" rtlCol="0" anchor="t">
            <a:noAutofit/>
          </a:bodyPr>
          <a:lstStyle/>
          <a:p>
            <a:pPr algn="ctr">
              <a:defRPr/>
            </a:pPr>
          </a:p>
        </p:txBody>
      </p:sp>
      <p:sp>
        <p:nvSpPr>
          <p:cNvPr id="59" name="Freeform 59"/>
          <p:cNvSpPr/>
          <p:nvPr/>
        </p:nvSpPr>
        <p:spPr>
          <a:xfrm>
            <a:off x="3859790" y="5061645"/>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6" y="130820"/>
                  <a:pt x="89706" y="130969"/>
                </a:cubicBezTo>
                <a:cubicBezTo>
                  <a:pt x="86766" y="131119"/>
                  <a:pt x="83939" y="129777"/>
                  <a:pt x="82191" y="127398"/>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5" y="65522"/>
                  <a:pt x="119621" y="64219"/>
                  <a:pt x="123825" y="66860"/>
                </a:cubicBezTo>
                <a:cubicBezTo>
                  <a:pt x="128029" y="69503"/>
                  <a:pt x="129294" y="74972"/>
                  <a:pt x="126653" y="79177"/>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60" name="AutoShape 60"/>
          <p:cNvSpPr/>
          <p:nvPr/>
        </p:nvSpPr>
        <p:spPr>
          <a:xfrm>
            <a:off x="4083627" y="5044325"/>
            <a:ext cx="43243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74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Step 1 Complete! Input successfully converted to machine-understandable numerical representation</a:t>
            </a:r>
            <a:endParaRPr lang="en-US" sz="1100"/>
          </a:p>
        </p:txBody>
      </p:sp>
    </p:spTree>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1 Input Processing</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-&gt;</a:t>
            </a:r>
            <a:endParaRPr lang="en-US" sz="1100"/>
          </a:p>
        </p:txBody>
      </p:sp>
      <p:sp>
        <p:nvSpPr>
          <p:cNvPr id="4" name="AutoShape 4"/>
          <p:cNvSpPr/>
          <p:nvPr/>
        </p:nvSpPr>
        <p:spPr>
          <a:xfrm>
            <a:off x="1764425" y="381000"/>
            <a:ext cx="1180478"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2 Layer-by-layer Computation</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-&gt;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Prediction</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-&gt;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Generation</a:t>
            </a:r>
            <a:endParaRPr lang="en-US" sz="1100"/>
          </a:p>
        </p:txBody>
      </p:sp>
      <p:sp>
        <p:nvSpPr>
          <p:cNvPr id="9" name="AutoShape 9"/>
          <p:cNvSpPr/>
          <p:nvPr/>
        </p:nvSpPr>
        <p:spPr>
          <a:xfrm>
            <a:off x="381000" y="761870"/>
            <a:ext cx="11658600" cy="6858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2830" b="0" i="0" u="none" strike="noStrike">
                <a:solidFill>
                  <a:srgbClr val="5B92E5"/>
                </a:solidFill>
                <a:latin typeface="Alimama ShuHeiTi"/>
                <a:ea typeface="Alimama ShuHeiTi"/>
                <a:cs typeface="Alimama ShuHeiTi"/>
                <a:sym typeface="Alimama ShuHeiTi"/>
              </a:rPr>
              <a:t>Step 2 Layer-by-layer Computation: Understanding Semantics</a:t>
            </a:r>
            <a:endParaRPr lang="en-US" sz="1100"/>
          </a:p>
        </p:txBody>
      </p:sp>
      <p:sp>
        <p:nvSpPr>
          <p:cNvPr id="10" name="Freeform 10"/>
          <p:cNvSpPr/>
          <p:nvPr/>
        </p:nvSpPr>
        <p:spPr>
          <a:xfrm>
            <a:off x="2362173" y="2667000"/>
            <a:ext cx="1066800" cy="1066800"/>
          </a:xfrm>
          <a:custGeom>
            <a:avLst/>
            <a:gdLst/>
            <a:ahLst/>
            <a:cxnLst/>
            <a:rect l="l" t="t" r="r" b="b"/>
            <a:pathLst>
              <a:path w="1066800" h="1066800">
                <a:moveTo>
                  <a:pt x="533400" y="0"/>
                </a:moveTo>
                <a:lnTo>
                  <a:pt x="533400" y="0"/>
                </a:lnTo>
                <a:cubicBezTo>
                  <a:pt x="827791" y="0"/>
                  <a:pt x="1066800" y="239009"/>
                  <a:pt x="1066800" y="533400"/>
                </a:cubicBezTo>
                <a:lnTo>
                  <a:pt x="1066800" y="533400"/>
                </a:lnTo>
                <a:cubicBezTo>
                  <a:pt x="1066800" y="827791"/>
                  <a:pt x="827791" y="1066800"/>
                  <a:pt x="533400" y="1066800"/>
                </a:cubicBezTo>
                <a:lnTo>
                  <a:pt x="533400" y="1066800"/>
                </a:lnTo>
                <a:cubicBezTo>
                  <a:pt x="239009" y="1066800"/>
                  <a:pt x="0" y="827791"/>
                  <a:pt x="0" y="533400"/>
                </a:cubicBezTo>
                <a:lnTo>
                  <a:pt x="0" y="533400"/>
                </a:lnTo>
                <a:cubicBezTo>
                  <a:pt x="0" y="239009"/>
                  <a:pt x="239009" y="0"/>
                  <a:pt x="5334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2702034" y="3050344"/>
            <a:ext cx="386968" cy="300037"/>
          </a:xfrm>
          <a:custGeom>
            <a:avLst/>
            <a:gdLst/>
            <a:ahLst/>
            <a:cxnLst/>
            <a:rect l="l" t="t" r="r" b="b"/>
            <a:pathLst>
              <a:path w="386968" h="300037">
                <a:moveTo>
                  <a:pt x="193484" y="0"/>
                </a:moveTo>
                <a:cubicBezTo>
                  <a:pt x="139370" y="0"/>
                  <a:pt x="96038" y="24646"/>
                  <a:pt x="64495" y="53980"/>
                </a:cubicBezTo>
                <a:cubicBezTo>
                  <a:pt x="33152" y="83113"/>
                  <a:pt x="12189" y="117871"/>
                  <a:pt x="2210" y="141781"/>
                </a:cubicBezTo>
                <a:cubicBezTo>
                  <a:pt x="0" y="147073"/>
                  <a:pt x="0" y="152965"/>
                  <a:pt x="2210" y="158257"/>
                </a:cubicBezTo>
                <a:cubicBezTo>
                  <a:pt x="12189" y="182167"/>
                  <a:pt x="33152" y="216992"/>
                  <a:pt x="64495" y="246058"/>
                </a:cubicBezTo>
                <a:cubicBezTo>
                  <a:pt x="96038" y="275325"/>
                  <a:pt x="139370" y="300038"/>
                  <a:pt x="193484" y="300038"/>
                </a:cubicBezTo>
                <a:cubicBezTo>
                  <a:pt x="247598" y="300038"/>
                  <a:pt x="290929" y="275392"/>
                  <a:pt x="322474" y="246058"/>
                </a:cubicBezTo>
                <a:cubicBezTo>
                  <a:pt x="353817" y="216925"/>
                  <a:pt x="374779" y="182167"/>
                  <a:pt x="384758" y="158257"/>
                </a:cubicBezTo>
                <a:cubicBezTo>
                  <a:pt x="386967" y="152965"/>
                  <a:pt x="386967" y="147073"/>
                  <a:pt x="384758" y="141781"/>
                </a:cubicBezTo>
                <a:cubicBezTo>
                  <a:pt x="374779" y="117871"/>
                  <a:pt x="353817" y="83046"/>
                  <a:pt x="322474" y="53980"/>
                </a:cubicBezTo>
                <a:cubicBezTo>
                  <a:pt x="290929" y="24713"/>
                  <a:pt x="247598" y="0"/>
                  <a:pt x="193484" y="0"/>
                </a:cubicBezTo>
                <a:close/>
                <a:moveTo>
                  <a:pt x="97044" y="150019"/>
                </a:moveTo>
                <a:cubicBezTo>
                  <a:pt x="97044" y="96792"/>
                  <a:pt x="140257" y="53578"/>
                  <a:pt x="193484" y="53578"/>
                </a:cubicBezTo>
                <a:cubicBezTo>
                  <a:pt x="246711" y="53578"/>
                  <a:pt x="289926" y="96792"/>
                  <a:pt x="289926" y="150019"/>
                </a:cubicBezTo>
                <a:cubicBezTo>
                  <a:pt x="289926" y="203246"/>
                  <a:pt x="246711" y="246460"/>
                  <a:pt x="193484" y="246460"/>
                </a:cubicBezTo>
                <a:cubicBezTo>
                  <a:pt x="140257" y="246460"/>
                  <a:pt x="97044" y="203246"/>
                  <a:pt x="97044" y="150019"/>
                </a:cubicBezTo>
                <a:close/>
                <a:moveTo>
                  <a:pt x="193484" y="107156"/>
                </a:moveTo>
                <a:cubicBezTo>
                  <a:pt x="193484" y="130798"/>
                  <a:pt x="174263" y="150019"/>
                  <a:pt x="150622" y="150019"/>
                </a:cubicBezTo>
                <a:cubicBezTo>
                  <a:pt x="142920" y="150019"/>
                  <a:pt x="135687" y="148010"/>
                  <a:pt x="129391" y="144393"/>
                </a:cubicBezTo>
                <a:cubicBezTo>
                  <a:pt x="128722" y="151693"/>
                  <a:pt x="129324" y="159193"/>
                  <a:pt x="131334" y="166628"/>
                </a:cubicBezTo>
                <a:cubicBezTo>
                  <a:pt x="140509" y="200918"/>
                  <a:pt x="175803" y="221277"/>
                  <a:pt x="210093" y="212103"/>
                </a:cubicBezTo>
                <a:cubicBezTo>
                  <a:pt x="244383" y="202927"/>
                  <a:pt x="264743" y="167633"/>
                  <a:pt x="255568" y="133343"/>
                </a:cubicBezTo>
                <a:cubicBezTo>
                  <a:pt x="247397" y="102736"/>
                  <a:pt x="218398" y="83247"/>
                  <a:pt x="187859" y="85926"/>
                </a:cubicBezTo>
                <a:cubicBezTo>
                  <a:pt x="191408" y="92155"/>
                  <a:pt x="193484" y="99388"/>
                  <a:pt x="193484" y="107156"/>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2275717" y="3886033"/>
            <a:ext cx="133350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3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2.1 Multi-angle Understanding</a:t>
            </a:r>
            <a:endParaRPr lang="en-US" sz="1100"/>
          </a:p>
        </p:txBody>
      </p:sp>
      <p:sp>
        <p:nvSpPr>
          <p:cNvPr id="13" name="Freeform 13"/>
          <p:cNvSpPr/>
          <p:nvPr/>
        </p:nvSpPr>
        <p:spPr>
          <a:xfrm>
            <a:off x="3858112" y="3453185"/>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6" y="6976"/>
                </a:cubicBezTo>
                <a:cubicBezTo>
                  <a:pt x="158948" y="13952"/>
                  <a:pt x="158948" y="25282"/>
                  <a:pt x="165926" y="32258"/>
                </a:cubicBezTo>
                <a:lnTo>
                  <a:pt x="224749" y="91083"/>
                </a:lnTo>
                <a:lnTo>
                  <a:pt x="17859" y="91083"/>
                </a:lnTo>
                <a:cubicBezTo>
                  <a:pt x="7981" y="91083"/>
                  <a:pt x="0" y="99064"/>
                  <a:pt x="0" y="108942"/>
                </a:cubicBezTo>
                <a:cubicBezTo>
                  <a:pt x="0" y="118820"/>
                  <a:pt x="7981" y="126801"/>
                  <a:pt x="17859" y="126801"/>
                </a:cubicBezTo>
                <a:lnTo>
                  <a:pt x="224749" y="126801"/>
                </a:lnTo>
                <a:lnTo>
                  <a:pt x="165926" y="185626"/>
                </a:lnTo>
                <a:cubicBezTo>
                  <a:pt x="158948" y="192602"/>
                  <a:pt x="158948" y="203932"/>
                  <a:pt x="165926"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4489197" y="2667000"/>
            <a:ext cx="1066800" cy="1066800"/>
          </a:xfrm>
          <a:custGeom>
            <a:avLst/>
            <a:gdLst/>
            <a:ahLst/>
            <a:cxnLst/>
            <a:rect l="l" t="t" r="r" b="b"/>
            <a:pathLst>
              <a:path w="1066800" h="1066800">
                <a:moveTo>
                  <a:pt x="533400" y="0"/>
                </a:moveTo>
                <a:lnTo>
                  <a:pt x="533400" y="0"/>
                </a:lnTo>
                <a:cubicBezTo>
                  <a:pt x="827791" y="0"/>
                  <a:pt x="1066800" y="239009"/>
                  <a:pt x="1066800" y="533400"/>
                </a:cubicBezTo>
                <a:lnTo>
                  <a:pt x="1066800" y="533400"/>
                </a:lnTo>
                <a:cubicBezTo>
                  <a:pt x="1066800" y="827791"/>
                  <a:pt x="827791" y="1066800"/>
                  <a:pt x="533400" y="1066800"/>
                </a:cubicBezTo>
                <a:lnTo>
                  <a:pt x="533400" y="1066800"/>
                </a:lnTo>
                <a:cubicBezTo>
                  <a:pt x="239009" y="1066800"/>
                  <a:pt x="0" y="827791"/>
                  <a:pt x="0" y="533400"/>
                </a:cubicBezTo>
                <a:lnTo>
                  <a:pt x="0" y="533400"/>
                </a:lnTo>
                <a:cubicBezTo>
                  <a:pt x="0" y="239009"/>
                  <a:pt x="239009" y="0"/>
                  <a:pt x="5334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4818747" y="2996297"/>
            <a:ext cx="408197" cy="408200"/>
          </a:xfrm>
          <a:custGeom>
            <a:avLst/>
            <a:gdLst/>
            <a:ahLst/>
            <a:cxnLst/>
            <a:rect l="l" t="t" r="r" b="b"/>
            <a:pathLst>
              <a:path w="408197" h="408200">
                <a:moveTo>
                  <a:pt x="268023" y="173594"/>
                </a:moveTo>
                <a:cubicBezTo>
                  <a:pt x="276194" y="171383"/>
                  <a:pt x="284767" y="175267"/>
                  <a:pt x="288450" y="182835"/>
                </a:cubicBezTo>
                <a:lnTo>
                  <a:pt x="300907" y="208017"/>
                </a:lnTo>
                <a:cubicBezTo>
                  <a:pt x="307804" y="208955"/>
                  <a:pt x="314568" y="210830"/>
                  <a:pt x="320932" y="213442"/>
                </a:cubicBezTo>
                <a:lnTo>
                  <a:pt x="344372" y="197838"/>
                </a:lnTo>
                <a:cubicBezTo>
                  <a:pt x="351404" y="193149"/>
                  <a:pt x="360713" y="194088"/>
                  <a:pt x="366674" y="200048"/>
                </a:cubicBezTo>
                <a:lnTo>
                  <a:pt x="379533" y="212906"/>
                </a:lnTo>
                <a:cubicBezTo>
                  <a:pt x="385493" y="218867"/>
                  <a:pt x="386431" y="228243"/>
                  <a:pt x="381743" y="235208"/>
                </a:cubicBezTo>
                <a:lnTo>
                  <a:pt x="366138" y="258582"/>
                </a:lnTo>
                <a:cubicBezTo>
                  <a:pt x="367411" y="261729"/>
                  <a:pt x="368549" y="265011"/>
                  <a:pt x="369487" y="268427"/>
                </a:cubicBezTo>
                <a:cubicBezTo>
                  <a:pt x="370424" y="271842"/>
                  <a:pt x="371028" y="275191"/>
                  <a:pt x="371496" y="278607"/>
                </a:cubicBezTo>
                <a:lnTo>
                  <a:pt x="396745" y="291064"/>
                </a:lnTo>
                <a:cubicBezTo>
                  <a:pt x="404313" y="294814"/>
                  <a:pt x="408197" y="303386"/>
                  <a:pt x="405987" y="311490"/>
                </a:cubicBezTo>
                <a:lnTo>
                  <a:pt x="401299" y="329037"/>
                </a:lnTo>
                <a:cubicBezTo>
                  <a:pt x="399089" y="337140"/>
                  <a:pt x="391522" y="342632"/>
                  <a:pt x="383082" y="342097"/>
                </a:cubicBezTo>
                <a:lnTo>
                  <a:pt x="354954" y="340287"/>
                </a:lnTo>
                <a:cubicBezTo>
                  <a:pt x="350735" y="345713"/>
                  <a:pt x="345846" y="350736"/>
                  <a:pt x="340287" y="355022"/>
                </a:cubicBezTo>
                <a:lnTo>
                  <a:pt x="342094" y="383084"/>
                </a:lnTo>
                <a:cubicBezTo>
                  <a:pt x="342632" y="391522"/>
                  <a:pt x="337139" y="399157"/>
                  <a:pt x="329035" y="401300"/>
                </a:cubicBezTo>
                <a:lnTo>
                  <a:pt x="311489" y="405988"/>
                </a:lnTo>
                <a:cubicBezTo>
                  <a:pt x="303318" y="408199"/>
                  <a:pt x="294812" y="404315"/>
                  <a:pt x="291062" y="396747"/>
                </a:cubicBezTo>
                <a:lnTo>
                  <a:pt x="278605" y="371565"/>
                </a:lnTo>
                <a:cubicBezTo>
                  <a:pt x="271707" y="370627"/>
                  <a:pt x="264943" y="368752"/>
                  <a:pt x="258580" y="366140"/>
                </a:cubicBezTo>
                <a:lnTo>
                  <a:pt x="235140" y="381744"/>
                </a:lnTo>
                <a:cubicBezTo>
                  <a:pt x="228108" y="386433"/>
                  <a:pt x="218798" y="385494"/>
                  <a:pt x="212838" y="379534"/>
                </a:cubicBezTo>
                <a:lnTo>
                  <a:pt x="199979" y="366676"/>
                </a:lnTo>
                <a:cubicBezTo>
                  <a:pt x="194017" y="360715"/>
                  <a:pt x="193082" y="351406"/>
                  <a:pt x="197769" y="344374"/>
                </a:cubicBezTo>
                <a:lnTo>
                  <a:pt x="213374" y="320933"/>
                </a:lnTo>
                <a:cubicBezTo>
                  <a:pt x="212101" y="317786"/>
                  <a:pt x="210963" y="314504"/>
                  <a:pt x="210025" y="311088"/>
                </a:cubicBezTo>
                <a:cubicBezTo>
                  <a:pt x="209087" y="307673"/>
                  <a:pt x="208485" y="304258"/>
                  <a:pt x="208015" y="300909"/>
                </a:cubicBezTo>
                <a:lnTo>
                  <a:pt x="182767" y="288452"/>
                </a:lnTo>
                <a:cubicBezTo>
                  <a:pt x="175199" y="284701"/>
                  <a:pt x="171382" y="276130"/>
                  <a:pt x="173525" y="268024"/>
                </a:cubicBezTo>
                <a:lnTo>
                  <a:pt x="178214" y="250478"/>
                </a:lnTo>
                <a:cubicBezTo>
                  <a:pt x="180423" y="242374"/>
                  <a:pt x="187991" y="236883"/>
                  <a:pt x="196431" y="237417"/>
                </a:cubicBezTo>
                <a:lnTo>
                  <a:pt x="224491" y="239227"/>
                </a:lnTo>
                <a:cubicBezTo>
                  <a:pt x="228710" y="233802"/>
                  <a:pt x="233600" y="228779"/>
                  <a:pt x="239158" y="224493"/>
                </a:cubicBezTo>
                <a:lnTo>
                  <a:pt x="237350" y="196498"/>
                </a:lnTo>
                <a:cubicBezTo>
                  <a:pt x="236814" y="188060"/>
                  <a:pt x="242305" y="180425"/>
                  <a:pt x="250409" y="178282"/>
                </a:cubicBezTo>
                <a:lnTo>
                  <a:pt x="267956" y="173594"/>
                </a:lnTo>
                <a:close/>
                <a:moveTo>
                  <a:pt x="289789" y="260323"/>
                </a:moveTo>
                <a:cubicBezTo>
                  <a:pt x="273526" y="260342"/>
                  <a:pt x="260336" y="273560"/>
                  <a:pt x="260355" y="289824"/>
                </a:cubicBezTo>
                <a:cubicBezTo>
                  <a:pt x="260372" y="306088"/>
                  <a:pt x="273593" y="319277"/>
                  <a:pt x="289856" y="319259"/>
                </a:cubicBezTo>
                <a:cubicBezTo>
                  <a:pt x="306120" y="319240"/>
                  <a:pt x="319309" y="306022"/>
                  <a:pt x="319292" y="289758"/>
                </a:cubicBezTo>
                <a:cubicBezTo>
                  <a:pt x="319273" y="273494"/>
                  <a:pt x="306053" y="260305"/>
                  <a:pt x="289789" y="260323"/>
                </a:cubicBezTo>
                <a:close/>
                <a:moveTo>
                  <a:pt x="140106" y="2144"/>
                </a:moveTo>
                <a:lnTo>
                  <a:pt x="157652" y="6832"/>
                </a:lnTo>
                <a:cubicBezTo>
                  <a:pt x="165756" y="9042"/>
                  <a:pt x="171248" y="16677"/>
                  <a:pt x="170712" y="25048"/>
                </a:cubicBezTo>
                <a:lnTo>
                  <a:pt x="168905" y="53043"/>
                </a:lnTo>
                <a:cubicBezTo>
                  <a:pt x="174462" y="57329"/>
                  <a:pt x="179352" y="62284"/>
                  <a:pt x="183570" y="67777"/>
                </a:cubicBezTo>
                <a:lnTo>
                  <a:pt x="211698" y="65967"/>
                </a:lnTo>
                <a:cubicBezTo>
                  <a:pt x="220072" y="65433"/>
                  <a:pt x="227706" y="70924"/>
                  <a:pt x="229917" y="79028"/>
                </a:cubicBezTo>
                <a:lnTo>
                  <a:pt x="234604" y="96574"/>
                </a:lnTo>
                <a:cubicBezTo>
                  <a:pt x="236747" y="104680"/>
                  <a:pt x="232930" y="113251"/>
                  <a:pt x="225362" y="117002"/>
                </a:cubicBezTo>
                <a:lnTo>
                  <a:pt x="200113" y="129459"/>
                </a:lnTo>
                <a:cubicBezTo>
                  <a:pt x="199644" y="132874"/>
                  <a:pt x="198974" y="136290"/>
                  <a:pt x="198104" y="139638"/>
                </a:cubicBezTo>
                <a:cubicBezTo>
                  <a:pt x="197233" y="142987"/>
                  <a:pt x="196028" y="146336"/>
                  <a:pt x="194755" y="149483"/>
                </a:cubicBezTo>
                <a:lnTo>
                  <a:pt x="210360" y="172924"/>
                </a:lnTo>
                <a:cubicBezTo>
                  <a:pt x="215047" y="179956"/>
                  <a:pt x="214110" y="189265"/>
                  <a:pt x="208150" y="195226"/>
                </a:cubicBezTo>
                <a:lnTo>
                  <a:pt x="195291" y="208084"/>
                </a:lnTo>
                <a:cubicBezTo>
                  <a:pt x="189330" y="214044"/>
                  <a:pt x="180021" y="214983"/>
                  <a:pt x="172989" y="210294"/>
                </a:cubicBezTo>
                <a:lnTo>
                  <a:pt x="149548" y="194690"/>
                </a:lnTo>
                <a:cubicBezTo>
                  <a:pt x="143186" y="197302"/>
                  <a:pt x="136422" y="199177"/>
                  <a:pt x="129524" y="200115"/>
                </a:cubicBezTo>
                <a:lnTo>
                  <a:pt x="117067" y="225297"/>
                </a:lnTo>
                <a:cubicBezTo>
                  <a:pt x="113317" y="232865"/>
                  <a:pt x="104744" y="236682"/>
                  <a:pt x="96640" y="234538"/>
                </a:cubicBezTo>
                <a:lnTo>
                  <a:pt x="79093" y="229850"/>
                </a:lnTo>
                <a:cubicBezTo>
                  <a:pt x="70923" y="227640"/>
                  <a:pt x="65499" y="220005"/>
                  <a:pt x="66035" y="211634"/>
                </a:cubicBezTo>
                <a:lnTo>
                  <a:pt x="67842" y="183572"/>
                </a:lnTo>
                <a:cubicBezTo>
                  <a:pt x="62283" y="179286"/>
                  <a:pt x="57393" y="174330"/>
                  <a:pt x="53175" y="168837"/>
                </a:cubicBezTo>
                <a:lnTo>
                  <a:pt x="25047" y="170647"/>
                </a:lnTo>
                <a:cubicBezTo>
                  <a:pt x="16675" y="171182"/>
                  <a:pt x="9039" y="165690"/>
                  <a:pt x="6830" y="157587"/>
                </a:cubicBezTo>
                <a:lnTo>
                  <a:pt x="2142" y="140040"/>
                </a:lnTo>
                <a:cubicBezTo>
                  <a:pt x="0" y="131936"/>
                  <a:pt x="3816" y="123364"/>
                  <a:pt x="11384" y="119614"/>
                </a:cubicBezTo>
                <a:lnTo>
                  <a:pt x="36633" y="107157"/>
                </a:lnTo>
                <a:cubicBezTo>
                  <a:pt x="37101" y="103741"/>
                  <a:pt x="37771" y="100392"/>
                  <a:pt x="38642" y="96977"/>
                </a:cubicBezTo>
                <a:cubicBezTo>
                  <a:pt x="39580" y="93561"/>
                  <a:pt x="40651" y="90279"/>
                  <a:pt x="41991" y="87132"/>
                </a:cubicBezTo>
                <a:lnTo>
                  <a:pt x="26386" y="63758"/>
                </a:lnTo>
                <a:cubicBezTo>
                  <a:pt x="21698" y="56726"/>
                  <a:pt x="22635" y="47417"/>
                  <a:pt x="28596" y="41456"/>
                </a:cubicBezTo>
                <a:lnTo>
                  <a:pt x="41455" y="28598"/>
                </a:lnTo>
                <a:cubicBezTo>
                  <a:pt x="47415" y="22638"/>
                  <a:pt x="56725" y="21699"/>
                  <a:pt x="63757" y="26388"/>
                </a:cubicBezTo>
                <a:lnTo>
                  <a:pt x="87197" y="41992"/>
                </a:lnTo>
                <a:cubicBezTo>
                  <a:pt x="93561" y="39380"/>
                  <a:pt x="100325" y="37505"/>
                  <a:pt x="107222" y="36567"/>
                </a:cubicBezTo>
                <a:lnTo>
                  <a:pt x="119679" y="11385"/>
                </a:lnTo>
                <a:cubicBezTo>
                  <a:pt x="123430" y="3817"/>
                  <a:pt x="131935" y="0"/>
                  <a:pt x="140106" y="2144"/>
                </a:cubicBezTo>
                <a:close/>
                <a:moveTo>
                  <a:pt x="118339" y="88873"/>
                </a:moveTo>
                <a:cubicBezTo>
                  <a:pt x="102076" y="88873"/>
                  <a:pt x="88870" y="102077"/>
                  <a:pt x="88870" y="118341"/>
                </a:cubicBezTo>
                <a:cubicBezTo>
                  <a:pt x="88870" y="134605"/>
                  <a:pt x="102076" y="147809"/>
                  <a:pt x="118339" y="147809"/>
                </a:cubicBezTo>
                <a:cubicBezTo>
                  <a:pt x="134603" y="147809"/>
                  <a:pt x="147807" y="134605"/>
                  <a:pt x="147807" y="118341"/>
                </a:cubicBezTo>
                <a:cubicBezTo>
                  <a:pt x="147807" y="102077"/>
                  <a:pt x="134603" y="88873"/>
                  <a:pt x="118339" y="88873"/>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4481891" y="3886033"/>
            <a:ext cx="118110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2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2.2 Deep Processing</a:t>
            </a:r>
            <a:endParaRPr lang="en-US" sz="1100"/>
          </a:p>
        </p:txBody>
      </p:sp>
      <p:sp>
        <p:nvSpPr>
          <p:cNvPr id="17" name="Freeform 17"/>
          <p:cNvSpPr/>
          <p:nvPr/>
        </p:nvSpPr>
        <p:spPr>
          <a:xfrm>
            <a:off x="5905987" y="3453185"/>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5" y="6976"/>
                </a:cubicBezTo>
                <a:cubicBezTo>
                  <a:pt x="158948" y="13952"/>
                  <a:pt x="158948" y="25282"/>
                  <a:pt x="165925" y="32258"/>
                </a:cubicBezTo>
                <a:lnTo>
                  <a:pt x="224749" y="91083"/>
                </a:lnTo>
                <a:lnTo>
                  <a:pt x="17859" y="91083"/>
                </a:lnTo>
                <a:cubicBezTo>
                  <a:pt x="7981" y="91083"/>
                  <a:pt x="0" y="99064"/>
                  <a:pt x="0" y="108942"/>
                </a:cubicBezTo>
                <a:cubicBezTo>
                  <a:pt x="0" y="118820"/>
                  <a:pt x="7981" y="126801"/>
                  <a:pt x="17859" y="126801"/>
                </a:cubicBezTo>
                <a:lnTo>
                  <a:pt x="224749" y="126801"/>
                </a:lnTo>
                <a:lnTo>
                  <a:pt x="165925" y="185626"/>
                </a:lnTo>
                <a:cubicBezTo>
                  <a:pt x="158948" y="192602"/>
                  <a:pt x="158948" y="203932"/>
                  <a:pt x="165925"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6539508" y="2667000"/>
            <a:ext cx="1066800" cy="1066800"/>
          </a:xfrm>
          <a:custGeom>
            <a:avLst/>
            <a:gdLst/>
            <a:ahLst/>
            <a:cxnLst/>
            <a:rect l="l" t="t" r="r" b="b"/>
            <a:pathLst>
              <a:path w="1066800" h="1066800">
                <a:moveTo>
                  <a:pt x="533400" y="0"/>
                </a:moveTo>
                <a:lnTo>
                  <a:pt x="533400" y="0"/>
                </a:lnTo>
                <a:cubicBezTo>
                  <a:pt x="827791" y="0"/>
                  <a:pt x="1066800" y="239009"/>
                  <a:pt x="1066800" y="533400"/>
                </a:cubicBezTo>
                <a:lnTo>
                  <a:pt x="1066800" y="533400"/>
                </a:lnTo>
                <a:cubicBezTo>
                  <a:pt x="1066800" y="827791"/>
                  <a:pt x="827791" y="1066800"/>
                  <a:pt x="533400" y="1066800"/>
                </a:cubicBezTo>
                <a:lnTo>
                  <a:pt x="533400" y="1066800"/>
                </a:lnTo>
                <a:cubicBezTo>
                  <a:pt x="239009" y="1066800"/>
                  <a:pt x="0" y="827791"/>
                  <a:pt x="0" y="533400"/>
                </a:cubicBezTo>
                <a:lnTo>
                  <a:pt x="0" y="533400"/>
                </a:lnTo>
                <a:cubicBezTo>
                  <a:pt x="0" y="239009"/>
                  <a:pt x="239009" y="0"/>
                  <a:pt x="5334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6901403" y="3027774"/>
            <a:ext cx="342900" cy="345178"/>
          </a:xfrm>
          <a:custGeom>
            <a:avLst/>
            <a:gdLst/>
            <a:ahLst/>
            <a:cxnLst/>
            <a:rect l="l" t="t" r="r" b="b"/>
            <a:pathLst>
              <a:path w="342900" h="345178">
                <a:moveTo>
                  <a:pt x="155711" y="4623"/>
                </a:moveTo>
                <a:cubicBezTo>
                  <a:pt x="165691" y="0"/>
                  <a:pt x="177209" y="0"/>
                  <a:pt x="187189" y="4623"/>
                </a:cubicBezTo>
                <a:lnTo>
                  <a:pt x="333591" y="72264"/>
                </a:lnTo>
                <a:cubicBezTo>
                  <a:pt x="339283" y="74876"/>
                  <a:pt x="342900" y="80569"/>
                  <a:pt x="342900" y="86864"/>
                </a:cubicBezTo>
                <a:cubicBezTo>
                  <a:pt x="342900" y="93159"/>
                  <a:pt x="339283" y="98852"/>
                  <a:pt x="333591" y="101464"/>
                </a:cubicBezTo>
                <a:lnTo>
                  <a:pt x="187189" y="169105"/>
                </a:lnTo>
                <a:cubicBezTo>
                  <a:pt x="177209" y="173728"/>
                  <a:pt x="165691" y="173728"/>
                  <a:pt x="155711" y="169105"/>
                </a:cubicBezTo>
                <a:lnTo>
                  <a:pt x="9309" y="101464"/>
                </a:lnTo>
                <a:cubicBezTo>
                  <a:pt x="3617" y="98785"/>
                  <a:pt x="0" y="93092"/>
                  <a:pt x="0" y="86864"/>
                </a:cubicBezTo>
                <a:cubicBezTo>
                  <a:pt x="0" y="80636"/>
                  <a:pt x="3617" y="74876"/>
                  <a:pt x="9309" y="72264"/>
                </a:cubicBezTo>
                <a:lnTo>
                  <a:pt x="155711" y="4623"/>
                </a:lnTo>
                <a:close/>
                <a:moveTo>
                  <a:pt x="32214" y="147407"/>
                </a:moveTo>
                <a:lnTo>
                  <a:pt x="142250" y="198240"/>
                </a:lnTo>
                <a:cubicBezTo>
                  <a:pt x="160801" y="206812"/>
                  <a:pt x="182166" y="206812"/>
                  <a:pt x="200717" y="198240"/>
                </a:cubicBezTo>
                <a:lnTo>
                  <a:pt x="310752" y="147407"/>
                </a:lnTo>
                <a:lnTo>
                  <a:pt x="333591" y="157989"/>
                </a:lnTo>
                <a:cubicBezTo>
                  <a:pt x="339283" y="160601"/>
                  <a:pt x="342900" y="166294"/>
                  <a:pt x="342900" y="172589"/>
                </a:cubicBezTo>
                <a:cubicBezTo>
                  <a:pt x="342900" y="178884"/>
                  <a:pt x="339283" y="184577"/>
                  <a:pt x="333591" y="187189"/>
                </a:cubicBezTo>
                <a:lnTo>
                  <a:pt x="187189" y="254830"/>
                </a:lnTo>
                <a:cubicBezTo>
                  <a:pt x="177209" y="259453"/>
                  <a:pt x="165691" y="259453"/>
                  <a:pt x="155711" y="254830"/>
                </a:cubicBezTo>
                <a:lnTo>
                  <a:pt x="9309" y="187189"/>
                </a:lnTo>
                <a:cubicBezTo>
                  <a:pt x="3617" y="184510"/>
                  <a:pt x="0" y="178817"/>
                  <a:pt x="0" y="172589"/>
                </a:cubicBezTo>
                <a:cubicBezTo>
                  <a:pt x="0" y="166361"/>
                  <a:pt x="3617" y="160601"/>
                  <a:pt x="9309" y="157989"/>
                </a:cubicBezTo>
                <a:lnTo>
                  <a:pt x="32148" y="147407"/>
                </a:lnTo>
                <a:close/>
                <a:moveTo>
                  <a:pt x="9309" y="243714"/>
                </a:moveTo>
                <a:lnTo>
                  <a:pt x="32148" y="233132"/>
                </a:lnTo>
                <a:lnTo>
                  <a:pt x="142183" y="283965"/>
                </a:lnTo>
                <a:cubicBezTo>
                  <a:pt x="160734" y="292537"/>
                  <a:pt x="182099" y="292537"/>
                  <a:pt x="200650" y="283965"/>
                </a:cubicBezTo>
                <a:lnTo>
                  <a:pt x="310686" y="233132"/>
                </a:lnTo>
                <a:lnTo>
                  <a:pt x="333524" y="243714"/>
                </a:lnTo>
                <a:cubicBezTo>
                  <a:pt x="339217" y="246326"/>
                  <a:pt x="342833" y="252019"/>
                  <a:pt x="342833" y="258314"/>
                </a:cubicBezTo>
                <a:cubicBezTo>
                  <a:pt x="342833" y="264609"/>
                  <a:pt x="339217" y="270302"/>
                  <a:pt x="333524" y="272914"/>
                </a:cubicBezTo>
                <a:lnTo>
                  <a:pt x="187122" y="340555"/>
                </a:lnTo>
                <a:cubicBezTo>
                  <a:pt x="177143" y="345178"/>
                  <a:pt x="165623" y="345178"/>
                  <a:pt x="155644" y="340555"/>
                </a:cubicBezTo>
                <a:lnTo>
                  <a:pt x="9309" y="272914"/>
                </a:lnTo>
                <a:cubicBezTo>
                  <a:pt x="3617" y="270235"/>
                  <a:pt x="0" y="264542"/>
                  <a:pt x="0" y="258314"/>
                </a:cubicBezTo>
                <a:cubicBezTo>
                  <a:pt x="0" y="252086"/>
                  <a:pt x="3617" y="246326"/>
                  <a:pt x="9309" y="243714"/>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6529766" y="3886033"/>
            <a:ext cx="118110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4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2.3 Progressive Layering</a:t>
            </a:r>
            <a:endParaRPr lang="en-US" sz="1100"/>
          </a:p>
        </p:txBody>
      </p:sp>
      <p:sp>
        <p:nvSpPr>
          <p:cNvPr id="21" name="Freeform 21"/>
          <p:cNvSpPr/>
          <p:nvPr/>
        </p:nvSpPr>
        <p:spPr>
          <a:xfrm>
            <a:off x="7958868" y="3453185"/>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6" y="6976"/>
                </a:cubicBezTo>
                <a:cubicBezTo>
                  <a:pt x="158948" y="13952"/>
                  <a:pt x="158948" y="25282"/>
                  <a:pt x="165926" y="32258"/>
                </a:cubicBezTo>
                <a:lnTo>
                  <a:pt x="224749" y="91083"/>
                </a:lnTo>
                <a:lnTo>
                  <a:pt x="17859" y="91083"/>
                </a:lnTo>
                <a:cubicBezTo>
                  <a:pt x="7981" y="91083"/>
                  <a:pt x="0" y="99064"/>
                  <a:pt x="0" y="108942"/>
                </a:cubicBezTo>
                <a:cubicBezTo>
                  <a:pt x="0" y="118820"/>
                  <a:pt x="7981" y="126801"/>
                  <a:pt x="17859" y="126801"/>
                </a:cubicBezTo>
                <a:lnTo>
                  <a:pt x="224749" y="126801"/>
                </a:lnTo>
                <a:lnTo>
                  <a:pt x="165926" y="185626"/>
                </a:lnTo>
                <a:cubicBezTo>
                  <a:pt x="158948" y="192602"/>
                  <a:pt x="158948" y="203932"/>
                  <a:pt x="165926"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2" name="Freeform 22"/>
          <p:cNvSpPr/>
          <p:nvPr/>
        </p:nvSpPr>
        <p:spPr>
          <a:xfrm>
            <a:off x="8716051" y="2667000"/>
            <a:ext cx="1066800" cy="1066800"/>
          </a:xfrm>
          <a:custGeom>
            <a:avLst/>
            <a:gdLst/>
            <a:ahLst/>
            <a:cxnLst/>
            <a:rect l="l" t="t" r="r" b="b"/>
            <a:pathLst>
              <a:path w="1066800" h="1066800">
                <a:moveTo>
                  <a:pt x="533400" y="0"/>
                </a:moveTo>
                <a:lnTo>
                  <a:pt x="533400" y="0"/>
                </a:lnTo>
                <a:cubicBezTo>
                  <a:pt x="827791" y="0"/>
                  <a:pt x="1066800" y="239009"/>
                  <a:pt x="1066800" y="533400"/>
                </a:cubicBezTo>
                <a:lnTo>
                  <a:pt x="1066800" y="533400"/>
                </a:lnTo>
                <a:cubicBezTo>
                  <a:pt x="1066800" y="827791"/>
                  <a:pt x="827791" y="1066800"/>
                  <a:pt x="533400" y="1066800"/>
                </a:cubicBezTo>
                <a:lnTo>
                  <a:pt x="533400" y="1066800"/>
                </a:lnTo>
                <a:cubicBezTo>
                  <a:pt x="239009" y="1066800"/>
                  <a:pt x="0" y="827791"/>
                  <a:pt x="0" y="533400"/>
                </a:cubicBezTo>
                <a:lnTo>
                  <a:pt x="0" y="533400"/>
                </a:lnTo>
                <a:cubicBezTo>
                  <a:pt x="0" y="239009"/>
                  <a:pt x="239009" y="0"/>
                  <a:pt x="5334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3" name="Freeform 23"/>
          <p:cNvSpPr/>
          <p:nvPr/>
        </p:nvSpPr>
        <p:spPr>
          <a:xfrm>
            <a:off x="9097570" y="3016523"/>
            <a:ext cx="303654" cy="367680"/>
          </a:xfrm>
          <a:custGeom>
            <a:avLst/>
            <a:gdLst/>
            <a:ahLst/>
            <a:cxnLst/>
            <a:rect l="l" t="t" r="r" b="b"/>
            <a:pathLst>
              <a:path w="303654" h="367680">
                <a:moveTo>
                  <a:pt x="228711" y="5761"/>
                </a:moveTo>
                <a:cubicBezTo>
                  <a:pt x="236681" y="11519"/>
                  <a:pt x="239628" y="21967"/>
                  <a:pt x="236011" y="31076"/>
                </a:cubicBezTo>
                <a:lnTo>
                  <a:pt x="183506" y="162409"/>
                </a:lnTo>
                <a:lnTo>
                  <a:pt x="280414" y="162409"/>
                </a:lnTo>
                <a:cubicBezTo>
                  <a:pt x="289455" y="162409"/>
                  <a:pt x="297492" y="168034"/>
                  <a:pt x="300573" y="176540"/>
                </a:cubicBezTo>
                <a:cubicBezTo>
                  <a:pt x="303654" y="185047"/>
                  <a:pt x="301042" y="194556"/>
                  <a:pt x="294144" y="200314"/>
                </a:cubicBezTo>
                <a:lnTo>
                  <a:pt x="101262" y="361049"/>
                </a:lnTo>
                <a:cubicBezTo>
                  <a:pt x="93694" y="367345"/>
                  <a:pt x="82911" y="367680"/>
                  <a:pt x="74942" y="361919"/>
                </a:cubicBezTo>
                <a:cubicBezTo>
                  <a:pt x="66972" y="356161"/>
                  <a:pt x="64027" y="345713"/>
                  <a:pt x="67642" y="336604"/>
                </a:cubicBezTo>
                <a:lnTo>
                  <a:pt x="120149" y="205271"/>
                </a:lnTo>
                <a:lnTo>
                  <a:pt x="23239" y="205271"/>
                </a:lnTo>
                <a:cubicBezTo>
                  <a:pt x="14198" y="205271"/>
                  <a:pt x="6162" y="199646"/>
                  <a:pt x="3081" y="191140"/>
                </a:cubicBezTo>
                <a:cubicBezTo>
                  <a:pt x="0" y="182633"/>
                  <a:pt x="2612" y="173124"/>
                  <a:pt x="9511" y="167366"/>
                </a:cubicBezTo>
                <a:lnTo>
                  <a:pt x="202391" y="6631"/>
                </a:lnTo>
                <a:cubicBezTo>
                  <a:pt x="209958" y="335"/>
                  <a:pt x="220742" y="0"/>
                  <a:pt x="228711" y="5761"/>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4" name="AutoShape 24"/>
          <p:cNvSpPr/>
          <p:nvPr/>
        </p:nvSpPr>
        <p:spPr>
          <a:xfrm>
            <a:off x="8582647" y="3886033"/>
            <a:ext cx="14287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5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2.4 Cache Acceleration</a:t>
            </a:r>
            <a:endParaRPr lang="en-US" sz="1100"/>
          </a:p>
        </p:txBody>
      </p:sp>
      <p:sp>
        <p:nvSpPr>
          <p:cNvPr id="25" name="Freeform 25"/>
          <p:cNvSpPr/>
          <p:nvPr/>
        </p:nvSpPr>
        <p:spPr>
          <a:xfrm>
            <a:off x="381000" y="4838402"/>
            <a:ext cx="11430000" cy="723900"/>
          </a:xfrm>
          <a:custGeom>
            <a:avLst/>
            <a:gdLst/>
            <a:ahLst/>
            <a:cxnLst/>
            <a:rect l="l" t="t" r="r" b="b"/>
            <a:pathLst>
              <a:path w="11430000" h="723900">
                <a:moveTo>
                  <a:pt x="152403" y="0"/>
                </a:moveTo>
                <a:lnTo>
                  <a:pt x="11277597" y="0"/>
                </a:lnTo>
                <a:cubicBezTo>
                  <a:pt x="11361767" y="0"/>
                  <a:pt x="11430000" y="68233"/>
                  <a:pt x="11430000" y="152403"/>
                </a:cubicBezTo>
                <a:lnTo>
                  <a:pt x="11430000" y="571497"/>
                </a:lnTo>
                <a:cubicBezTo>
                  <a:pt x="11430000" y="655667"/>
                  <a:pt x="11361767" y="723900"/>
                  <a:pt x="11277597" y="723900"/>
                </a:cubicBezTo>
                <a:lnTo>
                  <a:pt x="152403" y="723900"/>
                </a:lnTo>
                <a:cubicBezTo>
                  <a:pt x="68233" y="723900"/>
                  <a:pt x="0" y="655667"/>
                  <a:pt x="0" y="571497"/>
                </a:cubicBezTo>
                <a:lnTo>
                  <a:pt x="0" y="152403"/>
                </a:lnTo>
                <a:cubicBezTo>
                  <a:pt x="0" y="68289"/>
                  <a:pt x="68289" y="0"/>
                  <a:pt x="152403"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6" name="AutoShape 26"/>
          <p:cNvSpPr/>
          <p:nvPr/>
        </p:nvSpPr>
        <p:spPr>
          <a:xfrm>
            <a:off x="561894" y="5066909"/>
            <a:ext cx="110680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8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Through multi-layer neural network computation, the model progressively understands the input's </a:t>
            </a:r>
            <a:r>
              <a:rPr lang="en-US" sz="885"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semantics</a:t>
            </a:r>
            <a:r>
              <a:rPr lang="en-US" sz="88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885"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grammar</a:t>
            </a:r>
            <a:r>
              <a:rPr lang="en-US" sz="88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and </a:t>
            </a:r>
            <a:r>
              <a:rPr lang="en-US" sz="885"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contextual relationships</a:t>
            </a:r>
            <a:endParaRPr lang="en-US" sz="1100"/>
          </a:p>
        </p:txBody>
      </p:sp>
    </p:spTree>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1 Input Processing</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0478"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2 Layer-by-Layer Computation</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Prediction</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Generation</a:t>
            </a:r>
            <a:endParaRPr lang="en-US" sz="1100"/>
          </a:p>
        </p:txBody>
      </p:sp>
      <p:sp>
        <p:nvSpPr>
          <p:cNvPr id="9" name="AutoShape 9"/>
          <p:cNvSpPr/>
          <p:nvPr/>
        </p:nvSpPr>
        <p:spPr>
          <a:xfrm>
            <a:off x="381000" y="76187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615" b="0" i="0" u="none" strike="noStrike">
                <a:solidFill>
                  <a:srgbClr val="5B92E5"/>
                </a:solidFill>
                <a:latin typeface="Alimama ShuHeiTi"/>
                <a:ea typeface="Alimama ShuHeiTi"/>
                <a:cs typeface="Alimama ShuHeiTi"/>
                <a:sym typeface="Alimama ShuHeiTi"/>
              </a:rPr>
              <a:t>Step 2.1 Multi-Perspective Understanding</a:t>
            </a:r>
            <a:endParaRPr lang="en-US" sz="1100"/>
          </a:p>
        </p:txBody>
      </p:sp>
      <p:sp>
        <p:nvSpPr>
          <p:cNvPr id="10" name="AutoShape 10"/>
          <p:cNvSpPr/>
          <p:nvPr/>
        </p:nvSpPr>
        <p:spPr>
          <a:xfrm>
            <a:off x="333375" y="1889987"/>
            <a:ext cx="11525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8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Through the Self-Attention mechanism, each word can "see" all other words</a:t>
            </a:r>
            <a:endParaRPr lang="en-US" sz="1100"/>
          </a:p>
        </p:txBody>
      </p:sp>
      <p:sp>
        <p:nvSpPr>
          <p:cNvPr id="11" name="Freeform 11"/>
          <p:cNvSpPr/>
          <p:nvPr/>
        </p:nvSpPr>
        <p:spPr>
          <a:xfrm>
            <a:off x="381000" y="2385175"/>
            <a:ext cx="11430000" cy="1857375"/>
          </a:xfrm>
          <a:custGeom>
            <a:avLst/>
            <a:gdLst/>
            <a:ahLst/>
            <a:cxnLst/>
            <a:rect l="l" t="t" r="r" b="b"/>
            <a:pathLst>
              <a:path w="11430000" h="1857375">
                <a:moveTo>
                  <a:pt x="152397" y="0"/>
                </a:moveTo>
                <a:lnTo>
                  <a:pt x="11277603" y="0"/>
                </a:lnTo>
                <a:cubicBezTo>
                  <a:pt x="11361769" y="0"/>
                  <a:pt x="11430000" y="68231"/>
                  <a:pt x="11430000" y="152397"/>
                </a:cubicBezTo>
                <a:lnTo>
                  <a:pt x="11430000" y="1704978"/>
                </a:lnTo>
                <a:cubicBezTo>
                  <a:pt x="11430000" y="1789144"/>
                  <a:pt x="11361769" y="1857375"/>
                  <a:pt x="11277603" y="1857375"/>
                </a:cubicBezTo>
                <a:lnTo>
                  <a:pt x="152397" y="1857375"/>
                </a:lnTo>
                <a:cubicBezTo>
                  <a:pt x="68231" y="1857375"/>
                  <a:pt x="0" y="1789144"/>
                  <a:pt x="0" y="1704978"/>
                </a:cubicBezTo>
                <a:lnTo>
                  <a:pt x="0" y="152397"/>
                </a:lnTo>
                <a:cubicBezTo>
                  <a:pt x="0" y="68287"/>
                  <a:pt x="68287" y="0"/>
                  <a:pt x="152397"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566656" y="2613682"/>
            <a:ext cx="11058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85"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Processing "What is AI?"</a:t>
            </a:r>
            <a:endParaRPr lang="en-US" sz="1100"/>
          </a:p>
        </p:txBody>
      </p:sp>
      <p:sp>
        <p:nvSpPr>
          <p:cNvPr id="13" name="Freeform 13"/>
          <p:cNvSpPr/>
          <p:nvPr/>
        </p:nvSpPr>
        <p:spPr>
          <a:xfrm>
            <a:off x="4878315" y="3067217"/>
            <a:ext cx="838200" cy="495300"/>
          </a:xfrm>
          <a:custGeom>
            <a:avLst/>
            <a:gdLst/>
            <a:ahLst/>
            <a:cxnLst/>
            <a:rect l="l" t="t" r="r" b="b"/>
            <a:pathLst>
              <a:path w="838200" h="495300">
                <a:moveTo>
                  <a:pt x="114300" y="0"/>
                </a:moveTo>
                <a:lnTo>
                  <a:pt x="723900" y="0"/>
                </a:lnTo>
                <a:cubicBezTo>
                  <a:pt x="787027" y="0"/>
                  <a:pt x="838200" y="51173"/>
                  <a:pt x="838200" y="114300"/>
                </a:cubicBezTo>
                <a:lnTo>
                  <a:pt x="838200" y="381000"/>
                </a:lnTo>
                <a:cubicBezTo>
                  <a:pt x="838200" y="444127"/>
                  <a:pt x="787027" y="495300"/>
                  <a:pt x="723900" y="495300"/>
                </a:cubicBezTo>
                <a:lnTo>
                  <a:pt x="114300" y="495300"/>
                </a:lnTo>
                <a:cubicBezTo>
                  <a:pt x="51173" y="495300"/>
                  <a:pt x="0" y="444127"/>
                  <a:pt x="0" y="381000"/>
                </a:cubicBezTo>
                <a:lnTo>
                  <a:pt x="0" y="114300"/>
                </a:lnTo>
                <a:cubicBezTo>
                  <a:pt x="0" y="51217"/>
                  <a:pt x="51217" y="0"/>
                  <a:pt x="1143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4830690" y="3067217"/>
            <a:ext cx="933450" cy="495300"/>
          </a:xfrm>
          <a:prstGeom prst="rect">
            <a:avLst/>
          </a:prstGeom>
          <a:noFill/>
          <a:ln w="12700">
            <a:noFill/>
            <a:prstDash val="solid"/>
          </a:ln>
        </p:spPr>
        <p:txBody>
          <a:bodyPr wrap="square" lIns="190500" tIns="114300" rIns="190500" bIns="114300" rtlCol="0" anchor="ctr">
            <a:noAutofit/>
          </a:bodyPr>
          <a:lstStyle/>
          <a:p>
            <a:pPr indent="0" algn="ctr">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What</a:t>
            </a:r>
            <a:endParaRPr lang="en-US" sz="1100"/>
          </a:p>
        </p:txBody>
      </p:sp>
      <p:sp>
        <p:nvSpPr>
          <p:cNvPr id="15" name="AutoShape 15"/>
          <p:cNvSpPr/>
          <p:nvPr/>
        </p:nvSpPr>
        <p:spPr>
          <a:xfrm>
            <a:off x="4849740" y="3638438"/>
            <a:ext cx="895350"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is</a:t>
            </a:r>
            <a:endParaRPr lang="en-US" sz="1100"/>
          </a:p>
        </p:txBody>
      </p:sp>
      <p:sp>
        <p:nvSpPr>
          <p:cNvPr id="16" name="AutoShape 16"/>
          <p:cNvSpPr/>
          <p:nvPr/>
        </p:nvSpPr>
        <p:spPr>
          <a:xfrm>
            <a:off x="4849740" y="3828808"/>
            <a:ext cx="895350"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AI</a:t>
            </a:r>
            <a:endParaRPr lang="en-US" sz="1100"/>
          </a:p>
        </p:txBody>
      </p:sp>
      <p:sp>
        <p:nvSpPr>
          <p:cNvPr id="17" name="Freeform 17"/>
          <p:cNvSpPr/>
          <p:nvPr/>
        </p:nvSpPr>
        <p:spPr>
          <a:xfrm>
            <a:off x="5947578" y="3067217"/>
            <a:ext cx="514350" cy="495300"/>
          </a:xfrm>
          <a:custGeom>
            <a:avLst/>
            <a:gdLst/>
            <a:ahLst/>
            <a:cxnLst/>
            <a:rect l="l" t="t" r="r" b="b"/>
            <a:pathLst>
              <a:path w="514350" h="495300">
                <a:moveTo>
                  <a:pt x="114300" y="0"/>
                </a:moveTo>
                <a:lnTo>
                  <a:pt x="400050" y="0"/>
                </a:lnTo>
                <a:cubicBezTo>
                  <a:pt x="463177" y="0"/>
                  <a:pt x="514350" y="51173"/>
                  <a:pt x="514350" y="114300"/>
                </a:cubicBezTo>
                <a:lnTo>
                  <a:pt x="514350" y="381000"/>
                </a:lnTo>
                <a:cubicBezTo>
                  <a:pt x="514350" y="444127"/>
                  <a:pt x="463177" y="495300"/>
                  <a:pt x="400050" y="495300"/>
                </a:cubicBezTo>
                <a:lnTo>
                  <a:pt x="114300" y="495300"/>
                </a:lnTo>
                <a:cubicBezTo>
                  <a:pt x="51173" y="495300"/>
                  <a:pt x="0" y="444127"/>
                  <a:pt x="0" y="381000"/>
                </a:cubicBezTo>
                <a:lnTo>
                  <a:pt x="0" y="114300"/>
                </a:lnTo>
                <a:cubicBezTo>
                  <a:pt x="0" y="51217"/>
                  <a:pt x="51217" y="0"/>
                  <a:pt x="1143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5899953" y="3067217"/>
            <a:ext cx="609600" cy="495300"/>
          </a:xfrm>
          <a:prstGeom prst="rect">
            <a:avLst/>
          </a:prstGeom>
          <a:noFill/>
          <a:ln w="12700">
            <a:noFill/>
            <a:prstDash val="solid"/>
          </a:ln>
        </p:spPr>
        <p:txBody>
          <a:bodyPr wrap="square" lIns="190500" tIns="114300" rIns="190500" bIns="114300" rtlCol="0" anchor="ctr">
            <a:noAutofit/>
          </a:bodyPr>
          <a:lstStyle/>
          <a:p>
            <a:pPr indent="0" algn="ctr">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is</a:t>
            </a:r>
            <a:endParaRPr lang="en-US" sz="1100"/>
          </a:p>
        </p:txBody>
      </p:sp>
      <p:sp>
        <p:nvSpPr>
          <p:cNvPr id="19" name="AutoShape 19"/>
          <p:cNvSpPr/>
          <p:nvPr/>
        </p:nvSpPr>
        <p:spPr>
          <a:xfrm>
            <a:off x="5919003" y="3638438"/>
            <a:ext cx="571500"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What</a:t>
            </a:r>
            <a:endParaRPr lang="en-US" sz="1100"/>
          </a:p>
        </p:txBody>
      </p:sp>
      <p:sp>
        <p:nvSpPr>
          <p:cNvPr id="20" name="AutoShape 20"/>
          <p:cNvSpPr/>
          <p:nvPr/>
        </p:nvSpPr>
        <p:spPr>
          <a:xfrm>
            <a:off x="5919003" y="3828808"/>
            <a:ext cx="571500"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AI</a:t>
            </a:r>
            <a:endParaRPr lang="en-US" sz="1100"/>
          </a:p>
        </p:txBody>
      </p:sp>
      <p:sp>
        <p:nvSpPr>
          <p:cNvPr id="21" name="Freeform 21"/>
          <p:cNvSpPr/>
          <p:nvPr/>
        </p:nvSpPr>
        <p:spPr>
          <a:xfrm>
            <a:off x="6710119" y="3049896"/>
            <a:ext cx="587085" cy="529935"/>
          </a:xfrm>
          <a:custGeom>
            <a:avLst/>
            <a:gdLst/>
            <a:ahLst/>
            <a:cxnLst/>
            <a:rect l="l" t="t" r="r" b="b"/>
            <a:pathLst>
              <a:path w="587085" h="529935">
                <a:moveTo>
                  <a:pt x="114303" y="0"/>
                </a:moveTo>
                <a:lnTo>
                  <a:pt x="472784" y="0"/>
                </a:lnTo>
                <a:cubicBezTo>
                  <a:pt x="535912" y="0"/>
                  <a:pt x="587085" y="51175"/>
                  <a:pt x="587085" y="114303"/>
                </a:cubicBezTo>
                <a:lnTo>
                  <a:pt x="587085" y="415634"/>
                </a:lnTo>
                <a:cubicBezTo>
                  <a:pt x="587085" y="478762"/>
                  <a:pt x="535912" y="529935"/>
                  <a:pt x="472784" y="529935"/>
                </a:cubicBezTo>
                <a:lnTo>
                  <a:pt x="114303" y="529935"/>
                </a:lnTo>
                <a:cubicBezTo>
                  <a:pt x="51175" y="529935"/>
                  <a:pt x="0" y="478762"/>
                  <a:pt x="0" y="415634"/>
                </a:cubicBezTo>
                <a:lnTo>
                  <a:pt x="0" y="114303"/>
                </a:lnTo>
                <a:cubicBezTo>
                  <a:pt x="0" y="51217"/>
                  <a:pt x="51217" y="0"/>
                  <a:pt x="114303" y="0"/>
                </a:cubicBezTo>
                <a:close/>
              </a:path>
            </a:pathLst>
          </a:custGeom>
          <a:solidFill>
            <a:srgbClr val="1E90FF">
              <a:alpha val="100000"/>
            </a:srgbClr>
          </a:solidFill>
          <a:ln w="38100">
            <a:solidFill>
              <a:srgbClr val="1E90FF">
                <a:alpha val="100000"/>
              </a:srgbClr>
            </a:solidFill>
            <a:prstDash val="solid"/>
          </a:ln>
        </p:spPr>
        <p:txBody>
          <a:bodyPr wrap="square" lIns="91440" tIns="45720" rIns="91440" bIns="45720" rtlCol="0" anchor="t">
            <a:noAutofit/>
          </a:bodyPr>
          <a:lstStyle/>
          <a:p>
            <a:pPr algn="ctr">
              <a:defRPr/>
            </a:pPr>
          </a:p>
        </p:txBody>
      </p:sp>
      <p:sp>
        <p:nvSpPr>
          <p:cNvPr id="22" name="AutoShape 22"/>
          <p:cNvSpPr/>
          <p:nvPr/>
        </p:nvSpPr>
        <p:spPr>
          <a:xfrm>
            <a:off x="6645176" y="3032578"/>
            <a:ext cx="647700" cy="495300"/>
          </a:xfrm>
          <a:prstGeom prst="rect">
            <a:avLst/>
          </a:prstGeom>
          <a:noFill/>
          <a:ln w="12700">
            <a:noFill/>
            <a:prstDash val="solid"/>
          </a:ln>
        </p:spPr>
        <p:txBody>
          <a:bodyPr wrap="square" lIns="190500" tIns="114300" rIns="190500" bIns="114300" rtlCol="0" anchor="ctr">
            <a:noAutofit/>
          </a:bodyPr>
          <a:lstStyle/>
          <a:p>
            <a:pPr indent="0" algn="ctr">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AI</a:t>
            </a:r>
            <a:endParaRPr lang="en-US" sz="1100"/>
          </a:p>
        </p:txBody>
      </p:sp>
      <p:sp>
        <p:nvSpPr>
          <p:cNvPr id="23" name="AutoShape 23"/>
          <p:cNvSpPr/>
          <p:nvPr/>
        </p:nvSpPr>
        <p:spPr>
          <a:xfrm>
            <a:off x="6664226" y="3673078"/>
            <a:ext cx="676275"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What</a:t>
            </a:r>
            <a:endParaRPr lang="en-US" sz="1100"/>
          </a:p>
        </p:txBody>
      </p:sp>
      <p:sp>
        <p:nvSpPr>
          <p:cNvPr id="24" name="AutoShape 24"/>
          <p:cNvSpPr/>
          <p:nvPr/>
        </p:nvSpPr>
        <p:spPr>
          <a:xfrm>
            <a:off x="6664226" y="3863448"/>
            <a:ext cx="676275"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is</a:t>
            </a:r>
            <a:endParaRPr lang="en-US" sz="1100"/>
          </a:p>
        </p:txBody>
      </p:sp>
      <p:sp>
        <p:nvSpPr>
          <p:cNvPr id="25" name="Freeform 25"/>
          <p:cNvSpPr/>
          <p:nvPr/>
        </p:nvSpPr>
        <p:spPr>
          <a:xfrm>
            <a:off x="4319533" y="4472825"/>
            <a:ext cx="1066800" cy="800100"/>
          </a:xfrm>
          <a:custGeom>
            <a:avLst/>
            <a:gdLst/>
            <a:ahLst/>
            <a:cxnLst/>
            <a:rect l="l" t="t" r="r" b="b"/>
            <a:pathLst>
              <a:path w="1066800" h="800100">
                <a:moveTo>
                  <a:pt x="114303" y="0"/>
                </a:moveTo>
                <a:lnTo>
                  <a:pt x="952497" y="0"/>
                </a:lnTo>
                <a:cubicBezTo>
                  <a:pt x="1015583" y="0"/>
                  <a:pt x="1066800" y="51217"/>
                  <a:pt x="1066800" y="114303"/>
                </a:cubicBezTo>
                <a:lnTo>
                  <a:pt x="1066800" y="685797"/>
                </a:lnTo>
                <a:cubicBezTo>
                  <a:pt x="1066800" y="748883"/>
                  <a:pt x="1015583" y="800100"/>
                  <a:pt x="952497" y="800100"/>
                </a:cubicBezTo>
                <a:lnTo>
                  <a:pt x="114303" y="800100"/>
                </a:lnTo>
                <a:cubicBezTo>
                  <a:pt x="51217" y="800100"/>
                  <a:pt x="0" y="748883"/>
                  <a:pt x="0" y="685797"/>
                </a:cubicBezTo>
                <a:lnTo>
                  <a:pt x="0" y="114303"/>
                </a:lnTo>
                <a:cubicBezTo>
                  <a:pt x="0" y="51217"/>
                  <a:pt x="51217" y="0"/>
                  <a:pt x="114303"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algn="ctr">
              <a:defRPr/>
            </a:pPr>
          </a:p>
        </p:txBody>
      </p:sp>
      <p:sp>
        <p:nvSpPr>
          <p:cNvPr id="26" name="AutoShape 26"/>
          <p:cNvSpPr/>
          <p:nvPr/>
        </p:nvSpPr>
        <p:spPr>
          <a:xfrm>
            <a:off x="4429017" y="4625169"/>
            <a:ext cx="8477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85" b="1" i="0" u="none" strike="noStrike">
                <a:ln w="12700">
                  <a:solidFill>
                    <a:srgbClr val="4472C4">
                      <a:alpha val="100000"/>
                    </a:srgbClr>
                  </a:solidFill>
                </a:ln>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Q (Query)</a:t>
            </a:r>
            <a:endParaRPr lang="en-US" sz="1100"/>
          </a:p>
        </p:txBody>
      </p:sp>
      <p:sp>
        <p:nvSpPr>
          <p:cNvPr id="27" name="AutoShape 27"/>
          <p:cNvSpPr/>
          <p:nvPr/>
        </p:nvSpPr>
        <p:spPr>
          <a:xfrm>
            <a:off x="4433779" y="4891701"/>
            <a:ext cx="8382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Query</a:t>
            </a:r>
            <a:endParaRPr lang="en-US" sz="1100"/>
          </a:p>
        </p:txBody>
      </p:sp>
      <p:sp>
        <p:nvSpPr>
          <p:cNvPr id="28" name="Freeform 28"/>
          <p:cNvSpPr/>
          <p:nvPr/>
        </p:nvSpPr>
        <p:spPr>
          <a:xfrm>
            <a:off x="5695246" y="4472825"/>
            <a:ext cx="857250" cy="800100"/>
          </a:xfrm>
          <a:custGeom>
            <a:avLst/>
            <a:gdLst/>
            <a:ahLst/>
            <a:cxnLst/>
            <a:rect l="l" t="t" r="r" b="b"/>
            <a:pathLst>
              <a:path w="857250" h="800100">
                <a:moveTo>
                  <a:pt x="114303" y="0"/>
                </a:moveTo>
                <a:lnTo>
                  <a:pt x="742947" y="0"/>
                </a:lnTo>
                <a:cubicBezTo>
                  <a:pt x="806033" y="0"/>
                  <a:pt x="857250" y="51217"/>
                  <a:pt x="857250" y="114303"/>
                </a:cubicBezTo>
                <a:lnTo>
                  <a:pt x="857250" y="685797"/>
                </a:lnTo>
                <a:cubicBezTo>
                  <a:pt x="857250" y="748883"/>
                  <a:pt x="806033" y="800100"/>
                  <a:pt x="742947" y="800100"/>
                </a:cubicBezTo>
                <a:lnTo>
                  <a:pt x="114303" y="800100"/>
                </a:lnTo>
                <a:cubicBezTo>
                  <a:pt x="51217" y="800100"/>
                  <a:pt x="0" y="748883"/>
                  <a:pt x="0" y="685797"/>
                </a:cubicBezTo>
                <a:lnTo>
                  <a:pt x="0" y="114303"/>
                </a:lnTo>
                <a:cubicBezTo>
                  <a:pt x="0" y="51217"/>
                  <a:pt x="51217" y="0"/>
                  <a:pt x="114303"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algn="ctr">
              <a:defRPr/>
            </a:pPr>
          </a:p>
        </p:txBody>
      </p:sp>
      <p:sp>
        <p:nvSpPr>
          <p:cNvPr id="29" name="AutoShape 29"/>
          <p:cNvSpPr/>
          <p:nvPr/>
        </p:nvSpPr>
        <p:spPr>
          <a:xfrm>
            <a:off x="5804729" y="4625169"/>
            <a:ext cx="63817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85" b="1" i="0" u="none" strike="noStrike">
                <a:ln w="12700">
                  <a:solidFill>
                    <a:srgbClr val="4472C4">
                      <a:alpha val="100000"/>
                    </a:srgbClr>
                  </a:solidFill>
                </a:ln>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K (Key)</a:t>
            </a:r>
            <a:endParaRPr lang="en-US" sz="1100"/>
          </a:p>
        </p:txBody>
      </p:sp>
      <p:sp>
        <p:nvSpPr>
          <p:cNvPr id="30" name="AutoShape 30"/>
          <p:cNvSpPr/>
          <p:nvPr/>
        </p:nvSpPr>
        <p:spPr>
          <a:xfrm>
            <a:off x="5809492" y="4891701"/>
            <a:ext cx="62865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Key</a:t>
            </a:r>
            <a:endParaRPr lang="en-US" sz="1100"/>
          </a:p>
        </p:txBody>
      </p:sp>
      <p:sp>
        <p:nvSpPr>
          <p:cNvPr id="31" name="Freeform 31"/>
          <p:cNvSpPr/>
          <p:nvPr/>
        </p:nvSpPr>
        <p:spPr>
          <a:xfrm>
            <a:off x="6860706" y="4472825"/>
            <a:ext cx="1009650" cy="800100"/>
          </a:xfrm>
          <a:custGeom>
            <a:avLst/>
            <a:gdLst/>
            <a:ahLst/>
            <a:cxnLst/>
            <a:rect l="l" t="t" r="r" b="b"/>
            <a:pathLst>
              <a:path w="1009650" h="800100">
                <a:moveTo>
                  <a:pt x="114303" y="0"/>
                </a:moveTo>
                <a:lnTo>
                  <a:pt x="895347" y="0"/>
                </a:lnTo>
                <a:cubicBezTo>
                  <a:pt x="958433" y="0"/>
                  <a:pt x="1009650" y="51217"/>
                  <a:pt x="1009650" y="114303"/>
                </a:cubicBezTo>
                <a:lnTo>
                  <a:pt x="1009650" y="685797"/>
                </a:lnTo>
                <a:cubicBezTo>
                  <a:pt x="1009650" y="748883"/>
                  <a:pt x="958433" y="800100"/>
                  <a:pt x="895347" y="800100"/>
                </a:cubicBezTo>
                <a:lnTo>
                  <a:pt x="114303" y="800100"/>
                </a:lnTo>
                <a:cubicBezTo>
                  <a:pt x="51217" y="800100"/>
                  <a:pt x="0" y="748883"/>
                  <a:pt x="0" y="685797"/>
                </a:cubicBezTo>
                <a:lnTo>
                  <a:pt x="0" y="114303"/>
                </a:lnTo>
                <a:cubicBezTo>
                  <a:pt x="0" y="51217"/>
                  <a:pt x="51217" y="0"/>
                  <a:pt x="114303"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algn="ctr">
              <a:defRPr/>
            </a:pPr>
          </a:p>
        </p:txBody>
      </p:sp>
      <p:sp>
        <p:nvSpPr>
          <p:cNvPr id="32" name="AutoShape 32"/>
          <p:cNvSpPr/>
          <p:nvPr/>
        </p:nvSpPr>
        <p:spPr>
          <a:xfrm>
            <a:off x="6970189" y="4625169"/>
            <a:ext cx="79057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85" b="1" i="0" u="none" strike="noStrike">
                <a:ln w="12700">
                  <a:solidFill>
                    <a:srgbClr val="4472C4">
                      <a:alpha val="100000"/>
                    </a:srgbClr>
                  </a:solidFill>
                </a:ln>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V (Value)</a:t>
            </a:r>
            <a:endParaRPr lang="en-US" sz="1100"/>
          </a:p>
        </p:txBody>
      </p:sp>
      <p:sp>
        <p:nvSpPr>
          <p:cNvPr id="33" name="AutoShape 33"/>
          <p:cNvSpPr/>
          <p:nvPr/>
        </p:nvSpPr>
        <p:spPr>
          <a:xfrm>
            <a:off x="6974952" y="4891701"/>
            <a:ext cx="78105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Value</a:t>
            </a:r>
            <a:endParaRPr lang="en-US" sz="1100"/>
          </a:p>
        </p:txBody>
      </p:sp>
      <p:sp>
        <p:nvSpPr>
          <p:cNvPr id="34" name="Freeform 34"/>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5" name="AutoShape 35"/>
          <p:cNvSpPr/>
          <p:nvPr/>
        </p:nvSpPr>
        <p:spPr>
          <a:xfrm>
            <a:off x="609519" y="5829319"/>
            <a:ext cx="11061700" cy="5334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7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17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Self-Attention</a:t>
            </a:r>
            <a:r>
              <a:rPr lang="en-US" sz="117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Words attend to each other; </a:t>
            </a:r>
            <a:r>
              <a:rPr lang="en-US" sz="117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Multi-Head Attention</a:t>
            </a:r>
            <a:r>
              <a:rPr lang="en-US" sz="117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Multiple self-attentions in parallel; </a:t>
            </a:r>
            <a:r>
              <a:rPr lang="en-US" sz="117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QKV (Query-Key-Value)</a:t>
            </a:r>
            <a:r>
              <a:rPr lang="en-US" sz="117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Three core matrices used in the self-attention mechanism to compute attention weights and output</a:t>
            </a:r>
            <a:endParaRPr lang="en-US" sz="1100"/>
          </a:p>
        </p:txBody>
      </p:sp>
    </p:spTree>
  </p:cSld>
  <p:clrMapOvr>
    <a:masterClrMapping/>
  </p:clrMapOvr>
  <p:transition spd="slow">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1 Input Processing</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-&gt;</a:t>
            </a:r>
            <a:endParaRPr lang="en-US" sz="1100"/>
          </a:p>
        </p:txBody>
      </p:sp>
      <p:sp>
        <p:nvSpPr>
          <p:cNvPr id="4" name="AutoShape 4"/>
          <p:cNvSpPr/>
          <p:nvPr/>
        </p:nvSpPr>
        <p:spPr>
          <a:xfrm>
            <a:off x="1764425" y="381000"/>
            <a:ext cx="1180478"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2 Layer-by-Layer Computation</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-&gt;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Prediction</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-&gt;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Generation</a:t>
            </a:r>
            <a:endParaRPr lang="en-US" sz="1100"/>
          </a:p>
        </p:txBody>
      </p:sp>
      <p:sp>
        <p:nvSpPr>
          <p:cNvPr id="9" name="AutoShape 9"/>
          <p:cNvSpPr/>
          <p:nvPr/>
        </p:nvSpPr>
        <p:spPr>
          <a:xfrm>
            <a:off x="381000" y="76187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615" b="0" i="0" u="none" strike="noStrike">
                <a:solidFill>
                  <a:srgbClr val="5B92E5"/>
                </a:solidFill>
                <a:latin typeface="Alimama ShuHeiTi"/>
                <a:ea typeface="Alimama ShuHeiTi"/>
                <a:cs typeface="Alimama ShuHeiTi"/>
                <a:sym typeface="Alimama ShuHeiTi"/>
              </a:rPr>
              <a:t>Step 2.2 Deep Processing</a:t>
            </a:r>
            <a:endParaRPr lang="en-US" sz="1100"/>
          </a:p>
        </p:txBody>
      </p:sp>
      <p:sp>
        <p:nvSpPr>
          <p:cNvPr id="10" name="AutoShape 10"/>
          <p:cNvSpPr/>
          <p:nvPr/>
        </p:nvSpPr>
        <p:spPr>
          <a:xfrm>
            <a:off x="285750" y="1453601"/>
            <a:ext cx="11525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grpSp>
        <p:nvGrpSpPr>
          <p:cNvPr id="11" name="Group 11"/>
          <p:cNvGrpSpPr/>
          <p:nvPr/>
        </p:nvGrpSpPr>
        <p:grpSpPr>
          <a:xfrm>
            <a:off x="654050" y="1854835"/>
            <a:ext cx="4768850" cy="2616200"/>
            <a:chOff x="654050" y="1854835"/>
            <a:chExt cx="4768850" cy="2616200"/>
          </a:xfrm>
        </p:grpSpPr>
        <p:sp>
          <p:nvSpPr>
            <p:cNvPr id="12" name="Freeform 12"/>
            <p:cNvSpPr/>
            <p:nvPr/>
          </p:nvSpPr>
          <p:spPr>
            <a:xfrm>
              <a:off x="654050" y="2205990"/>
              <a:ext cx="657225" cy="609600"/>
            </a:xfrm>
            <a:custGeom>
              <a:avLst/>
              <a:gdLst/>
              <a:ahLst/>
              <a:cxnLst/>
              <a:rect l="l" t="t" r="r" b="b"/>
              <a:pathLst>
                <a:path w="657225" h="609600">
                  <a:moveTo>
                    <a:pt x="114300" y="0"/>
                  </a:moveTo>
                  <a:lnTo>
                    <a:pt x="542925" y="0"/>
                  </a:lnTo>
                  <a:cubicBezTo>
                    <a:pt x="606008" y="0"/>
                    <a:pt x="657225" y="51217"/>
                    <a:pt x="657225" y="114300"/>
                  </a:cubicBezTo>
                  <a:lnTo>
                    <a:pt x="657225" y="495300"/>
                  </a:lnTo>
                  <a:cubicBezTo>
                    <a:pt x="657225" y="558383"/>
                    <a:pt x="606008" y="609600"/>
                    <a:pt x="542925" y="609600"/>
                  </a:cubicBezTo>
                  <a:lnTo>
                    <a:pt x="114300" y="609600"/>
                  </a:lnTo>
                  <a:cubicBezTo>
                    <a:pt x="51217" y="609600"/>
                    <a:pt x="0" y="558383"/>
                    <a:pt x="0" y="495300"/>
                  </a:cubicBezTo>
                  <a:lnTo>
                    <a:pt x="0" y="114300"/>
                  </a:lnTo>
                  <a:cubicBezTo>
                    <a:pt x="0" y="51217"/>
                    <a:pt x="51217" y="0"/>
                    <a:pt x="1143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654050" y="2205990"/>
              <a:ext cx="771525" cy="609600"/>
            </a:xfrm>
            <a:prstGeom prst="rect">
              <a:avLst/>
            </a:prstGeom>
            <a:noFill/>
            <a:ln w="12700">
              <a:noFill/>
              <a:prstDash val="solid"/>
            </a:ln>
          </p:spPr>
          <p:txBody>
            <a:bodyPr wrap="square" lIns="228600" tIns="152400" rIns="228600" bIns="152400" rtlCol="0" anchor="ctr">
              <a:noAutofit/>
            </a:bodyPr>
            <a:lstStyle/>
            <a:p>
              <a:pPr indent="0" algn="l">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AI</a:t>
              </a:r>
              <a:endParaRPr lang="en-US" sz="1100"/>
            </a:p>
          </p:txBody>
        </p:sp>
        <p:sp>
          <p:nvSpPr>
            <p:cNvPr id="14" name="AutoShape 14"/>
            <p:cNvSpPr/>
            <p:nvPr/>
          </p:nvSpPr>
          <p:spPr>
            <a:xfrm>
              <a:off x="680085" y="2929890"/>
              <a:ext cx="685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Input Vector</a:t>
              </a:r>
              <a:endParaRPr lang="en-US" sz="1100"/>
            </a:p>
          </p:txBody>
        </p:sp>
        <p:sp>
          <p:nvSpPr>
            <p:cNvPr id="15" name="Freeform 15"/>
            <p:cNvSpPr/>
            <p:nvPr/>
          </p:nvSpPr>
          <p:spPr>
            <a:xfrm>
              <a:off x="1582420" y="2573298"/>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6" y="6976"/>
                  </a:cubicBezTo>
                  <a:cubicBezTo>
                    <a:pt x="158948" y="13952"/>
                    <a:pt x="158948" y="25282"/>
                    <a:pt x="165926" y="32258"/>
                  </a:cubicBezTo>
                  <a:lnTo>
                    <a:pt x="224749" y="91083"/>
                  </a:lnTo>
                  <a:lnTo>
                    <a:pt x="17859" y="91083"/>
                  </a:lnTo>
                  <a:cubicBezTo>
                    <a:pt x="7981" y="91083"/>
                    <a:pt x="0" y="99064"/>
                    <a:pt x="0" y="108942"/>
                  </a:cubicBezTo>
                  <a:cubicBezTo>
                    <a:pt x="0" y="118820"/>
                    <a:pt x="7981" y="126801"/>
                    <a:pt x="17859" y="126801"/>
                  </a:cubicBezTo>
                  <a:lnTo>
                    <a:pt x="224749" y="126801"/>
                  </a:lnTo>
                  <a:lnTo>
                    <a:pt x="165926" y="185626"/>
                  </a:lnTo>
                  <a:cubicBezTo>
                    <a:pt x="158948" y="192602"/>
                    <a:pt x="158948" y="203932"/>
                    <a:pt x="165926"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2138680" y="1854835"/>
              <a:ext cx="1693545" cy="1655445"/>
            </a:xfrm>
            <a:custGeom>
              <a:avLst/>
              <a:gdLst/>
              <a:ahLst/>
              <a:cxnLst/>
              <a:rect l="l" t="t" r="r" b="b"/>
              <a:pathLst>
                <a:path w="1693545" h="1655445">
                  <a:moveTo>
                    <a:pt x="152385" y="0"/>
                  </a:moveTo>
                  <a:lnTo>
                    <a:pt x="1541162" y="0"/>
                  </a:lnTo>
                  <a:cubicBezTo>
                    <a:pt x="1625321" y="0"/>
                    <a:pt x="1693545" y="68224"/>
                    <a:pt x="1693545" y="152383"/>
                  </a:cubicBezTo>
                  <a:lnTo>
                    <a:pt x="1693545" y="1503062"/>
                  </a:lnTo>
                  <a:cubicBezTo>
                    <a:pt x="1693545" y="1587221"/>
                    <a:pt x="1625321" y="1655445"/>
                    <a:pt x="1541162" y="1655445"/>
                  </a:cubicBezTo>
                  <a:lnTo>
                    <a:pt x="152385" y="1655445"/>
                  </a:lnTo>
                  <a:cubicBezTo>
                    <a:pt x="68224" y="1655445"/>
                    <a:pt x="0" y="1587221"/>
                    <a:pt x="0" y="1503062"/>
                  </a:cubicBezTo>
                  <a:lnTo>
                    <a:pt x="0" y="152383"/>
                  </a:lnTo>
                  <a:cubicBezTo>
                    <a:pt x="0" y="68280"/>
                    <a:pt x="68282" y="0"/>
                    <a:pt x="152385" y="0"/>
                  </a:cubicBezTo>
                  <a:close/>
                </a:path>
              </a:pathLst>
            </a:custGeom>
            <a:no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17" name="Freeform 17"/>
            <p:cNvSpPr/>
            <p:nvPr/>
          </p:nvSpPr>
          <p:spPr>
            <a:xfrm>
              <a:off x="2726690" y="2120265"/>
              <a:ext cx="514350" cy="400050"/>
            </a:xfrm>
            <a:custGeom>
              <a:avLst/>
              <a:gdLst/>
              <a:ahLst/>
              <a:cxnLst/>
              <a:rect l="l" t="t" r="r" b="b"/>
              <a:pathLst>
                <a:path w="514350" h="400050">
                  <a:moveTo>
                    <a:pt x="221456" y="50006"/>
                  </a:moveTo>
                  <a:lnTo>
                    <a:pt x="292894" y="50006"/>
                  </a:lnTo>
                  <a:lnTo>
                    <a:pt x="292894" y="92869"/>
                  </a:lnTo>
                  <a:lnTo>
                    <a:pt x="221456" y="92869"/>
                  </a:lnTo>
                  <a:lnTo>
                    <a:pt x="221456" y="50006"/>
                  </a:lnTo>
                  <a:close/>
                  <a:moveTo>
                    <a:pt x="214312" y="0"/>
                  </a:moveTo>
                  <a:cubicBezTo>
                    <a:pt x="190649" y="0"/>
                    <a:pt x="171450" y="19199"/>
                    <a:pt x="171450" y="42863"/>
                  </a:cubicBezTo>
                  <a:lnTo>
                    <a:pt x="171450" y="100013"/>
                  </a:lnTo>
                  <a:cubicBezTo>
                    <a:pt x="171450" y="123676"/>
                    <a:pt x="190649" y="142875"/>
                    <a:pt x="214312" y="142875"/>
                  </a:cubicBezTo>
                  <a:lnTo>
                    <a:pt x="228600" y="142875"/>
                  </a:lnTo>
                  <a:lnTo>
                    <a:pt x="228600" y="171450"/>
                  </a:lnTo>
                  <a:lnTo>
                    <a:pt x="28575" y="171450"/>
                  </a:lnTo>
                  <a:cubicBezTo>
                    <a:pt x="12769" y="171450"/>
                    <a:pt x="0" y="184219"/>
                    <a:pt x="0" y="200025"/>
                  </a:cubicBezTo>
                  <a:cubicBezTo>
                    <a:pt x="0" y="215831"/>
                    <a:pt x="12769" y="228600"/>
                    <a:pt x="28575" y="228600"/>
                  </a:cubicBezTo>
                  <a:lnTo>
                    <a:pt x="114300" y="228600"/>
                  </a:lnTo>
                  <a:lnTo>
                    <a:pt x="114300" y="257175"/>
                  </a:lnTo>
                  <a:lnTo>
                    <a:pt x="100012" y="257175"/>
                  </a:lnTo>
                  <a:cubicBezTo>
                    <a:pt x="76349" y="257175"/>
                    <a:pt x="57150" y="276374"/>
                    <a:pt x="57150" y="300037"/>
                  </a:cubicBezTo>
                  <a:lnTo>
                    <a:pt x="57150" y="357187"/>
                  </a:lnTo>
                  <a:cubicBezTo>
                    <a:pt x="57150" y="380851"/>
                    <a:pt x="76349" y="400050"/>
                    <a:pt x="100012" y="400050"/>
                  </a:cubicBezTo>
                  <a:lnTo>
                    <a:pt x="185738" y="400050"/>
                  </a:lnTo>
                  <a:cubicBezTo>
                    <a:pt x="209401" y="400050"/>
                    <a:pt x="228600" y="380851"/>
                    <a:pt x="228600" y="357187"/>
                  </a:cubicBezTo>
                  <a:lnTo>
                    <a:pt x="228600" y="300037"/>
                  </a:lnTo>
                  <a:cubicBezTo>
                    <a:pt x="228600" y="276374"/>
                    <a:pt x="209401" y="257175"/>
                    <a:pt x="185738" y="257175"/>
                  </a:cubicBezTo>
                  <a:lnTo>
                    <a:pt x="171450" y="257175"/>
                  </a:lnTo>
                  <a:lnTo>
                    <a:pt x="171450" y="228600"/>
                  </a:lnTo>
                  <a:lnTo>
                    <a:pt x="342900" y="228600"/>
                  </a:lnTo>
                  <a:lnTo>
                    <a:pt x="342900" y="257175"/>
                  </a:lnTo>
                  <a:lnTo>
                    <a:pt x="328612" y="257175"/>
                  </a:lnTo>
                  <a:cubicBezTo>
                    <a:pt x="304949" y="257175"/>
                    <a:pt x="285750" y="276374"/>
                    <a:pt x="285750" y="300037"/>
                  </a:cubicBezTo>
                  <a:lnTo>
                    <a:pt x="285750" y="357187"/>
                  </a:lnTo>
                  <a:cubicBezTo>
                    <a:pt x="285750" y="380851"/>
                    <a:pt x="304949" y="400050"/>
                    <a:pt x="328612" y="400050"/>
                  </a:cubicBezTo>
                  <a:lnTo>
                    <a:pt x="414338" y="400050"/>
                  </a:lnTo>
                  <a:cubicBezTo>
                    <a:pt x="438001" y="400050"/>
                    <a:pt x="457200" y="380851"/>
                    <a:pt x="457200" y="357187"/>
                  </a:cubicBezTo>
                  <a:lnTo>
                    <a:pt x="457200" y="300037"/>
                  </a:lnTo>
                  <a:cubicBezTo>
                    <a:pt x="457200" y="276374"/>
                    <a:pt x="438001" y="257175"/>
                    <a:pt x="414338" y="257175"/>
                  </a:cubicBezTo>
                  <a:lnTo>
                    <a:pt x="400050" y="257175"/>
                  </a:lnTo>
                  <a:lnTo>
                    <a:pt x="400050" y="228600"/>
                  </a:lnTo>
                  <a:lnTo>
                    <a:pt x="485775" y="228600"/>
                  </a:lnTo>
                  <a:cubicBezTo>
                    <a:pt x="501581" y="228600"/>
                    <a:pt x="514350" y="215831"/>
                    <a:pt x="514350" y="200025"/>
                  </a:cubicBezTo>
                  <a:cubicBezTo>
                    <a:pt x="514350" y="184219"/>
                    <a:pt x="501581" y="171450"/>
                    <a:pt x="485775" y="171450"/>
                  </a:cubicBezTo>
                  <a:lnTo>
                    <a:pt x="285750" y="171450"/>
                  </a:lnTo>
                  <a:lnTo>
                    <a:pt x="285750" y="142875"/>
                  </a:lnTo>
                  <a:lnTo>
                    <a:pt x="300038" y="142875"/>
                  </a:lnTo>
                  <a:cubicBezTo>
                    <a:pt x="323701" y="142875"/>
                    <a:pt x="342900" y="123676"/>
                    <a:pt x="342900" y="100013"/>
                  </a:cubicBezTo>
                  <a:lnTo>
                    <a:pt x="342900" y="42863"/>
                  </a:lnTo>
                  <a:cubicBezTo>
                    <a:pt x="342900" y="19199"/>
                    <a:pt x="323701" y="0"/>
                    <a:pt x="300038" y="0"/>
                  </a:cubicBezTo>
                  <a:lnTo>
                    <a:pt x="214312" y="0"/>
                  </a:lnTo>
                  <a:close/>
                  <a:moveTo>
                    <a:pt x="400050" y="307181"/>
                  </a:moveTo>
                  <a:lnTo>
                    <a:pt x="407194" y="307181"/>
                  </a:lnTo>
                  <a:lnTo>
                    <a:pt x="407194" y="350044"/>
                  </a:lnTo>
                  <a:lnTo>
                    <a:pt x="335756" y="350044"/>
                  </a:lnTo>
                  <a:lnTo>
                    <a:pt x="335756" y="307181"/>
                  </a:lnTo>
                  <a:lnTo>
                    <a:pt x="400050" y="307181"/>
                  </a:lnTo>
                  <a:close/>
                  <a:moveTo>
                    <a:pt x="171450" y="307181"/>
                  </a:moveTo>
                  <a:lnTo>
                    <a:pt x="178594" y="307181"/>
                  </a:lnTo>
                  <a:lnTo>
                    <a:pt x="178594" y="350044"/>
                  </a:lnTo>
                  <a:lnTo>
                    <a:pt x="107156" y="350044"/>
                  </a:lnTo>
                  <a:lnTo>
                    <a:pt x="107156" y="307181"/>
                  </a:lnTo>
                  <a:lnTo>
                    <a:pt x="171450" y="307181"/>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2376170" y="2701290"/>
              <a:ext cx="13144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Feed Forward</a:t>
              </a:r>
              <a:endParaRPr lang="en-US" sz="1100"/>
            </a:p>
          </p:txBody>
        </p:sp>
        <p:sp>
          <p:nvSpPr>
            <p:cNvPr id="19" name="AutoShape 19"/>
            <p:cNvSpPr/>
            <p:nvPr/>
          </p:nvSpPr>
          <p:spPr>
            <a:xfrm>
              <a:off x="2679065" y="3044190"/>
              <a:ext cx="685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Feed Forward Network</a:t>
              </a:r>
              <a:endParaRPr lang="en-US" sz="1100"/>
            </a:p>
          </p:txBody>
        </p:sp>
        <p:sp>
          <p:nvSpPr>
            <p:cNvPr id="20" name="Freeform 20"/>
            <p:cNvSpPr/>
            <p:nvPr/>
          </p:nvSpPr>
          <p:spPr>
            <a:xfrm>
              <a:off x="4104005" y="2573298"/>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5" y="6976"/>
                  </a:cubicBezTo>
                  <a:cubicBezTo>
                    <a:pt x="158948" y="13952"/>
                    <a:pt x="158948" y="25282"/>
                    <a:pt x="165925" y="32258"/>
                  </a:cubicBezTo>
                  <a:lnTo>
                    <a:pt x="224749" y="91083"/>
                  </a:lnTo>
                  <a:lnTo>
                    <a:pt x="17859" y="91083"/>
                  </a:lnTo>
                  <a:cubicBezTo>
                    <a:pt x="7981" y="91083"/>
                    <a:pt x="0" y="99064"/>
                    <a:pt x="0" y="108942"/>
                  </a:cubicBezTo>
                  <a:cubicBezTo>
                    <a:pt x="0" y="118820"/>
                    <a:pt x="7981" y="126801"/>
                    <a:pt x="17859" y="126801"/>
                  </a:cubicBezTo>
                  <a:lnTo>
                    <a:pt x="224749" y="126801"/>
                  </a:lnTo>
                  <a:lnTo>
                    <a:pt x="165925" y="185626"/>
                  </a:lnTo>
                  <a:cubicBezTo>
                    <a:pt x="158948" y="192602"/>
                    <a:pt x="158948" y="203932"/>
                    <a:pt x="165925"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4651375" y="2205990"/>
              <a:ext cx="657225" cy="609600"/>
            </a:xfrm>
            <a:custGeom>
              <a:avLst/>
              <a:gdLst/>
              <a:ahLst/>
              <a:cxnLst/>
              <a:rect l="l" t="t" r="r" b="b"/>
              <a:pathLst>
                <a:path w="657225" h="609600">
                  <a:moveTo>
                    <a:pt x="114300" y="0"/>
                  </a:moveTo>
                  <a:lnTo>
                    <a:pt x="542925" y="0"/>
                  </a:lnTo>
                  <a:cubicBezTo>
                    <a:pt x="606008" y="0"/>
                    <a:pt x="657225" y="51217"/>
                    <a:pt x="657225" y="114300"/>
                  </a:cubicBezTo>
                  <a:lnTo>
                    <a:pt x="657225" y="495300"/>
                  </a:lnTo>
                  <a:cubicBezTo>
                    <a:pt x="657225" y="558383"/>
                    <a:pt x="606008" y="609600"/>
                    <a:pt x="542925" y="609600"/>
                  </a:cubicBezTo>
                  <a:lnTo>
                    <a:pt x="114300" y="609600"/>
                  </a:lnTo>
                  <a:cubicBezTo>
                    <a:pt x="51217" y="609600"/>
                    <a:pt x="0" y="558383"/>
                    <a:pt x="0" y="495300"/>
                  </a:cubicBezTo>
                  <a:lnTo>
                    <a:pt x="0" y="114300"/>
                  </a:lnTo>
                  <a:cubicBezTo>
                    <a:pt x="0" y="51217"/>
                    <a:pt x="51217" y="0"/>
                    <a:pt x="114300"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4651375" y="2205990"/>
              <a:ext cx="771525" cy="609600"/>
            </a:xfrm>
            <a:prstGeom prst="rect">
              <a:avLst/>
            </a:prstGeom>
            <a:noFill/>
            <a:ln w="12700">
              <a:noFill/>
              <a:prstDash val="solid"/>
            </a:ln>
          </p:spPr>
          <p:txBody>
            <a:bodyPr wrap="square" lIns="228600" tIns="152400" rIns="228600" bIns="152400" rtlCol="0" anchor="ctr">
              <a:noAutofit/>
            </a:bodyPr>
            <a:lstStyle/>
            <a:p>
              <a:pPr indent="0" algn="l">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AI</a:t>
              </a:r>
              <a:endParaRPr lang="en-US" sz="1100"/>
            </a:p>
          </p:txBody>
        </p:sp>
        <p:sp>
          <p:nvSpPr>
            <p:cNvPr id="23" name="AutoShape 23"/>
            <p:cNvSpPr/>
            <p:nvPr/>
          </p:nvSpPr>
          <p:spPr>
            <a:xfrm>
              <a:off x="4677410" y="2929890"/>
              <a:ext cx="685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Output Vector</a:t>
              </a:r>
              <a:endParaRPr lang="en-US" sz="1100"/>
            </a:p>
          </p:txBody>
        </p:sp>
        <p:sp>
          <p:nvSpPr>
            <p:cNvPr id="24" name="AutoShape 24"/>
            <p:cNvSpPr/>
            <p:nvPr/>
          </p:nvSpPr>
          <p:spPr>
            <a:xfrm>
              <a:off x="1807845" y="3899535"/>
              <a:ext cx="771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65"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Input Features</a:t>
              </a:r>
              <a:endParaRPr lang="en-US" sz="1100"/>
            </a:p>
          </p:txBody>
        </p:sp>
        <p:sp>
          <p:nvSpPr>
            <p:cNvPr id="25" name="AutoShape 25"/>
            <p:cNvSpPr/>
            <p:nvPr/>
          </p:nvSpPr>
          <p:spPr>
            <a:xfrm>
              <a:off x="1812290" y="4242435"/>
              <a:ext cx="7620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Basic Semantics</a:t>
              </a:r>
              <a:endParaRPr lang="en-US" sz="1100"/>
            </a:p>
          </p:txBody>
        </p:sp>
        <p:sp>
          <p:nvSpPr>
            <p:cNvPr id="26" name="Freeform 26"/>
            <p:cNvSpPr/>
            <p:nvPr/>
          </p:nvSpPr>
          <p:spPr>
            <a:xfrm>
              <a:off x="2869565" y="4117181"/>
              <a:ext cx="229984" cy="174308"/>
            </a:xfrm>
            <a:custGeom>
              <a:avLst/>
              <a:gdLst/>
              <a:ahLst/>
              <a:cxnLst/>
              <a:rect l="l" t="t" r="r" b="b"/>
              <a:pathLst>
                <a:path w="229984" h="174308">
                  <a:moveTo>
                    <a:pt x="224403" y="97245"/>
                  </a:moveTo>
                  <a:cubicBezTo>
                    <a:pt x="229984" y="91663"/>
                    <a:pt x="229984" y="82600"/>
                    <a:pt x="224403" y="77019"/>
                  </a:cubicBezTo>
                  <a:lnTo>
                    <a:pt x="152966" y="5581"/>
                  </a:lnTo>
                  <a:cubicBezTo>
                    <a:pt x="147383" y="0"/>
                    <a:pt x="138321" y="0"/>
                    <a:pt x="132740" y="5581"/>
                  </a:cubicBezTo>
                  <a:cubicBezTo>
                    <a:pt x="127159" y="11162"/>
                    <a:pt x="127159" y="20226"/>
                    <a:pt x="132740" y="25807"/>
                  </a:cubicBezTo>
                  <a:lnTo>
                    <a:pt x="179799" y="72867"/>
                  </a:lnTo>
                  <a:lnTo>
                    <a:pt x="14287" y="72867"/>
                  </a:lnTo>
                  <a:cubicBezTo>
                    <a:pt x="6386" y="72867"/>
                    <a:pt x="0" y="79251"/>
                    <a:pt x="0" y="87154"/>
                  </a:cubicBezTo>
                  <a:cubicBezTo>
                    <a:pt x="0" y="95057"/>
                    <a:pt x="6386" y="101441"/>
                    <a:pt x="14287" y="101441"/>
                  </a:cubicBezTo>
                  <a:lnTo>
                    <a:pt x="179799" y="101441"/>
                  </a:lnTo>
                  <a:lnTo>
                    <a:pt x="132740" y="148501"/>
                  </a:lnTo>
                  <a:cubicBezTo>
                    <a:pt x="127159" y="154082"/>
                    <a:pt x="127159" y="163146"/>
                    <a:pt x="132740" y="168727"/>
                  </a:cubicBezTo>
                  <a:cubicBezTo>
                    <a:pt x="138321" y="174308"/>
                    <a:pt x="147383" y="174308"/>
                    <a:pt x="152966" y="168727"/>
                  </a:cubicBezTo>
                  <a:lnTo>
                    <a:pt x="224403" y="9728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3388360" y="3899535"/>
              <a:ext cx="771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45"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Output Features</a:t>
              </a:r>
              <a:endParaRPr lang="en-US" sz="1100"/>
            </a:p>
          </p:txBody>
        </p:sp>
        <p:sp>
          <p:nvSpPr>
            <p:cNvPr id="28" name="AutoShape 28"/>
            <p:cNvSpPr/>
            <p:nvPr/>
          </p:nvSpPr>
          <p:spPr>
            <a:xfrm>
              <a:off x="3393440" y="4242435"/>
              <a:ext cx="7620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High-Level Abstraction</a:t>
              </a:r>
              <a:endParaRPr lang="en-US" sz="1100"/>
            </a:p>
          </p:txBody>
        </p:sp>
      </p:grpSp>
      <p:sp>
        <p:nvSpPr>
          <p:cNvPr id="29" name="Freeform 29"/>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0" name="AutoShape 30"/>
          <p:cNvSpPr/>
          <p:nvPr/>
        </p:nvSpPr>
        <p:spPr>
          <a:xfrm>
            <a:off x="609519" y="5962594"/>
            <a:ext cx="709930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4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Book </a:t>
            </a:r>
            <a:r>
              <a:rPr lang="en-US" sz="84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Feed Forward Network</a:t>
            </a:r>
            <a:r>
              <a:rPr lang="en-US" sz="84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Performs independent nonlinear transformation on each word to extract high-level semantics</a:t>
            </a:r>
            <a:endParaRPr lang="en-US" sz="1100"/>
          </a:p>
        </p:txBody>
      </p:sp>
      <p:sp>
        <p:nvSpPr>
          <p:cNvPr id="31" name="Freeform 31"/>
          <p:cNvSpPr/>
          <p:nvPr/>
        </p:nvSpPr>
        <p:spPr>
          <a:xfrm>
            <a:off x="6207915" y="1593156"/>
            <a:ext cx="5665932" cy="3602182"/>
          </a:xfrm>
          <a:custGeom>
            <a:avLst/>
            <a:gdLst/>
            <a:ahLst/>
            <a:cxnLst/>
            <a:rect l="l" t="t" r="r" b="b"/>
            <a:pathLst>
              <a:path w="5665932" h="3602182">
                <a:moveTo>
                  <a:pt x="95242" y="0"/>
                </a:moveTo>
                <a:lnTo>
                  <a:pt x="5570690" y="0"/>
                </a:lnTo>
                <a:cubicBezTo>
                  <a:pt x="5623291" y="0"/>
                  <a:pt x="5665932" y="42642"/>
                  <a:pt x="5665932" y="95242"/>
                </a:cubicBezTo>
                <a:lnTo>
                  <a:pt x="5665932" y="3506940"/>
                </a:lnTo>
                <a:cubicBezTo>
                  <a:pt x="5665932" y="3559541"/>
                  <a:pt x="5623291" y="3602182"/>
                  <a:pt x="5570690" y="3602182"/>
                </a:cubicBezTo>
                <a:lnTo>
                  <a:pt x="95242" y="3602182"/>
                </a:lnTo>
                <a:cubicBezTo>
                  <a:pt x="42642" y="3602182"/>
                  <a:pt x="0" y="3559541"/>
                  <a:pt x="0" y="3506940"/>
                </a:cubicBezTo>
                <a:lnTo>
                  <a:pt x="0" y="95242"/>
                </a:lnTo>
                <a:cubicBezTo>
                  <a:pt x="0" y="42676"/>
                  <a:pt x="42676" y="0"/>
                  <a:pt x="95242" y="0"/>
                </a:cubicBezTo>
                <a:close/>
              </a:path>
            </a:pathLst>
          </a:custGeom>
          <a:solidFill>
            <a:srgbClr val="FFFFFF">
              <a:alpha val="100000"/>
            </a:srgbClr>
          </a:solidFill>
          <a:ln w="12700">
            <a:solidFill>
              <a:srgbClr val="00CED1">
                <a:alpha val="100000"/>
              </a:srgbClr>
            </a:solid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32" name="Freeform 32"/>
          <p:cNvSpPr/>
          <p:nvPr/>
        </p:nvSpPr>
        <p:spPr>
          <a:xfrm>
            <a:off x="6467514" y="2225802"/>
            <a:ext cx="214313" cy="294679"/>
          </a:xfrm>
          <a:custGeom>
            <a:avLst/>
            <a:gdLst/>
            <a:ahLst/>
            <a:cxnLst/>
            <a:rect l="l" t="t" r="r" b="b"/>
            <a:pathLst>
              <a:path w="214313" h="294679">
                <a:moveTo>
                  <a:pt x="163469" y="214312"/>
                </a:moveTo>
                <a:cubicBezTo>
                  <a:pt x="167543" y="201866"/>
                  <a:pt x="175692" y="190593"/>
                  <a:pt x="184901" y="180882"/>
                </a:cubicBezTo>
                <a:cubicBezTo>
                  <a:pt x="203150" y="161682"/>
                  <a:pt x="214313" y="135731"/>
                  <a:pt x="214313" y="107156"/>
                </a:cubicBezTo>
                <a:cubicBezTo>
                  <a:pt x="214313" y="47997"/>
                  <a:pt x="166315" y="0"/>
                  <a:pt x="107156" y="0"/>
                </a:cubicBezTo>
                <a:cubicBezTo>
                  <a:pt x="47997" y="0"/>
                  <a:pt x="0" y="47997"/>
                  <a:pt x="0" y="107156"/>
                </a:cubicBezTo>
                <a:cubicBezTo>
                  <a:pt x="0" y="135731"/>
                  <a:pt x="11162" y="161682"/>
                  <a:pt x="29412" y="180882"/>
                </a:cubicBezTo>
                <a:cubicBezTo>
                  <a:pt x="38621" y="190593"/>
                  <a:pt x="46825" y="201866"/>
                  <a:pt x="50843" y="214312"/>
                </a:cubicBezTo>
                <a:lnTo>
                  <a:pt x="163413" y="214312"/>
                </a:lnTo>
                <a:close/>
                <a:moveTo>
                  <a:pt x="160734" y="241102"/>
                </a:moveTo>
                <a:lnTo>
                  <a:pt x="53577" y="241102"/>
                </a:lnTo>
                <a:lnTo>
                  <a:pt x="53577" y="250031"/>
                </a:lnTo>
                <a:cubicBezTo>
                  <a:pt x="53577" y="274700"/>
                  <a:pt x="73558" y="294679"/>
                  <a:pt x="98227" y="294679"/>
                </a:cubicBezTo>
                <a:lnTo>
                  <a:pt x="116086" y="294679"/>
                </a:lnTo>
                <a:cubicBezTo>
                  <a:pt x="140754" y="294679"/>
                  <a:pt x="160734" y="274700"/>
                  <a:pt x="160734" y="250031"/>
                </a:cubicBezTo>
                <a:lnTo>
                  <a:pt x="160734" y="241102"/>
                </a:lnTo>
                <a:close/>
                <a:moveTo>
                  <a:pt x="102691" y="62508"/>
                </a:moveTo>
                <a:cubicBezTo>
                  <a:pt x="80479" y="62508"/>
                  <a:pt x="62508" y="80479"/>
                  <a:pt x="62508" y="102691"/>
                </a:cubicBezTo>
                <a:cubicBezTo>
                  <a:pt x="62508" y="110114"/>
                  <a:pt x="56537" y="116086"/>
                  <a:pt x="49113" y="116086"/>
                </a:cubicBezTo>
                <a:cubicBezTo>
                  <a:pt x="41690" y="116086"/>
                  <a:pt x="35719" y="110114"/>
                  <a:pt x="35719" y="102691"/>
                </a:cubicBezTo>
                <a:cubicBezTo>
                  <a:pt x="35719" y="65689"/>
                  <a:pt x="65689" y="35719"/>
                  <a:pt x="102691" y="35719"/>
                </a:cubicBezTo>
                <a:cubicBezTo>
                  <a:pt x="110114" y="35719"/>
                  <a:pt x="116086" y="41690"/>
                  <a:pt x="116086" y="49113"/>
                </a:cubicBezTo>
                <a:cubicBezTo>
                  <a:pt x="116086" y="56537"/>
                  <a:pt x="110114" y="62508"/>
                  <a:pt x="102691" y="62508"/>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3" name="AutoShape 33"/>
          <p:cNvSpPr/>
          <p:nvPr/>
        </p:nvSpPr>
        <p:spPr>
          <a:xfrm>
            <a:off x="6880219" y="2241739"/>
            <a:ext cx="1619250" cy="2540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715"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Concept Extraction and Abstraction</a:t>
            </a:r>
            <a:endParaRPr lang="en-US" sz="1100"/>
          </a:p>
        </p:txBody>
      </p:sp>
      <p:sp>
        <p:nvSpPr>
          <p:cNvPr id="34" name="AutoShape 34"/>
          <p:cNvSpPr/>
          <p:nvPr/>
        </p:nvSpPr>
        <p:spPr>
          <a:xfrm>
            <a:off x="6396076" y="2638552"/>
            <a:ext cx="5349875" cy="261937"/>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82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At this stage, the model performs</a:t>
            </a:r>
            <a:r>
              <a:rPr lang="en-US" sz="82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independent, deep processing</a:t>
            </a:r>
            <a:r>
              <a:rPr lang="en-US" sz="82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on each word's representation.</a:t>
            </a:r>
            <a:endParaRPr lang="en-US" sz="1100"/>
          </a:p>
        </p:txBody>
      </p:sp>
      <p:sp>
        <p:nvSpPr>
          <p:cNvPr id="35" name="Freeform 35"/>
          <p:cNvSpPr/>
          <p:nvPr/>
        </p:nvSpPr>
        <p:spPr>
          <a:xfrm>
            <a:off x="6396076" y="3023474"/>
            <a:ext cx="5270500" cy="2413000"/>
          </a:xfrm>
          <a:custGeom>
            <a:avLst/>
            <a:gdLst/>
            <a:ahLst/>
            <a:cxnLst/>
            <a:rect l="l" t="t" r="r" b="b"/>
            <a:pathLst>
              <a:path w="5270500" h="2413000">
                <a:moveTo>
                  <a:pt x="63510" y="0"/>
                </a:moveTo>
                <a:lnTo>
                  <a:pt x="5206990" y="0"/>
                </a:lnTo>
                <a:cubicBezTo>
                  <a:pt x="5242066" y="0"/>
                  <a:pt x="5270500" y="28434"/>
                  <a:pt x="5270500" y="63510"/>
                </a:cubicBezTo>
                <a:lnTo>
                  <a:pt x="5270500" y="2349490"/>
                </a:lnTo>
                <a:cubicBezTo>
                  <a:pt x="5270500" y="2384566"/>
                  <a:pt x="5242066" y="2413000"/>
                  <a:pt x="5206990" y="2413000"/>
                </a:cubicBezTo>
                <a:lnTo>
                  <a:pt x="63510" y="2413000"/>
                </a:lnTo>
                <a:cubicBezTo>
                  <a:pt x="28434" y="2413000"/>
                  <a:pt x="0" y="2384566"/>
                  <a:pt x="0" y="2349490"/>
                </a:cubicBezTo>
                <a:lnTo>
                  <a:pt x="0" y="63510"/>
                </a:lnTo>
                <a:cubicBezTo>
                  <a:pt x="0" y="28458"/>
                  <a:pt x="28458" y="0"/>
                  <a:pt x="63510" y="0"/>
                </a:cubicBezTo>
                <a:close/>
              </a:path>
            </a:pathLst>
          </a:custGeom>
          <a:solidFill>
            <a:srgbClr val="00CED1">
              <a:alpha val="10196"/>
            </a:srgbClr>
          </a:solidFill>
          <a:ln w="12700">
            <a:noFill/>
            <a:prstDash val="solid"/>
          </a:ln>
        </p:spPr>
        <p:txBody>
          <a:bodyPr wrap="square" lIns="91440" tIns="45720" rIns="91440" bIns="45720" rtlCol="0" anchor="t">
            <a:noAutofit/>
          </a:bodyPr>
          <a:lstStyle/>
          <a:p>
            <a:pPr algn="ctr">
              <a:defRPr/>
            </a:pPr>
          </a:p>
        </p:txBody>
      </p:sp>
      <p:sp>
        <p:nvSpPr>
          <p:cNvPr id="36" name="Freeform 36"/>
          <p:cNvSpPr/>
          <p:nvPr/>
        </p:nvSpPr>
        <p:spPr>
          <a:xfrm>
            <a:off x="6554826" y="3182224"/>
            <a:ext cx="4953000" cy="793750"/>
          </a:xfrm>
          <a:custGeom>
            <a:avLst/>
            <a:gdLst/>
            <a:ahLst/>
            <a:cxnLst/>
            <a:rect l="l" t="t" r="r" b="b"/>
            <a:pathLst>
              <a:path w="4953000" h="793750">
                <a:moveTo>
                  <a:pt x="63500" y="0"/>
                </a:moveTo>
                <a:lnTo>
                  <a:pt x="4889500" y="0"/>
                </a:lnTo>
                <a:cubicBezTo>
                  <a:pt x="4924547" y="0"/>
                  <a:pt x="4953000" y="28453"/>
                  <a:pt x="4953000" y="63500"/>
                </a:cubicBezTo>
                <a:lnTo>
                  <a:pt x="4953000" y="730250"/>
                </a:lnTo>
                <a:cubicBezTo>
                  <a:pt x="4953000" y="765297"/>
                  <a:pt x="4924547" y="793750"/>
                  <a:pt x="4889500" y="793750"/>
                </a:cubicBezTo>
                <a:lnTo>
                  <a:pt x="63500" y="793750"/>
                </a:lnTo>
                <a:cubicBezTo>
                  <a:pt x="28453" y="793750"/>
                  <a:pt x="0" y="765297"/>
                  <a:pt x="0" y="730250"/>
                </a:cubicBezTo>
                <a:lnTo>
                  <a:pt x="0" y="63500"/>
                </a:lnTo>
                <a:cubicBezTo>
                  <a:pt x="0" y="28453"/>
                  <a:pt x="28453" y="0"/>
                  <a:pt x="6350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7" name="AutoShape 37"/>
          <p:cNvSpPr/>
          <p:nvPr/>
        </p:nvSpPr>
        <p:spPr>
          <a:xfrm>
            <a:off x="6626536" y="3283143"/>
            <a:ext cx="4770438" cy="2222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Surface Form:</a:t>
            </a:r>
            <a:endParaRPr lang="en-US" sz="1100"/>
          </a:p>
        </p:txBody>
      </p:sp>
      <p:sp>
        <p:nvSpPr>
          <p:cNvPr id="38" name="AutoShape 38"/>
          <p:cNvSpPr/>
          <p:nvPr/>
        </p:nvSpPr>
        <p:spPr>
          <a:xfrm>
            <a:off x="6681781" y="3594881"/>
            <a:ext cx="4794250" cy="2540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82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"What is AI"</a:t>
            </a:r>
            <a:endParaRPr lang="en-US" sz="1100"/>
          </a:p>
        </p:txBody>
      </p:sp>
      <p:sp>
        <p:nvSpPr>
          <p:cNvPr id="39" name="Freeform 39"/>
          <p:cNvSpPr/>
          <p:nvPr/>
        </p:nvSpPr>
        <p:spPr>
          <a:xfrm>
            <a:off x="6624478" y="4102695"/>
            <a:ext cx="217884" cy="287480"/>
          </a:xfrm>
          <a:custGeom>
            <a:avLst/>
            <a:gdLst/>
            <a:ahLst/>
            <a:cxnLst/>
            <a:rect l="l" t="t" r="r" b="b"/>
            <a:pathLst>
              <a:path w="217884" h="287480">
                <a:moveTo>
                  <a:pt x="96329" y="280504"/>
                </a:moveTo>
                <a:cubicBezTo>
                  <a:pt x="103305" y="287480"/>
                  <a:pt x="114634" y="287480"/>
                  <a:pt x="121610" y="280504"/>
                </a:cubicBezTo>
                <a:lnTo>
                  <a:pt x="210908" y="191207"/>
                </a:lnTo>
                <a:cubicBezTo>
                  <a:pt x="217884" y="184231"/>
                  <a:pt x="217884" y="172902"/>
                  <a:pt x="210908" y="165925"/>
                </a:cubicBezTo>
                <a:cubicBezTo>
                  <a:pt x="203932" y="158948"/>
                  <a:pt x="192602" y="158948"/>
                  <a:pt x="185626" y="165925"/>
                </a:cubicBezTo>
                <a:lnTo>
                  <a:pt x="126802" y="224749"/>
                </a:lnTo>
                <a:lnTo>
                  <a:pt x="126802" y="17859"/>
                </a:lnTo>
                <a:cubicBezTo>
                  <a:pt x="126802" y="7981"/>
                  <a:pt x="118822" y="0"/>
                  <a:pt x="108942" y="0"/>
                </a:cubicBezTo>
                <a:cubicBezTo>
                  <a:pt x="99064" y="0"/>
                  <a:pt x="91084" y="7981"/>
                  <a:pt x="91084" y="17859"/>
                </a:cubicBezTo>
                <a:lnTo>
                  <a:pt x="91084" y="224749"/>
                </a:lnTo>
                <a:lnTo>
                  <a:pt x="32258" y="165925"/>
                </a:lnTo>
                <a:cubicBezTo>
                  <a:pt x="25282" y="158948"/>
                  <a:pt x="13953" y="158948"/>
                  <a:pt x="6976" y="165925"/>
                </a:cubicBezTo>
                <a:cubicBezTo>
                  <a:pt x="0" y="172902"/>
                  <a:pt x="0" y="184231"/>
                  <a:pt x="6976" y="191207"/>
                </a:cubicBezTo>
                <a:lnTo>
                  <a:pt x="96273" y="280504"/>
                </a:ln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40" name="Freeform 40"/>
          <p:cNvSpPr/>
          <p:nvPr/>
        </p:nvSpPr>
        <p:spPr>
          <a:xfrm>
            <a:off x="6554826" y="4515430"/>
            <a:ext cx="4953000" cy="762000"/>
          </a:xfrm>
          <a:custGeom>
            <a:avLst/>
            <a:gdLst/>
            <a:ahLst/>
            <a:cxnLst/>
            <a:rect l="l" t="t" r="r" b="b"/>
            <a:pathLst>
              <a:path w="4953000" h="762000">
                <a:moveTo>
                  <a:pt x="63497" y="0"/>
                </a:moveTo>
                <a:lnTo>
                  <a:pt x="4889503" y="0"/>
                </a:lnTo>
                <a:cubicBezTo>
                  <a:pt x="4924571" y="0"/>
                  <a:pt x="4953000" y="28429"/>
                  <a:pt x="4953000" y="63497"/>
                </a:cubicBezTo>
                <a:lnTo>
                  <a:pt x="4953000" y="698503"/>
                </a:lnTo>
                <a:cubicBezTo>
                  <a:pt x="4953000" y="733571"/>
                  <a:pt x="4924571" y="762000"/>
                  <a:pt x="4889503" y="762000"/>
                </a:cubicBezTo>
                <a:lnTo>
                  <a:pt x="63497" y="762000"/>
                </a:lnTo>
                <a:cubicBezTo>
                  <a:pt x="28429" y="762000"/>
                  <a:pt x="0" y="733571"/>
                  <a:pt x="0" y="698503"/>
                </a:cubicBezTo>
                <a:lnTo>
                  <a:pt x="0" y="63497"/>
                </a:lnTo>
                <a:cubicBezTo>
                  <a:pt x="0" y="28452"/>
                  <a:pt x="28452" y="0"/>
                  <a:pt x="63497"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41" name="AutoShape 41"/>
          <p:cNvSpPr/>
          <p:nvPr/>
        </p:nvSpPr>
        <p:spPr>
          <a:xfrm>
            <a:off x="6681781" y="4642383"/>
            <a:ext cx="4770438" cy="2222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Abstract Representation:</a:t>
            </a:r>
            <a:endParaRPr lang="en-US" sz="1100"/>
          </a:p>
        </p:txBody>
      </p:sp>
      <p:sp>
        <p:nvSpPr>
          <p:cNvPr id="42" name="AutoShape 42"/>
          <p:cNvSpPr/>
          <p:nvPr/>
        </p:nvSpPr>
        <p:spPr>
          <a:xfrm>
            <a:off x="6681781" y="4928087"/>
            <a:ext cx="4778375" cy="22225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"User is asking for the definition of a technical concept"</a:t>
            </a:r>
            <a:endParaRPr lang="en-US" sz="1100"/>
          </a:p>
        </p:txBody>
      </p:sp>
    </p:spTree>
  </p:cSld>
  <p:clrMapOvr>
    <a:masterClrMapping/>
  </p:clrMapOvr>
  <p:transition spd="slow">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1 Input Processing</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0478"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2 Layer-by-Layer Computation</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Prediction</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Generation</a:t>
            </a:r>
            <a:endParaRPr lang="en-US" sz="1100"/>
          </a:p>
        </p:txBody>
      </p:sp>
      <p:sp>
        <p:nvSpPr>
          <p:cNvPr id="9" name="AutoShape 9"/>
          <p:cNvSpPr/>
          <p:nvPr/>
        </p:nvSpPr>
        <p:spPr>
          <a:xfrm>
            <a:off x="381000" y="76187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615" b="0" i="0" u="none" strike="noStrike">
                <a:solidFill>
                  <a:srgbClr val="5B92E5"/>
                </a:solidFill>
                <a:latin typeface="Alimama ShuHeiTi"/>
                <a:ea typeface="Alimama ShuHeiTi"/>
                <a:cs typeface="Alimama ShuHeiTi"/>
                <a:sym typeface="Alimama ShuHeiTi"/>
              </a:rPr>
              <a:t>Step 2.3 Progressive Layering</a:t>
            </a:r>
            <a:endParaRPr lang="en-US" sz="1100"/>
          </a:p>
        </p:txBody>
      </p:sp>
      <p:sp>
        <p:nvSpPr>
          <p:cNvPr id="10" name="AutoShape 10"/>
          <p:cNvSpPr/>
          <p:nvPr/>
        </p:nvSpPr>
        <p:spPr>
          <a:xfrm>
            <a:off x="333375" y="1600033"/>
            <a:ext cx="11525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8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Through multi-layer stacking, progressively extract higher-level features</a:t>
            </a:r>
            <a:endParaRPr lang="en-US" sz="1100"/>
          </a:p>
        </p:txBody>
      </p:sp>
      <p:sp>
        <p:nvSpPr>
          <p:cNvPr id="11" name="AutoShape 11"/>
          <p:cNvSpPr/>
          <p:nvPr/>
        </p:nvSpPr>
        <p:spPr>
          <a:xfrm>
            <a:off x="2926908" y="2095221"/>
            <a:ext cx="62865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85"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Layer 1</a:t>
            </a:r>
            <a:endParaRPr lang="en-US" sz="1100"/>
          </a:p>
        </p:txBody>
      </p:sp>
      <p:sp>
        <p:nvSpPr>
          <p:cNvPr id="12" name="AutoShape 12"/>
          <p:cNvSpPr/>
          <p:nvPr/>
        </p:nvSpPr>
        <p:spPr>
          <a:xfrm>
            <a:off x="2926908" y="3276377"/>
            <a:ext cx="62865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85"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Layer 5</a:t>
            </a:r>
            <a:endParaRPr lang="en-US" sz="1100"/>
          </a:p>
        </p:txBody>
      </p:sp>
      <p:sp>
        <p:nvSpPr>
          <p:cNvPr id="13" name="AutoShape 13"/>
          <p:cNvSpPr/>
          <p:nvPr/>
        </p:nvSpPr>
        <p:spPr>
          <a:xfrm>
            <a:off x="2926908" y="4457533"/>
            <a:ext cx="62865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85"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Layer 10</a:t>
            </a:r>
            <a:endParaRPr lang="en-US" sz="1100"/>
          </a:p>
        </p:txBody>
      </p:sp>
      <p:sp>
        <p:nvSpPr>
          <p:cNvPr id="14" name="AutoShape 14"/>
          <p:cNvSpPr/>
          <p:nvPr/>
        </p:nvSpPr>
        <p:spPr>
          <a:xfrm>
            <a:off x="2926908" y="5638688"/>
            <a:ext cx="62865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85" b="1"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Layer 20</a:t>
            </a:r>
            <a:endParaRPr lang="en-US" sz="1100"/>
          </a:p>
        </p:txBody>
      </p:sp>
      <p:sp>
        <p:nvSpPr>
          <p:cNvPr id="15" name="Freeform 15"/>
          <p:cNvSpPr/>
          <p:nvPr/>
        </p:nvSpPr>
        <p:spPr>
          <a:xfrm>
            <a:off x="3930957" y="2403983"/>
            <a:ext cx="3810000" cy="762000"/>
          </a:xfrm>
          <a:custGeom>
            <a:avLst/>
            <a:gdLst/>
            <a:ahLst/>
            <a:cxnLst/>
            <a:rect l="l" t="t" r="r" b="b"/>
            <a:pathLst>
              <a:path w="3810000" h="762000">
                <a:moveTo>
                  <a:pt x="114300" y="0"/>
                </a:moveTo>
                <a:lnTo>
                  <a:pt x="3695700" y="0"/>
                </a:lnTo>
                <a:cubicBezTo>
                  <a:pt x="3758783" y="0"/>
                  <a:pt x="3810000" y="51217"/>
                  <a:pt x="3810000" y="114300"/>
                </a:cubicBezTo>
                <a:lnTo>
                  <a:pt x="3810000" y="762000"/>
                </a:lnTo>
                <a:lnTo>
                  <a:pt x="0" y="762000"/>
                </a:lnTo>
                <a:lnTo>
                  <a:pt x="0" y="114300"/>
                </a:lnTo>
                <a:cubicBezTo>
                  <a:pt x="0" y="51217"/>
                  <a:pt x="51217" y="0"/>
                  <a:pt x="1143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4040440" y="2556328"/>
            <a:ext cx="35909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85"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Surface Features</a:t>
            </a:r>
            <a:endParaRPr lang="en-US" sz="1100"/>
          </a:p>
        </p:txBody>
      </p:sp>
      <p:sp>
        <p:nvSpPr>
          <p:cNvPr id="17" name="AutoShape 17"/>
          <p:cNvSpPr/>
          <p:nvPr/>
        </p:nvSpPr>
        <p:spPr>
          <a:xfrm>
            <a:off x="4049965" y="2822860"/>
            <a:ext cx="35718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7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Part of speech, grammar</a:t>
            </a:r>
            <a:endParaRPr lang="en-US" sz="1100"/>
          </a:p>
        </p:txBody>
      </p:sp>
      <p:sp>
        <p:nvSpPr>
          <p:cNvPr id="18" name="Freeform 18"/>
          <p:cNvSpPr/>
          <p:nvPr/>
        </p:nvSpPr>
        <p:spPr>
          <a:xfrm>
            <a:off x="3930957" y="3165704"/>
            <a:ext cx="3810000" cy="762000"/>
          </a:xfrm>
          <a:custGeom>
            <a:avLst/>
            <a:gdLst/>
            <a:ahLst/>
            <a:cxnLst/>
            <a:rect l="l" t="t" r="r" b="b"/>
            <a:pathLst>
              <a:path w="3810000" h="762000">
                <a:moveTo>
                  <a:pt x="0" y="0"/>
                </a:moveTo>
                <a:lnTo>
                  <a:pt x="3810000" y="0"/>
                </a:lnTo>
                <a:lnTo>
                  <a:pt x="3810000" y="762000"/>
                </a:lnTo>
                <a:lnTo>
                  <a:pt x="0" y="7620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4040440" y="3318049"/>
            <a:ext cx="35909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85"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Phrase comprehension</a:t>
            </a:r>
            <a:endParaRPr lang="en-US" sz="1100"/>
          </a:p>
        </p:txBody>
      </p:sp>
      <p:sp>
        <p:nvSpPr>
          <p:cNvPr id="20" name="AutoShape 20"/>
          <p:cNvSpPr/>
          <p:nvPr/>
        </p:nvSpPr>
        <p:spPr>
          <a:xfrm>
            <a:off x="4049965" y="3584581"/>
            <a:ext cx="35718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7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Short semantic units</a:t>
            </a:r>
            <a:endParaRPr lang="en-US" sz="1100"/>
          </a:p>
        </p:txBody>
      </p:sp>
      <p:sp>
        <p:nvSpPr>
          <p:cNvPr id="21" name="Freeform 21"/>
          <p:cNvSpPr/>
          <p:nvPr/>
        </p:nvSpPr>
        <p:spPr>
          <a:xfrm>
            <a:off x="3930957" y="3927444"/>
            <a:ext cx="3810000" cy="762000"/>
          </a:xfrm>
          <a:custGeom>
            <a:avLst/>
            <a:gdLst/>
            <a:ahLst/>
            <a:cxnLst/>
            <a:rect l="l" t="t" r="r" b="b"/>
            <a:pathLst>
              <a:path w="3810000" h="762000">
                <a:moveTo>
                  <a:pt x="0" y="0"/>
                </a:moveTo>
                <a:lnTo>
                  <a:pt x="3810000" y="0"/>
                </a:lnTo>
                <a:lnTo>
                  <a:pt x="3810000" y="762000"/>
                </a:lnTo>
                <a:lnTo>
                  <a:pt x="0" y="7620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4040440" y="4079788"/>
            <a:ext cx="35909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85"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Sentence comprehension</a:t>
            </a:r>
            <a:endParaRPr lang="en-US" sz="1100"/>
          </a:p>
        </p:txBody>
      </p:sp>
      <p:sp>
        <p:nvSpPr>
          <p:cNvPr id="23" name="AutoShape 23"/>
          <p:cNvSpPr/>
          <p:nvPr/>
        </p:nvSpPr>
        <p:spPr>
          <a:xfrm>
            <a:off x="4049965" y="4346321"/>
            <a:ext cx="35718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7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Complete semantics</a:t>
            </a:r>
            <a:endParaRPr lang="en-US" sz="1100"/>
          </a:p>
        </p:txBody>
      </p:sp>
      <p:sp>
        <p:nvSpPr>
          <p:cNvPr id="24" name="Freeform 24"/>
          <p:cNvSpPr/>
          <p:nvPr/>
        </p:nvSpPr>
        <p:spPr>
          <a:xfrm>
            <a:off x="3948275" y="4706483"/>
            <a:ext cx="3777960" cy="872835"/>
          </a:xfrm>
          <a:custGeom>
            <a:avLst/>
            <a:gdLst/>
            <a:ahLst/>
            <a:cxnLst/>
            <a:rect l="l" t="t" r="r" b="b"/>
            <a:pathLst>
              <a:path w="3777960" h="872835">
                <a:moveTo>
                  <a:pt x="0" y="0"/>
                </a:moveTo>
                <a:lnTo>
                  <a:pt x="3777960" y="0"/>
                </a:lnTo>
                <a:lnTo>
                  <a:pt x="3777960" y="758538"/>
                </a:lnTo>
                <a:cubicBezTo>
                  <a:pt x="3777960" y="821663"/>
                  <a:pt x="3726788" y="872835"/>
                  <a:pt x="3663663" y="872835"/>
                </a:cubicBezTo>
                <a:lnTo>
                  <a:pt x="114297" y="872835"/>
                </a:lnTo>
                <a:cubicBezTo>
                  <a:pt x="51173" y="872835"/>
                  <a:pt x="0" y="821663"/>
                  <a:pt x="0" y="758538"/>
                </a:cubicBezTo>
                <a:lnTo>
                  <a:pt x="0" y="0"/>
                </a:lnTo>
                <a:close/>
              </a:path>
            </a:pathLst>
          </a:custGeom>
          <a:solidFill>
            <a:srgbClr val="5B92E5">
              <a:alpha val="100000"/>
            </a:srgbClr>
          </a:solidFill>
          <a:ln w="38100">
            <a:solidFill>
              <a:srgbClr val="00CED1">
                <a:alpha val="100000"/>
              </a:srgbClr>
            </a:solidFill>
            <a:prstDash val="solid"/>
          </a:ln>
        </p:spPr>
        <p:txBody>
          <a:bodyPr wrap="square" lIns="91440" tIns="45720" rIns="91440" bIns="45720" rtlCol="0" anchor="t">
            <a:noAutofit/>
          </a:bodyPr>
          <a:lstStyle/>
          <a:p>
            <a:pPr algn="ctr">
              <a:defRPr/>
            </a:pPr>
          </a:p>
        </p:txBody>
      </p:sp>
      <p:sp>
        <p:nvSpPr>
          <p:cNvPr id="25" name="AutoShape 25"/>
          <p:cNvSpPr/>
          <p:nvPr/>
        </p:nvSpPr>
        <p:spPr>
          <a:xfrm>
            <a:off x="4113230" y="4914305"/>
            <a:ext cx="34480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8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Abstract reasoning</a:t>
            </a:r>
            <a:endParaRPr lang="en-US" sz="1100"/>
          </a:p>
        </p:txBody>
      </p:sp>
      <p:sp>
        <p:nvSpPr>
          <p:cNvPr id="26" name="AutoShape 26"/>
          <p:cNvSpPr/>
          <p:nvPr/>
        </p:nvSpPr>
        <p:spPr>
          <a:xfrm>
            <a:off x="4122755" y="5180837"/>
            <a:ext cx="3429000"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Logic, emotion, intent</a:t>
            </a:r>
            <a:endParaRPr lang="en-US" sz="1100"/>
          </a:p>
        </p:txBody>
      </p:sp>
      <p:sp>
        <p:nvSpPr>
          <p:cNvPr id="27" name="AutoShape 27"/>
          <p:cNvSpPr/>
          <p:nvPr/>
        </p:nvSpPr>
        <p:spPr>
          <a:xfrm>
            <a:off x="8198129" y="2095221"/>
            <a:ext cx="1143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Identify nouns and verbs</a:t>
            </a:r>
            <a:endParaRPr lang="en-US" sz="1100"/>
          </a:p>
        </p:txBody>
      </p:sp>
      <p:sp>
        <p:nvSpPr>
          <p:cNvPr id="28" name="AutoShape 28"/>
          <p:cNvSpPr/>
          <p:nvPr/>
        </p:nvSpPr>
        <p:spPr>
          <a:xfrm>
            <a:off x="8198129" y="3289102"/>
            <a:ext cx="1143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Understand phrase relationships</a:t>
            </a:r>
            <a:endParaRPr lang="en-US" sz="1100"/>
          </a:p>
        </p:txBody>
      </p:sp>
      <p:sp>
        <p:nvSpPr>
          <p:cNvPr id="29" name="AutoShape 29"/>
          <p:cNvSpPr/>
          <p:nvPr/>
        </p:nvSpPr>
        <p:spPr>
          <a:xfrm>
            <a:off x="8198129" y="4482833"/>
            <a:ext cx="1143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Grasp sentence main idea</a:t>
            </a:r>
            <a:endParaRPr lang="en-US" sz="1100"/>
          </a:p>
        </p:txBody>
      </p:sp>
      <p:sp>
        <p:nvSpPr>
          <p:cNvPr id="30" name="AutoShape 30"/>
          <p:cNvSpPr/>
          <p:nvPr/>
        </p:nvSpPr>
        <p:spPr>
          <a:xfrm>
            <a:off x="8198129" y="5676714"/>
            <a:ext cx="1143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Infer deeper meanings</a:t>
            </a:r>
            <a:endParaRPr lang="en-US" sz="1100"/>
          </a:p>
        </p:txBody>
      </p:sp>
      <p:sp>
        <p:nvSpPr>
          <p:cNvPr id="31" name="Freeform 31"/>
          <p:cNvSpPr/>
          <p:nvPr/>
        </p:nvSpPr>
        <p:spPr>
          <a:xfrm>
            <a:off x="381000" y="6057565"/>
            <a:ext cx="11430000" cy="419100"/>
          </a:xfrm>
          <a:custGeom>
            <a:avLst/>
            <a:gdLst/>
            <a:ahLst/>
            <a:cxnLst/>
            <a:rect l="l" t="t" r="r" b="b"/>
            <a:pathLst>
              <a:path w="11430000" h="419100">
                <a:moveTo>
                  <a:pt x="76201" y="0"/>
                </a:moveTo>
                <a:lnTo>
                  <a:pt x="11353799" y="0"/>
                </a:lnTo>
                <a:cubicBezTo>
                  <a:pt x="11395884" y="0"/>
                  <a:pt x="11430000" y="34116"/>
                  <a:pt x="11430000" y="76201"/>
                </a:cubicBezTo>
                <a:lnTo>
                  <a:pt x="11430000" y="342899"/>
                </a:lnTo>
                <a:cubicBezTo>
                  <a:pt x="11430000" y="384984"/>
                  <a:pt x="11395884" y="419100"/>
                  <a:pt x="11353799" y="419100"/>
                </a:cubicBezTo>
                <a:lnTo>
                  <a:pt x="76201" y="419100"/>
                </a:lnTo>
                <a:cubicBezTo>
                  <a:pt x="34116" y="419100"/>
                  <a:pt x="0" y="384984"/>
                  <a:pt x="0" y="342899"/>
                </a:cubicBezTo>
                <a:lnTo>
                  <a:pt x="0" y="76201"/>
                </a:lnTo>
                <a:cubicBezTo>
                  <a:pt x="0" y="34144"/>
                  <a:pt x="34144" y="0"/>
                  <a:pt x="76201"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2" name="AutoShape 32"/>
          <p:cNvSpPr/>
          <p:nvPr/>
        </p:nvSpPr>
        <p:spPr>
          <a:xfrm>
            <a:off x="609519" y="6133877"/>
            <a:ext cx="6848088" cy="249758"/>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800" b="1"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Multi-Layer Stacking | </a:t>
            </a:r>
            <a:r>
              <a:rPr lang="en-US" sz="800" b="0"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Stack multiple layers in series to progressively extract higher-level features</a:t>
            </a:r>
            <a:endParaRPr lang="en-US" sz="1100" dirty="0"/>
          </a:p>
        </p:txBody>
      </p:sp>
    </p:spTree>
  </p:cSld>
  <p:clrMapOvr>
    <a:masterClrMapping/>
  </p:clrMapOvr>
  <p:transition spd="slow">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1 Input Processing</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0478"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2 Layer-by-Layer Computation</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Prediction</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Generation</a:t>
            </a:r>
            <a:endParaRPr lang="en-US" sz="1100"/>
          </a:p>
        </p:txBody>
      </p:sp>
      <p:sp>
        <p:nvSpPr>
          <p:cNvPr id="9" name="AutoShape 9"/>
          <p:cNvSpPr/>
          <p:nvPr/>
        </p:nvSpPr>
        <p:spPr>
          <a:xfrm>
            <a:off x="381000" y="76187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615" b="0" i="0" u="none" strike="noStrike">
                <a:solidFill>
                  <a:srgbClr val="5B92E5"/>
                </a:solidFill>
                <a:latin typeface="Alimama ShuHeiTi"/>
                <a:ea typeface="Alimama ShuHeiTi"/>
                <a:cs typeface="Alimama ShuHeiTi"/>
                <a:sym typeface="Alimama ShuHeiTi"/>
              </a:rPr>
              <a:t>Step 2.4 KV Cache Acceleration</a:t>
            </a:r>
            <a:endParaRPr lang="en-US" sz="1100"/>
          </a:p>
        </p:txBody>
      </p:sp>
      <p:sp>
        <p:nvSpPr>
          <p:cNvPr id="10" name="AutoShape 10"/>
          <p:cNvSpPr/>
          <p:nvPr/>
        </p:nvSpPr>
        <p:spPr>
          <a:xfrm>
            <a:off x="333375" y="1600033"/>
            <a:ext cx="11525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8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Cache historically computed Keys and Values to avoid redundant calculations and significantly increase generation speed</a:t>
            </a:r>
            <a:endParaRPr lang="en-US" sz="1100"/>
          </a:p>
        </p:txBody>
      </p:sp>
      <p:sp>
        <p:nvSpPr>
          <p:cNvPr id="11" name="Freeform 11"/>
          <p:cNvSpPr/>
          <p:nvPr/>
        </p:nvSpPr>
        <p:spPr>
          <a:xfrm>
            <a:off x="381000" y="2095221"/>
            <a:ext cx="5562600" cy="3638550"/>
          </a:xfrm>
          <a:custGeom>
            <a:avLst/>
            <a:gdLst/>
            <a:ahLst/>
            <a:cxnLst/>
            <a:rect l="l" t="t" r="r" b="b"/>
            <a:pathLst>
              <a:path w="5562600" h="3638550">
                <a:moveTo>
                  <a:pt x="152382" y="0"/>
                </a:moveTo>
                <a:lnTo>
                  <a:pt x="5410218" y="0"/>
                </a:lnTo>
                <a:cubicBezTo>
                  <a:pt x="5494376" y="0"/>
                  <a:pt x="5562600" y="68224"/>
                  <a:pt x="5562600" y="152382"/>
                </a:cubicBezTo>
                <a:lnTo>
                  <a:pt x="5562600" y="3486168"/>
                </a:lnTo>
                <a:cubicBezTo>
                  <a:pt x="5562600" y="3570326"/>
                  <a:pt x="5494376" y="3638550"/>
                  <a:pt x="5410218" y="3638550"/>
                </a:cubicBezTo>
                <a:lnTo>
                  <a:pt x="152382" y="3638550"/>
                </a:lnTo>
                <a:cubicBezTo>
                  <a:pt x="68224" y="3638550"/>
                  <a:pt x="0" y="3570326"/>
                  <a:pt x="0" y="3486168"/>
                </a:cubicBezTo>
                <a:lnTo>
                  <a:pt x="0" y="152382"/>
                </a:lnTo>
                <a:cubicBezTo>
                  <a:pt x="0" y="68280"/>
                  <a:pt x="68280" y="0"/>
                  <a:pt x="152382"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638094" y="2342685"/>
            <a:ext cx="228600" cy="228600"/>
          </a:xfrm>
          <a:custGeom>
            <a:avLst/>
            <a:gdLst/>
            <a:ahLst/>
            <a:cxnLst/>
            <a:rect l="l" t="t" r="r" b="b"/>
            <a:pathLst>
              <a:path w="228600" h="228600">
                <a:moveTo>
                  <a:pt x="114300" y="228600"/>
                </a:moveTo>
                <a:cubicBezTo>
                  <a:pt x="177383" y="228600"/>
                  <a:pt x="228600" y="177383"/>
                  <a:pt x="228600" y="114300"/>
                </a:cubicBezTo>
                <a:cubicBezTo>
                  <a:pt x="228600" y="51217"/>
                  <a:pt x="177383" y="0"/>
                  <a:pt x="114300" y="0"/>
                </a:cubicBezTo>
                <a:cubicBezTo>
                  <a:pt x="51217" y="0"/>
                  <a:pt x="0" y="51217"/>
                  <a:pt x="0" y="114300"/>
                </a:cubicBezTo>
                <a:cubicBezTo>
                  <a:pt x="0" y="177383"/>
                  <a:pt x="51217" y="228600"/>
                  <a:pt x="114300" y="228600"/>
                </a:cubicBezTo>
                <a:close/>
                <a:moveTo>
                  <a:pt x="74563" y="74563"/>
                </a:moveTo>
                <a:cubicBezTo>
                  <a:pt x="78760" y="70366"/>
                  <a:pt x="85546" y="70366"/>
                  <a:pt x="89699" y="74563"/>
                </a:cubicBezTo>
                <a:lnTo>
                  <a:pt x="114256" y="99120"/>
                </a:lnTo>
                <a:lnTo>
                  <a:pt x="138812" y="74563"/>
                </a:lnTo>
                <a:cubicBezTo>
                  <a:pt x="143010" y="70366"/>
                  <a:pt x="149796" y="70366"/>
                  <a:pt x="153948" y="74563"/>
                </a:cubicBezTo>
                <a:cubicBezTo>
                  <a:pt x="158100" y="78760"/>
                  <a:pt x="158145" y="85546"/>
                  <a:pt x="153948" y="89699"/>
                </a:cubicBezTo>
                <a:lnTo>
                  <a:pt x="129391" y="114256"/>
                </a:lnTo>
                <a:lnTo>
                  <a:pt x="153948" y="138812"/>
                </a:lnTo>
                <a:cubicBezTo>
                  <a:pt x="158145" y="143010"/>
                  <a:pt x="158145" y="149797"/>
                  <a:pt x="153948" y="153948"/>
                </a:cubicBezTo>
                <a:cubicBezTo>
                  <a:pt x="149751" y="158100"/>
                  <a:pt x="142964" y="158145"/>
                  <a:pt x="138812" y="153948"/>
                </a:cubicBezTo>
                <a:lnTo>
                  <a:pt x="114256" y="129391"/>
                </a:lnTo>
                <a:lnTo>
                  <a:pt x="89699" y="153948"/>
                </a:lnTo>
                <a:cubicBezTo>
                  <a:pt x="85501" y="158145"/>
                  <a:pt x="78715" y="158145"/>
                  <a:pt x="74563" y="153948"/>
                </a:cubicBezTo>
                <a:cubicBezTo>
                  <a:pt x="70411" y="149751"/>
                  <a:pt x="70366" y="142964"/>
                  <a:pt x="74563" y="138812"/>
                </a:cubicBezTo>
                <a:lnTo>
                  <a:pt x="99120" y="114256"/>
                </a:lnTo>
                <a:lnTo>
                  <a:pt x="74563" y="89699"/>
                </a:lnTo>
                <a:cubicBezTo>
                  <a:pt x="70366" y="85501"/>
                  <a:pt x="70366" y="78715"/>
                  <a:pt x="74563" y="74563"/>
                </a:cubicBezTo>
                <a:close/>
              </a:path>
            </a:pathLst>
          </a:custGeom>
          <a:solidFill>
            <a:srgbClr val="666666">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1009461" y="2323747"/>
            <a:ext cx="91440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75" b="1"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Without KV Cache</a:t>
            </a:r>
            <a:endParaRPr lang="en-US" sz="1100"/>
          </a:p>
        </p:txBody>
      </p:sp>
      <p:sp>
        <p:nvSpPr>
          <p:cNvPr id="14" name="Freeform 14"/>
          <p:cNvSpPr/>
          <p:nvPr/>
        </p:nvSpPr>
        <p:spPr>
          <a:xfrm>
            <a:off x="609519" y="2742772"/>
            <a:ext cx="5105400" cy="647700"/>
          </a:xfrm>
          <a:custGeom>
            <a:avLst/>
            <a:gdLst/>
            <a:ahLst/>
            <a:cxnLst/>
            <a:rect l="l" t="t" r="r" b="b"/>
            <a:pathLst>
              <a:path w="5105400" h="647700">
                <a:moveTo>
                  <a:pt x="76203" y="0"/>
                </a:moveTo>
                <a:lnTo>
                  <a:pt x="5029197" y="0"/>
                </a:lnTo>
                <a:cubicBezTo>
                  <a:pt x="5071283" y="0"/>
                  <a:pt x="5105400" y="34117"/>
                  <a:pt x="5105400" y="76203"/>
                </a:cubicBezTo>
                <a:lnTo>
                  <a:pt x="5105400" y="571497"/>
                </a:lnTo>
                <a:cubicBezTo>
                  <a:pt x="5105400" y="613583"/>
                  <a:pt x="5071283" y="647700"/>
                  <a:pt x="5029197" y="647700"/>
                </a:cubicBezTo>
                <a:lnTo>
                  <a:pt x="76203" y="647700"/>
                </a:lnTo>
                <a:cubicBezTo>
                  <a:pt x="34117" y="647700"/>
                  <a:pt x="0" y="613583"/>
                  <a:pt x="0" y="571497"/>
                </a:cubicBezTo>
                <a:lnTo>
                  <a:pt x="0" y="76203"/>
                </a:lnTo>
                <a:cubicBezTo>
                  <a:pt x="0" y="34117"/>
                  <a:pt x="34117" y="0"/>
                  <a:pt x="762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723711" y="2856960"/>
            <a:ext cx="4953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Generate 1st word</a:t>
            </a:r>
            <a:endParaRPr lang="en-US" sz="1100"/>
          </a:p>
        </p:txBody>
      </p:sp>
      <p:sp>
        <p:nvSpPr>
          <p:cNvPr id="16" name="AutoShape 16"/>
          <p:cNvSpPr/>
          <p:nvPr/>
        </p:nvSpPr>
        <p:spPr>
          <a:xfrm>
            <a:off x="723711" y="3085467"/>
            <a:ext cx="49434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Compute all history</a:t>
            </a:r>
            <a:endParaRPr lang="en-US" sz="1100"/>
          </a:p>
        </p:txBody>
      </p:sp>
      <p:sp>
        <p:nvSpPr>
          <p:cNvPr id="17" name="Freeform 17"/>
          <p:cNvSpPr/>
          <p:nvPr/>
        </p:nvSpPr>
        <p:spPr>
          <a:xfrm>
            <a:off x="609519" y="3504363"/>
            <a:ext cx="5105400" cy="647700"/>
          </a:xfrm>
          <a:custGeom>
            <a:avLst/>
            <a:gdLst/>
            <a:ahLst/>
            <a:cxnLst/>
            <a:rect l="l" t="t" r="r" b="b"/>
            <a:pathLst>
              <a:path w="5105400" h="647700">
                <a:moveTo>
                  <a:pt x="76203" y="0"/>
                </a:moveTo>
                <a:lnTo>
                  <a:pt x="5029197" y="0"/>
                </a:lnTo>
                <a:cubicBezTo>
                  <a:pt x="5071283" y="0"/>
                  <a:pt x="5105400" y="34117"/>
                  <a:pt x="5105400" y="76203"/>
                </a:cubicBezTo>
                <a:lnTo>
                  <a:pt x="5105400" y="571497"/>
                </a:lnTo>
                <a:cubicBezTo>
                  <a:pt x="5105400" y="613583"/>
                  <a:pt x="5071283" y="647700"/>
                  <a:pt x="5029197" y="647700"/>
                </a:cubicBezTo>
                <a:lnTo>
                  <a:pt x="76203" y="647700"/>
                </a:lnTo>
                <a:cubicBezTo>
                  <a:pt x="34117" y="647700"/>
                  <a:pt x="0" y="613583"/>
                  <a:pt x="0" y="571497"/>
                </a:cubicBezTo>
                <a:lnTo>
                  <a:pt x="0" y="76203"/>
                </a:lnTo>
                <a:cubicBezTo>
                  <a:pt x="0" y="34117"/>
                  <a:pt x="34117" y="0"/>
                  <a:pt x="762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723711" y="3618551"/>
            <a:ext cx="4953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Generate 2nd word</a:t>
            </a:r>
            <a:endParaRPr lang="en-US" sz="1100"/>
          </a:p>
        </p:txBody>
      </p:sp>
      <p:sp>
        <p:nvSpPr>
          <p:cNvPr id="19" name="AutoShape 19"/>
          <p:cNvSpPr/>
          <p:nvPr/>
        </p:nvSpPr>
        <p:spPr>
          <a:xfrm>
            <a:off x="723711" y="3847077"/>
            <a:ext cx="49434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Re-compute all history</a:t>
            </a:r>
            <a:endParaRPr lang="en-US" sz="1100"/>
          </a:p>
        </p:txBody>
      </p:sp>
      <p:sp>
        <p:nvSpPr>
          <p:cNvPr id="20" name="Freeform 20"/>
          <p:cNvSpPr/>
          <p:nvPr/>
        </p:nvSpPr>
        <p:spPr>
          <a:xfrm>
            <a:off x="609519" y="4265954"/>
            <a:ext cx="5105400" cy="647700"/>
          </a:xfrm>
          <a:custGeom>
            <a:avLst/>
            <a:gdLst/>
            <a:ahLst/>
            <a:cxnLst/>
            <a:rect l="l" t="t" r="r" b="b"/>
            <a:pathLst>
              <a:path w="5105400" h="647700">
                <a:moveTo>
                  <a:pt x="76203" y="0"/>
                </a:moveTo>
                <a:lnTo>
                  <a:pt x="5029197" y="0"/>
                </a:lnTo>
                <a:cubicBezTo>
                  <a:pt x="5071283" y="0"/>
                  <a:pt x="5105400" y="34117"/>
                  <a:pt x="5105400" y="76203"/>
                </a:cubicBezTo>
                <a:lnTo>
                  <a:pt x="5105400" y="571497"/>
                </a:lnTo>
                <a:cubicBezTo>
                  <a:pt x="5105400" y="613583"/>
                  <a:pt x="5071283" y="647700"/>
                  <a:pt x="5029197" y="647700"/>
                </a:cubicBezTo>
                <a:lnTo>
                  <a:pt x="76203" y="647700"/>
                </a:lnTo>
                <a:cubicBezTo>
                  <a:pt x="34117" y="647700"/>
                  <a:pt x="0" y="613583"/>
                  <a:pt x="0" y="571497"/>
                </a:cubicBezTo>
                <a:lnTo>
                  <a:pt x="0" y="76203"/>
                </a:lnTo>
                <a:cubicBezTo>
                  <a:pt x="0" y="34117"/>
                  <a:pt x="34117" y="0"/>
                  <a:pt x="762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723711" y="4380142"/>
            <a:ext cx="4953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Generate 3rd word</a:t>
            </a:r>
            <a:endParaRPr lang="en-US" sz="1100"/>
          </a:p>
        </p:txBody>
      </p:sp>
      <p:sp>
        <p:nvSpPr>
          <p:cNvPr id="22" name="AutoShape 22"/>
          <p:cNvSpPr/>
          <p:nvPr/>
        </p:nvSpPr>
        <p:spPr>
          <a:xfrm>
            <a:off x="723711" y="4608668"/>
            <a:ext cx="49434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Re-compute again...</a:t>
            </a:r>
            <a:endParaRPr lang="en-US" sz="1100"/>
          </a:p>
        </p:txBody>
      </p:sp>
      <p:sp>
        <p:nvSpPr>
          <p:cNvPr id="25" name="Freeform 25"/>
          <p:cNvSpPr/>
          <p:nvPr/>
        </p:nvSpPr>
        <p:spPr>
          <a:xfrm>
            <a:off x="6265664" y="2112539"/>
            <a:ext cx="5530560" cy="3606510"/>
          </a:xfrm>
          <a:custGeom>
            <a:avLst/>
            <a:gdLst/>
            <a:ahLst/>
            <a:cxnLst/>
            <a:rect l="l" t="t" r="r" b="b"/>
            <a:pathLst>
              <a:path w="5530560" h="3606510">
                <a:moveTo>
                  <a:pt x="152411" y="0"/>
                </a:moveTo>
                <a:lnTo>
                  <a:pt x="5378150" y="0"/>
                </a:lnTo>
                <a:cubicBezTo>
                  <a:pt x="5462325" y="0"/>
                  <a:pt x="5530560" y="68237"/>
                  <a:pt x="5530560" y="152411"/>
                </a:cubicBezTo>
                <a:lnTo>
                  <a:pt x="5530560" y="3454100"/>
                </a:lnTo>
                <a:cubicBezTo>
                  <a:pt x="5530560" y="3538275"/>
                  <a:pt x="5462325" y="3606510"/>
                  <a:pt x="5378150" y="3606510"/>
                </a:cubicBezTo>
                <a:lnTo>
                  <a:pt x="152411" y="3606510"/>
                </a:lnTo>
                <a:cubicBezTo>
                  <a:pt x="68237" y="3606510"/>
                  <a:pt x="0" y="3538275"/>
                  <a:pt x="0" y="3454100"/>
                </a:cubicBezTo>
                <a:lnTo>
                  <a:pt x="0" y="152411"/>
                </a:lnTo>
                <a:cubicBezTo>
                  <a:pt x="0" y="68293"/>
                  <a:pt x="68293" y="0"/>
                  <a:pt x="152411" y="0"/>
                </a:cubicBezTo>
                <a:close/>
              </a:path>
            </a:pathLst>
          </a:custGeom>
          <a:solidFill>
            <a:srgbClr val="FFFFFF">
              <a:alpha val="100000"/>
            </a:srgbClr>
          </a:solidFill>
          <a:ln w="38100">
            <a:solidFill>
              <a:srgbClr val="1E90FF">
                <a:alpha val="100000"/>
              </a:srgbClr>
            </a:solidFill>
            <a:prstDash val="solid"/>
          </a:ln>
        </p:spPr>
        <p:txBody>
          <a:bodyPr wrap="square" lIns="91440" tIns="45720" rIns="91440" bIns="45720" rtlCol="0" anchor="t">
            <a:noAutofit/>
          </a:bodyPr>
          <a:lstStyle/>
          <a:p>
            <a:pPr algn="ctr">
              <a:defRPr/>
            </a:pPr>
          </a:p>
        </p:txBody>
      </p:sp>
      <p:sp>
        <p:nvSpPr>
          <p:cNvPr id="26" name="Freeform 26"/>
          <p:cNvSpPr/>
          <p:nvPr/>
        </p:nvSpPr>
        <p:spPr>
          <a:xfrm>
            <a:off x="6540076" y="2377325"/>
            <a:ext cx="228600" cy="228600"/>
          </a:xfrm>
          <a:custGeom>
            <a:avLst/>
            <a:gdLst/>
            <a:ahLst/>
            <a:cxnLst/>
            <a:rect l="l" t="t" r="r" b="b"/>
            <a:pathLst>
              <a:path w="228600" h="228600">
                <a:moveTo>
                  <a:pt x="114300" y="228600"/>
                </a:moveTo>
                <a:cubicBezTo>
                  <a:pt x="177383" y="228600"/>
                  <a:pt x="228600" y="177383"/>
                  <a:pt x="228600" y="114300"/>
                </a:cubicBezTo>
                <a:cubicBezTo>
                  <a:pt x="228600" y="51217"/>
                  <a:pt x="177383" y="0"/>
                  <a:pt x="114300" y="0"/>
                </a:cubicBezTo>
                <a:cubicBezTo>
                  <a:pt x="51217" y="0"/>
                  <a:pt x="0" y="51217"/>
                  <a:pt x="0" y="114300"/>
                </a:cubicBezTo>
                <a:cubicBezTo>
                  <a:pt x="0" y="177383"/>
                  <a:pt x="51217" y="228600"/>
                  <a:pt x="114300" y="228600"/>
                </a:cubicBezTo>
                <a:close/>
                <a:moveTo>
                  <a:pt x="151983" y="94967"/>
                </a:moveTo>
                <a:lnTo>
                  <a:pt x="116265" y="152117"/>
                </a:lnTo>
                <a:cubicBezTo>
                  <a:pt x="114389" y="155109"/>
                  <a:pt x="111175" y="156983"/>
                  <a:pt x="107646" y="157163"/>
                </a:cubicBezTo>
                <a:cubicBezTo>
                  <a:pt x="104120" y="157342"/>
                  <a:pt x="100728" y="155734"/>
                  <a:pt x="98628" y="152876"/>
                </a:cubicBezTo>
                <a:lnTo>
                  <a:pt x="77197" y="124301"/>
                </a:lnTo>
                <a:cubicBezTo>
                  <a:pt x="73624" y="119569"/>
                  <a:pt x="74607" y="112871"/>
                  <a:pt x="79339" y="109299"/>
                </a:cubicBezTo>
                <a:cubicBezTo>
                  <a:pt x="84073" y="105727"/>
                  <a:pt x="90769" y="106710"/>
                  <a:pt x="94342" y="111443"/>
                </a:cubicBezTo>
                <a:lnTo>
                  <a:pt x="106397" y="127516"/>
                </a:lnTo>
                <a:lnTo>
                  <a:pt x="133811" y="83627"/>
                </a:lnTo>
                <a:cubicBezTo>
                  <a:pt x="136936" y="78626"/>
                  <a:pt x="143546" y="77064"/>
                  <a:pt x="148590" y="80234"/>
                </a:cubicBezTo>
                <a:cubicBezTo>
                  <a:pt x="153634" y="83403"/>
                  <a:pt x="155153" y="89967"/>
                  <a:pt x="151983" y="95013"/>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6911443" y="2358386"/>
            <a:ext cx="91440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45"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With KV Cache</a:t>
            </a:r>
            <a:endParaRPr lang="en-US" sz="1100"/>
          </a:p>
        </p:txBody>
      </p:sp>
      <p:sp>
        <p:nvSpPr>
          <p:cNvPr id="28" name="Freeform 28"/>
          <p:cNvSpPr/>
          <p:nvPr/>
        </p:nvSpPr>
        <p:spPr>
          <a:xfrm>
            <a:off x="6520160" y="2786052"/>
            <a:ext cx="5017943" cy="665018"/>
          </a:xfrm>
          <a:custGeom>
            <a:avLst/>
            <a:gdLst/>
            <a:ahLst/>
            <a:cxnLst/>
            <a:rect l="l" t="t" r="r" b="b"/>
            <a:pathLst>
              <a:path w="5017943" h="665018">
                <a:moveTo>
                  <a:pt x="76197" y="0"/>
                </a:moveTo>
                <a:lnTo>
                  <a:pt x="4941745" y="0"/>
                </a:lnTo>
                <a:cubicBezTo>
                  <a:pt x="4983828" y="0"/>
                  <a:pt x="5017943" y="34115"/>
                  <a:pt x="5017943" y="76197"/>
                </a:cubicBezTo>
                <a:lnTo>
                  <a:pt x="5017943" y="588820"/>
                </a:lnTo>
                <a:cubicBezTo>
                  <a:pt x="5017943" y="630903"/>
                  <a:pt x="4983828" y="665018"/>
                  <a:pt x="4941745" y="665018"/>
                </a:cubicBezTo>
                <a:lnTo>
                  <a:pt x="76197" y="665018"/>
                </a:lnTo>
                <a:cubicBezTo>
                  <a:pt x="34115" y="665018"/>
                  <a:pt x="0" y="630903"/>
                  <a:pt x="0" y="588820"/>
                </a:cubicBezTo>
                <a:lnTo>
                  <a:pt x="0" y="76197"/>
                </a:lnTo>
                <a:cubicBezTo>
                  <a:pt x="0" y="34143"/>
                  <a:pt x="34143" y="0"/>
                  <a:pt x="76197" y="0"/>
                </a:cubicBezTo>
                <a:close/>
              </a:path>
            </a:pathLst>
          </a:custGeom>
          <a:noFill/>
          <a:ln w="12700">
            <a:solidFill>
              <a:srgbClr val="1E90FF">
                <a:alpha val="100000"/>
              </a:srgbClr>
            </a:solidFill>
            <a:prstDash val="solid"/>
          </a:ln>
        </p:spPr>
        <p:txBody>
          <a:bodyPr wrap="square" lIns="91440" tIns="45720" rIns="91440" bIns="45720" rtlCol="0" anchor="t">
            <a:noAutofit/>
          </a:bodyPr>
          <a:lstStyle/>
          <a:p>
            <a:pPr algn="ctr">
              <a:defRPr/>
            </a:pPr>
          </a:p>
        </p:txBody>
      </p:sp>
      <p:sp>
        <p:nvSpPr>
          <p:cNvPr id="29" name="AutoShape 29"/>
          <p:cNvSpPr/>
          <p:nvPr/>
        </p:nvSpPr>
        <p:spPr>
          <a:xfrm>
            <a:off x="6643011" y="2908902"/>
            <a:ext cx="48482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Generate 1st word</a:t>
            </a:r>
            <a:endParaRPr lang="en-US" sz="1100"/>
          </a:p>
        </p:txBody>
      </p:sp>
      <p:sp>
        <p:nvSpPr>
          <p:cNvPr id="30" name="AutoShape 30"/>
          <p:cNvSpPr/>
          <p:nvPr/>
        </p:nvSpPr>
        <p:spPr>
          <a:xfrm>
            <a:off x="6643011" y="3137427"/>
            <a:ext cx="483870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Store K,V → Cache</a:t>
            </a:r>
            <a:endParaRPr lang="en-US" sz="1100"/>
          </a:p>
        </p:txBody>
      </p:sp>
      <p:sp>
        <p:nvSpPr>
          <p:cNvPr id="31" name="Freeform 31"/>
          <p:cNvSpPr/>
          <p:nvPr/>
        </p:nvSpPr>
        <p:spPr>
          <a:xfrm>
            <a:off x="6520160" y="3582283"/>
            <a:ext cx="5017943" cy="665018"/>
          </a:xfrm>
          <a:custGeom>
            <a:avLst/>
            <a:gdLst/>
            <a:ahLst/>
            <a:cxnLst/>
            <a:rect l="l" t="t" r="r" b="b"/>
            <a:pathLst>
              <a:path w="5017943" h="665018">
                <a:moveTo>
                  <a:pt x="76197" y="0"/>
                </a:moveTo>
                <a:lnTo>
                  <a:pt x="4941745" y="0"/>
                </a:lnTo>
                <a:cubicBezTo>
                  <a:pt x="4983828" y="0"/>
                  <a:pt x="5017943" y="34115"/>
                  <a:pt x="5017943" y="76197"/>
                </a:cubicBezTo>
                <a:lnTo>
                  <a:pt x="5017943" y="588820"/>
                </a:lnTo>
                <a:cubicBezTo>
                  <a:pt x="5017943" y="630903"/>
                  <a:pt x="4983828" y="665018"/>
                  <a:pt x="4941745" y="665018"/>
                </a:cubicBezTo>
                <a:lnTo>
                  <a:pt x="76197" y="665018"/>
                </a:lnTo>
                <a:cubicBezTo>
                  <a:pt x="34115" y="665018"/>
                  <a:pt x="0" y="630903"/>
                  <a:pt x="0" y="588820"/>
                </a:cubicBezTo>
                <a:lnTo>
                  <a:pt x="0" y="76197"/>
                </a:lnTo>
                <a:cubicBezTo>
                  <a:pt x="0" y="34143"/>
                  <a:pt x="34143" y="0"/>
                  <a:pt x="76197" y="0"/>
                </a:cubicBezTo>
                <a:close/>
              </a:path>
            </a:pathLst>
          </a:custGeom>
          <a:noFill/>
          <a:ln w="12700">
            <a:solidFill>
              <a:srgbClr val="1E90FF">
                <a:alpha val="100000"/>
              </a:srgbClr>
            </a:solidFill>
            <a:prstDash val="solid"/>
          </a:ln>
        </p:spPr>
        <p:txBody>
          <a:bodyPr wrap="square" lIns="91440" tIns="45720" rIns="91440" bIns="45720" rtlCol="0" anchor="t">
            <a:noAutofit/>
          </a:bodyPr>
          <a:lstStyle/>
          <a:p>
            <a:pPr algn="ctr">
              <a:defRPr/>
            </a:pPr>
          </a:p>
        </p:txBody>
      </p:sp>
      <p:sp>
        <p:nvSpPr>
          <p:cNvPr id="32" name="AutoShape 32"/>
          <p:cNvSpPr/>
          <p:nvPr/>
        </p:nvSpPr>
        <p:spPr>
          <a:xfrm>
            <a:off x="6643011" y="3705132"/>
            <a:ext cx="48482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Generate 2nd word</a:t>
            </a:r>
            <a:endParaRPr lang="en-US" sz="1100"/>
          </a:p>
        </p:txBody>
      </p:sp>
      <p:sp>
        <p:nvSpPr>
          <p:cNvPr id="33" name="AutoShape 33"/>
          <p:cNvSpPr/>
          <p:nvPr/>
        </p:nvSpPr>
        <p:spPr>
          <a:xfrm>
            <a:off x="6643011" y="3933658"/>
            <a:ext cx="483870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Read cache + Compute new word</a:t>
            </a:r>
            <a:endParaRPr lang="en-US" sz="1100"/>
          </a:p>
        </p:txBody>
      </p:sp>
      <p:sp>
        <p:nvSpPr>
          <p:cNvPr id="34" name="Freeform 34"/>
          <p:cNvSpPr/>
          <p:nvPr/>
        </p:nvSpPr>
        <p:spPr>
          <a:xfrm>
            <a:off x="6520160" y="4378513"/>
            <a:ext cx="5017943" cy="665018"/>
          </a:xfrm>
          <a:custGeom>
            <a:avLst/>
            <a:gdLst/>
            <a:ahLst/>
            <a:cxnLst/>
            <a:rect l="l" t="t" r="r" b="b"/>
            <a:pathLst>
              <a:path w="5017943" h="665018">
                <a:moveTo>
                  <a:pt x="76197" y="0"/>
                </a:moveTo>
                <a:lnTo>
                  <a:pt x="4941745" y="0"/>
                </a:lnTo>
                <a:cubicBezTo>
                  <a:pt x="4983828" y="0"/>
                  <a:pt x="5017943" y="34115"/>
                  <a:pt x="5017943" y="76197"/>
                </a:cubicBezTo>
                <a:lnTo>
                  <a:pt x="5017943" y="588820"/>
                </a:lnTo>
                <a:cubicBezTo>
                  <a:pt x="5017943" y="630903"/>
                  <a:pt x="4983828" y="665018"/>
                  <a:pt x="4941745" y="665018"/>
                </a:cubicBezTo>
                <a:lnTo>
                  <a:pt x="76197" y="665018"/>
                </a:lnTo>
                <a:cubicBezTo>
                  <a:pt x="34115" y="665018"/>
                  <a:pt x="0" y="630903"/>
                  <a:pt x="0" y="588820"/>
                </a:cubicBezTo>
                <a:lnTo>
                  <a:pt x="0" y="76197"/>
                </a:lnTo>
                <a:cubicBezTo>
                  <a:pt x="0" y="34143"/>
                  <a:pt x="34143" y="0"/>
                  <a:pt x="76197" y="0"/>
                </a:cubicBezTo>
                <a:close/>
              </a:path>
            </a:pathLst>
          </a:custGeom>
          <a:noFill/>
          <a:ln w="12700">
            <a:solidFill>
              <a:srgbClr val="1E90FF">
                <a:alpha val="100000"/>
              </a:srgbClr>
            </a:solidFill>
            <a:prstDash val="solid"/>
          </a:ln>
        </p:spPr>
        <p:txBody>
          <a:bodyPr wrap="square" lIns="91440" tIns="45720" rIns="91440" bIns="45720" rtlCol="0" anchor="t">
            <a:noAutofit/>
          </a:bodyPr>
          <a:lstStyle/>
          <a:p>
            <a:pPr algn="ctr">
              <a:defRPr/>
            </a:pPr>
          </a:p>
        </p:txBody>
      </p:sp>
      <p:sp>
        <p:nvSpPr>
          <p:cNvPr id="35" name="AutoShape 35"/>
          <p:cNvSpPr/>
          <p:nvPr/>
        </p:nvSpPr>
        <p:spPr>
          <a:xfrm>
            <a:off x="6643011" y="4501362"/>
            <a:ext cx="48482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Generate 3rd word</a:t>
            </a:r>
            <a:endParaRPr lang="en-US" sz="1100"/>
          </a:p>
        </p:txBody>
      </p:sp>
      <p:sp>
        <p:nvSpPr>
          <p:cNvPr id="36" name="AutoShape 36"/>
          <p:cNvSpPr/>
          <p:nvPr/>
        </p:nvSpPr>
        <p:spPr>
          <a:xfrm>
            <a:off x="6643011" y="4729888"/>
            <a:ext cx="483870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Read cache + Compute new word</a:t>
            </a:r>
            <a:endParaRPr lang="en-US" sz="1100"/>
          </a:p>
        </p:txBody>
      </p:sp>
      <p:sp>
        <p:nvSpPr>
          <p:cNvPr id="37" name="Freeform 37"/>
          <p:cNvSpPr/>
          <p:nvPr/>
        </p:nvSpPr>
        <p:spPr>
          <a:xfrm>
            <a:off x="8503973" y="5232685"/>
            <a:ext cx="151827" cy="183840"/>
          </a:xfrm>
          <a:custGeom>
            <a:avLst/>
            <a:gdLst/>
            <a:ahLst/>
            <a:cxnLst/>
            <a:rect l="l" t="t" r="r" b="b"/>
            <a:pathLst>
              <a:path w="151827" h="183840">
                <a:moveTo>
                  <a:pt x="114356" y="2880"/>
                </a:moveTo>
                <a:cubicBezTo>
                  <a:pt x="118341" y="5759"/>
                  <a:pt x="119814" y="10984"/>
                  <a:pt x="118006" y="15538"/>
                </a:cubicBezTo>
                <a:lnTo>
                  <a:pt x="91752" y="81204"/>
                </a:lnTo>
                <a:lnTo>
                  <a:pt x="140206" y="81204"/>
                </a:lnTo>
                <a:cubicBezTo>
                  <a:pt x="144728" y="81204"/>
                  <a:pt x="148746" y="84017"/>
                  <a:pt x="150286" y="88270"/>
                </a:cubicBezTo>
                <a:cubicBezTo>
                  <a:pt x="151827" y="92523"/>
                  <a:pt x="150521" y="97278"/>
                  <a:pt x="147072" y="100158"/>
                </a:cubicBezTo>
                <a:lnTo>
                  <a:pt x="50631" y="180525"/>
                </a:lnTo>
                <a:cubicBezTo>
                  <a:pt x="46848" y="183672"/>
                  <a:pt x="41456" y="183840"/>
                  <a:pt x="37471" y="180960"/>
                </a:cubicBezTo>
                <a:cubicBezTo>
                  <a:pt x="33486" y="178081"/>
                  <a:pt x="32013" y="172856"/>
                  <a:pt x="33821" y="168302"/>
                </a:cubicBezTo>
                <a:lnTo>
                  <a:pt x="60075" y="102636"/>
                </a:lnTo>
                <a:lnTo>
                  <a:pt x="11620" y="102636"/>
                </a:lnTo>
                <a:cubicBezTo>
                  <a:pt x="7099" y="102636"/>
                  <a:pt x="3081" y="99823"/>
                  <a:pt x="1540" y="95570"/>
                </a:cubicBezTo>
                <a:cubicBezTo>
                  <a:pt x="0" y="91317"/>
                  <a:pt x="1307" y="86562"/>
                  <a:pt x="4755" y="83682"/>
                </a:cubicBezTo>
                <a:lnTo>
                  <a:pt x="101196" y="3315"/>
                </a:lnTo>
                <a:cubicBezTo>
                  <a:pt x="104981" y="168"/>
                  <a:pt x="110370" y="0"/>
                  <a:pt x="114356" y="288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38" name="AutoShape 38"/>
          <p:cNvSpPr/>
          <p:nvPr/>
        </p:nvSpPr>
        <p:spPr>
          <a:xfrm>
            <a:off x="6744863" y="5204240"/>
            <a:ext cx="48482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85"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             Higher generation speed</a:t>
            </a:r>
            <a:endParaRPr lang="en-US" sz="1100"/>
          </a:p>
        </p:txBody>
      </p:sp>
      <p:sp>
        <p:nvSpPr>
          <p:cNvPr id="39" name="Freeform 39"/>
          <p:cNvSpPr/>
          <p:nvPr/>
        </p:nvSpPr>
        <p:spPr>
          <a:xfrm>
            <a:off x="381000" y="5886283"/>
            <a:ext cx="11430000" cy="590550"/>
          </a:xfrm>
          <a:custGeom>
            <a:avLst/>
            <a:gdLst/>
            <a:ahLst/>
            <a:cxnLst/>
            <a:rect l="l" t="t" r="r" b="b"/>
            <a:pathLst>
              <a:path w="11430000" h="590550">
                <a:moveTo>
                  <a:pt x="76199" y="0"/>
                </a:moveTo>
                <a:lnTo>
                  <a:pt x="11353801" y="0"/>
                </a:lnTo>
                <a:cubicBezTo>
                  <a:pt x="11395885" y="0"/>
                  <a:pt x="11430000" y="34115"/>
                  <a:pt x="11430000" y="76199"/>
                </a:cubicBezTo>
                <a:lnTo>
                  <a:pt x="11430000" y="514351"/>
                </a:lnTo>
                <a:cubicBezTo>
                  <a:pt x="11430000" y="556435"/>
                  <a:pt x="11395885" y="590550"/>
                  <a:pt x="11353801" y="590550"/>
                </a:cubicBezTo>
                <a:lnTo>
                  <a:pt x="76199" y="590550"/>
                </a:lnTo>
                <a:cubicBezTo>
                  <a:pt x="34115" y="590550"/>
                  <a:pt x="0" y="556435"/>
                  <a:pt x="0" y="514351"/>
                </a:cubicBezTo>
                <a:lnTo>
                  <a:pt x="0" y="76199"/>
                </a:lnTo>
                <a:cubicBezTo>
                  <a:pt x="0" y="34143"/>
                  <a:pt x="34143" y="0"/>
                  <a:pt x="76199"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0" name="AutoShape 40"/>
          <p:cNvSpPr/>
          <p:nvPr/>
        </p:nvSpPr>
        <p:spPr>
          <a:xfrm>
            <a:off x="609519" y="6048245"/>
            <a:ext cx="69659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8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78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KV Cache (Key-Value Cache)</a:t>
            </a:r>
            <a:r>
              <a:rPr lang="en-US" sz="78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Cache Key and Value matrices of historical words to avoid redundant calculations and accelerate generation</a:t>
            </a:r>
            <a:endParaRPr lang="en-US" sz="1100"/>
          </a:p>
        </p:txBody>
      </p:sp>
    </p:spTree>
  </p:cSld>
  <p:clrMapOvr>
    <a:masterClrMapping/>
  </p:clrMapOvr>
  <p:transition spd="slow">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1 Input Processing</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0478"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2 Layer-by-Layer Calculation</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3 Prediction</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Generation</a:t>
            </a:r>
            <a:endParaRPr lang="en-US" sz="1100"/>
          </a:p>
        </p:txBody>
      </p:sp>
      <p:sp>
        <p:nvSpPr>
          <p:cNvPr id="9" name="AutoShape 9"/>
          <p:cNvSpPr/>
          <p:nvPr/>
        </p:nvSpPr>
        <p:spPr>
          <a:xfrm>
            <a:off x="381000" y="761870"/>
            <a:ext cx="11658600" cy="6858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3000" b="0" i="0" u="none" strike="noStrike">
                <a:solidFill>
                  <a:srgbClr val="5B92E5"/>
                </a:solidFill>
                <a:latin typeface="Alimama ShuHeiTi"/>
                <a:ea typeface="Alimama ShuHeiTi"/>
                <a:cs typeface="Alimama ShuHeiTi"/>
                <a:sym typeface="Alimama ShuHeiTi"/>
              </a:rPr>
              <a:t>Step 3 Prediction: Calculating Probabilities</a:t>
            </a:r>
            <a:endParaRPr lang="en-US" sz="1100"/>
          </a:p>
        </p:txBody>
      </p:sp>
      <p:sp>
        <p:nvSpPr>
          <p:cNvPr id="10" name="Freeform 10"/>
          <p:cNvSpPr/>
          <p:nvPr/>
        </p:nvSpPr>
        <p:spPr>
          <a:xfrm>
            <a:off x="3795658" y="2286130"/>
            <a:ext cx="1371600" cy="1371600"/>
          </a:xfrm>
          <a:custGeom>
            <a:avLst/>
            <a:gdLst/>
            <a:ahLst/>
            <a:cxnLst/>
            <a:rect l="l" t="t" r="r" b="b"/>
            <a:pathLst>
              <a:path w="1371600" h="1371600">
                <a:moveTo>
                  <a:pt x="685800" y="0"/>
                </a:moveTo>
                <a:lnTo>
                  <a:pt x="685800" y="0"/>
                </a:lnTo>
                <a:cubicBezTo>
                  <a:pt x="1064303" y="0"/>
                  <a:pt x="1371600" y="307297"/>
                  <a:pt x="1371600" y="685800"/>
                </a:cubicBezTo>
                <a:lnTo>
                  <a:pt x="1371600" y="685800"/>
                </a:lnTo>
                <a:cubicBezTo>
                  <a:pt x="1371600" y="1064303"/>
                  <a:pt x="1064303" y="1371600"/>
                  <a:pt x="685800" y="1371600"/>
                </a:cubicBezTo>
                <a:lnTo>
                  <a:pt x="685800" y="1371600"/>
                </a:lnTo>
                <a:cubicBezTo>
                  <a:pt x="307297" y="1371600"/>
                  <a:pt x="0" y="1064303"/>
                  <a:pt x="0" y="685800"/>
                </a:cubicBezTo>
                <a:lnTo>
                  <a:pt x="0" y="685800"/>
                </a:lnTo>
                <a:cubicBezTo>
                  <a:pt x="0" y="307297"/>
                  <a:pt x="307297" y="0"/>
                  <a:pt x="6858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4259894" y="2743312"/>
            <a:ext cx="442912" cy="457200"/>
          </a:xfrm>
          <a:custGeom>
            <a:avLst/>
            <a:gdLst/>
            <a:ahLst/>
            <a:cxnLst/>
            <a:rect l="l" t="t" r="r" b="b"/>
            <a:pathLst>
              <a:path w="442912" h="457200">
                <a:moveTo>
                  <a:pt x="100012" y="50006"/>
                </a:moveTo>
                <a:cubicBezTo>
                  <a:pt x="100012" y="22414"/>
                  <a:pt x="122426" y="0"/>
                  <a:pt x="150018" y="0"/>
                </a:cubicBezTo>
                <a:lnTo>
                  <a:pt x="171450" y="0"/>
                </a:lnTo>
                <a:cubicBezTo>
                  <a:pt x="187255" y="0"/>
                  <a:pt x="200025" y="12769"/>
                  <a:pt x="200025" y="28575"/>
                </a:cubicBezTo>
                <a:lnTo>
                  <a:pt x="200025" y="428625"/>
                </a:lnTo>
                <a:cubicBezTo>
                  <a:pt x="200025" y="444431"/>
                  <a:pt x="187255" y="457200"/>
                  <a:pt x="171450" y="457200"/>
                </a:cubicBezTo>
                <a:lnTo>
                  <a:pt x="142875" y="457200"/>
                </a:lnTo>
                <a:cubicBezTo>
                  <a:pt x="116264" y="457200"/>
                  <a:pt x="93851" y="438983"/>
                  <a:pt x="87510" y="414338"/>
                </a:cubicBezTo>
                <a:cubicBezTo>
                  <a:pt x="86886" y="414338"/>
                  <a:pt x="86350" y="414338"/>
                  <a:pt x="85725" y="414338"/>
                </a:cubicBezTo>
                <a:cubicBezTo>
                  <a:pt x="46256" y="414338"/>
                  <a:pt x="14287" y="382369"/>
                  <a:pt x="14287" y="342900"/>
                </a:cubicBezTo>
                <a:cubicBezTo>
                  <a:pt x="14287" y="326827"/>
                  <a:pt x="19645" y="312003"/>
                  <a:pt x="28575" y="300038"/>
                </a:cubicBezTo>
                <a:cubicBezTo>
                  <a:pt x="11251" y="287000"/>
                  <a:pt x="0" y="266283"/>
                  <a:pt x="0" y="242888"/>
                </a:cubicBezTo>
                <a:cubicBezTo>
                  <a:pt x="0" y="215295"/>
                  <a:pt x="15716" y="191273"/>
                  <a:pt x="38576" y="179396"/>
                </a:cubicBezTo>
                <a:cubicBezTo>
                  <a:pt x="32236" y="168681"/>
                  <a:pt x="28575" y="156180"/>
                  <a:pt x="28575" y="142875"/>
                </a:cubicBezTo>
                <a:cubicBezTo>
                  <a:pt x="28575" y="103406"/>
                  <a:pt x="60543" y="71438"/>
                  <a:pt x="100012" y="71438"/>
                </a:cubicBezTo>
                <a:lnTo>
                  <a:pt x="100012" y="50006"/>
                </a:lnTo>
                <a:close/>
                <a:moveTo>
                  <a:pt x="342900" y="50006"/>
                </a:moveTo>
                <a:lnTo>
                  <a:pt x="342900" y="71438"/>
                </a:lnTo>
                <a:cubicBezTo>
                  <a:pt x="382369" y="71438"/>
                  <a:pt x="414337" y="103406"/>
                  <a:pt x="414337" y="142875"/>
                </a:cubicBezTo>
                <a:cubicBezTo>
                  <a:pt x="414337" y="156270"/>
                  <a:pt x="410676" y="168772"/>
                  <a:pt x="404336" y="179396"/>
                </a:cubicBezTo>
                <a:cubicBezTo>
                  <a:pt x="427285" y="191273"/>
                  <a:pt x="442912" y="215205"/>
                  <a:pt x="442912" y="242888"/>
                </a:cubicBezTo>
                <a:cubicBezTo>
                  <a:pt x="442912" y="266283"/>
                  <a:pt x="431661" y="287000"/>
                  <a:pt x="414337" y="300038"/>
                </a:cubicBezTo>
                <a:cubicBezTo>
                  <a:pt x="423267" y="312003"/>
                  <a:pt x="428625" y="326827"/>
                  <a:pt x="428625" y="342900"/>
                </a:cubicBezTo>
                <a:cubicBezTo>
                  <a:pt x="428625" y="382369"/>
                  <a:pt x="396656" y="414338"/>
                  <a:pt x="357187" y="414338"/>
                </a:cubicBezTo>
                <a:cubicBezTo>
                  <a:pt x="356562" y="414338"/>
                  <a:pt x="356026" y="414338"/>
                  <a:pt x="355402" y="414338"/>
                </a:cubicBezTo>
                <a:cubicBezTo>
                  <a:pt x="349061" y="438983"/>
                  <a:pt x="326648" y="457200"/>
                  <a:pt x="300037" y="457200"/>
                </a:cubicBezTo>
                <a:lnTo>
                  <a:pt x="271462" y="457200"/>
                </a:lnTo>
                <a:cubicBezTo>
                  <a:pt x="255657" y="457200"/>
                  <a:pt x="242887" y="444431"/>
                  <a:pt x="242887" y="428625"/>
                </a:cubicBezTo>
                <a:lnTo>
                  <a:pt x="242887" y="28575"/>
                </a:lnTo>
                <a:cubicBezTo>
                  <a:pt x="242887" y="12769"/>
                  <a:pt x="255657" y="0"/>
                  <a:pt x="271462" y="0"/>
                </a:cubicBezTo>
                <a:lnTo>
                  <a:pt x="292894" y="0"/>
                </a:lnTo>
                <a:cubicBezTo>
                  <a:pt x="320486" y="0"/>
                  <a:pt x="342900" y="22414"/>
                  <a:pt x="342900" y="50006"/>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3848966" y="3848156"/>
            <a:ext cx="138112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85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3.1 Word Selection Strategy</a:t>
            </a:r>
            <a:endParaRPr lang="en-US" sz="1100"/>
          </a:p>
        </p:txBody>
      </p:sp>
      <p:sp>
        <p:nvSpPr>
          <p:cNvPr id="13" name="AutoShape 13"/>
          <p:cNvSpPr/>
          <p:nvPr/>
        </p:nvSpPr>
        <p:spPr>
          <a:xfrm>
            <a:off x="4062250" y="4343214"/>
            <a:ext cx="8382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Chain-of-Thought Reasoning</a:t>
            </a:r>
            <a:endParaRPr lang="en-US" sz="1100"/>
          </a:p>
        </p:txBody>
      </p:sp>
      <p:sp>
        <p:nvSpPr>
          <p:cNvPr id="14" name="Freeform 14"/>
          <p:cNvSpPr/>
          <p:nvPr/>
        </p:nvSpPr>
        <p:spPr>
          <a:xfrm>
            <a:off x="5819558" y="3393407"/>
            <a:ext cx="344976" cy="261463"/>
          </a:xfrm>
          <a:custGeom>
            <a:avLst/>
            <a:gdLst/>
            <a:ahLst/>
            <a:cxnLst/>
            <a:rect l="l" t="t" r="r" b="b"/>
            <a:pathLst>
              <a:path w="344976" h="261463">
                <a:moveTo>
                  <a:pt x="336605" y="145867"/>
                </a:moveTo>
                <a:cubicBezTo>
                  <a:pt x="344976" y="137495"/>
                  <a:pt x="344976" y="123900"/>
                  <a:pt x="336605" y="115528"/>
                </a:cubicBezTo>
                <a:lnTo>
                  <a:pt x="229448" y="8372"/>
                </a:lnTo>
                <a:cubicBezTo>
                  <a:pt x="221077" y="0"/>
                  <a:pt x="207481" y="0"/>
                  <a:pt x="199111" y="8372"/>
                </a:cubicBezTo>
                <a:cubicBezTo>
                  <a:pt x="190737" y="16743"/>
                  <a:pt x="190737" y="30339"/>
                  <a:pt x="199111" y="38711"/>
                </a:cubicBezTo>
                <a:lnTo>
                  <a:pt x="269698" y="109300"/>
                </a:lnTo>
                <a:lnTo>
                  <a:pt x="21431" y="109300"/>
                </a:lnTo>
                <a:cubicBezTo>
                  <a:pt x="9577" y="109300"/>
                  <a:pt x="0" y="118877"/>
                  <a:pt x="0" y="130731"/>
                </a:cubicBezTo>
                <a:cubicBezTo>
                  <a:pt x="0" y="142585"/>
                  <a:pt x="9577" y="152162"/>
                  <a:pt x="21431" y="152162"/>
                </a:cubicBezTo>
                <a:lnTo>
                  <a:pt x="269698" y="152162"/>
                </a:lnTo>
                <a:lnTo>
                  <a:pt x="199111" y="222751"/>
                </a:lnTo>
                <a:cubicBezTo>
                  <a:pt x="190737" y="231123"/>
                  <a:pt x="190737" y="244719"/>
                  <a:pt x="199111" y="253090"/>
                </a:cubicBezTo>
                <a:cubicBezTo>
                  <a:pt x="207481" y="261462"/>
                  <a:pt x="221077" y="261462"/>
                  <a:pt x="229448" y="253090"/>
                </a:cubicBezTo>
                <a:lnTo>
                  <a:pt x="336605" y="145934"/>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6919831" y="2286130"/>
            <a:ext cx="1371600" cy="1371600"/>
          </a:xfrm>
          <a:custGeom>
            <a:avLst/>
            <a:gdLst/>
            <a:ahLst/>
            <a:cxnLst/>
            <a:rect l="l" t="t" r="r" b="b"/>
            <a:pathLst>
              <a:path w="1371600" h="1371600">
                <a:moveTo>
                  <a:pt x="685800" y="0"/>
                </a:moveTo>
                <a:lnTo>
                  <a:pt x="685800" y="0"/>
                </a:lnTo>
                <a:cubicBezTo>
                  <a:pt x="1064303" y="0"/>
                  <a:pt x="1371600" y="307297"/>
                  <a:pt x="1371600" y="685800"/>
                </a:cubicBezTo>
                <a:lnTo>
                  <a:pt x="1371600" y="685800"/>
                </a:lnTo>
                <a:cubicBezTo>
                  <a:pt x="1371600" y="1064303"/>
                  <a:pt x="1064303" y="1371600"/>
                  <a:pt x="685800" y="1371600"/>
                </a:cubicBezTo>
                <a:lnTo>
                  <a:pt x="685800" y="1371600"/>
                </a:lnTo>
                <a:cubicBezTo>
                  <a:pt x="307297" y="1371600"/>
                  <a:pt x="0" y="1064303"/>
                  <a:pt x="0" y="685800"/>
                </a:cubicBezTo>
                <a:lnTo>
                  <a:pt x="0" y="685800"/>
                </a:lnTo>
                <a:cubicBezTo>
                  <a:pt x="0" y="307297"/>
                  <a:pt x="307297" y="0"/>
                  <a:pt x="6858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7376923" y="2769565"/>
            <a:ext cx="457289" cy="404603"/>
          </a:xfrm>
          <a:custGeom>
            <a:avLst/>
            <a:gdLst/>
            <a:ahLst/>
            <a:cxnLst/>
            <a:rect l="l" t="t" r="r" b="b"/>
            <a:pathLst>
              <a:path w="457289" h="404603">
                <a:moveTo>
                  <a:pt x="360581" y="4464"/>
                </a:moveTo>
                <a:cubicBezTo>
                  <a:pt x="371296" y="0"/>
                  <a:pt x="383530" y="2501"/>
                  <a:pt x="391745" y="10627"/>
                </a:cubicBezTo>
                <a:lnTo>
                  <a:pt x="448895" y="67777"/>
                </a:lnTo>
                <a:cubicBezTo>
                  <a:pt x="454254" y="73133"/>
                  <a:pt x="457289" y="80367"/>
                  <a:pt x="457289" y="87958"/>
                </a:cubicBezTo>
                <a:cubicBezTo>
                  <a:pt x="457289" y="95548"/>
                  <a:pt x="454254" y="102782"/>
                  <a:pt x="448895" y="108138"/>
                </a:cubicBezTo>
                <a:lnTo>
                  <a:pt x="391745" y="165288"/>
                </a:lnTo>
                <a:cubicBezTo>
                  <a:pt x="383530" y="173504"/>
                  <a:pt x="371296" y="175914"/>
                  <a:pt x="360581" y="171450"/>
                </a:cubicBezTo>
                <a:cubicBezTo>
                  <a:pt x="349865" y="166985"/>
                  <a:pt x="342900" y="156716"/>
                  <a:pt x="342900" y="145197"/>
                </a:cubicBezTo>
                <a:lnTo>
                  <a:pt x="342900" y="116622"/>
                </a:lnTo>
                <a:lnTo>
                  <a:pt x="314325" y="116622"/>
                </a:lnTo>
                <a:cubicBezTo>
                  <a:pt x="305305" y="116622"/>
                  <a:pt x="296823" y="120819"/>
                  <a:pt x="291465" y="128052"/>
                </a:cubicBezTo>
                <a:lnTo>
                  <a:pt x="262533" y="166628"/>
                </a:lnTo>
                <a:lnTo>
                  <a:pt x="226814" y="119032"/>
                </a:lnTo>
                <a:lnTo>
                  <a:pt x="245745" y="93762"/>
                </a:lnTo>
                <a:cubicBezTo>
                  <a:pt x="261908" y="72152"/>
                  <a:pt x="287357" y="59472"/>
                  <a:pt x="314325" y="59472"/>
                </a:cubicBezTo>
                <a:lnTo>
                  <a:pt x="342900" y="59472"/>
                </a:lnTo>
                <a:lnTo>
                  <a:pt x="342900" y="30897"/>
                </a:lnTo>
                <a:cubicBezTo>
                  <a:pt x="342900" y="19378"/>
                  <a:pt x="349865" y="8930"/>
                  <a:pt x="360581" y="4464"/>
                </a:cubicBezTo>
                <a:close/>
                <a:moveTo>
                  <a:pt x="137517" y="238066"/>
                </a:moveTo>
                <a:lnTo>
                  <a:pt x="173236" y="285662"/>
                </a:lnTo>
                <a:lnTo>
                  <a:pt x="154305" y="310932"/>
                </a:lnTo>
                <a:cubicBezTo>
                  <a:pt x="138142" y="332542"/>
                  <a:pt x="112693" y="345222"/>
                  <a:pt x="85725" y="345222"/>
                </a:cubicBezTo>
                <a:lnTo>
                  <a:pt x="28575" y="345222"/>
                </a:lnTo>
                <a:cubicBezTo>
                  <a:pt x="12769" y="345222"/>
                  <a:pt x="0" y="332453"/>
                  <a:pt x="0" y="316647"/>
                </a:cubicBezTo>
                <a:cubicBezTo>
                  <a:pt x="0" y="300841"/>
                  <a:pt x="12769" y="288072"/>
                  <a:pt x="28575" y="288072"/>
                </a:cubicBezTo>
                <a:lnTo>
                  <a:pt x="85725" y="288072"/>
                </a:lnTo>
                <a:cubicBezTo>
                  <a:pt x="94745" y="288072"/>
                  <a:pt x="103227" y="283875"/>
                  <a:pt x="108585" y="276642"/>
                </a:cubicBezTo>
                <a:lnTo>
                  <a:pt x="137517" y="238066"/>
                </a:lnTo>
                <a:close/>
                <a:moveTo>
                  <a:pt x="391657" y="393979"/>
                </a:moveTo>
                <a:cubicBezTo>
                  <a:pt x="383441" y="402193"/>
                  <a:pt x="371207" y="404603"/>
                  <a:pt x="360491" y="400141"/>
                </a:cubicBezTo>
                <a:cubicBezTo>
                  <a:pt x="349776" y="395675"/>
                  <a:pt x="342900" y="385316"/>
                  <a:pt x="342900" y="373797"/>
                </a:cubicBezTo>
                <a:lnTo>
                  <a:pt x="342900" y="345222"/>
                </a:lnTo>
                <a:lnTo>
                  <a:pt x="314325" y="345222"/>
                </a:lnTo>
                <a:cubicBezTo>
                  <a:pt x="287357" y="345222"/>
                  <a:pt x="261908" y="332542"/>
                  <a:pt x="245745" y="310932"/>
                </a:cubicBezTo>
                <a:lnTo>
                  <a:pt x="108585" y="128052"/>
                </a:lnTo>
                <a:cubicBezTo>
                  <a:pt x="103227" y="120819"/>
                  <a:pt x="94745" y="116622"/>
                  <a:pt x="85725" y="116622"/>
                </a:cubicBezTo>
                <a:lnTo>
                  <a:pt x="28575" y="116622"/>
                </a:lnTo>
                <a:cubicBezTo>
                  <a:pt x="12769" y="116622"/>
                  <a:pt x="0" y="103853"/>
                  <a:pt x="0" y="88047"/>
                </a:cubicBezTo>
                <a:cubicBezTo>
                  <a:pt x="0" y="72241"/>
                  <a:pt x="12769" y="59472"/>
                  <a:pt x="28575" y="59472"/>
                </a:cubicBezTo>
                <a:lnTo>
                  <a:pt x="85725" y="59472"/>
                </a:lnTo>
                <a:cubicBezTo>
                  <a:pt x="112693" y="59472"/>
                  <a:pt x="138142" y="72152"/>
                  <a:pt x="154305" y="93762"/>
                </a:cubicBezTo>
                <a:lnTo>
                  <a:pt x="291465" y="276642"/>
                </a:lnTo>
                <a:cubicBezTo>
                  <a:pt x="296823" y="283875"/>
                  <a:pt x="305305" y="288072"/>
                  <a:pt x="314325" y="288072"/>
                </a:cubicBezTo>
                <a:lnTo>
                  <a:pt x="342900" y="288072"/>
                </a:lnTo>
                <a:lnTo>
                  <a:pt x="342900" y="259497"/>
                </a:lnTo>
                <a:cubicBezTo>
                  <a:pt x="342900" y="247978"/>
                  <a:pt x="349865" y="237530"/>
                  <a:pt x="360581" y="233064"/>
                </a:cubicBezTo>
                <a:cubicBezTo>
                  <a:pt x="371296" y="228600"/>
                  <a:pt x="383530" y="231101"/>
                  <a:pt x="391745" y="239227"/>
                </a:cubicBezTo>
                <a:lnTo>
                  <a:pt x="448895" y="296377"/>
                </a:lnTo>
                <a:cubicBezTo>
                  <a:pt x="454254" y="301733"/>
                  <a:pt x="457289" y="308967"/>
                  <a:pt x="457289" y="316558"/>
                </a:cubicBezTo>
                <a:cubicBezTo>
                  <a:pt x="457289" y="324148"/>
                  <a:pt x="454254" y="331382"/>
                  <a:pt x="448895" y="336738"/>
                </a:cubicBezTo>
                <a:lnTo>
                  <a:pt x="391745" y="393888"/>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6953791" y="3848156"/>
            <a:ext cx="141922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84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3.2 Technical Implementation</a:t>
            </a:r>
            <a:endParaRPr lang="en-US" sz="1100"/>
          </a:p>
        </p:txBody>
      </p:sp>
      <p:sp>
        <p:nvSpPr>
          <p:cNvPr id="18" name="AutoShape 18"/>
          <p:cNvSpPr/>
          <p:nvPr/>
        </p:nvSpPr>
        <p:spPr>
          <a:xfrm>
            <a:off x="7262596" y="4343214"/>
            <a:ext cx="685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Probability Sampling</a:t>
            </a:r>
            <a:endParaRPr lang="en-US" sz="1100"/>
          </a:p>
        </p:txBody>
      </p:sp>
      <p:sp>
        <p:nvSpPr>
          <p:cNvPr id="19" name="Freeform 19"/>
          <p:cNvSpPr/>
          <p:nvPr/>
        </p:nvSpPr>
        <p:spPr>
          <a:xfrm>
            <a:off x="381000" y="5219402"/>
            <a:ext cx="11430000" cy="723900"/>
          </a:xfrm>
          <a:custGeom>
            <a:avLst/>
            <a:gdLst/>
            <a:ahLst/>
            <a:cxnLst/>
            <a:rect l="l" t="t" r="r" b="b"/>
            <a:pathLst>
              <a:path w="11430000" h="723900">
                <a:moveTo>
                  <a:pt x="152403" y="0"/>
                </a:moveTo>
                <a:lnTo>
                  <a:pt x="11277597" y="0"/>
                </a:lnTo>
                <a:cubicBezTo>
                  <a:pt x="11361767" y="0"/>
                  <a:pt x="11430000" y="68233"/>
                  <a:pt x="11430000" y="152403"/>
                </a:cubicBezTo>
                <a:lnTo>
                  <a:pt x="11430000" y="571497"/>
                </a:lnTo>
                <a:cubicBezTo>
                  <a:pt x="11430000" y="655667"/>
                  <a:pt x="11361767" y="723900"/>
                  <a:pt x="11277597" y="723900"/>
                </a:cubicBezTo>
                <a:lnTo>
                  <a:pt x="152403" y="723900"/>
                </a:lnTo>
                <a:cubicBezTo>
                  <a:pt x="68233" y="723900"/>
                  <a:pt x="0" y="655667"/>
                  <a:pt x="0" y="571497"/>
                </a:cubicBezTo>
                <a:lnTo>
                  <a:pt x="0" y="152403"/>
                </a:lnTo>
                <a:cubicBezTo>
                  <a:pt x="0" y="68289"/>
                  <a:pt x="68289" y="0"/>
                  <a:pt x="152403"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algn="ctr">
              <a:defRPr/>
            </a:pPr>
          </a:p>
        </p:txBody>
      </p:sp>
      <p:sp>
        <p:nvSpPr>
          <p:cNvPr id="20" name="AutoShape 20"/>
          <p:cNvSpPr/>
          <p:nvPr/>
        </p:nvSpPr>
        <p:spPr>
          <a:xfrm>
            <a:off x="561894" y="5447909"/>
            <a:ext cx="110680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8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Based on the semantic features extracted from previous steps, calculate each candidate word's</a:t>
            </a:r>
            <a:r>
              <a:rPr lang="en-US" sz="885"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probability distribution</a:t>
            </a:r>
            <a:r>
              <a:rPr lang="en-US" sz="88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and then select an appropriate word</a:t>
            </a:r>
            <a:endParaRPr lang="en-US" sz="1100"/>
          </a:p>
        </p:txBody>
      </p:sp>
    </p:spTree>
  </p:cSld>
  <p:clrMapOvr>
    <a:masterClrMapping/>
  </p:clrMapOvr>
  <p:transition spd="slow">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1 Input Processing</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0478"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2 Layer-by-Layer Computation</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3 Prediction</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Generation</a:t>
            </a:r>
            <a:endParaRPr lang="en-US" sz="1100"/>
          </a:p>
        </p:txBody>
      </p:sp>
      <p:sp>
        <p:nvSpPr>
          <p:cNvPr id="9" name="AutoShape 9"/>
          <p:cNvSpPr/>
          <p:nvPr/>
        </p:nvSpPr>
        <p:spPr>
          <a:xfrm>
            <a:off x="381000" y="76187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615" b="0" i="0" u="none" strike="noStrike">
                <a:solidFill>
                  <a:srgbClr val="5B92E5"/>
                </a:solidFill>
                <a:latin typeface="Alimama ShuHeiTi"/>
                <a:ea typeface="Alimama ShuHeiTi"/>
                <a:cs typeface="Alimama ShuHeiTi"/>
                <a:sym typeface="Alimama ShuHeiTi"/>
              </a:rPr>
              <a:t>Step 3.1 Word Selection Strategy</a:t>
            </a:r>
            <a:endParaRPr lang="en-US" sz="1100"/>
          </a:p>
        </p:txBody>
      </p:sp>
      <p:sp>
        <p:nvSpPr>
          <p:cNvPr id="10" name="AutoShape 10"/>
          <p:cNvSpPr/>
          <p:nvPr/>
        </p:nvSpPr>
        <p:spPr>
          <a:xfrm>
            <a:off x="333375" y="1600033"/>
            <a:ext cx="11525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8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Use Chain of Thought (CoT) to let the model generate intermediate reasoning steps before giving the final answer</a:t>
            </a:r>
            <a:endParaRPr lang="en-US" sz="1100"/>
          </a:p>
        </p:txBody>
      </p:sp>
      <p:sp>
        <p:nvSpPr>
          <p:cNvPr id="11" name="Freeform 11"/>
          <p:cNvSpPr/>
          <p:nvPr/>
        </p:nvSpPr>
        <p:spPr>
          <a:xfrm>
            <a:off x="381000" y="2095221"/>
            <a:ext cx="11430000" cy="2362200"/>
          </a:xfrm>
          <a:custGeom>
            <a:avLst/>
            <a:gdLst/>
            <a:ahLst/>
            <a:cxnLst/>
            <a:rect l="l" t="t" r="r" b="b"/>
            <a:pathLst>
              <a:path w="11430000" h="2362200">
                <a:moveTo>
                  <a:pt x="152409" y="0"/>
                </a:moveTo>
                <a:lnTo>
                  <a:pt x="11277591" y="0"/>
                </a:lnTo>
                <a:cubicBezTo>
                  <a:pt x="11361708" y="0"/>
                  <a:pt x="11430000" y="68292"/>
                  <a:pt x="11430000" y="152409"/>
                </a:cubicBezTo>
                <a:lnTo>
                  <a:pt x="11430000" y="2209791"/>
                </a:lnTo>
                <a:cubicBezTo>
                  <a:pt x="11430000" y="2293964"/>
                  <a:pt x="11361764" y="2362200"/>
                  <a:pt x="11277591" y="2362200"/>
                </a:cubicBezTo>
                <a:lnTo>
                  <a:pt x="152409" y="2362200"/>
                </a:lnTo>
                <a:cubicBezTo>
                  <a:pt x="68292" y="2362200"/>
                  <a:pt x="0" y="2293908"/>
                  <a:pt x="0" y="2209791"/>
                </a:cubicBezTo>
                <a:lnTo>
                  <a:pt x="0" y="152409"/>
                </a:lnTo>
                <a:cubicBezTo>
                  <a:pt x="0" y="68292"/>
                  <a:pt x="68292" y="0"/>
                  <a:pt x="152409"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609519" y="2323747"/>
            <a:ext cx="609600" cy="381000"/>
          </a:xfrm>
          <a:custGeom>
            <a:avLst/>
            <a:gdLst/>
            <a:ahLst/>
            <a:cxnLst/>
            <a:rect l="l" t="t" r="r" b="b"/>
            <a:pathLst>
              <a:path w="609600" h="381000">
                <a:moveTo>
                  <a:pt x="76200" y="0"/>
                </a:moveTo>
                <a:lnTo>
                  <a:pt x="533400" y="0"/>
                </a:lnTo>
                <a:cubicBezTo>
                  <a:pt x="575456" y="0"/>
                  <a:pt x="609600" y="34144"/>
                  <a:pt x="609600" y="76200"/>
                </a:cubicBezTo>
                <a:lnTo>
                  <a:pt x="609600" y="304800"/>
                </a:lnTo>
                <a:cubicBezTo>
                  <a:pt x="609600" y="346856"/>
                  <a:pt x="575456" y="381000"/>
                  <a:pt x="533400" y="381000"/>
                </a:cubicBezTo>
                <a:lnTo>
                  <a:pt x="76200" y="381000"/>
                </a:lnTo>
                <a:cubicBezTo>
                  <a:pt x="34144" y="381000"/>
                  <a:pt x="0" y="346856"/>
                  <a:pt x="0" y="304800"/>
                </a:cubicBezTo>
                <a:lnTo>
                  <a:pt x="0" y="76200"/>
                </a:lnTo>
                <a:cubicBezTo>
                  <a:pt x="0" y="34144"/>
                  <a:pt x="34144" y="0"/>
                  <a:pt x="762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609519" y="2323747"/>
            <a:ext cx="685800" cy="381000"/>
          </a:xfrm>
          <a:prstGeom prst="rect">
            <a:avLst/>
          </a:prstGeom>
          <a:noFill/>
          <a:ln w="12700">
            <a:noFill/>
            <a:prstDash val="solid"/>
          </a:ln>
        </p:spPr>
        <p:txBody>
          <a:bodyPr wrap="square" lIns="152400" tIns="76200" rIns="152400" bIns="76200" rtlCol="0" anchor="ctr">
            <a:noAutofit/>
          </a:bodyPr>
          <a:lstStyle/>
          <a:p>
            <a:pPr indent="0" algn="l">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Input</a:t>
            </a:r>
            <a:endParaRPr lang="en-US" sz="1100"/>
          </a:p>
        </p:txBody>
      </p:sp>
      <p:sp>
        <p:nvSpPr>
          <p:cNvPr id="14" name="AutoShape 14"/>
          <p:cNvSpPr/>
          <p:nvPr/>
        </p:nvSpPr>
        <p:spPr>
          <a:xfrm>
            <a:off x="1371383" y="2323747"/>
            <a:ext cx="2933700" cy="304800"/>
          </a:xfrm>
          <a:prstGeom prst="rect">
            <a:avLst/>
          </a:prstGeom>
          <a:noFill/>
          <a:ln w="12700">
            <a:noFill/>
            <a:prstDash val="solid"/>
          </a:ln>
        </p:spPr>
        <p:txBody>
          <a:bodyPr wrap="square" lIns="0" tIns="38100" rIns="0" bIns="0" rtlCol="0" anchor="ctr">
            <a:noAutofit/>
          </a:bodyPr>
          <a:lstStyle/>
          <a:p>
            <a:pPr indent="0" algn="l">
              <a:lnSpc>
                <a:spcPct val="133000"/>
              </a:lnSpc>
              <a:defRPr/>
            </a:pPr>
            <a:r>
              <a:rPr lang="en-US" sz="103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"What is AI? Let's think step by step"</a:t>
            </a:r>
            <a:endParaRPr lang="en-US" sz="1100"/>
          </a:p>
        </p:txBody>
      </p:sp>
      <p:sp>
        <p:nvSpPr>
          <p:cNvPr id="15" name="Freeform 15"/>
          <p:cNvSpPr/>
          <p:nvPr/>
        </p:nvSpPr>
        <p:spPr>
          <a:xfrm>
            <a:off x="779183" y="2856960"/>
            <a:ext cx="34635" cy="838200"/>
          </a:xfrm>
          <a:custGeom>
            <a:avLst/>
            <a:gdLst/>
            <a:ahLst/>
            <a:cxnLst/>
            <a:rect l="l" t="t" r="r" b="b"/>
            <a:pathLst>
              <a:path w="34635" h="838200">
                <a:moveTo>
                  <a:pt x="0" y="0"/>
                </a:moveTo>
                <a:lnTo>
                  <a:pt x="34635" y="0"/>
                </a:lnTo>
                <a:lnTo>
                  <a:pt x="34635" y="838200"/>
                </a:lnTo>
                <a:lnTo>
                  <a:pt x="0" y="8382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948847" y="2856960"/>
            <a:ext cx="10706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1: AI stands for Artificial Intelligence</a:t>
            </a:r>
            <a:endParaRPr lang="en-US" sz="1100"/>
          </a:p>
        </p:txBody>
      </p:sp>
      <p:sp>
        <p:nvSpPr>
          <p:cNvPr id="17" name="AutoShape 17"/>
          <p:cNvSpPr/>
          <p:nvPr/>
        </p:nvSpPr>
        <p:spPr>
          <a:xfrm>
            <a:off x="948847" y="3161649"/>
            <a:ext cx="10706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2: It refers to machines simulating human intelligence</a:t>
            </a:r>
            <a:endParaRPr lang="en-US" sz="1100"/>
          </a:p>
        </p:txBody>
      </p:sp>
      <p:sp>
        <p:nvSpPr>
          <p:cNvPr id="18" name="AutoShape 18"/>
          <p:cNvSpPr/>
          <p:nvPr/>
        </p:nvSpPr>
        <p:spPr>
          <a:xfrm>
            <a:off x="948847" y="3466337"/>
            <a:ext cx="10706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This includes learning, reasoning, and problem-solving</a:t>
            </a:r>
            <a:endParaRPr lang="en-US" sz="1100"/>
          </a:p>
        </p:txBody>
      </p:sp>
      <p:sp>
        <p:nvSpPr>
          <p:cNvPr id="19" name="Freeform 19"/>
          <p:cNvSpPr/>
          <p:nvPr/>
        </p:nvSpPr>
        <p:spPr>
          <a:xfrm>
            <a:off x="609519" y="3847207"/>
            <a:ext cx="609600" cy="381000"/>
          </a:xfrm>
          <a:custGeom>
            <a:avLst/>
            <a:gdLst/>
            <a:ahLst/>
            <a:cxnLst/>
            <a:rect l="l" t="t" r="r" b="b"/>
            <a:pathLst>
              <a:path w="609600" h="381000">
                <a:moveTo>
                  <a:pt x="76200" y="0"/>
                </a:moveTo>
                <a:lnTo>
                  <a:pt x="533400" y="0"/>
                </a:lnTo>
                <a:cubicBezTo>
                  <a:pt x="575456" y="0"/>
                  <a:pt x="609600" y="34144"/>
                  <a:pt x="609600" y="76200"/>
                </a:cubicBezTo>
                <a:lnTo>
                  <a:pt x="609600" y="304800"/>
                </a:lnTo>
                <a:cubicBezTo>
                  <a:pt x="609600" y="346856"/>
                  <a:pt x="575456" y="381000"/>
                  <a:pt x="533400" y="381000"/>
                </a:cubicBezTo>
                <a:lnTo>
                  <a:pt x="76200" y="381000"/>
                </a:lnTo>
                <a:cubicBezTo>
                  <a:pt x="34144" y="381000"/>
                  <a:pt x="0" y="346856"/>
                  <a:pt x="0" y="304800"/>
                </a:cubicBezTo>
                <a:lnTo>
                  <a:pt x="0" y="76200"/>
                </a:lnTo>
                <a:cubicBezTo>
                  <a:pt x="0" y="34144"/>
                  <a:pt x="34144" y="0"/>
                  <a:pt x="76200"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609519" y="3847207"/>
            <a:ext cx="685800" cy="381000"/>
          </a:xfrm>
          <a:prstGeom prst="rect">
            <a:avLst/>
          </a:prstGeom>
          <a:noFill/>
          <a:ln w="12700">
            <a:noFill/>
            <a:prstDash val="solid"/>
          </a:ln>
        </p:spPr>
        <p:txBody>
          <a:bodyPr wrap="square" lIns="152400" tIns="76200" rIns="152400" bIns="76200" rtlCol="0" anchor="ctr">
            <a:noAutofit/>
          </a:bodyPr>
          <a:lstStyle/>
          <a:p>
            <a:pPr indent="0" algn="l">
              <a:lnSpc>
                <a:spcPct val="133000"/>
              </a:lnSpc>
              <a:defRPr/>
            </a:pPr>
            <a:r>
              <a:rPr lang="en-US" sz="9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Output</a:t>
            </a:r>
            <a:endParaRPr lang="en-US" sz="900"/>
          </a:p>
        </p:txBody>
      </p:sp>
      <p:sp>
        <p:nvSpPr>
          <p:cNvPr id="21" name="AutoShape 21"/>
          <p:cNvSpPr/>
          <p:nvPr/>
        </p:nvSpPr>
        <p:spPr>
          <a:xfrm>
            <a:off x="1371383" y="3847207"/>
            <a:ext cx="4429125" cy="304800"/>
          </a:xfrm>
          <a:prstGeom prst="rect">
            <a:avLst/>
          </a:prstGeom>
          <a:noFill/>
          <a:ln w="12700">
            <a:noFill/>
            <a:prstDash val="solid"/>
          </a:ln>
        </p:spPr>
        <p:txBody>
          <a:bodyPr wrap="square" lIns="0" tIns="38100" rIns="0" bIns="0" rtlCol="0" anchor="ctr">
            <a:noAutofit/>
          </a:bodyPr>
          <a:lstStyle/>
          <a:p>
            <a:pPr indent="0" algn="l">
              <a:lnSpc>
                <a:spcPct val="133000"/>
              </a:lnSpc>
              <a:defRPr/>
            </a:pPr>
            <a:r>
              <a:rPr lang="en-US" sz="104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AI is the simulation of human intelligence in machines...</a:t>
            </a:r>
            <a:endParaRPr lang="en-US" sz="1100"/>
          </a:p>
        </p:txBody>
      </p:sp>
      <p:sp>
        <p:nvSpPr>
          <p:cNvPr id="22" name="Freeform 22"/>
          <p:cNvSpPr/>
          <p:nvPr/>
        </p:nvSpPr>
        <p:spPr>
          <a:xfrm>
            <a:off x="3787540" y="4702429"/>
            <a:ext cx="1019175" cy="876300"/>
          </a:xfrm>
          <a:custGeom>
            <a:avLst/>
            <a:gdLst/>
            <a:ahLst/>
            <a:cxnLst/>
            <a:rect l="l" t="t" r="r" b="b"/>
            <a:pathLst>
              <a:path w="1019175" h="876300">
                <a:moveTo>
                  <a:pt x="114296" y="0"/>
                </a:moveTo>
                <a:lnTo>
                  <a:pt x="904879" y="0"/>
                </a:lnTo>
                <a:cubicBezTo>
                  <a:pt x="968003" y="0"/>
                  <a:pt x="1019175" y="51172"/>
                  <a:pt x="1019175" y="114296"/>
                </a:cubicBezTo>
                <a:lnTo>
                  <a:pt x="1019175" y="762004"/>
                </a:lnTo>
                <a:cubicBezTo>
                  <a:pt x="1019175" y="825128"/>
                  <a:pt x="968003" y="876300"/>
                  <a:pt x="904879" y="876300"/>
                </a:cubicBezTo>
                <a:lnTo>
                  <a:pt x="114296" y="876300"/>
                </a:lnTo>
                <a:cubicBezTo>
                  <a:pt x="51172" y="876300"/>
                  <a:pt x="0" y="825128"/>
                  <a:pt x="0" y="762004"/>
                </a:cubicBezTo>
                <a:lnTo>
                  <a:pt x="0" y="114296"/>
                </a:lnTo>
                <a:cubicBezTo>
                  <a:pt x="0" y="51172"/>
                  <a:pt x="51172" y="0"/>
                  <a:pt x="114296" y="0"/>
                </a:cubicBezTo>
                <a:close/>
              </a:path>
            </a:pathLst>
          </a:custGeom>
          <a:noFill/>
          <a:ln w="12700" cap="flat">
            <a:solidFill>
              <a:srgbClr val="8DAAC2">
                <a:alpha val="100000"/>
              </a:srgbClr>
            </a:solidFill>
            <a:prstDash val="solid"/>
          </a:ln>
        </p:spPr>
        <p:txBody>
          <a:bodyPr wrap="square" lIns="91440" tIns="45720" rIns="91440" bIns="45720" rtlCol="0" anchor="t">
            <a:noAutofit/>
          </a:bodyPr>
          <a:lstStyle/>
          <a:p>
            <a:pPr algn="ctr">
              <a:defRPr/>
            </a:pPr>
          </a:p>
        </p:txBody>
      </p:sp>
      <p:sp>
        <p:nvSpPr>
          <p:cNvPr id="23" name="AutoShape 23"/>
          <p:cNvSpPr/>
          <p:nvPr/>
        </p:nvSpPr>
        <p:spPr>
          <a:xfrm>
            <a:off x="3901786" y="5026223"/>
            <a:ext cx="790575"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Regular Response</a:t>
            </a:r>
            <a:endParaRPr lang="en-US" sz="1100"/>
          </a:p>
        </p:txBody>
      </p:sp>
      <p:sp>
        <p:nvSpPr>
          <p:cNvPr id="24" name="AutoShape 24"/>
          <p:cNvSpPr/>
          <p:nvPr/>
        </p:nvSpPr>
        <p:spPr>
          <a:xfrm>
            <a:off x="3897024" y="5159462"/>
            <a:ext cx="80010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5" name="Freeform 25"/>
          <p:cNvSpPr/>
          <p:nvPr/>
        </p:nvSpPr>
        <p:spPr>
          <a:xfrm>
            <a:off x="5060589" y="5053202"/>
            <a:ext cx="229984" cy="174308"/>
          </a:xfrm>
          <a:custGeom>
            <a:avLst/>
            <a:gdLst/>
            <a:ahLst/>
            <a:cxnLst/>
            <a:rect l="l" t="t" r="r" b="b"/>
            <a:pathLst>
              <a:path w="229984" h="174308">
                <a:moveTo>
                  <a:pt x="224403" y="97245"/>
                </a:moveTo>
                <a:cubicBezTo>
                  <a:pt x="229984" y="91662"/>
                  <a:pt x="229984" y="82600"/>
                  <a:pt x="224403" y="77019"/>
                </a:cubicBezTo>
                <a:lnTo>
                  <a:pt x="152966" y="5581"/>
                </a:lnTo>
                <a:cubicBezTo>
                  <a:pt x="147383" y="0"/>
                  <a:pt x="138321" y="0"/>
                  <a:pt x="132740" y="5581"/>
                </a:cubicBezTo>
                <a:cubicBezTo>
                  <a:pt x="127159" y="11162"/>
                  <a:pt x="127159" y="20226"/>
                  <a:pt x="132740" y="25807"/>
                </a:cubicBezTo>
                <a:lnTo>
                  <a:pt x="179799" y="72866"/>
                </a:lnTo>
                <a:lnTo>
                  <a:pt x="14287" y="72866"/>
                </a:lnTo>
                <a:cubicBezTo>
                  <a:pt x="6386" y="72866"/>
                  <a:pt x="0" y="79251"/>
                  <a:pt x="0" y="87154"/>
                </a:cubicBezTo>
                <a:cubicBezTo>
                  <a:pt x="0" y="95057"/>
                  <a:pt x="6386" y="101442"/>
                  <a:pt x="14287" y="101442"/>
                </a:cubicBezTo>
                <a:lnTo>
                  <a:pt x="179799" y="101442"/>
                </a:lnTo>
                <a:lnTo>
                  <a:pt x="132740" y="148501"/>
                </a:lnTo>
                <a:cubicBezTo>
                  <a:pt x="127159" y="154082"/>
                  <a:pt x="127159" y="163146"/>
                  <a:pt x="132740" y="168727"/>
                </a:cubicBezTo>
                <a:cubicBezTo>
                  <a:pt x="138321" y="174308"/>
                  <a:pt x="147383" y="174308"/>
                  <a:pt x="152966" y="168727"/>
                </a:cubicBezTo>
                <a:lnTo>
                  <a:pt x="224403" y="9728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6" name="Freeform 26"/>
          <p:cNvSpPr/>
          <p:nvPr/>
        </p:nvSpPr>
        <p:spPr>
          <a:xfrm>
            <a:off x="5554942" y="4693768"/>
            <a:ext cx="2836718" cy="893618"/>
          </a:xfrm>
          <a:custGeom>
            <a:avLst/>
            <a:gdLst/>
            <a:ahLst/>
            <a:cxnLst/>
            <a:rect l="l" t="t" r="r" b="b"/>
            <a:pathLst>
              <a:path w="2836718" h="893618">
                <a:moveTo>
                  <a:pt x="114303" y="0"/>
                </a:moveTo>
                <a:lnTo>
                  <a:pt x="2722415" y="0"/>
                </a:lnTo>
                <a:cubicBezTo>
                  <a:pt x="2785543" y="0"/>
                  <a:pt x="2836718" y="51175"/>
                  <a:pt x="2836718" y="114303"/>
                </a:cubicBezTo>
                <a:lnTo>
                  <a:pt x="2836718" y="779315"/>
                </a:lnTo>
                <a:cubicBezTo>
                  <a:pt x="2836718" y="842443"/>
                  <a:pt x="2785543" y="893618"/>
                  <a:pt x="2722415" y="893618"/>
                </a:cubicBezTo>
                <a:lnTo>
                  <a:pt x="114303" y="893618"/>
                </a:lnTo>
                <a:cubicBezTo>
                  <a:pt x="51175" y="893618"/>
                  <a:pt x="0" y="842443"/>
                  <a:pt x="0" y="779315"/>
                </a:cubicBezTo>
                <a:lnTo>
                  <a:pt x="0" y="114303"/>
                </a:lnTo>
                <a:cubicBezTo>
                  <a:pt x="0" y="51175"/>
                  <a:pt x="51175" y="0"/>
                  <a:pt x="114303" y="0"/>
                </a:cubicBezTo>
                <a:close/>
              </a:path>
            </a:pathLst>
          </a:custGeom>
          <a:noFill/>
          <a:ln w="12700">
            <a:solidFill>
              <a:srgbClr val="1E90FF">
                <a:alpha val="100000"/>
              </a:srgbClr>
            </a:solidFill>
            <a:prstDash val="solid"/>
          </a:ln>
        </p:spPr>
        <p:txBody>
          <a:bodyPr wrap="square" lIns="91440" tIns="45720" rIns="91440" bIns="45720" rtlCol="0" anchor="t">
            <a:noAutofit/>
          </a:bodyPr>
          <a:lstStyle/>
          <a:p>
            <a:pPr algn="ctr">
              <a:defRPr/>
            </a:pPr>
          </a:p>
        </p:txBody>
      </p:sp>
      <p:sp>
        <p:nvSpPr>
          <p:cNvPr id="27" name="AutoShape 27"/>
          <p:cNvSpPr/>
          <p:nvPr/>
        </p:nvSpPr>
        <p:spPr>
          <a:xfrm>
            <a:off x="5677847" y="4854773"/>
            <a:ext cx="2590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CoT Response ✓</a:t>
            </a:r>
            <a:endParaRPr lang="en-US" sz="1100"/>
          </a:p>
        </p:txBody>
      </p:sp>
      <p:sp>
        <p:nvSpPr>
          <p:cNvPr id="28" name="AutoShape 28"/>
          <p:cNvSpPr/>
          <p:nvPr/>
        </p:nvSpPr>
        <p:spPr>
          <a:xfrm>
            <a:off x="5673085" y="5159462"/>
            <a:ext cx="26003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85"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Step 1 → Step 2 → Step 3 → Answer</a:t>
            </a:r>
            <a:endParaRPr lang="en-US" sz="1100"/>
          </a:p>
        </p:txBody>
      </p:sp>
      <p:sp>
        <p:nvSpPr>
          <p:cNvPr id="29" name="Freeform 29"/>
          <p:cNvSpPr/>
          <p:nvPr/>
        </p:nvSpPr>
        <p:spPr>
          <a:xfrm>
            <a:off x="381000" y="5748003"/>
            <a:ext cx="11430000" cy="733425"/>
          </a:xfrm>
          <a:custGeom>
            <a:avLst/>
            <a:gdLst/>
            <a:ahLst/>
            <a:cxnLst/>
            <a:rect l="l" t="t" r="r" b="b"/>
            <a:pathLst>
              <a:path w="11430000" h="733425">
                <a:moveTo>
                  <a:pt x="76203" y="0"/>
                </a:moveTo>
                <a:lnTo>
                  <a:pt x="11353797" y="0"/>
                </a:lnTo>
                <a:cubicBezTo>
                  <a:pt x="11395855" y="0"/>
                  <a:pt x="11430000" y="34145"/>
                  <a:pt x="11430000" y="76203"/>
                </a:cubicBezTo>
                <a:lnTo>
                  <a:pt x="11430000" y="657222"/>
                </a:lnTo>
                <a:cubicBezTo>
                  <a:pt x="11430000" y="699280"/>
                  <a:pt x="11395855" y="733425"/>
                  <a:pt x="11353797" y="733425"/>
                </a:cubicBezTo>
                <a:lnTo>
                  <a:pt x="76203" y="733425"/>
                </a:lnTo>
                <a:cubicBezTo>
                  <a:pt x="34145" y="733425"/>
                  <a:pt x="0" y="699280"/>
                  <a:pt x="0" y="657222"/>
                </a:cubicBezTo>
                <a:lnTo>
                  <a:pt x="0" y="76203"/>
                </a:lnTo>
                <a:cubicBezTo>
                  <a:pt x="0" y="34145"/>
                  <a:pt x="34145" y="0"/>
                  <a:pt x="76203"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0" name="AutoShape 30"/>
          <p:cNvSpPr/>
          <p:nvPr/>
        </p:nvSpPr>
        <p:spPr>
          <a:xfrm>
            <a:off x="609519" y="5979096"/>
            <a:ext cx="7350258" cy="264307"/>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85"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785" b="1"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Chain of Thought (</a:t>
            </a:r>
            <a:r>
              <a:rPr lang="en-US" sz="785" b="1"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CoT</a:t>
            </a:r>
            <a:r>
              <a:rPr lang="en-US" sz="785" b="1"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t>
            </a:r>
            <a:r>
              <a:rPr lang="en-US" sz="785"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a:t>
            </a:r>
            <a:r>
              <a:rPr lang="en-US" sz="785" b="0"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Chain of Thought, letting the model generate intermediate reasoning steps to improve accuracy on complex problems</a:t>
            </a:r>
            <a:endParaRPr lang="en-US" sz="1100" dirty="0"/>
          </a:p>
        </p:txBody>
      </p:sp>
    </p:spTree>
  </p:cSld>
  <p:clrMapOvr>
    <a:masterClrMapping/>
  </p:clrMapOvr>
  <p:transition spd="slow">
    <p:fad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1 Input Processing</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-&gt;</a:t>
            </a:r>
            <a:endParaRPr lang="en-US" sz="1100"/>
          </a:p>
        </p:txBody>
      </p:sp>
      <p:sp>
        <p:nvSpPr>
          <p:cNvPr id="4" name="AutoShape 4"/>
          <p:cNvSpPr/>
          <p:nvPr/>
        </p:nvSpPr>
        <p:spPr>
          <a:xfrm>
            <a:off x="1764425" y="381000"/>
            <a:ext cx="1180478"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2 Layer-by-Layer Computation</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-&gt;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3 Prediction</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-&gt;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Generation</a:t>
            </a:r>
            <a:endParaRPr lang="en-US" sz="1100"/>
          </a:p>
        </p:txBody>
      </p:sp>
      <p:sp>
        <p:nvSpPr>
          <p:cNvPr id="9" name="AutoShape 9"/>
          <p:cNvSpPr/>
          <p:nvPr/>
        </p:nvSpPr>
        <p:spPr>
          <a:xfrm>
            <a:off x="381000" y="761851"/>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615" b="0" i="0" u="none" strike="noStrike">
                <a:solidFill>
                  <a:srgbClr val="5B92E5"/>
                </a:solidFill>
                <a:latin typeface="Alimama ShuHeiTi"/>
                <a:ea typeface="Alimama ShuHeiTi"/>
                <a:cs typeface="Alimama ShuHeiTi"/>
                <a:sym typeface="Alimama ShuHeiTi"/>
              </a:rPr>
              <a:t>Step 3.2 Technical Implementation</a:t>
            </a:r>
            <a:endParaRPr lang="en-US" sz="1100"/>
          </a:p>
        </p:txBody>
      </p:sp>
      <p:sp>
        <p:nvSpPr>
          <p:cNvPr id="10" name="Freeform 10"/>
          <p:cNvSpPr/>
          <p:nvPr/>
        </p:nvSpPr>
        <p:spPr>
          <a:xfrm>
            <a:off x="381000" y="1600033"/>
            <a:ext cx="11430000" cy="2400300"/>
          </a:xfrm>
          <a:custGeom>
            <a:avLst/>
            <a:gdLst/>
            <a:ahLst/>
            <a:cxnLst/>
            <a:rect l="l" t="t" r="r" b="b"/>
            <a:pathLst>
              <a:path w="11430000" h="2400300">
                <a:moveTo>
                  <a:pt x="152395" y="0"/>
                </a:moveTo>
                <a:lnTo>
                  <a:pt x="11277605" y="0"/>
                </a:lnTo>
                <a:cubicBezTo>
                  <a:pt x="11361771" y="0"/>
                  <a:pt x="11430000" y="68229"/>
                  <a:pt x="11430000" y="152395"/>
                </a:cubicBezTo>
                <a:lnTo>
                  <a:pt x="11430000" y="2247905"/>
                </a:lnTo>
                <a:cubicBezTo>
                  <a:pt x="11430000" y="2332071"/>
                  <a:pt x="11361771" y="2400300"/>
                  <a:pt x="11277605" y="2400300"/>
                </a:cubicBezTo>
                <a:lnTo>
                  <a:pt x="152395" y="2400300"/>
                </a:lnTo>
                <a:cubicBezTo>
                  <a:pt x="68229" y="2400300"/>
                  <a:pt x="0" y="2332071"/>
                  <a:pt x="0" y="2247905"/>
                </a:cubicBezTo>
                <a:lnTo>
                  <a:pt x="0" y="152395"/>
                </a:lnTo>
                <a:cubicBezTo>
                  <a:pt x="0" y="68229"/>
                  <a:pt x="68229" y="0"/>
                  <a:pt x="152395"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566656" y="1828558"/>
            <a:ext cx="11058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85"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Candidate Word Probability Distribution</a:t>
            </a:r>
            <a:endParaRPr lang="en-US" sz="1100"/>
          </a:p>
        </p:txBody>
      </p:sp>
      <p:sp>
        <p:nvSpPr>
          <p:cNvPr id="12" name="Freeform 12"/>
          <p:cNvSpPr/>
          <p:nvPr/>
        </p:nvSpPr>
        <p:spPr>
          <a:xfrm>
            <a:off x="4648443" y="2133247"/>
            <a:ext cx="609600" cy="1143000"/>
          </a:xfrm>
          <a:custGeom>
            <a:avLst/>
            <a:gdLst/>
            <a:ahLst/>
            <a:cxnLst/>
            <a:rect l="l" t="t" r="r" b="b"/>
            <a:pathLst>
              <a:path w="609600" h="1143000">
                <a:moveTo>
                  <a:pt x="76200" y="0"/>
                </a:moveTo>
                <a:lnTo>
                  <a:pt x="533400" y="0"/>
                </a:lnTo>
                <a:cubicBezTo>
                  <a:pt x="575456" y="0"/>
                  <a:pt x="609600" y="34144"/>
                  <a:pt x="609600" y="76200"/>
                </a:cubicBezTo>
                <a:lnTo>
                  <a:pt x="609600" y="1143000"/>
                </a:lnTo>
                <a:lnTo>
                  <a:pt x="0" y="1143000"/>
                </a:lnTo>
                <a:lnTo>
                  <a:pt x="0" y="76200"/>
                </a:lnTo>
                <a:cubicBezTo>
                  <a:pt x="0" y="34144"/>
                  <a:pt x="34144" y="0"/>
                  <a:pt x="762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5610115" y="3352409"/>
            <a:ext cx="2095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AI</a:t>
            </a:r>
            <a:endParaRPr lang="en-US" sz="1100"/>
          </a:p>
        </p:txBody>
      </p:sp>
      <p:sp>
        <p:nvSpPr>
          <p:cNvPr id="14" name="AutoShape 14"/>
          <p:cNvSpPr/>
          <p:nvPr/>
        </p:nvSpPr>
        <p:spPr>
          <a:xfrm>
            <a:off x="4819596" y="3580935"/>
            <a:ext cx="3333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45%</a:t>
            </a:r>
            <a:endParaRPr lang="en-US" sz="1100"/>
          </a:p>
        </p:txBody>
      </p:sp>
      <p:sp>
        <p:nvSpPr>
          <p:cNvPr id="15" name="Freeform 15"/>
          <p:cNvSpPr/>
          <p:nvPr/>
        </p:nvSpPr>
        <p:spPr>
          <a:xfrm>
            <a:off x="5410308" y="2514247"/>
            <a:ext cx="609600" cy="762000"/>
          </a:xfrm>
          <a:custGeom>
            <a:avLst/>
            <a:gdLst/>
            <a:ahLst/>
            <a:cxnLst/>
            <a:rect l="l" t="t" r="r" b="b"/>
            <a:pathLst>
              <a:path w="609600" h="762000">
                <a:moveTo>
                  <a:pt x="76200" y="0"/>
                </a:moveTo>
                <a:lnTo>
                  <a:pt x="533400" y="0"/>
                </a:lnTo>
                <a:cubicBezTo>
                  <a:pt x="575456" y="0"/>
                  <a:pt x="609600" y="34144"/>
                  <a:pt x="609600" y="76200"/>
                </a:cubicBezTo>
                <a:lnTo>
                  <a:pt x="609600" y="762000"/>
                </a:lnTo>
                <a:lnTo>
                  <a:pt x="0" y="762000"/>
                </a:lnTo>
                <a:lnTo>
                  <a:pt x="0" y="76200"/>
                </a:lnTo>
                <a:cubicBezTo>
                  <a:pt x="0" y="34144"/>
                  <a:pt x="34144" y="0"/>
                  <a:pt x="762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4647969" y="3352409"/>
            <a:ext cx="6286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Artificial</a:t>
            </a:r>
            <a:endParaRPr lang="en-US" sz="1100"/>
          </a:p>
        </p:txBody>
      </p:sp>
      <p:sp>
        <p:nvSpPr>
          <p:cNvPr id="17" name="AutoShape 17"/>
          <p:cNvSpPr/>
          <p:nvPr/>
        </p:nvSpPr>
        <p:spPr>
          <a:xfrm>
            <a:off x="5579295" y="3580935"/>
            <a:ext cx="3333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30%</a:t>
            </a:r>
            <a:endParaRPr lang="en-US" sz="1100"/>
          </a:p>
        </p:txBody>
      </p:sp>
      <p:sp>
        <p:nvSpPr>
          <p:cNvPr id="18" name="Freeform 18"/>
          <p:cNvSpPr/>
          <p:nvPr/>
        </p:nvSpPr>
        <p:spPr>
          <a:xfrm>
            <a:off x="6180832" y="2808656"/>
            <a:ext cx="588818" cy="455468"/>
          </a:xfrm>
          <a:custGeom>
            <a:avLst/>
            <a:gdLst/>
            <a:ahLst/>
            <a:cxnLst/>
            <a:rect l="l" t="t" r="r" b="b"/>
            <a:pathLst>
              <a:path w="588818" h="455468">
                <a:moveTo>
                  <a:pt x="76200" y="0"/>
                </a:moveTo>
                <a:lnTo>
                  <a:pt x="512618" y="0"/>
                </a:lnTo>
                <a:cubicBezTo>
                  <a:pt x="554702" y="0"/>
                  <a:pt x="588818" y="34116"/>
                  <a:pt x="588818" y="76200"/>
                </a:cubicBezTo>
                <a:lnTo>
                  <a:pt x="588818" y="455468"/>
                </a:lnTo>
                <a:lnTo>
                  <a:pt x="0" y="455468"/>
                </a:lnTo>
                <a:lnTo>
                  <a:pt x="0" y="76200"/>
                </a:lnTo>
                <a:cubicBezTo>
                  <a:pt x="0" y="34144"/>
                  <a:pt x="34144" y="0"/>
                  <a:pt x="76200" y="0"/>
                </a:cubicBezTo>
                <a:close/>
              </a:path>
            </a:pathLst>
          </a:custGeom>
          <a:solidFill>
            <a:srgbClr val="1E90FF">
              <a:alpha val="100000"/>
            </a:srgbClr>
          </a:solidFill>
          <a:ln w="12700">
            <a:solidFill>
              <a:srgbClr val="1E90FF">
                <a:alpha val="100000"/>
              </a:srgbClr>
            </a:solidFill>
            <a:prstDash val="solid"/>
          </a:ln>
        </p:spPr>
        <p:txBody>
          <a:bodyPr wrap="square" lIns="91440" tIns="45720" rIns="91440" bIns="45720" rtlCol="0" anchor="t">
            <a:noAutofit/>
          </a:bodyPr>
          <a:lstStyle/>
          <a:p>
            <a:pPr algn="ctr">
              <a:defRPr/>
            </a:pPr>
          </a:p>
        </p:txBody>
      </p:sp>
      <p:sp>
        <p:nvSpPr>
          <p:cNvPr id="19" name="AutoShape 19"/>
          <p:cNvSpPr/>
          <p:nvPr/>
        </p:nvSpPr>
        <p:spPr>
          <a:xfrm>
            <a:off x="6436004" y="3352409"/>
            <a:ext cx="1619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a</a:t>
            </a:r>
            <a:endParaRPr lang="en-US" sz="1100"/>
          </a:p>
        </p:txBody>
      </p:sp>
      <p:sp>
        <p:nvSpPr>
          <p:cNvPr id="20" name="AutoShape 20"/>
          <p:cNvSpPr/>
          <p:nvPr/>
        </p:nvSpPr>
        <p:spPr>
          <a:xfrm>
            <a:off x="6356178" y="3580935"/>
            <a:ext cx="30480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15%</a:t>
            </a:r>
            <a:endParaRPr lang="en-US" sz="1100"/>
          </a:p>
        </p:txBody>
      </p:sp>
      <p:sp>
        <p:nvSpPr>
          <p:cNvPr id="21" name="Freeform 21"/>
          <p:cNvSpPr/>
          <p:nvPr/>
        </p:nvSpPr>
        <p:spPr>
          <a:xfrm>
            <a:off x="6934037" y="2990497"/>
            <a:ext cx="609600" cy="285750"/>
          </a:xfrm>
          <a:custGeom>
            <a:avLst/>
            <a:gdLst/>
            <a:ahLst/>
            <a:cxnLst/>
            <a:rect l="l" t="t" r="r" b="b"/>
            <a:pathLst>
              <a:path w="609600" h="285750">
                <a:moveTo>
                  <a:pt x="76201" y="0"/>
                </a:moveTo>
                <a:lnTo>
                  <a:pt x="533399" y="0"/>
                </a:lnTo>
                <a:cubicBezTo>
                  <a:pt x="575484" y="0"/>
                  <a:pt x="609600" y="34116"/>
                  <a:pt x="609600" y="76201"/>
                </a:cubicBezTo>
                <a:lnTo>
                  <a:pt x="609600" y="285750"/>
                </a:lnTo>
                <a:lnTo>
                  <a:pt x="0" y="285750"/>
                </a:lnTo>
                <a:lnTo>
                  <a:pt x="0" y="76201"/>
                </a:lnTo>
                <a:cubicBezTo>
                  <a:pt x="0" y="34145"/>
                  <a:pt x="34145" y="0"/>
                  <a:pt x="76201"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7153897" y="3352409"/>
            <a:ext cx="2476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an</a:t>
            </a:r>
            <a:endParaRPr lang="en-US" sz="1100"/>
          </a:p>
        </p:txBody>
      </p:sp>
      <p:sp>
        <p:nvSpPr>
          <p:cNvPr id="23" name="AutoShape 23"/>
          <p:cNvSpPr/>
          <p:nvPr/>
        </p:nvSpPr>
        <p:spPr>
          <a:xfrm>
            <a:off x="7116013" y="3580935"/>
            <a:ext cx="31432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10%</a:t>
            </a:r>
            <a:endParaRPr lang="en-US" sz="1100"/>
          </a:p>
        </p:txBody>
      </p:sp>
      <p:sp>
        <p:nvSpPr>
          <p:cNvPr id="24" name="Freeform 24"/>
          <p:cNvSpPr/>
          <p:nvPr/>
        </p:nvSpPr>
        <p:spPr>
          <a:xfrm>
            <a:off x="381000" y="4228467"/>
            <a:ext cx="5600700" cy="1390650"/>
          </a:xfrm>
          <a:custGeom>
            <a:avLst/>
            <a:gdLst/>
            <a:ahLst/>
            <a:cxnLst/>
            <a:rect l="l" t="t" r="r" b="b"/>
            <a:pathLst>
              <a:path w="5600700" h="1390650">
                <a:moveTo>
                  <a:pt x="114297" y="0"/>
                </a:moveTo>
                <a:lnTo>
                  <a:pt x="5486403" y="0"/>
                </a:lnTo>
                <a:cubicBezTo>
                  <a:pt x="5549527" y="0"/>
                  <a:pt x="5600700" y="51173"/>
                  <a:pt x="5600700" y="114297"/>
                </a:cubicBezTo>
                <a:lnTo>
                  <a:pt x="5600700" y="1276353"/>
                </a:lnTo>
                <a:cubicBezTo>
                  <a:pt x="5600700" y="1339477"/>
                  <a:pt x="5549527" y="1390650"/>
                  <a:pt x="5486403" y="1390650"/>
                </a:cubicBezTo>
                <a:lnTo>
                  <a:pt x="114297" y="1390650"/>
                </a:lnTo>
                <a:cubicBezTo>
                  <a:pt x="51173" y="1390650"/>
                  <a:pt x="0" y="1339477"/>
                  <a:pt x="0" y="1276353"/>
                </a:cubicBezTo>
                <a:lnTo>
                  <a:pt x="0" y="114297"/>
                </a:lnTo>
                <a:cubicBezTo>
                  <a:pt x="0" y="51215"/>
                  <a:pt x="51215" y="0"/>
                  <a:pt x="114297"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algn="ctr">
              <a:defRPr/>
            </a:pPr>
          </a:p>
        </p:txBody>
      </p:sp>
      <p:sp>
        <p:nvSpPr>
          <p:cNvPr id="25" name="Freeform 25"/>
          <p:cNvSpPr/>
          <p:nvPr/>
        </p:nvSpPr>
        <p:spPr>
          <a:xfrm>
            <a:off x="3040775" y="4454686"/>
            <a:ext cx="285750" cy="214312"/>
          </a:xfrm>
          <a:custGeom>
            <a:avLst/>
            <a:gdLst/>
            <a:ahLst/>
            <a:cxnLst/>
            <a:rect l="l" t="t" r="r" b="b"/>
            <a:pathLst>
              <a:path w="285750" h="214312">
                <a:moveTo>
                  <a:pt x="35719" y="17858"/>
                </a:moveTo>
                <a:cubicBezTo>
                  <a:pt x="35719" y="7980"/>
                  <a:pt x="43699" y="0"/>
                  <a:pt x="53577" y="0"/>
                </a:cubicBezTo>
                <a:lnTo>
                  <a:pt x="142875" y="0"/>
                </a:lnTo>
                <a:cubicBezTo>
                  <a:pt x="152753" y="0"/>
                  <a:pt x="160734" y="7980"/>
                  <a:pt x="160734" y="17858"/>
                </a:cubicBezTo>
                <a:lnTo>
                  <a:pt x="160734" y="178594"/>
                </a:lnTo>
                <a:lnTo>
                  <a:pt x="214312" y="178594"/>
                </a:lnTo>
                <a:lnTo>
                  <a:pt x="214312" y="107156"/>
                </a:lnTo>
                <a:cubicBezTo>
                  <a:pt x="214312" y="97278"/>
                  <a:pt x="222293" y="89297"/>
                  <a:pt x="232173" y="89297"/>
                </a:cubicBezTo>
                <a:lnTo>
                  <a:pt x="267891" y="89297"/>
                </a:lnTo>
                <a:cubicBezTo>
                  <a:pt x="277769" y="89297"/>
                  <a:pt x="285750" y="97278"/>
                  <a:pt x="285750" y="107156"/>
                </a:cubicBezTo>
                <a:cubicBezTo>
                  <a:pt x="285750" y="117034"/>
                  <a:pt x="277769" y="125015"/>
                  <a:pt x="267891" y="125015"/>
                </a:cubicBezTo>
                <a:lnTo>
                  <a:pt x="250031" y="125015"/>
                </a:lnTo>
                <a:lnTo>
                  <a:pt x="250031" y="196454"/>
                </a:lnTo>
                <a:cubicBezTo>
                  <a:pt x="250031" y="206332"/>
                  <a:pt x="242051" y="214312"/>
                  <a:pt x="232173" y="214312"/>
                </a:cubicBezTo>
                <a:lnTo>
                  <a:pt x="142875" y="214312"/>
                </a:lnTo>
                <a:cubicBezTo>
                  <a:pt x="132997" y="214312"/>
                  <a:pt x="125016" y="206332"/>
                  <a:pt x="125016" y="196454"/>
                </a:cubicBezTo>
                <a:lnTo>
                  <a:pt x="125016" y="35718"/>
                </a:lnTo>
                <a:lnTo>
                  <a:pt x="71437" y="35718"/>
                </a:lnTo>
                <a:lnTo>
                  <a:pt x="71437" y="107156"/>
                </a:lnTo>
                <a:cubicBezTo>
                  <a:pt x="71437" y="117034"/>
                  <a:pt x="63457" y="125015"/>
                  <a:pt x="53577" y="125015"/>
                </a:cubicBezTo>
                <a:lnTo>
                  <a:pt x="17859" y="125015"/>
                </a:lnTo>
                <a:cubicBezTo>
                  <a:pt x="7981" y="125015"/>
                  <a:pt x="0" y="117034"/>
                  <a:pt x="0" y="107156"/>
                </a:cubicBezTo>
                <a:cubicBezTo>
                  <a:pt x="0" y="97278"/>
                  <a:pt x="7981" y="89297"/>
                  <a:pt x="17859" y="89297"/>
                </a:cubicBezTo>
                <a:lnTo>
                  <a:pt x="35719" y="89297"/>
                </a:lnTo>
                <a:lnTo>
                  <a:pt x="35719" y="17858"/>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523875" y="4818906"/>
            <a:ext cx="53149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85"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Softmax</a:t>
            </a:r>
            <a:endParaRPr lang="en-US" sz="1100"/>
          </a:p>
        </p:txBody>
      </p:sp>
      <p:sp>
        <p:nvSpPr>
          <p:cNvPr id="27" name="AutoShape 27"/>
          <p:cNvSpPr/>
          <p:nvPr/>
        </p:nvSpPr>
        <p:spPr>
          <a:xfrm>
            <a:off x="533400" y="5161769"/>
            <a:ext cx="52959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Convert scores to probabilities</a:t>
            </a:r>
            <a:endParaRPr lang="en-US" sz="1100"/>
          </a:p>
        </p:txBody>
      </p:sp>
      <p:sp>
        <p:nvSpPr>
          <p:cNvPr id="28" name="Freeform 28"/>
          <p:cNvSpPr/>
          <p:nvPr/>
        </p:nvSpPr>
        <p:spPr>
          <a:xfrm>
            <a:off x="6218850" y="4237127"/>
            <a:ext cx="5579918" cy="1369868"/>
          </a:xfrm>
          <a:custGeom>
            <a:avLst/>
            <a:gdLst/>
            <a:ahLst/>
            <a:cxnLst/>
            <a:rect l="l" t="t" r="r" b="b"/>
            <a:pathLst>
              <a:path w="5579918" h="1369868">
                <a:moveTo>
                  <a:pt x="114303" y="0"/>
                </a:moveTo>
                <a:lnTo>
                  <a:pt x="5465616" y="0"/>
                </a:lnTo>
                <a:cubicBezTo>
                  <a:pt x="5528744" y="0"/>
                  <a:pt x="5579918" y="51175"/>
                  <a:pt x="5579918" y="114303"/>
                </a:cubicBezTo>
                <a:lnTo>
                  <a:pt x="5579918" y="1255566"/>
                </a:lnTo>
                <a:cubicBezTo>
                  <a:pt x="5579918" y="1318694"/>
                  <a:pt x="5528744" y="1369868"/>
                  <a:pt x="5465616" y="1369868"/>
                </a:cubicBezTo>
                <a:lnTo>
                  <a:pt x="114303" y="1369868"/>
                </a:lnTo>
                <a:cubicBezTo>
                  <a:pt x="51175" y="1369868"/>
                  <a:pt x="0" y="1318694"/>
                  <a:pt x="0" y="1255566"/>
                </a:cubicBezTo>
                <a:lnTo>
                  <a:pt x="0" y="114303"/>
                </a:lnTo>
                <a:cubicBezTo>
                  <a:pt x="0" y="51175"/>
                  <a:pt x="51175" y="0"/>
                  <a:pt x="114303"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algn="ctr">
              <a:defRPr/>
            </a:pPr>
          </a:p>
        </p:txBody>
      </p:sp>
      <p:sp>
        <p:nvSpPr>
          <p:cNvPr id="29" name="Freeform 29"/>
          <p:cNvSpPr/>
          <p:nvPr/>
        </p:nvSpPr>
        <p:spPr>
          <a:xfrm>
            <a:off x="8868650" y="4472006"/>
            <a:ext cx="288596" cy="251426"/>
          </a:xfrm>
          <a:custGeom>
            <a:avLst/>
            <a:gdLst/>
            <a:ahLst/>
            <a:cxnLst/>
            <a:rect l="l" t="t" r="r" b="b"/>
            <a:pathLst>
              <a:path w="288596" h="251426">
                <a:moveTo>
                  <a:pt x="19311" y="0"/>
                </a:moveTo>
                <a:cubicBezTo>
                  <a:pt x="12112" y="0"/>
                  <a:pt x="5582" y="4353"/>
                  <a:pt x="2791" y="11050"/>
                </a:cubicBezTo>
                <a:cubicBezTo>
                  <a:pt x="0" y="17748"/>
                  <a:pt x="1564" y="25393"/>
                  <a:pt x="6698" y="30472"/>
                </a:cubicBezTo>
                <a:lnTo>
                  <a:pt x="108608" y="132438"/>
                </a:lnTo>
                <a:lnTo>
                  <a:pt x="108608" y="196454"/>
                </a:lnTo>
                <a:cubicBezTo>
                  <a:pt x="108608" y="201197"/>
                  <a:pt x="110506" y="205717"/>
                  <a:pt x="113855" y="209066"/>
                </a:cubicBezTo>
                <a:lnTo>
                  <a:pt x="149573" y="244785"/>
                </a:lnTo>
                <a:cubicBezTo>
                  <a:pt x="154708" y="249919"/>
                  <a:pt x="162353" y="251425"/>
                  <a:pt x="169051" y="248637"/>
                </a:cubicBezTo>
                <a:cubicBezTo>
                  <a:pt x="175748" y="245845"/>
                  <a:pt x="180046" y="239371"/>
                  <a:pt x="180046" y="232172"/>
                </a:cubicBezTo>
                <a:lnTo>
                  <a:pt x="180046" y="132438"/>
                </a:lnTo>
                <a:lnTo>
                  <a:pt x="281956" y="30528"/>
                </a:lnTo>
                <a:cubicBezTo>
                  <a:pt x="287090" y="25393"/>
                  <a:pt x="288596" y="17748"/>
                  <a:pt x="285808" y="11050"/>
                </a:cubicBezTo>
                <a:cubicBezTo>
                  <a:pt x="283016" y="4353"/>
                  <a:pt x="276542" y="0"/>
                  <a:pt x="269343" y="0"/>
                </a:cubicBezTo>
                <a:lnTo>
                  <a:pt x="19311" y="0"/>
                </a:ln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30" name="AutoShape 30"/>
          <p:cNvSpPr/>
          <p:nvPr/>
        </p:nvSpPr>
        <p:spPr>
          <a:xfrm>
            <a:off x="6370385" y="4836226"/>
            <a:ext cx="52768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85"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Top-k/p Sampling</a:t>
            </a:r>
            <a:endParaRPr lang="en-US" sz="1100"/>
          </a:p>
        </p:txBody>
      </p:sp>
      <p:sp>
        <p:nvSpPr>
          <p:cNvPr id="31" name="AutoShape 31"/>
          <p:cNvSpPr/>
          <p:nvPr/>
        </p:nvSpPr>
        <p:spPr>
          <a:xfrm>
            <a:off x="6379910" y="5179070"/>
            <a:ext cx="5257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Control generation diversity</a:t>
            </a:r>
            <a:endParaRPr lang="en-US" sz="1100"/>
          </a:p>
        </p:txBody>
      </p:sp>
      <p:sp>
        <p:nvSpPr>
          <p:cNvPr id="32" name="Freeform 32"/>
          <p:cNvSpPr/>
          <p:nvPr/>
        </p:nvSpPr>
        <p:spPr>
          <a:xfrm>
            <a:off x="381000" y="5767760"/>
            <a:ext cx="11430000" cy="704850"/>
          </a:xfrm>
          <a:custGeom>
            <a:avLst/>
            <a:gdLst/>
            <a:ahLst/>
            <a:cxnLst/>
            <a:rect l="l" t="t" r="r" b="b"/>
            <a:pathLst>
              <a:path w="11430000" h="704850">
                <a:moveTo>
                  <a:pt x="76201" y="0"/>
                </a:moveTo>
                <a:lnTo>
                  <a:pt x="11353799" y="0"/>
                </a:lnTo>
                <a:cubicBezTo>
                  <a:pt x="11395884" y="0"/>
                  <a:pt x="11430000" y="34116"/>
                  <a:pt x="11430000" y="76201"/>
                </a:cubicBezTo>
                <a:lnTo>
                  <a:pt x="11430000" y="628649"/>
                </a:lnTo>
                <a:cubicBezTo>
                  <a:pt x="11430000" y="670734"/>
                  <a:pt x="11395884" y="704850"/>
                  <a:pt x="11353799" y="704850"/>
                </a:cubicBezTo>
                <a:lnTo>
                  <a:pt x="76201" y="704850"/>
                </a:lnTo>
                <a:cubicBezTo>
                  <a:pt x="34116" y="704850"/>
                  <a:pt x="0" y="670734"/>
                  <a:pt x="0" y="628649"/>
                </a:cubicBezTo>
                <a:lnTo>
                  <a:pt x="0" y="76201"/>
                </a:lnTo>
                <a:cubicBezTo>
                  <a:pt x="0" y="34145"/>
                  <a:pt x="34145" y="0"/>
                  <a:pt x="76201"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3" name="AutoShape 33"/>
          <p:cNvSpPr/>
          <p:nvPr/>
        </p:nvSpPr>
        <p:spPr>
          <a:xfrm>
            <a:off x="609519" y="5988974"/>
            <a:ext cx="7710022" cy="22924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700" b="1"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Softmax</a:t>
            </a:r>
            <a:r>
              <a:rPr lang="en-US" sz="7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a:t>
            </a:r>
            <a:r>
              <a:rPr lang="en-US" sz="700" b="0"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 function that converts scores to probabilities</a:t>
            </a:r>
            <a:r>
              <a:rPr lang="en-US" sz="7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700" b="1"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Top-k/p Sampling</a:t>
            </a:r>
            <a:r>
              <a:rPr lang="en-US" sz="7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a:t>
            </a:r>
            <a:r>
              <a:rPr lang="en-US" sz="700" b="0"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 sampling strategy that controls generation diversity</a:t>
            </a:r>
            <a:endParaRPr lang="en-US" sz="1100" dirty="0"/>
          </a:p>
        </p:txBody>
      </p:sp>
    </p:spTree>
  </p:cSld>
  <p:clrMapOvr>
    <a:masterClrMapping/>
  </p:clrMapOvr>
  <p:transition spd="slow">
    <p:fade/>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1 Input Processing</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0478"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2 Layer-by-Layer Computation</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Prediction</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4 Generation</a:t>
            </a:r>
            <a:endParaRPr lang="en-US" sz="1100"/>
          </a:p>
        </p:txBody>
      </p:sp>
      <p:sp>
        <p:nvSpPr>
          <p:cNvPr id="9" name="AutoShape 9"/>
          <p:cNvSpPr/>
          <p:nvPr/>
        </p:nvSpPr>
        <p:spPr>
          <a:xfrm>
            <a:off x="381000" y="761851"/>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615" b="0" i="0" u="none" strike="noStrike">
                <a:solidFill>
                  <a:srgbClr val="5B92E5"/>
                </a:solidFill>
                <a:latin typeface="Alimama ShuHeiTi"/>
                <a:ea typeface="Alimama ShuHeiTi"/>
                <a:cs typeface="Alimama ShuHeiTi"/>
                <a:sym typeface="Alimama ShuHeiTi"/>
              </a:rPr>
              <a:t>Step 4 Repeated Generation: Iterative Loop</a:t>
            </a:r>
            <a:endParaRPr lang="en-US" sz="1100"/>
          </a:p>
        </p:txBody>
      </p:sp>
      <p:sp>
        <p:nvSpPr>
          <p:cNvPr id="10" name="Freeform 10"/>
          <p:cNvSpPr/>
          <p:nvPr/>
        </p:nvSpPr>
        <p:spPr>
          <a:xfrm>
            <a:off x="381000" y="6019019"/>
            <a:ext cx="11430000" cy="457200"/>
          </a:xfrm>
          <a:custGeom>
            <a:avLst/>
            <a:gdLst/>
            <a:ahLst/>
            <a:cxnLst/>
            <a:rect l="l" t="t" r="r" b="b"/>
            <a:pathLst>
              <a:path w="11430000" h="457200">
                <a:moveTo>
                  <a:pt x="76203" y="0"/>
                </a:moveTo>
                <a:lnTo>
                  <a:pt x="11353797" y="0"/>
                </a:lnTo>
                <a:cubicBezTo>
                  <a:pt x="11395883" y="0"/>
                  <a:pt x="11430000" y="34117"/>
                  <a:pt x="11430000" y="76203"/>
                </a:cubicBezTo>
                <a:lnTo>
                  <a:pt x="11430000" y="380997"/>
                </a:lnTo>
                <a:cubicBezTo>
                  <a:pt x="11430000" y="423083"/>
                  <a:pt x="11395883" y="457200"/>
                  <a:pt x="11353797" y="457200"/>
                </a:cubicBezTo>
                <a:lnTo>
                  <a:pt x="76203" y="457200"/>
                </a:lnTo>
                <a:cubicBezTo>
                  <a:pt x="34145" y="457200"/>
                  <a:pt x="0" y="423055"/>
                  <a:pt x="0" y="380997"/>
                </a:cubicBezTo>
                <a:lnTo>
                  <a:pt x="0" y="76203"/>
                </a:lnTo>
                <a:cubicBezTo>
                  <a:pt x="0" y="34145"/>
                  <a:pt x="34145" y="0"/>
                  <a:pt x="76203"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609519" y="6114659"/>
            <a:ext cx="8180289" cy="22618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700" b="1"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Autoregressive Generation</a:t>
            </a:r>
            <a:r>
              <a:rPr lang="en-US" sz="7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a:t>
            </a:r>
            <a:r>
              <a:rPr lang="en-US" sz="700" b="0"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Each time, predict the next word based on already generated content, and iterate continuously</a:t>
            </a:r>
            <a:endParaRPr lang="en-US" sz="1100" dirty="0"/>
          </a:p>
        </p:txBody>
      </p:sp>
      <p:sp>
        <p:nvSpPr>
          <p:cNvPr id="12" name="Freeform 12"/>
          <p:cNvSpPr/>
          <p:nvPr/>
        </p:nvSpPr>
        <p:spPr>
          <a:xfrm>
            <a:off x="329731" y="2341431"/>
            <a:ext cx="3723546" cy="2525257"/>
          </a:xfrm>
          <a:custGeom>
            <a:avLst/>
            <a:gdLst/>
            <a:ahLst/>
            <a:cxnLst/>
            <a:rect l="l" t="t" r="r" b="b"/>
            <a:pathLst>
              <a:path w="3723546" h="2525257">
                <a:moveTo>
                  <a:pt x="128687" y="0"/>
                </a:moveTo>
                <a:lnTo>
                  <a:pt x="3594859" y="0"/>
                </a:lnTo>
                <a:cubicBezTo>
                  <a:pt x="3665931" y="0"/>
                  <a:pt x="3723546" y="57615"/>
                  <a:pt x="3723546" y="128687"/>
                </a:cubicBezTo>
                <a:lnTo>
                  <a:pt x="3723546" y="2396569"/>
                </a:lnTo>
                <a:cubicBezTo>
                  <a:pt x="3723546" y="2467640"/>
                  <a:pt x="3665931" y="2525257"/>
                  <a:pt x="3594859" y="2525257"/>
                </a:cubicBezTo>
                <a:lnTo>
                  <a:pt x="128687" y="2525257"/>
                </a:lnTo>
                <a:cubicBezTo>
                  <a:pt x="57615" y="2525257"/>
                  <a:pt x="0" y="2467640"/>
                  <a:pt x="0" y="2396569"/>
                </a:cubicBezTo>
                <a:lnTo>
                  <a:pt x="0" y="128687"/>
                </a:lnTo>
                <a:cubicBezTo>
                  <a:pt x="0" y="57663"/>
                  <a:pt x="57663" y="0"/>
                  <a:pt x="128687" y="0"/>
                </a:cubicBezTo>
                <a:close/>
              </a:path>
            </a:pathLst>
          </a:custGeom>
          <a:solidFill>
            <a:srgbClr val="FFFFFF">
              <a:alpha val="100000"/>
            </a:srgbClr>
          </a:solidFill>
          <a:ln w="25400">
            <a:solidFill>
              <a:srgbClr val="5B92E5">
                <a:alpha val="20000"/>
              </a:srgbClr>
            </a:solidFill>
            <a:prstDash val="solid"/>
          </a:ln>
          <a:effectLst>
            <a:outerShdw blurRad="114300" dist="762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3" name="Freeform 13"/>
          <p:cNvSpPr/>
          <p:nvPr/>
        </p:nvSpPr>
        <p:spPr>
          <a:xfrm>
            <a:off x="498617" y="2510318"/>
            <a:ext cx="386025" cy="386025"/>
          </a:xfrm>
          <a:custGeom>
            <a:avLst/>
            <a:gdLst/>
            <a:ahLst/>
            <a:cxnLst/>
            <a:rect l="l" t="t" r="r" b="b"/>
            <a:pathLst>
              <a:path w="386025" h="386025">
                <a:moveTo>
                  <a:pt x="193013" y="0"/>
                </a:moveTo>
                <a:lnTo>
                  <a:pt x="193013" y="0"/>
                </a:lnTo>
                <a:cubicBezTo>
                  <a:pt x="299611" y="0"/>
                  <a:pt x="386025" y="86415"/>
                  <a:pt x="386025" y="193013"/>
                </a:cubicBezTo>
                <a:lnTo>
                  <a:pt x="386025" y="193013"/>
                </a:lnTo>
                <a:cubicBezTo>
                  <a:pt x="386025" y="299611"/>
                  <a:pt x="299611" y="386025"/>
                  <a:pt x="193013" y="386025"/>
                </a:cubicBezTo>
                <a:lnTo>
                  <a:pt x="193013" y="386025"/>
                </a:lnTo>
                <a:cubicBezTo>
                  <a:pt x="86415" y="386025"/>
                  <a:pt x="0" y="299611"/>
                  <a:pt x="0" y="193013"/>
                </a:cubicBezTo>
                <a:lnTo>
                  <a:pt x="0" y="193013"/>
                </a:lnTo>
                <a:cubicBezTo>
                  <a:pt x="0" y="86415"/>
                  <a:pt x="86415" y="0"/>
                  <a:pt x="193013"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659964" y="2590740"/>
            <a:ext cx="144760" cy="22518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100"/>
          </a:p>
        </p:txBody>
      </p:sp>
      <p:sp>
        <p:nvSpPr>
          <p:cNvPr id="15" name="AutoShape 15"/>
          <p:cNvSpPr/>
          <p:nvPr/>
        </p:nvSpPr>
        <p:spPr>
          <a:xfrm>
            <a:off x="981150" y="2590740"/>
            <a:ext cx="884644" cy="22518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First Prediction</a:t>
            </a:r>
            <a:endParaRPr lang="en-US" sz="1100"/>
          </a:p>
        </p:txBody>
      </p:sp>
      <p:sp>
        <p:nvSpPr>
          <p:cNvPr id="16" name="Freeform 16"/>
          <p:cNvSpPr/>
          <p:nvPr/>
        </p:nvSpPr>
        <p:spPr>
          <a:xfrm>
            <a:off x="498617" y="3025019"/>
            <a:ext cx="3385773" cy="643377"/>
          </a:xfrm>
          <a:custGeom>
            <a:avLst/>
            <a:gdLst/>
            <a:ahLst/>
            <a:cxnLst/>
            <a:rect l="l" t="t" r="r" b="b"/>
            <a:pathLst>
              <a:path w="3385773" h="643377">
                <a:moveTo>
                  <a:pt x="64338" y="0"/>
                </a:moveTo>
                <a:lnTo>
                  <a:pt x="3321435" y="0"/>
                </a:lnTo>
                <a:cubicBezTo>
                  <a:pt x="3356968" y="0"/>
                  <a:pt x="3385773" y="28805"/>
                  <a:pt x="3385773" y="64338"/>
                </a:cubicBezTo>
                <a:lnTo>
                  <a:pt x="3385773" y="579040"/>
                </a:lnTo>
                <a:cubicBezTo>
                  <a:pt x="3385773" y="614572"/>
                  <a:pt x="3356968" y="643377"/>
                  <a:pt x="3321435" y="643377"/>
                </a:cubicBezTo>
                <a:lnTo>
                  <a:pt x="64338" y="643377"/>
                </a:lnTo>
                <a:cubicBezTo>
                  <a:pt x="28805" y="643377"/>
                  <a:pt x="0" y="614572"/>
                  <a:pt x="0" y="579040"/>
                </a:cubicBezTo>
                <a:lnTo>
                  <a:pt x="0" y="64338"/>
                </a:lnTo>
                <a:cubicBezTo>
                  <a:pt x="0" y="28829"/>
                  <a:pt x="28829" y="0"/>
                  <a:pt x="64338" y="0"/>
                </a:cubicBezTo>
                <a:close/>
              </a:path>
            </a:pathLst>
          </a:custGeom>
          <a:solidFill>
            <a:srgbClr val="5B92E5">
              <a:alpha val="10196"/>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595124" y="3132254"/>
            <a:ext cx="450364" cy="171567"/>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Input:</a:t>
            </a:r>
            <a:endParaRPr lang="en-US" sz="1100"/>
          </a:p>
        </p:txBody>
      </p:sp>
      <p:sp>
        <p:nvSpPr>
          <p:cNvPr id="18" name="AutoShape 18"/>
          <p:cNvSpPr/>
          <p:nvPr/>
        </p:nvSpPr>
        <p:spPr>
          <a:xfrm>
            <a:off x="595124" y="3346708"/>
            <a:ext cx="3265140" cy="225182"/>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"What is AI?"</a:t>
            </a:r>
            <a:endParaRPr lang="en-US" sz="1100"/>
          </a:p>
        </p:txBody>
      </p:sp>
      <p:sp>
        <p:nvSpPr>
          <p:cNvPr id="19" name="Freeform 19"/>
          <p:cNvSpPr/>
          <p:nvPr/>
        </p:nvSpPr>
        <p:spPr>
          <a:xfrm>
            <a:off x="2119844" y="3764903"/>
            <a:ext cx="147173" cy="194182"/>
          </a:xfrm>
          <a:custGeom>
            <a:avLst/>
            <a:gdLst/>
            <a:ahLst/>
            <a:cxnLst/>
            <a:rect l="l" t="t" r="r" b="b"/>
            <a:pathLst>
              <a:path w="147173" h="194182">
                <a:moveTo>
                  <a:pt x="65066" y="189470"/>
                </a:moveTo>
                <a:cubicBezTo>
                  <a:pt x="69779" y="194182"/>
                  <a:pt x="77432" y="194182"/>
                  <a:pt x="82144" y="189470"/>
                </a:cubicBezTo>
                <a:lnTo>
                  <a:pt x="142461" y="129153"/>
                </a:lnTo>
                <a:cubicBezTo>
                  <a:pt x="147173" y="124441"/>
                  <a:pt x="147173" y="116788"/>
                  <a:pt x="142461" y="112076"/>
                </a:cubicBezTo>
                <a:cubicBezTo>
                  <a:pt x="137749" y="107365"/>
                  <a:pt x="130095" y="107365"/>
                  <a:pt x="125384" y="112076"/>
                </a:cubicBezTo>
                <a:lnTo>
                  <a:pt x="85651" y="151809"/>
                </a:lnTo>
                <a:lnTo>
                  <a:pt x="85651" y="12062"/>
                </a:lnTo>
                <a:cubicBezTo>
                  <a:pt x="85651" y="5391"/>
                  <a:pt x="80259" y="0"/>
                  <a:pt x="73587" y="0"/>
                </a:cubicBezTo>
                <a:cubicBezTo>
                  <a:pt x="66914" y="0"/>
                  <a:pt x="61524" y="5391"/>
                  <a:pt x="61524" y="12062"/>
                </a:cubicBezTo>
                <a:lnTo>
                  <a:pt x="61524" y="151809"/>
                </a:lnTo>
                <a:lnTo>
                  <a:pt x="21790" y="112076"/>
                </a:lnTo>
                <a:cubicBezTo>
                  <a:pt x="17078" y="107365"/>
                  <a:pt x="9425" y="107365"/>
                  <a:pt x="4713" y="112076"/>
                </a:cubicBezTo>
                <a:cubicBezTo>
                  <a:pt x="0" y="116788"/>
                  <a:pt x="0" y="124441"/>
                  <a:pt x="4713" y="129153"/>
                </a:cubicBezTo>
                <a:lnTo>
                  <a:pt x="65030" y="189470"/>
                </a:ln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514702" y="4054423"/>
            <a:ext cx="3369688" cy="643377"/>
          </a:xfrm>
          <a:custGeom>
            <a:avLst/>
            <a:gdLst/>
            <a:ahLst/>
            <a:cxnLst/>
            <a:rect l="l" t="t" r="r" b="b"/>
            <a:pathLst>
              <a:path w="3369688" h="643377">
                <a:moveTo>
                  <a:pt x="32169" y="0"/>
                </a:moveTo>
                <a:lnTo>
                  <a:pt x="3305352" y="0"/>
                </a:lnTo>
                <a:cubicBezTo>
                  <a:pt x="3340884" y="0"/>
                  <a:pt x="3369688" y="28805"/>
                  <a:pt x="3369688" y="64338"/>
                </a:cubicBezTo>
                <a:lnTo>
                  <a:pt x="3369688" y="579040"/>
                </a:lnTo>
                <a:cubicBezTo>
                  <a:pt x="3369688" y="614572"/>
                  <a:pt x="3340884" y="643377"/>
                  <a:pt x="3305352" y="643377"/>
                </a:cubicBezTo>
                <a:lnTo>
                  <a:pt x="32169" y="643377"/>
                </a:lnTo>
                <a:cubicBezTo>
                  <a:pt x="14402" y="643377"/>
                  <a:pt x="0" y="628975"/>
                  <a:pt x="0" y="611208"/>
                </a:cubicBezTo>
                <a:lnTo>
                  <a:pt x="0" y="32169"/>
                </a:lnTo>
                <a:cubicBezTo>
                  <a:pt x="0" y="14415"/>
                  <a:pt x="14414" y="0"/>
                  <a:pt x="32169" y="0"/>
                </a:cubicBezTo>
                <a:close/>
              </a:path>
            </a:pathLst>
          </a:custGeom>
          <a:solidFill>
            <a:srgbClr val="F0FDF4">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514702" y="4054423"/>
            <a:ext cx="32169" cy="643377"/>
          </a:xfrm>
          <a:custGeom>
            <a:avLst/>
            <a:gdLst/>
            <a:ahLst/>
            <a:cxnLst/>
            <a:rect l="l" t="t" r="r" b="b"/>
            <a:pathLst>
              <a:path w="32169" h="643377">
                <a:moveTo>
                  <a:pt x="32169" y="0"/>
                </a:moveTo>
                <a:lnTo>
                  <a:pt x="32169" y="0"/>
                </a:lnTo>
                <a:lnTo>
                  <a:pt x="32169" y="643377"/>
                </a:lnTo>
                <a:lnTo>
                  <a:pt x="32169" y="643377"/>
                </a:lnTo>
                <a:cubicBezTo>
                  <a:pt x="14414" y="643377"/>
                  <a:pt x="0" y="628962"/>
                  <a:pt x="0" y="611208"/>
                </a:cubicBezTo>
                <a:lnTo>
                  <a:pt x="0" y="32169"/>
                </a:lnTo>
                <a:cubicBezTo>
                  <a:pt x="0" y="14415"/>
                  <a:pt x="14414" y="0"/>
                  <a:pt x="32169" y="0"/>
                </a:cubicBezTo>
                <a:close/>
              </a:path>
            </a:pathLst>
          </a:custGeom>
          <a:solidFill>
            <a:srgbClr val="00C950">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627293" y="4161658"/>
            <a:ext cx="707715" cy="171567"/>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Prediction Result:</a:t>
            </a:r>
            <a:endParaRPr lang="en-US" sz="1100"/>
          </a:p>
        </p:txBody>
      </p:sp>
      <p:sp>
        <p:nvSpPr>
          <p:cNvPr id="23" name="AutoShape 23"/>
          <p:cNvSpPr/>
          <p:nvPr/>
        </p:nvSpPr>
        <p:spPr>
          <a:xfrm>
            <a:off x="627293" y="4376112"/>
            <a:ext cx="3241013" cy="22518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1" i="0" u="none" strike="noStrike">
                <a:solidFill>
                  <a:srgbClr val="00A63E"/>
                </a:solidFill>
                <a:latin typeface="MiSans" panose="00000500000000000000" charset="-122"/>
                <a:ea typeface="MiSans" panose="00000500000000000000" charset="-122"/>
                <a:cs typeface="MiSans" panose="00000500000000000000" charset="-122"/>
                <a:sym typeface="MiSans" panose="00000500000000000000" charset="-122"/>
              </a:rPr>
              <a:t>Artificial</a:t>
            </a:r>
            <a:endParaRPr lang="en-US" sz="1100"/>
          </a:p>
        </p:txBody>
      </p:sp>
      <p:sp>
        <p:nvSpPr>
          <p:cNvPr id="24" name="Freeform 24"/>
          <p:cNvSpPr/>
          <p:nvPr/>
        </p:nvSpPr>
        <p:spPr>
          <a:xfrm>
            <a:off x="4234060" y="2341431"/>
            <a:ext cx="3723546" cy="2525257"/>
          </a:xfrm>
          <a:custGeom>
            <a:avLst/>
            <a:gdLst/>
            <a:ahLst/>
            <a:cxnLst/>
            <a:rect l="l" t="t" r="r" b="b"/>
            <a:pathLst>
              <a:path w="3723546" h="2525257">
                <a:moveTo>
                  <a:pt x="128687" y="0"/>
                </a:moveTo>
                <a:lnTo>
                  <a:pt x="3594859" y="0"/>
                </a:lnTo>
                <a:cubicBezTo>
                  <a:pt x="3665931" y="0"/>
                  <a:pt x="3723546" y="57615"/>
                  <a:pt x="3723546" y="128687"/>
                </a:cubicBezTo>
                <a:lnTo>
                  <a:pt x="3723546" y="2396569"/>
                </a:lnTo>
                <a:cubicBezTo>
                  <a:pt x="3723546" y="2467640"/>
                  <a:pt x="3665931" y="2525257"/>
                  <a:pt x="3594859" y="2525257"/>
                </a:cubicBezTo>
                <a:lnTo>
                  <a:pt x="128687" y="2525257"/>
                </a:lnTo>
                <a:cubicBezTo>
                  <a:pt x="57615" y="2525257"/>
                  <a:pt x="0" y="2467640"/>
                  <a:pt x="0" y="2396569"/>
                </a:cubicBezTo>
                <a:lnTo>
                  <a:pt x="0" y="128687"/>
                </a:lnTo>
                <a:cubicBezTo>
                  <a:pt x="0" y="57663"/>
                  <a:pt x="57663" y="0"/>
                  <a:pt x="128687" y="0"/>
                </a:cubicBezTo>
                <a:close/>
              </a:path>
            </a:pathLst>
          </a:custGeom>
          <a:solidFill>
            <a:srgbClr val="FFFFFF">
              <a:alpha val="100000"/>
            </a:srgbClr>
          </a:solidFill>
          <a:ln w="25400">
            <a:solidFill>
              <a:srgbClr val="87CEEB">
                <a:alpha val="20000"/>
              </a:srgbClr>
            </a:solidFill>
            <a:prstDash val="solid"/>
          </a:ln>
          <a:effectLst>
            <a:outerShdw blurRad="114300" dist="762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5" name="Freeform 25"/>
          <p:cNvSpPr/>
          <p:nvPr/>
        </p:nvSpPr>
        <p:spPr>
          <a:xfrm>
            <a:off x="4402946" y="2510318"/>
            <a:ext cx="386025" cy="386025"/>
          </a:xfrm>
          <a:custGeom>
            <a:avLst/>
            <a:gdLst/>
            <a:ahLst/>
            <a:cxnLst/>
            <a:rect l="l" t="t" r="r" b="b"/>
            <a:pathLst>
              <a:path w="386025" h="386025">
                <a:moveTo>
                  <a:pt x="193013" y="0"/>
                </a:moveTo>
                <a:lnTo>
                  <a:pt x="193013" y="0"/>
                </a:lnTo>
                <a:cubicBezTo>
                  <a:pt x="299611" y="0"/>
                  <a:pt x="386025" y="86415"/>
                  <a:pt x="386025" y="193013"/>
                </a:cubicBezTo>
                <a:lnTo>
                  <a:pt x="386025" y="193013"/>
                </a:lnTo>
                <a:cubicBezTo>
                  <a:pt x="386025" y="299611"/>
                  <a:pt x="299611" y="386025"/>
                  <a:pt x="193013" y="386025"/>
                </a:cubicBezTo>
                <a:lnTo>
                  <a:pt x="193013" y="386025"/>
                </a:lnTo>
                <a:cubicBezTo>
                  <a:pt x="86415" y="386025"/>
                  <a:pt x="0" y="299611"/>
                  <a:pt x="0" y="193013"/>
                </a:cubicBezTo>
                <a:lnTo>
                  <a:pt x="0" y="193013"/>
                </a:lnTo>
                <a:cubicBezTo>
                  <a:pt x="0" y="86415"/>
                  <a:pt x="86415" y="0"/>
                  <a:pt x="193013"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4550722" y="2590740"/>
            <a:ext cx="168887" cy="22518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100"/>
          </a:p>
        </p:txBody>
      </p:sp>
      <p:sp>
        <p:nvSpPr>
          <p:cNvPr id="27" name="AutoShape 27"/>
          <p:cNvSpPr/>
          <p:nvPr/>
        </p:nvSpPr>
        <p:spPr>
          <a:xfrm>
            <a:off x="4885479" y="2590740"/>
            <a:ext cx="884644" cy="22518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Second Prediction</a:t>
            </a:r>
            <a:endParaRPr lang="en-US" sz="1100"/>
          </a:p>
        </p:txBody>
      </p:sp>
      <p:sp>
        <p:nvSpPr>
          <p:cNvPr id="28" name="Freeform 28"/>
          <p:cNvSpPr/>
          <p:nvPr/>
        </p:nvSpPr>
        <p:spPr>
          <a:xfrm>
            <a:off x="4402946" y="3025019"/>
            <a:ext cx="3385773" cy="643377"/>
          </a:xfrm>
          <a:custGeom>
            <a:avLst/>
            <a:gdLst/>
            <a:ahLst/>
            <a:cxnLst/>
            <a:rect l="l" t="t" r="r" b="b"/>
            <a:pathLst>
              <a:path w="3385773" h="643377">
                <a:moveTo>
                  <a:pt x="64338" y="0"/>
                </a:moveTo>
                <a:lnTo>
                  <a:pt x="3321435" y="0"/>
                </a:lnTo>
                <a:cubicBezTo>
                  <a:pt x="3356968" y="0"/>
                  <a:pt x="3385773" y="28805"/>
                  <a:pt x="3385773" y="64338"/>
                </a:cubicBezTo>
                <a:lnTo>
                  <a:pt x="3385773" y="579040"/>
                </a:lnTo>
                <a:cubicBezTo>
                  <a:pt x="3385773" y="614572"/>
                  <a:pt x="3356968" y="643377"/>
                  <a:pt x="3321435" y="643377"/>
                </a:cubicBezTo>
                <a:lnTo>
                  <a:pt x="64338" y="643377"/>
                </a:lnTo>
                <a:cubicBezTo>
                  <a:pt x="28805" y="643377"/>
                  <a:pt x="0" y="614572"/>
                  <a:pt x="0" y="579040"/>
                </a:cubicBezTo>
                <a:lnTo>
                  <a:pt x="0" y="64338"/>
                </a:lnTo>
                <a:cubicBezTo>
                  <a:pt x="0" y="28829"/>
                  <a:pt x="28829" y="0"/>
                  <a:pt x="64338" y="0"/>
                </a:cubicBezTo>
                <a:close/>
              </a:path>
            </a:pathLst>
          </a:custGeom>
          <a:solidFill>
            <a:srgbClr val="87CEEB">
              <a:alpha val="10196"/>
            </a:srgbClr>
          </a:solidFill>
          <a:ln w="12700">
            <a:noFill/>
            <a:prstDash val="solid"/>
          </a:ln>
        </p:spPr>
        <p:txBody>
          <a:bodyPr wrap="square" lIns="91440" tIns="45720" rIns="91440" bIns="45720" rtlCol="0" anchor="t">
            <a:noAutofit/>
          </a:bodyPr>
          <a:lstStyle/>
          <a:p>
            <a:pPr algn="ctr">
              <a:defRPr/>
            </a:pPr>
          </a:p>
        </p:txBody>
      </p:sp>
      <p:sp>
        <p:nvSpPr>
          <p:cNvPr id="29" name="AutoShape 29"/>
          <p:cNvSpPr/>
          <p:nvPr/>
        </p:nvSpPr>
        <p:spPr>
          <a:xfrm>
            <a:off x="4499453" y="3132254"/>
            <a:ext cx="450364" cy="171567"/>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Input:</a:t>
            </a:r>
            <a:endParaRPr lang="en-US" sz="1100"/>
          </a:p>
        </p:txBody>
      </p:sp>
      <p:sp>
        <p:nvSpPr>
          <p:cNvPr id="30" name="AutoShape 30"/>
          <p:cNvSpPr/>
          <p:nvPr/>
        </p:nvSpPr>
        <p:spPr>
          <a:xfrm>
            <a:off x="4499453" y="3346708"/>
            <a:ext cx="3265140" cy="225182"/>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1" i="0" u="none" strike="noStrike">
                <a:solidFill>
                  <a:srgbClr val="87CEEB"/>
                </a:solidFill>
                <a:latin typeface="MiSans" panose="00000500000000000000" charset="-122"/>
                <a:ea typeface="MiSans" panose="00000500000000000000" charset="-122"/>
                <a:cs typeface="MiSans" panose="00000500000000000000" charset="-122"/>
                <a:sym typeface="MiSans" panose="00000500000000000000" charset="-122"/>
              </a:rPr>
              <a:t>"What is AI? Artificial"</a:t>
            </a:r>
            <a:endParaRPr lang="en-US" sz="1100"/>
          </a:p>
        </p:txBody>
      </p:sp>
      <p:sp>
        <p:nvSpPr>
          <p:cNvPr id="31" name="Freeform 31"/>
          <p:cNvSpPr/>
          <p:nvPr/>
        </p:nvSpPr>
        <p:spPr>
          <a:xfrm>
            <a:off x="6024172" y="3764903"/>
            <a:ext cx="147173" cy="194182"/>
          </a:xfrm>
          <a:custGeom>
            <a:avLst/>
            <a:gdLst/>
            <a:ahLst/>
            <a:cxnLst/>
            <a:rect l="l" t="t" r="r" b="b"/>
            <a:pathLst>
              <a:path w="147173" h="194182">
                <a:moveTo>
                  <a:pt x="65066" y="189470"/>
                </a:moveTo>
                <a:cubicBezTo>
                  <a:pt x="69779" y="194182"/>
                  <a:pt x="77432" y="194182"/>
                  <a:pt x="82144" y="189470"/>
                </a:cubicBezTo>
                <a:lnTo>
                  <a:pt x="142461" y="129153"/>
                </a:lnTo>
                <a:cubicBezTo>
                  <a:pt x="147173" y="124441"/>
                  <a:pt x="147173" y="116788"/>
                  <a:pt x="142461" y="112076"/>
                </a:cubicBezTo>
                <a:cubicBezTo>
                  <a:pt x="137749" y="107365"/>
                  <a:pt x="130095" y="107365"/>
                  <a:pt x="125384" y="112076"/>
                </a:cubicBezTo>
                <a:lnTo>
                  <a:pt x="85651" y="151809"/>
                </a:lnTo>
                <a:lnTo>
                  <a:pt x="85651" y="12062"/>
                </a:lnTo>
                <a:cubicBezTo>
                  <a:pt x="85651" y="5391"/>
                  <a:pt x="80259" y="0"/>
                  <a:pt x="73587" y="0"/>
                </a:cubicBezTo>
                <a:cubicBezTo>
                  <a:pt x="66914" y="0"/>
                  <a:pt x="61524" y="5391"/>
                  <a:pt x="61524" y="12062"/>
                </a:cubicBezTo>
                <a:lnTo>
                  <a:pt x="61524" y="151809"/>
                </a:lnTo>
                <a:lnTo>
                  <a:pt x="21790" y="112076"/>
                </a:lnTo>
                <a:cubicBezTo>
                  <a:pt x="17078" y="107365"/>
                  <a:pt x="9425" y="107365"/>
                  <a:pt x="4713" y="112076"/>
                </a:cubicBezTo>
                <a:cubicBezTo>
                  <a:pt x="0" y="116788"/>
                  <a:pt x="0" y="124441"/>
                  <a:pt x="4713" y="129153"/>
                </a:cubicBezTo>
                <a:lnTo>
                  <a:pt x="65030" y="189470"/>
                </a:ln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32" name="Freeform 32"/>
          <p:cNvSpPr/>
          <p:nvPr/>
        </p:nvSpPr>
        <p:spPr>
          <a:xfrm>
            <a:off x="4419031" y="4054423"/>
            <a:ext cx="3369688" cy="643377"/>
          </a:xfrm>
          <a:custGeom>
            <a:avLst/>
            <a:gdLst/>
            <a:ahLst/>
            <a:cxnLst/>
            <a:rect l="l" t="t" r="r" b="b"/>
            <a:pathLst>
              <a:path w="3369688" h="643377">
                <a:moveTo>
                  <a:pt x="32169" y="0"/>
                </a:moveTo>
                <a:lnTo>
                  <a:pt x="3305352" y="0"/>
                </a:lnTo>
                <a:cubicBezTo>
                  <a:pt x="3340884" y="0"/>
                  <a:pt x="3369688" y="28805"/>
                  <a:pt x="3369688" y="64338"/>
                </a:cubicBezTo>
                <a:lnTo>
                  <a:pt x="3369688" y="579040"/>
                </a:lnTo>
                <a:cubicBezTo>
                  <a:pt x="3369688" y="614572"/>
                  <a:pt x="3340884" y="643377"/>
                  <a:pt x="3305352" y="643377"/>
                </a:cubicBezTo>
                <a:lnTo>
                  <a:pt x="32169" y="643377"/>
                </a:lnTo>
                <a:cubicBezTo>
                  <a:pt x="14402" y="643377"/>
                  <a:pt x="0" y="628975"/>
                  <a:pt x="0" y="611208"/>
                </a:cubicBezTo>
                <a:lnTo>
                  <a:pt x="0" y="32169"/>
                </a:lnTo>
                <a:cubicBezTo>
                  <a:pt x="0" y="14415"/>
                  <a:pt x="14415" y="0"/>
                  <a:pt x="32169" y="0"/>
                </a:cubicBezTo>
                <a:close/>
              </a:path>
            </a:pathLst>
          </a:custGeom>
          <a:solidFill>
            <a:srgbClr val="F0FDF4">
              <a:alpha val="100000"/>
            </a:srgbClr>
          </a:solidFill>
          <a:ln w="12700">
            <a:noFill/>
            <a:prstDash val="solid"/>
          </a:ln>
        </p:spPr>
        <p:txBody>
          <a:bodyPr wrap="square" lIns="91440" tIns="45720" rIns="91440" bIns="45720" rtlCol="0" anchor="t">
            <a:noAutofit/>
          </a:bodyPr>
          <a:lstStyle/>
          <a:p>
            <a:pPr algn="ctr">
              <a:defRPr/>
            </a:pPr>
          </a:p>
        </p:txBody>
      </p:sp>
      <p:sp>
        <p:nvSpPr>
          <p:cNvPr id="33" name="Freeform 33"/>
          <p:cNvSpPr/>
          <p:nvPr/>
        </p:nvSpPr>
        <p:spPr>
          <a:xfrm>
            <a:off x="4419031" y="4054423"/>
            <a:ext cx="32169" cy="643377"/>
          </a:xfrm>
          <a:custGeom>
            <a:avLst/>
            <a:gdLst/>
            <a:ahLst/>
            <a:cxnLst/>
            <a:rect l="l" t="t" r="r" b="b"/>
            <a:pathLst>
              <a:path w="32169" h="643377">
                <a:moveTo>
                  <a:pt x="32169" y="0"/>
                </a:moveTo>
                <a:lnTo>
                  <a:pt x="32169" y="0"/>
                </a:lnTo>
                <a:lnTo>
                  <a:pt x="32169" y="643377"/>
                </a:lnTo>
                <a:lnTo>
                  <a:pt x="32169" y="643377"/>
                </a:lnTo>
                <a:cubicBezTo>
                  <a:pt x="14415" y="643377"/>
                  <a:pt x="0" y="628962"/>
                  <a:pt x="0" y="611208"/>
                </a:cubicBezTo>
                <a:lnTo>
                  <a:pt x="0" y="32169"/>
                </a:lnTo>
                <a:cubicBezTo>
                  <a:pt x="0" y="14415"/>
                  <a:pt x="14415" y="0"/>
                  <a:pt x="32169" y="0"/>
                </a:cubicBezTo>
                <a:close/>
              </a:path>
            </a:pathLst>
          </a:custGeom>
          <a:solidFill>
            <a:srgbClr val="00C950">
              <a:alpha val="100000"/>
            </a:srgbClr>
          </a:solidFill>
          <a:ln w="12700">
            <a:noFill/>
            <a:prstDash val="solid"/>
          </a:ln>
        </p:spPr>
        <p:txBody>
          <a:bodyPr wrap="square" lIns="91440" tIns="45720" rIns="91440" bIns="45720" rtlCol="0" anchor="t">
            <a:noAutofit/>
          </a:bodyPr>
          <a:lstStyle/>
          <a:p>
            <a:pPr algn="ctr">
              <a:defRPr/>
            </a:pPr>
          </a:p>
        </p:txBody>
      </p:sp>
      <p:sp>
        <p:nvSpPr>
          <p:cNvPr id="34" name="AutoShape 34"/>
          <p:cNvSpPr/>
          <p:nvPr/>
        </p:nvSpPr>
        <p:spPr>
          <a:xfrm>
            <a:off x="4531622" y="4161658"/>
            <a:ext cx="707715" cy="171567"/>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Prediction Result:</a:t>
            </a:r>
            <a:endParaRPr lang="en-US" sz="1100"/>
          </a:p>
        </p:txBody>
      </p:sp>
      <p:sp>
        <p:nvSpPr>
          <p:cNvPr id="35" name="AutoShape 35"/>
          <p:cNvSpPr/>
          <p:nvPr/>
        </p:nvSpPr>
        <p:spPr>
          <a:xfrm>
            <a:off x="4531622" y="4376112"/>
            <a:ext cx="3241013" cy="22518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1" i="0" u="none" strike="noStrike">
                <a:solidFill>
                  <a:srgbClr val="00A63E"/>
                </a:solidFill>
                <a:latin typeface="MiSans" panose="00000500000000000000" charset="-122"/>
                <a:ea typeface="MiSans" panose="00000500000000000000" charset="-122"/>
                <a:cs typeface="MiSans" panose="00000500000000000000" charset="-122"/>
                <a:sym typeface="MiSans" panose="00000500000000000000" charset="-122"/>
              </a:rPr>
              <a:t>Intelligence</a:t>
            </a:r>
            <a:endParaRPr lang="en-US" sz="1100"/>
          </a:p>
        </p:txBody>
      </p:sp>
      <p:sp>
        <p:nvSpPr>
          <p:cNvPr id="36" name="Freeform 36"/>
          <p:cNvSpPr/>
          <p:nvPr/>
        </p:nvSpPr>
        <p:spPr>
          <a:xfrm>
            <a:off x="8138388" y="2341431"/>
            <a:ext cx="3723546" cy="2525257"/>
          </a:xfrm>
          <a:custGeom>
            <a:avLst/>
            <a:gdLst/>
            <a:ahLst/>
            <a:cxnLst/>
            <a:rect l="l" t="t" r="r" b="b"/>
            <a:pathLst>
              <a:path w="3723546" h="2525257">
                <a:moveTo>
                  <a:pt x="128687" y="0"/>
                </a:moveTo>
                <a:lnTo>
                  <a:pt x="3594859" y="0"/>
                </a:lnTo>
                <a:cubicBezTo>
                  <a:pt x="3665931" y="0"/>
                  <a:pt x="3723546" y="57615"/>
                  <a:pt x="3723546" y="128687"/>
                </a:cubicBezTo>
                <a:lnTo>
                  <a:pt x="3723546" y="2396569"/>
                </a:lnTo>
                <a:cubicBezTo>
                  <a:pt x="3723546" y="2467640"/>
                  <a:pt x="3665931" y="2525257"/>
                  <a:pt x="3594859" y="2525257"/>
                </a:cubicBezTo>
                <a:lnTo>
                  <a:pt x="128687" y="2525257"/>
                </a:lnTo>
                <a:cubicBezTo>
                  <a:pt x="57615" y="2525257"/>
                  <a:pt x="0" y="2467640"/>
                  <a:pt x="0" y="2396569"/>
                </a:cubicBezTo>
                <a:lnTo>
                  <a:pt x="0" y="128687"/>
                </a:lnTo>
                <a:cubicBezTo>
                  <a:pt x="0" y="57663"/>
                  <a:pt x="57663" y="0"/>
                  <a:pt x="128687" y="0"/>
                </a:cubicBezTo>
                <a:close/>
              </a:path>
            </a:pathLst>
          </a:custGeom>
          <a:solidFill>
            <a:srgbClr val="FFFFFF">
              <a:alpha val="100000"/>
            </a:srgbClr>
          </a:solidFill>
          <a:ln w="25400">
            <a:solidFill>
              <a:srgbClr val="1E90FF">
                <a:alpha val="20000"/>
              </a:srgbClr>
            </a:solidFill>
            <a:prstDash val="solid"/>
          </a:ln>
          <a:effectLst>
            <a:outerShdw blurRad="114300" dist="762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37" name="Freeform 37"/>
          <p:cNvSpPr/>
          <p:nvPr/>
        </p:nvSpPr>
        <p:spPr>
          <a:xfrm>
            <a:off x="8307275" y="2510318"/>
            <a:ext cx="386025" cy="386025"/>
          </a:xfrm>
          <a:custGeom>
            <a:avLst/>
            <a:gdLst/>
            <a:ahLst/>
            <a:cxnLst/>
            <a:rect l="l" t="t" r="r" b="b"/>
            <a:pathLst>
              <a:path w="386025" h="386025">
                <a:moveTo>
                  <a:pt x="193013" y="0"/>
                </a:moveTo>
                <a:lnTo>
                  <a:pt x="193013" y="0"/>
                </a:lnTo>
                <a:cubicBezTo>
                  <a:pt x="299611" y="0"/>
                  <a:pt x="386025" y="86415"/>
                  <a:pt x="386025" y="193013"/>
                </a:cubicBezTo>
                <a:lnTo>
                  <a:pt x="386025" y="193013"/>
                </a:lnTo>
                <a:cubicBezTo>
                  <a:pt x="386025" y="299611"/>
                  <a:pt x="299611" y="386025"/>
                  <a:pt x="193013" y="386025"/>
                </a:cubicBezTo>
                <a:lnTo>
                  <a:pt x="193013" y="386025"/>
                </a:lnTo>
                <a:cubicBezTo>
                  <a:pt x="86415" y="386025"/>
                  <a:pt x="0" y="299611"/>
                  <a:pt x="0" y="193013"/>
                </a:cubicBezTo>
                <a:lnTo>
                  <a:pt x="0" y="193013"/>
                </a:lnTo>
                <a:cubicBezTo>
                  <a:pt x="0" y="86415"/>
                  <a:pt x="86415" y="0"/>
                  <a:pt x="193013"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38" name="Freeform 38"/>
          <p:cNvSpPr/>
          <p:nvPr/>
        </p:nvSpPr>
        <p:spPr>
          <a:xfrm>
            <a:off x="8412012" y="2615055"/>
            <a:ext cx="168698" cy="176552"/>
          </a:xfrm>
          <a:custGeom>
            <a:avLst/>
            <a:gdLst/>
            <a:ahLst/>
            <a:cxnLst/>
            <a:rect l="l" t="t" r="r" b="b"/>
            <a:pathLst>
              <a:path w="168698" h="176552">
                <a:moveTo>
                  <a:pt x="145043" y="31321"/>
                </a:moveTo>
                <a:lnTo>
                  <a:pt x="148593" y="34681"/>
                </a:lnTo>
                <a:lnTo>
                  <a:pt x="148593" y="17907"/>
                </a:lnTo>
                <a:cubicBezTo>
                  <a:pt x="148593" y="12346"/>
                  <a:pt x="153085" y="7854"/>
                  <a:pt x="158646" y="7854"/>
                </a:cubicBezTo>
                <a:cubicBezTo>
                  <a:pt x="164206" y="7854"/>
                  <a:pt x="168698" y="12346"/>
                  <a:pt x="168698" y="17907"/>
                </a:cubicBezTo>
                <a:lnTo>
                  <a:pt x="168698" y="58118"/>
                </a:lnTo>
                <a:cubicBezTo>
                  <a:pt x="168698" y="63678"/>
                  <a:pt x="164206" y="68171"/>
                  <a:pt x="158646" y="68171"/>
                </a:cubicBezTo>
                <a:lnTo>
                  <a:pt x="118434" y="68171"/>
                </a:lnTo>
                <a:cubicBezTo>
                  <a:pt x="112874" y="68171"/>
                  <a:pt x="108382" y="63678"/>
                  <a:pt x="108382" y="58118"/>
                </a:cubicBezTo>
                <a:cubicBezTo>
                  <a:pt x="108382" y="52557"/>
                  <a:pt x="112874" y="48065"/>
                  <a:pt x="118434" y="48065"/>
                </a:cubicBezTo>
                <a:lnTo>
                  <a:pt x="133482" y="48065"/>
                </a:lnTo>
                <a:lnTo>
                  <a:pt x="131095" y="45803"/>
                </a:lnTo>
                <a:cubicBezTo>
                  <a:pt x="131033" y="45739"/>
                  <a:pt x="130969" y="45678"/>
                  <a:pt x="130906" y="45615"/>
                </a:cubicBezTo>
                <a:cubicBezTo>
                  <a:pt x="107345" y="22054"/>
                  <a:pt x="69176" y="22054"/>
                  <a:pt x="45615" y="45615"/>
                </a:cubicBezTo>
                <a:cubicBezTo>
                  <a:pt x="22054" y="69176"/>
                  <a:pt x="22054" y="107345"/>
                  <a:pt x="45615" y="130906"/>
                </a:cubicBezTo>
                <a:cubicBezTo>
                  <a:pt x="69176" y="154467"/>
                  <a:pt x="107345" y="154467"/>
                  <a:pt x="130906" y="130906"/>
                </a:cubicBezTo>
                <a:cubicBezTo>
                  <a:pt x="133482" y="128330"/>
                  <a:pt x="135776" y="125597"/>
                  <a:pt x="137786" y="122706"/>
                </a:cubicBezTo>
                <a:cubicBezTo>
                  <a:pt x="140959" y="118152"/>
                  <a:pt x="147242" y="117052"/>
                  <a:pt x="151797" y="120225"/>
                </a:cubicBezTo>
                <a:cubicBezTo>
                  <a:pt x="156353" y="123399"/>
                  <a:pt x="157452" y="129681"/>
                  <a:pt x="154279" y="134236"/>
                </a:cubicBezTo>
                <a:cubicBezTo>
                  <a:pt x="151609" y="138068"/>
                  <a:pt x="148561" y="141713"/>
                  <a:pt x="145137" y="145137"/>
                </a:cubicBezTo>
                <a:cubicBezTo>
                  <a:pt x="113722" y="176552"/>
                  <a:pt x="62799" y="176552"/>
                  <a:pt x="31415" y="145137"/>
                </a:cubicBezTo>
                <a:cubicBezTo>
                  <a:pt x="32" y="113722"/>
                  <a:pt x="0" y="62830"/>
                  <a:pt x="31415" y="31415"/>
                </a:cubicBezTo>
                <a:cubicBezTo>
                  <a:pt x="62799" y="32"/>
                  <a:pt x="113628" y="0"/>
                  <a:pt x="145043" y="31321"/>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9" name="AutoShape 39"/>
          <p:cNvSpPr/>
          <p:nvPr/>
        </p:nvSpPr>
        <p:spPr>
          <a:xfrm>
            <a:off x="8789808" y="2590740"/>
            <a:ext cx="723799" cy="22518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Repeat Continuously</a:t>
            </a:r>
            <a:endParaRPr lang="en-US" sz="1100"/>
          </a:p>
        </p:txBody>
      </p:sp>
      <p:sp>
        <p:nvSpPr>
          <p:cNvPr id="40" name="Freeform 40"/>
          <p:cNvSpPr/>
          <p:nvPr/>
        </p:nvSpPr>
        <p:spPr>
          <a:xfrm>
            <a:off x="8307275" y="3025019"/>
            <a:ext cx="3385773" cy="402111"/>
          </a:xfrm>
          <a:custGeom>
            <a:avLst/>
            <a:gdLst/>
            <a:ahLst/>
            <a:cxnLst/>
            <a:rect l="l" t="t" r="r" b="b"/>
            <a:pathLst>
              <a:path w="3385773" h="402111">
                <a:moveTo>
                  <a:pt x="64338" y="0"/>
                </a:moveTo>
                <a:lnTo>
                  <a:pt x="3321435" y="0"/>
                </a:lnTo>
                <a:cubicBezTo>
                  <a:pt x="3356968" y="0"/>
                  <a:pt x="3385773" y="28805"/>
                  <a:pt x="3385773" y="64338"/>
                </a:cubicBezTo>
                <a:lnTo>
                  <a:pt x="3385773" y="337773"/>
                </a:lnTo>
                <a:cubicBezTo>
                  <a:pt x="3385773" y="373306"/>
                  <a:pt x="3356968" y="402111"/>
                  <a:pt x="3321435" y="402111"/>
                </a:cubicBezTo>
                <a:lnTo>
                  <a:pt x="64338" y="402111"/>
                </a:lnTo>
                <a:cubicBezTo>
                  <a:pt x="28805" y="402111"/>
                  <a:pt x="0" y="373306"/>
                  <a:pt x="0" y="337773"/>
                </a:cubicBezTo>
                <a:lnTo>
                  <a:pt x="0" y="64338"/>
                </a:lnTo>
                <a:cubicBezTo>
                  <a:pt x="0" y="28829"/>
                  <a:pt x="28829" y="0"/>
                  <a:pt x="64338" y="0"/>
                </a:cubicBezTo>
                <a:close/>
              </a:path>
            </a:pathLst>
          </a:custGeom>
          <a:solidFill>
            <a:srgbClr val="1E90FF">
              <a:alpha val="10196"/>
            </a:srgbClr>
          </a:solidFill>
          <a:ln w="12700">
            <a:noFill/>
            <a:prstDash val="solid"/>
          </a:ln>
        </p:spPr>
        <p:txBody>
          <a:bodyPr wrap="square" lIns="91440" tIns="45720" rIns="91440" bIns="45720" rtlCol="0" anchor="t">
            <a:noAutofit/>
          </a:bodyPr>
          <a:lstStyle/>
          <a:p>
            <a:pPr algn="ctr">
              <a:defRPr/>
            </a:pPr>
          </a:p>
        </p:txBody>
      </p:sp>
      <p:sp>
        <p:nvSpPr>
          <p:cNvPr id="41" name="AutoShape 41"/>
          <p:cNvSpPr/>
          <p:nvPr/>
        </p:nvSpPr>
        <p:spPr>
          <a:xfrm>
            <a:off x="8403781" y="3121526"/>
            <a:ext cx="3257098" cy="209098"/>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The model </a:t>
            </a:r>
            <a:r>
              <a:rPr lang="en-US" sz="7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loops </a:t>
            </a: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until a complete answer is generated.</a:t>
            </a:r>
            <a:endParaRPr lang="en-US" sz="1100"/>
          </a:p>
        </p:txBody>
      </p:sp>
      <p:sp>
        <p:nvSpPr>
          <p:cNvPr id="42" name="Freeform 42"/>
          <p:cNvSpPr/>
          <p:nvPr/>
        </p:nvSpPr>
        <p:spPr>
          <a:xfrm>
            <a:off x="8323359" y="3523637"/>
            <a:ext cx="3369688" cy="643377"/>
          </a:xfrm>
          <a:custGeom>
            <a:avLst/>
            <a:gdLst/>
            <a:ahLst/>
            <a:cxnLst/>
            <a:rect l="l" t="t" r="r" b="b"/>
            <a:pathLst>
              <a:path w="3369688" h="643377">
                <a:moveTo>
                  <a:pt x="32169" y="0"/>
                </a:moveTo>
                <a:lnTo>
                  <a:pt x="3305352" y="0"/>
                </a:lnTo>
                <a:cubicBezTo>
                  <a:pt x="3340884" y="0"/>
                  <a:pt x="3369688" y="28805"/>
                  <a:pt x="3369688" y="64338"/>
                </a:cubicBezTo>
                <a:lnTo>
                  <a:pt x="3369688" y="579040"/>
                </a:lnTo>
                <a:cubicBezTo>
                  <a:pt x="3369688" y="614572"/>
                  <a:pt x="3340884" y="643377"/>
                  <a:pt x="3305352" y="643377"/>
                </a:cubicBezTo>
                <a:lnTo>
                  <a:pt x="32169" y="643377"/>
                </a:lnTo>
                <a:cubicBezTo>
                  <a:pt x="14402" y="643377"/>
                  <a:pt x="0" y="628975"/>
                  <a:pt x="0" y="611208"/>
                </a:cubicBezTo>
                <a:lnTo>
                  <a:pt x="0" y="32169"/>
                </a:lnTo>
                <a:cubicBezTo>
                  <a:pt x="0" y="14415"/>
                  <a:pt x="14415" y="0"/>
                  <a:pt x="32169" y="0"/>
                </a:cubicBezTo>
                <a:close/>
              </a:path>
            </a:pathLst>
          </a:custGeom>
          <a:solidFill>
            <a:srgbClr val="F0FDF4">
              <a:alpha val="100000"/>
            </a:srgbClr>
          </a:solidFill>
          <a:ln w="12700">
            <a:noFill/>
            <a:prstDash val="solid"/>
          </a:ln>
        </p:spPr>
        <p:txBody>
          <a:bodyPr wrap="square" lIns="91440" tIns="45720" rIns="91440" bIns="45720" rtlCol="0" anchor="t">
            <a:noAutofit/>
          </a:bodyPr>
          <a:lstStyle/>
          <a:p>
            <a:pPr algn="ctr">
              <a:defRPr/>
            </a:pPr>
          </a:p>
        </p:txBody>
      </p:sp>
      <p:sp>
        <p:nvSpPr>
          <p:cNvPr id="43" name="Freeform 43"/>
          <p:cNvSpPr/>
          <p:nvPr/>
        </p:nvSpPr>
        <p:spPr>
          <a:xfrm>
            <a:off x="8323359" y="3523637"/>
            <a:ext cx="32169" cy="643377"/>
          </a:xfrm>
          <a:custGeom>
            <a:avLst/>
            <a:gdLst/>
            <a:ahLst/>
            <a:cxnLst/>
            <a:rect l="l" t="t" r="r" b="b"/>
            <a:pathLst>
              <a:path w="32169" h="643377">
                <a:moveTo>
                  <a:pt x="32169" y="0"/>
                </a:moveTo>
                <a:lnTo>
                  <a:pt x="32169" y="0"/>
                </a:lnTo>
                <a:lnTo>
                  <a:pt x="32169" y="643377"/>
                </a:lnTo>
                <a:lnTo>
                  <a:pt x="32169" y="643377"/>
                </a:lnTo>
                <a:cubicBezTo>
                  <a:pt x="14415" y="643377"/>
                  <a:pt x="0" y="628962"/>
                  <a:pt x="0" y="611208"/>
                </a:cubicBezTo>
                <a:lnTo>
                  <a:pt x="0" y="32169"/>
                </a:lnTo>
                <a:cubicBezTo>
                  <a:pt x="0" y="14415"/>
                  <a:pt x="14415" y="0"/>
                  <a:pt x="32169" y="0"/>
                </a:cubicBezTo>
                <a:close/>
              </a:path>
            </a:pathLst>
          </a:custGeom>
          <a:solidFill>
            <a:srgbClr val="00C950">
              <a:alpha val="100000"/>
            </a:srgbClr>
          </a:solidFill>
          <a:ln w="12700">
            <a:noFill/>
            <a:prstDash val="solid"/>
          </a:ln>
        </p:spPr>
        <p:txBody>
          <a:bodyPr wrap="square" lIns="91440" tIns="45720" rIns="91440" bIns="45720" rtlCol="0" anchor="t">
            <a:noAutofit/>
          </a:bodyPr>
          <a:lstStyle/>
          <a:p>
            <a:pPr algn="ctr">
              <a:defRPr/>
            </a:pPr>
          </a:p>
        </p:txBody>
      </p:sp>
      <p:sp>
        <p:nvSpPr>
          <p:cNvPr id="44" name="AutoShape 44"/>
          <p:cNvSpPr/>
          <p:nvPr/>
        </p:nvSpPr>
        <p:spPr>
          <a:xfrm>
            <a:off x="8435950" y="3630872"/>
            <a:ext cx="707715" cy="171567"/>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Final Output:</a:t>
            </a:r>
            <a:endParaRPr lang="en-US" sz="1100"/>
          </a:p>
        </p:txBody>
      </p:sp>
      <p:sp>
        <p:nvSpPr>
          <p:cNvPr id="45" name="AutoShape 45"/>
          <p:cNvSpPr/>
          <p:nvPr/>
        </p:nvSpPr>
        <p:spPr>
          <a:xfrm>
            <a:off x="8435950" y="3845325"/>
            <a:ext cx="3232971" cy="225182"/>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1" i="0" u="none" strike="noStrike">
                <a:solidFill>
                  <a:srgbClr val="00A63E"/>
                </a:solidFill>
                <a:latin typeface="MiSans" panose="00000500000000000000" charset="-122"/>
                <a:ea typeface="MiSans" panose="00000500000000000000" charset="-122"/>
                <a:cs typeface="MiSans" panose="00000500000000000000" charset="-122"/>
                <a:sym typeface="MiSans" panose="00000500000000000000" charset="-122"/>
              </a:rPr>
              <a:t>"Artificial Intelligence is..."</a:t>
            </a:r>
            <a:endParaRPr lang="en-US" sz="1100"/>
          </a:p>
        </p:txBody>
      </p:sp>
    </p:spTree>
  </p:cSld>
  <p:clrMapOvr>
    <a:masterClrMapping/>
  </p:clrMapOvr>
  <p:transition spd="slow">
    <p:fade/>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615" b="0" i="0" u="none" strike="noStrike">
                <a:solidFill>
                  <a:srgbClr val="5B92E5"/>
                </a:solidFill>
                <a:latin typeface="Alimama ShuHeiTi"/>
                <a:ea typeface="Alimama ShuHeiTi"/>
                <a:cs typeface="Alimama ShuHeiTi"/>
                <a:sym typeface="Alimama ShuHeiTi"/>
              </a:rPr>
              <a:t>Part 2 Process Summary</a:t>
            </a:r>
            <a:endParaRPr lang="en-US" sz="1100"/>
          </a:p>
        </p:txBody>
      </p:sp>
      <p:sp>
        <p:nvSpPr>
          <p:cNvPr id="3" name="AutoShape 3"/>
          <p:cNvSpPr/>
          <p:nvPr/>
        </p:nvSpPr>
        <p:spPr>
          <a:xfrm>
            <a:off x="873125" y="2510415"/>
            <a:ext cx="942975" cy="838200"/>
          </a:xfrm>
          <a:prstGeom prst="rect">
            <a:avLst/>
          </a:prstGeom>
          <a:noFill/>
          <a:ln w="12700">
            <a:solidFill>
              <a:srgbClr val="5B92E5">
                <a:alpha val="100000"/>
              </a:srgbClr>
            </a:solidFill>
            <a:prstDash val="solid"/>
          </a:ln>
        </p:spPr>
        <p:txBody>
          <a:bodyPr wrap="square" lIns="228600" tIns="152400" rIns="228600" bIns="152400" rtlCol="0" anchor="ctr">
            <a:noAutofit/>
          </a:bodyPr>
          <a:lstStyle/>
          <a:p>
            <a:pPr indent="0" algn="l">
              <a:lnSpc>
                <a:spcPct val="117000"/>
              </a:lnSpc>
              <a:defRPr/>
            </a:pPr>
            <a:r>
              <a:rPr lang="en-US" sz="131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Input Text</a:t>
            </a:r>
            <a:endParaRPr lang="en-US" sz="1100"/>
          </a:p>
        </p:txBody>
      </p:sp>
      <p:sp>
        <p:nvSpPr>
          <p:cNvPr id="4" name="AutoShape 4"/>
          <p:cNvSpPr/>
          <p:nvPr/>
        </p:nvSpPr>
        <p:spPr>
          <a:xfrm>
            <a:off x="8980170" y="2510415"/>
            <a:ext cx="942975" cy="838200"/>
          </a:xfrm>
          <a:prstGeom prst="rect">
            <a:avLst/>
          </a:prstGeom>
          <a:noFill/>
          <a:ln w="12700">
            <a:solidFill>
              <a:srgbClr val="5B92E5">
                <a:alpha val="100000"/>
              </a:srgbClr>
            </a:solidFill>
            <a:prstDash val="solid"/>
          </a:ln>
        </p:spPr>
        <p:txBody>
          <a:bodyPr wrap="square" lIns="228600" tIns="152400" rIns="228600" bIns="152400" rtlCol="0" anchor="ctr">
            <a:noAutofit/>
          </a:bodyPr>
          <a:lstStyle/>
          <a:p>
            <a:pPr indent="0" algn="l">
              <a:lnSpc>
                <a:spcPct val="117000"/>
              </a:lnSpc>
              <a:defRPr/>
            </a:pPr>
            <a:r>
              <a:rPr lang="en-US" sz="131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Input Text</a:t>
            </a:r>
            <a:endParaRPr lang="en-US" sz="1100"/>
          </a:p>
        </p:txBody>
      </p:sp>
      <p:sp>
        <p:nvSpPr>
          <p:cNvPr id="5" name="AutoShape 5"/>
          <p:cNvSpPr/>
          <p:nvPr/>
        </p:nvSpPr>
        <p:spPr>
          <a:xfrm>
            <a:off x="923925" y="3348355"/>
            <a:ext cx="923925" cy="4572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"What is AI?"</a:t>
            </a:r>
            <a:endParaRPr lang="en-US" sz="1100"/>
          </a:p>
        </p:txBody>
      </p:sp>
      <p:sp>
        <p:nvSpPr>
          <p:cNvPr id="6" name="Freeform 6"/>
          <p:cNvSpPr/>
          <p:nvPr/>
        </p:nvSpPr>
        <p:spPr>
          <a:xfrm>
            <a:off x="2028058" y="2925144"/>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6" y="6976"/>
                </a:cubicBezTo>
                <a:cubicBezTo>
                  <a:pt x="158948" y="13952"/>
                  <a:pt x="158948" y="25282"/>
                  <a:pt x="165926" y="32258"/>
                </a:cubicBezTo>
                <a:lnTo>
                  <a:pt x="224749" y="91083"/>
                </a:lnTo>
                <a:lnTo>
                  <a:pt x="17859" y="91083"/>
                </a:lnTo>
                <a:cubicBezTo>
                  <a:pt x="7981" y="91083"/>
                  <a:pt x="0" y="99064"/>
                  <a:pt x="0" y="108942"/>
                </a:cubicBezTo>
                <a:cubicBezTo>
                  <a:pt x="0" y="118820"/>
                  <a:pt x="7981" y="126801"/>
                  <a:pt x="17859" y="126801"/>
                </a:cubicBezTo>
                <a:lnTo>
                  <a:pt x="224749" y="126801"/>
                </a:lnTo>
                <a:lnTo>
                  <a:pt x="165926" y="185626"/>
                </a:lnTo>
                <a:cubicBezTo>
                  <a:pt x="158948" y="192602"/>
                  <a:pt x="158948" y="203932"/>
                  <a:pt x="165926"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grpSp>
        <p:nvGrpSpPr>
          <p:cNvPr id="7" name="Group 7"/>
          <p:cNvGrpSpPr/>
          <p:nvPr/>
        </p:nvGrpSpPr>
        <p:grpSpPr>
          <a:xfrm>
            <a:off x="923925" y="2368550"/>
            <a:ext cx="8949055" cy="1482090"/>
            <a:chOff x="923925" y="2368550"/>
            <a:chExt cx="8949055" cy="1482090"/>
          </a:xfrm>
        </p:grpSpPr>
        <p:sp>
          <p:nvSpPr>
            <p:cNvPr id="8" name="Freeform 8"/>
            <p:cNvSpPr/>
            <p:nvPr/>
          </p:nvSpPr>
          <p:spPr>
            <a:xfrm>
              <a:off x="2525395" y="2368550"/>
              <a:ext cx="1341120" cy="1482090"/>
            </a:xfrm>
            <a:custGeom>
              <a:avLst/>
              <a:gdLst/>
              <a:ahLst/>
              <a:cxnLst/>
              <a:rect l="l" t="t" r="r" b="b"/>
              <a:pathLst>
                <a:path w="1341120" h="1482090">
                  <a:moveTo>
                    <a:pt x="114280" y="0"/>
                  </a:moveTo>
                  <a:lnTo>
                    <a:pt x="1226840" y="0"/>
                  </a:lnTo>
                  <a:cubicBezTo>
                    <a:pt x="1289956" y="0"/>
                    <a:pt x="1341120" y="59501"/>
                    <a:pt x="1341120" y="132899"/>
                  </a:cubicBezTo>
                  <a:lnTo>
                    <a:pt x="1341120" y="1349191"/>
                  </a:lnTo>
                  <a:cubicBezTo>
                    <a:pt x="1341120" y="1422589"/>
                    <a:pt x="1289956" y="1482090"/>
                    <a:pt x="1226840" y="1482090"/>
                  </a:cubicBezTo>
                  <a:lnTo>
                    <a:pt x="114280" y="1482090"/>
                  </a:lnTo>
                  <a:cubicBezTo>
                    <a:pt x="51166" y="1482090"/>
                    <a:pt x="0" y="1422589"/>
                    <a:pt x="0" y="1349191"/>
                  </a:cubicBezTo>
                  <a:lnTo>
                    <a:pt x="0" y="132899"/>
                  </a:lnTo>
                  <a:cubicBezTo>
                    <a:pt x="0" y="59550"/>
                    <a:pt x="51208" y="0"/>
                    <a:pt x="114280" y="0"/>
                  </a:cubicBezTo>
                  <a:close/>
                </a:path>
              </a:pathLst>
            </a:custGeom>
            <a:no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9" name="AutoShape 9"/>
            <p:cNvSpPr/>
            <p:nvPr/>
          </p:nvSpPr>
          <p:spPr>
            <a:xfrm>
              <a:off x="2643505" y="2624455"/>
              <a:ext cx="110490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85"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Step 1</a:t>
              </a:r>
              <a:endParaRPr lang="en-US" sz="1100"/>
            </a:p>
          </p:txBody>
        </p:sp>
        <p:sp>
          <p:nvSpPr>
            <p:cNvPr id="10" name="AutoShape 10"/>
            <p:cNvSpPr/>
            <p:nvPr/>
          </p:nvSpPr>
          <p:spPr>
            <a:xfrm>
              <a:off x="2648585" y="2967355"/>
              <a:ext cx="1095375"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Input Processing</a:t>
              </a:r>
              <a:endParaRPr lang="en-US" sz="1100"/>
            </a:p>
          </p:txBody>
        </p:sp>
        <p:sp>
          <p:nvSpPr>
            <p:cNvPr id="11" name="AutoShape 11"/>
            <p:cNvSpPr/>
            <p:nvPr/>
          </p:nvSpPr>
          <p:spPr>
            <a:xfrm>
              <a:off x="2653030" y="3195955"/>
              <a:ext cx="108585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Tokenization -&gt; Vectorization -&gt; Positional Encoding</a:t>
              </a:r>
              <a:endParaRPr lang="en-US" sz="1100"/>
            </a:p>
          </p:txBody>
        </p:sp>
        <p:sp>
          <p:nvSpPr>
            <p:cNvPr id="12" name="AutoShape 12"/>
            <p:cNvSpPr/>
            <p:nvPr/>
          </p:nvSpPr>
          <p:spPr>
            <a:xfrm>
              <a:off x="923925" y="2814955"/>
              <a:ext cx="81534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Prompt</a:t>
              </a:r>
              <a:endParaRPr lang="en-US" sz="1100"/>
            </a:p>
          </p:txBody>
        </p:sp>
        <p:sp>
          <p:nvSpPr>
            <p:cNvPr id="13" name="AutoShape 13"/>
            <p:cNvSpPr/>
            <p:nvPr/>
          </p:nvSpPr>
          <p:spPr>
            <a:xfrm>
              <a:off x="9057640" y="2814955"/>
              <a:ext cx="81534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Output Text</a:t>
              </a:r>
              <a:endParaRPr lang="en-US" sz="1100"/>
            </a:p>
          </p:txBody>
        </p:sp>
      </p:grpSp>
      <p:sp>
        <p:nvSpPr>
          <p:cNvPr id="14" name="Freeform 14"/>
          <p:cNvSpPr/>
          <p:nvPr/>
        </p:nvSpPr>
        <p:spPr>
          <a:xfrm>
            <a:off x="4107900" y="2925144"/>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6" y="6976"/>
                </a:cubicBezTo>
                <a:cubicBezTo>
                  <a:pt x="158948" y="13952"/>
                  <a:pt x="158948" y="25282"/>
                  <a:pt x="165926" y="32258"/>
                </a:cubicBezTo>
                <a:lnTo>
                  <a:pt x="224749" y="91083"/>
                </a:lnTo>
                <a:lnTo>
                  <a:pt x="17859" y="91083"/>
                </a:lnTo>
                <a:cubicBezTo>
                  <a:pt x="7981" y="91083"/>
                  <a:pt x="0" y="99064"/>
                  <a:pt x="0" y="108942"/>
                </a:cubicBezTo>
                <a:cubicBezTo>
                  <a:pt x="0" y="118820"/>
                  <a:pt x="7981" y="126801"/>
                  <a:pt x="17859" y="126801"/>
                </a:cubicBezTo>
                <a:lnTo>
                  <a:pt x="224749" y="126801"/>
                </a:lnTo>
                <a:lnTo>
                  <a:pt x="165926" y="185626"/>
                </a:lnTo>
                <a:cubicBezTo>
                  <a:pt x="158948" y="192602"/>
                  <a:pt x="158948" y="203932"/>
                  <a:pt x="165926"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6218892" y="2925144"/>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6" y="6976"/>
                </a:cubicBezTo>
                <a:cubicBezTo>
                  <a:pt x="158948" y="13952"/>
                  <a:pt x="158948" y="25282"/>
                  <a:pt x="165926" y="32258"/>
                </a:cubicBezTo>
                <a:lnTo>
                  <a:pt x="224749" y="91083"/>
                </a:lnTo>
                <a:lnTo>
                  <a:pt x="17859" y="91083"/>
                </a:lnTo>
                <a:cubicBezTo>
                  <a:pt x="7981" y="91083"/>
                  <a:pt x="0" y="99064"/>
                  <a:pt x="0" y="108942"/>
                </a:cubicBezTo>
                <a:cubicBezTo>
                  <a:pt x="0" y="118820"/>
                  <a:pt x="7981" y="126801"/>
                  <a:pt x="17859" y="126801"/>
                </a:cubicBezTo>
                <a:lnTo>
                  <a:pt x="224749" y="126801"/>
                </a:lnTo>
                <a:lnTo>
                  <a:pt x="165926" y="185626"/>
                </a:lnTo>
                <a:cubicBezTo>
                  <a:pt x="158948" y="192602"/>
                  <a:pt x="158948" y="203932"/>
                  <a:pt x="165926"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8429441" y="2925144"/>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5" y="6976"/>
                </a:cubicBezTo>
                <a:cubicBezTo>
                  <a:pt x="158948" y="13952"/>
                  <a:pt x="158948" y="25282"/>
                  <a:pt x="165925" y="32258"/>
                </a:cubicBezTo>
                <a:lnTo>
                  <a:pt x="224749" y="91083"/>
                </a:lnTo>
                <a:lnTo>
                  <a:pt x="17859" y="91083"/>
                </a:lnTo>
                <a:cubicBezTo>
                  <a:pt x="7981" y="91083"/>
                  <a:pt x="0" y="99064"/>
                  <a:pt x="0" y="108942"/>
                </a:cubicBezTo>
                <a:cubicBezTo>
                  <a:pt x="0" y="118820"/>
                  <a:pt x="7981" y="126801"/>
                  <a:pt x="17859" y="126801"/>
                </a:cubicBezTo>
                <a:lnTo>
                  <a:pt x="224749" y="126801"/>
                </a:lnTo>
                <a:lnTo>
                  <a:pt x="165925" y="185626"/>
                </a:lnTo>
                <a:cubicBezTo>
                  <a:pt x="158948" y="192602"/>
                  <a:pt x="158948" y="203932"/>
                  <a:pt x="165925"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9019540" y="3475990"/>
            <a:ext cx="1327150" cy="4572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55"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"Artificial Intelligence is..."</a:t>
            </a:r>
            <a:endParaRPr lang="en-US" sz="1100"/>
          </a:p>
        </p:txBody>
      </p:sp>
      <p:grpSp>
        <p:nvGrpSpPr>
          <p:cNvPr id="18" name="Group 18"/>
          <p:cNvGrpSpPr/>
          <p:nvPr/>
        </p:nvGrpSpPr>
        <p:grpSpPr>
          <a:xfrm>
            <a:off x="4595495" y="2369185"/>
            <a:ext cx="1341120" cy="1482090"/>
            <a:chOff x="4595495" y="2369185"/>
            <a:chExt cx="1341120" cy="1482090"/>
          </a:xfrm>
        </p:grpSpPr>
        <p:sp>
          <p:nvSpPr>
            <p:cNvPr id="19" name="Freeform 19"/>
            <p:cNvSpPr/>
            <p:nvPr/>
          </p:nvSpPr>
          <p:spPr>
            <a:xfrm>
              <a:off x="4595495" y="2369185"/>
              <a:ext cx="1341120" cy="1482090"/>
            </a:xfrm>
            <a:custGeom>
              <a:avLst/>
              <a:gdLst/>
              <a:ahLst/>
              <a:cxnLst/>
              <a:rect l="l" t="t" r="r" b="b"/>
              <a:pathLst>
                <a:path w="1341120" h="1482090">
                  <a:moveTo>
                    <a:pt x="114280" y="0"/>
                  </a:moveTo>
                  <a:lnTo>
                    <a:pt x="1226840" y="0"/>
                  </a:lnTo>
                  <a:cubicBezTo>
                    <a:pt x="1289956" y="0"/>
                    <a:pt x="1341120" y="59501"/>
                    <a:pt x="1341120" y="132899"/>
                  </a:cubicBezTo>
                  <a:lnTo>
                    <a:pt x="1341120" y="1349191"/>
                  </a:lnTo>
                  <a:cubicBezTo>
                    <a:pt x="1341120" y="1422589"/>
                    <a:pt x="1289956" y="1482090"/>
                    <a:pt x="1226840" y="1482090"/>
                  </a:cubicBezTo>
                  <a:lnTo>
                    <a:pt x="114280" y="1482090"/>
                  </a:lnTo>
                  <a:cubicBezTo>
                    <a:pt x="51166" y="1482090"/>
                    <a:pt x="0" y="1422589"/>
                    <a:pt x="0" y="1349191"/>
                  </a:cubicBezTo>
                  <a:lnTo>
                    <a:pt x="0" y="132899"/>
                  </a:lnTo>
                  <a:cubicBezTo>
                    <a:pt x="0" y="59550"/>
                    <a:pt x="51208" y="0"/>
                    <a:pt x="114280" y="0"/>
                  </a:cubicBezTo>
                  <a:close/>
                </a:path>
              </a:pathLst>
            </a:custGeom>
            <a:no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20" name="AutoShape 20"/>
            <p:cNvSpPr/>
            <p:nvPr/>
          </p:nvSpPr>
          <p:spPr>
            <a:xfrm>
              <a:off x="4713605" y="2625090"/>
              <a:ext cx="110490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85"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Step 2</a:t>
              </a:r>
              <a:endParaRPr lang="en-US" sz="1100"/>
            </a:p>
          </p:txBody>
        </p:sp>
        <p:sp>
          <p:nvSpPr>
            <p:cNvPr id="21" name="AutoShape 21"/>
            <p:cNvSpPr/>
            <p:nvPr/>
          </p:nvSpPr>
          <p:spPr>
            <a:xfrm>
              <a:off x="4718685" y="2967990"/>
              <a:ext cx="1095375"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Layer-wise Computation</a:t>
              </a:r>
              <a:endParaRPr lang="en-US" sz="1100"/>
            </a:p>
          </p:txBody>
        </p:sp>
        <p:sp>
          <p:nvSpPr>
            <p:cNvPr id="22" name="AutoShape 22"/>
            <p:cNvSpPr/>
            <p:nvPr/>
          </p:nvSpPr>
          <p:spPr>
            <a:xfrm>
              <a:off x="4723130" y="3196590"/>
              <a:ext cx="108585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Multi-perspective Understanding -&gt; Deep Processing -&gt; Multi-layer Stacking</a:t>
              </a:r>
              <a:endParaRPr lang="en-US" sz="1100"/>
            </a:p>
          </p:txBody>
        </p:sp>
      </p:grpSp>
      <p:grpSp>
        <p:nvGrpSpPr>
          <p:cNvPr id="23" name="Group 23"/>
          <p:cNvGrpSpPr/>
          <p:nvPr/>
        </p:nvGrpSpPr>
        <p:grpSpPr>
          <a:xfrm>
            <a:off x="6762750" y="2368550"/>
            <a:ext cx="1341120" cy="1482090"/>
            <a:chOff x="6762750" y="2368550"/>
            <a:chExt cx="1341120" cy="1482090"/>
          </a:xfrm>
        </p:grpSpPr>
        <p:sp>
          <p:nvSpPr>
            <p:cNvPr id="24" name="Freeform 24"/>
            <p:cNvSpPr/>
            <p:nvPr/>
          </p:nvSpPr>
          <p:spPr>
            <a:xfrm>
              <a:off x="6762750" y="2368550"/>
              <a:ext cx="1341120" cy="1482090"/>
            </a:xfrm>
            <a:custGeom>
              <a:avLst/>
              <a:gdLst/>
              <a:ahLst/>
              <a:cxnLst/>
              <a:rect l="l" t="t" r="r" b="b"/>
              <a:pathLst>
                <a:path w="1341120" h="1482090">
                  <a:moveTo>
                    <a:pt x="114280" y="0"/>
                  </a:moveTo>
                  <a:lnTo>
                    <a:pt x="1226840" y="0"/>
                  </a:lnTo>
                  <a:cubicBezTo>
                    <a:pt x="1289956" y="0"/>
                    <a:pt x="1341120" y="59501"/>
                    <a:pt x="1341120" y="132899"/>
                  </a:cubicBezTo>
                  <a:lnTo>
                    <a:pt x="1341120" y="1349191"/>
                  </a:lnTo>
                  <a:cubicBezTo>
                    <a:pt x="1341120" y="1422589"/>
                    <a:pt x="1289956" y="1482090"/>
                    <a:pt x="1226840" y="1482090"/>
                  </a:cubicBezTo>
                  <a:lnTo>
                    <a:pt x="114280" y="1482090"/>
                  </a:lnTo>
                  <a:cubicBezTo>
                    <a:pt x="51166" y="1482090"/>
                    <a:pt x="0" y="1422589"/>
                    <a:pt x="0" y="1349191"/>
                  </a:cubicBezTo>
                  <a:lnTo>
                    <a:pt x="0" y="132899"/>
                  </a:lnTo>
                  <a:cubicBezTo>
                    <a:pt x="0" y="59550"/>
                    <a:pt x="51208" y="0"/>
                    <a:pt x="114280" y="0"/>
                  </a:cubicBezTo>
                  <a:close/>
                </a:path>
              </a:pathLst>
            </a:custGeom>
            <a:no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25" name="AutoShape 25"/>
            <p:cNvSpPr/>
            <p:nvPr/>
          </p:nvSpPr>
          <p:spPr>
            <a:xfrm>
              <a:off x="6880860" y="2624455"/>
              <a:ext cx="110490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85"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Step 3</a:t>
              </a:r>
              <a:endParaRPr lang="en-US" sz="1100"/>
            </a:p>
          </p:txBody>
        </p:sp>
        <p:sp>
          <p:nvSpPr>
            <p:cNvPr id="26" name="AutoShape 26"/>
            <p:cNvSpPr/>
            <p:nvPr/>
          </p:nvSpPr>
          <p:spPr>
            <a:xfrm>
              <a:off x="6885940" y="2967355"/>
              <a:ext cx="1095375"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Prediction</a:t>
              </a:r>
              <a:endParaRPr lang="en-US" sz="1100"/>
            </a:p>
          </p:txBody>
        </p:sp>
        <p:sp>
          <p:nvSpPr>
            <p:cNvPr id="27" name="AutoShape 27"/>
            <p:cNvSpPr/>
            <p:nvPr/>
          </p:nvSpPr>
          <p:spPr>
            <a:xfrm>
              <a:off x="6890385" y="3195955"/>
              <a:ext cx="108585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Chain of Thought -&gt; Probability Calculation -&gt; Sampling</a:t>
              </a:r>
              <a:endParaRPr lang="en-US" sz="1100"/>
            </a:p>
          </p:txBody>
        </p:sp>
      </p:grpSp>
    </p:spTree>
  </p:cSld>
  <p:clrMapOvr>
    <a:masterClrMapping/>
  </p:clrMapOvr>
  <p:transition spd="slow">
    <p:fade/>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063180" y="1291010"/>
            <a:ext cx="6067425" cy="6858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2265" b="0" i="0" u="none" strike="noStrike">
                <a:solidFill>
                  <a:srgbClr val="5B92E5"/>
                </a:solidFill>
                <a:latin typeface="Alimama ShuHeiTi"/>
                <a:ea typeface="Alimama ShuHeiTi"/>
                <a:cs typeface="Alimama ShuHeiTi"/>
                <a:sym typeface="Alimama ShuHeiTi"/>
              </a:rPr>
              <a:t>Where does the large model's capability come from?</a:t>
            </a:r>
            <a:endParaRPr lang="en-US" sz="1100"/>
          </a:p>
        </p:txBody>
      </p:sp>
      <p:sp>
        <p:nvSpPr>
          <p:cNvPr id="3" name="AutoShape 3"/>
          <p:cNvSpPr/>
          <p:nvPr/>
        </p:nvSpPr>
        <p:spPr>
          <a:xfrm>
            <a:off x="3107631" y="2357698"/>
            <a:ext cx="5978525" cy="457200"/>
          </a:xfrm>
          <a:prstGeom prst="rect">
            <a:avLst/>
          </a:prstGeom>
          <a:noFill/>
          <a:ln w="12700">
            <a:noFill/>
            <a:prstDash val="solid"/>
          </a:ln>
        </p:spPr>
        <p:txBody>
          <a:bodyPr wrap="square" lIns="0" tIns="0" rIns="0" bIns="0" rtlCol="0" anchor="ctr">
            <a:noAutofit/>
          </a:bodyPr>
          <a:lstStyle/>
          <a:p>
            <a:pPr indent="0" algn="ctr">
              <a:lnSpc>
                <a:spcPct val="142000"/>
              </a:lnSpc>
              <a:defRPr/>
            </a:pPr>
            <a:r>
              <a:rPr lang="en-US" sz="164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From </a:t>
            </a:r>
            <a:r>
              <a:rPr lang="en-US" sz="164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AI applications </a:t>
            </a:r>
            <a:r>
              <a:rPr lang="en-US" sz="164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we have understood AI's capabilities</a:t>
            </a:r>
            <a:endParaRPr lang="en-US" sz="1100"/>
          </a:p>
        </p:txBody>
      </p:sp>
      <p:sp>
        <p:nvSpPr>
          <p:cNvPr id="4" name="AutoShape 4"/>
          <p:cNvSpPr/>
          <p:nvPr/>
        </p:nvSpPr>
        <p:spPr>
          <a:xfrm>
            <a:off x="3107631" y="3040149"/>
            <a:ext cx="5978525" cy="457200"/>
          </a:xfrm>
          <a:prstGeom prst="rect">
            <a:avLst/>
          </a:prstGeom>
          <a:noFill/>
          <a:ln w="12700">
            <a:noFill/>
            <a:prstDash val="solid"/>
          </a:ln>
        </p:spPr>
        <p:txBody>
          <a:bodyPr wrap="square" lIns="0" tIns="0" rIns="0" bIns="0" rtlCol="0" anchor="ctr">
            <a:noAutofit/>
          </a:bodyPr>
          <a:lstStyle/>
          <a:p>
            <a:pPr indent="0" algn="ctr">
              <a:lnSpc>
                <a:spcPct val="142000"/>
              </a:lnSpc>
              <a:defRPr/>
            </a:pPr>
            <a:r>
              <a:rPr lang="en-US" sz="133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From </a:t>
            </a:r>
            <a:r>
              <a:rPr lang="en-US" sz="133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large model workflows </a:t>
            </a:r>
            <a:r>
              <a:rPr lang="en-US" sz="133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we have understood the foundation of AI's powerful capabilities</a:t>
            </a:r>
            <a:endParaRPr lang="en-US" sz="1100"/>
          </a:p>
        </p:txBody>
      </p:sp>
      <p:sp>
        <p:nvSpPr>
          <p:cNvPr id="5" name="AutoShape 5"/>
          <p:cNvSpPr/>
          <p:nvPr/>
        </p:nvSpPr>
        <p:spPr>
          <a:xfrm>
            <a:off x="3107631" y="3722601"/>
            <a:ext cx="5978525" cy="457200"/>
          </a:xfrm>
          <a:prstGeom prst="rect">
            <a:avLst/>
          </a:prstGeom>
          <a:noFill/>
          <a:ln w="12700">
            <a:noFill/>
            <a:prstDash val="solid"/>
          </a:ln>
        </p:spPr>
        <p:txBody>
          <a:bodyPr wrap="square" lIns="0" tIns="0" rIns="0" bIns="0" rtlCol="0" anchor="ctr">
            <a:noAutofit/>
          </a:bodyPr>
          <a:lstStyle/>
          <a:p>
            <a:pPr indent="0" algn="ctr">
              <a:lnSpc>
                <a:spcPct val="142000"/>
              </a:lnSpc>
              <a:defRPr/>
            </a:pPr>
            <a:r>
              <a:rPr lang="en-US" sz="184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is </a:t>
            </a:r>
            <a:r>
              <a:rPr lang="en-US" sz="1845"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the large model's reasoning ability</a:t>
            </a:r>
            <a:endParaRPr lang="en-US" sz="1100"/>
          </a:p>
        </p:txBody>
      </p:sp>
      <p:sp>
        <p:nvSpPr>
          <p:cNvPr id="6" name="Freeform 6"/>
          <p:cNvSpPr/>
          <p:nvPr/>
        </p:nvSpPr>
        <p:spPr>
          <a:xfrm>
            <a:off x="5003060" y="4605003"/>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5989439" y="4481215"/>
            <a:ext cx="217884" cy="287480"/>
          </a:xfrm>
          <a:custGeom>
            <a:avLst/>
            <a:gdLst/>
            <a:ahLst/>
            <a:cxnLst/>
            <a:rect l="l" t="t" r="r" b="b"/>
            <a:pathLst>
              <a:path w="217884" h="287480">
                <a:moveTo>
                  <a:pt x="96329" y="280504"/>
                </a:moveTo>
                <a:cubicBezTo>
                  <a:pt x="103305" y="287480"/>
                  <a:pt x="114634" y="287480"/>
                  <a:pt x="121611" y="280504"/>
                </a:cubicBezTo>
                <a:lnTo>
                  <a:pt x="210908" y="191207"/>
                </a:lnTo>
                <a:cubicBezTo>
                  <a:pt x="217884" y="184231"/>
                  <a:pt x="217884" y="172902"/>
                  <a:pt x="210908" y="165925"/>
                </a:cubicBezTo>
                <a:cubicBezTo>
                  <a:pt x="203932" y="158948"/>
                  <a:pt x="192602" y="158948"/>
                  <a:pt x="185626" y="165925"/>
                </a:cubicBezTo>
                <a:lnTo>
                  <a:pt x="126802" y="224749"/>
                </a:lnTo>
                <a:lnTo>
                  <a:pt x="126802" y="17859"/>
                </a:lnTo>
                <a:cubicBezTo>
                  <a:pt x="126802" y="7981"/>
                  <a:pt x="118822" y="0"/>
                  <a:pt x="108942" y="0"/>
                </a:cubicBezTo>
                <a:cubicBezTo>
                  <a:pt x="99064" y="0"/>
                  <a:pt x="91084" y="7981"/>
                  <a:pt x="91084" y="17859"/>
                </a:cubicBezTo>
                <a:lnTo>
                  <a:pt x="91084" y="224749"/>
                </a:lnTo>
                <a:lnTo>
                  <a:pt x="32258" y="165925"/>
                </a:lnTo>
                <a:cubicBezTo>
                  <a:pt x="25282" y="158948"/>
                  <a:pt x="13953" y="158948"/>
                  <a:pt x="6976" y="165925"/>
                </a:cubicBezTo>
                <a:cubicBezTo>
                  <a:pt x="0" y="172902"/>
                  <a:pt x="0" y="184231"/>
                  <a:pt x="6976" y="191207"/>
                </a:cubicBezTo>
                <a:lnTo>
                  <a:pt x="96273" y="280504"/>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6426940" y="4605003"/>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3101280" y="5071653"/>
            <a:ext cx="5991225" cy="495300"/>
          </a:xfrm>
          <a:prstGeom prst="rect">
            <a:avLst/>
          </a:prstGeom>
          <a:noFill/>
          <a:ln w="12700">
            <a:noFill/>
            <a:prstDash val="solid"/>
          </a:ln>
        </p:spPr>
        <p:txBody>
          <a:bodyPr wrap="square" lIns="0" tIns="0" rIns="0" bIns="0" rtlCol="0" anchor="ctr">
            <a:noAutofit/>
          </a:bodyPr>
          <a:lstStyle/>
          <a:p>
            <a:pPr indent="0" algn="ctr">
              <a:lnSpc>
                <a:spcPct val="142000"/>
              </a:lnSpc>
              <a:defRPr/>
            </a:pPr>
            <a:r>
              <a:rPr lang="en-US" sz="156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So where does the large model's powerful </a:t>
            </a:r>
            <a:r>
              <a:rPr lang="en-US" sz="1565"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reasoning capability </a:t>
            </a:r>
            <a:r>
              <a:rPr lang="en-US" sz="156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come from?</a:t>
            </a:r>
            <a:endParaRPr lang="en-US" sz="1100"/>
          </a:p>
        </p:txBody>
      </p:sp>
    </p:spTree>
  </p:cSld>
  <p:clrMapOvr>
    <a:masterClrMapping/>
  </p:clrMapOvr>
  <p:transition spd="slow">
    <p:fade/>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5B92E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2231390" y="2628900"/>
            <a:ext cx="9100820" cy="8382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445" b="1" i="0" u="none" strike="noStrike">
                <a:solidFill>
                  <a:srgbClr val="FFFFFF"/>
                </a:solidFill>
                <a:latin typeface="Alimama ShuHeiTi"/>
                <a:ea typeface="Alimama ShuHeiTi"/>
                <a:cs typeface="Alimama ShuHeiTi"/>
                <a:sym typeface="Alimama ShuHeiTi"/>
              </a:rPr>
              <a:t>How to Become an "Omnipotent" AI?</a:t>
            </a:r>
            <a:endParaRPr lang="en-US" sz="1100"/>
          </a:p>
        </p:txBody>
      </p:sp>
      <p:sp>
        <p:nvSpPr>
          <p:cNvPr id="3" name="AutoShape 3"/>
          <p:cNvSpPr/>
          <p:nvPr/>
        </p:nvSpPr>
        <p:spPr>
          <a:xfrm>
            <a:off x="5207000" y="3695700"/>
            <a:ext cx="2862580" cy="5334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705" b="0" i="0" u="none" strike="noStrike">
                <a:solidFill>
                  <a:srgbClr val="87CEEB"/>
                </a:solidFill>
                <a:latin typeface="MiSans" panose="00000500000000000000" charset="-122"/>
                <a:ea typeface="MiSans" panose="00000500000000000000" charset="-122"/>
                <a:cs typeface="MiSans" panose="00000500000000000000" charset="-122"/>
                <a:sym typeface="MiSans" panose="00000500000000000000" charset="-122"/>
              </a:rPr>
              <a:t>Large Model Training</a:t>
            </a:r>
            <a:endParaRPr lang="en-US" sz="1100"/>
          </a:p>
        </p:txBody>
      </p:sp>
      <p:sp>
        <p:nvSpPr>
          <p:cNvPr id="4" name="AutoShape 4"/>
          <p:cNvSpPr/>
          <p:nvPr/>
        </p:nvSpPr>
        <p:spPr>
          <a:xfrm>
            <a:off x="5610414" y="1790784"/>
            <a:ext cx="1123950" cy="4572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845"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PART 3</a:t>
            </a:r>
            <a:endParaRPr lang="en-US" sz="1100"/>
          </a:p>
        </p:txBody>
      </p:sp>
    </p:spTree>
  </p:cSld>
  <p:clrMapOvr>
    <a:masterClrMapping/>
  </p:clrMapOvr>
  <p:transition spd="slow">
    <p:fade/>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615" b="0" i="0" u="none" strike="noStrike">
                <a:solidFill>
                  <a:srgbClr val="5B92E5"/>
                </a:solidFill>
                <a:latin typeface="Alimama ShuHeiTi"/>
                <a:ea typeface="Alimama ShuHeiTi"/>
                <a:cs typeface="Alimama ShuHeiTi"/>
                <a:sym typeface="Alimama ShuHeiTi"/>
              </a:rPr>
              <a:t>Overview of Major Steps in Large Model Training</a:t>
            </a:r>
            <a:endParaRPr lang="en-US" sz="1100"/>
          </a:p>
        </p:txBody>
      </p:sp>
      <p:sp>
        <p:nvSpPr>
          <p:cNvPr id="3" name="Freeform 3"/>
          <p:cNvSpPr/>
          <p:nvPr/>
        </p:nvSpPr>
        <p:spPr>
          <a:xfrm>
            <a:off x="389659" y="5809209"/>
            <a:ext cx="11409218" cy="741218"/>
          </a:xfrm>
          <a:custGeom>
            <a:avLst/>
            <a:gdLst/>
            <a:ahLst/>
            <a:cxnLst/>
            <a:rect l="l" t="t" r="r" b="b"/>
            <a:pathLst>
              <a:path w="11409218" h="741218">
                <a:moveTo>
                  <a:pt x="152403" y="0"/>
                </a:moveTo>
                <a:lnTo>
                  <a:pt x="11256816" y="0"/>
                </a:lnTo>
                <a:cubicBezTo>
                  <a:pt x="11340986" y="0"/>
                  <a:pt x="11409218" y="68233"/>
                  <a:pt x="11409218" y="152403"/>
                </a:cubicBezTo>
                <a:lnTo>
                  <a:pt x="11409218" y="588816"/>
                </a:lnTo>
                <a:cubicBezTo>
                  <a:pt x="11409218" y="672986"/>
                  <a:pt x="11340986" y="741218"/>
                  <a:pt x="11256816" y="741218"/>
                </a:cubicBezTo>
                <a:lnTo>
                  <a:pt x="152403" y="741218"/>
                </a:lnTo>
                <a:cubicBezTo>
                  <a:pt x="68233" y="741218"/>
                  <a:pt x="0" y="672986"/>
                  <a:pt x="0" y="588816"/>
                </a:cubicBezTo>
                <a:lnTo>
                  <a:pt x="0" y="152403"/>
                </a:lnTo>
                <a:cubicBezTo>
                  <a:pt x="0" y="68233"/>
                  <a:pt x="68233" y="0"/>
                  <a:pt x="152403" y="0"/>
                </a:cubicBezTo>
                <a:close/>
              </a:path>
            </a:pathLst>
          </a:custGeom>
          <a:noFill/>
          <a:ln w="12700">
            <a:solidFill>
              <a:srgbClr val="00CED1">
                <a:alpha val="100000"/>
              </a:srgbClr>
            </a:solidFill>
            <a:prstDash val="solid"/>
          </a:ln>
        </p:spPr>
        <p:txBody>
          <a:bodyPr wrap="square" lIns="91440" tIns="45720" rIns="91440" bIns="45720" rtlCol="0" anchor="t">
            <a:noAutofit/>
          </a:bodyPr>
          <a:lstStyle/>
          <a:p>
            <a:pPr algn="ctr">
              <a:defRPr/>
            </a:pPr>
          </a:p>
        </p:txBody>
      </p:sp>
      <p:sp>
        <p:nvSpPr>
          <p:cNvPr id="4" name="Freeform 4"/>
          <p:cNvSpPr/>
          <p:nvPr/>
        </p:nvSpPr>
        <p:spPr>
          <a:xfrm>
            <a:off x="2398974" y="6087033"/>
            <a:ext cx="214312" cy="166688"/>
          </a:xfrm>
          <a:custGeom>
            <a:avLst/>
            <a:gdLst/>
            <a:ahLst/>
            <a:cxnLst/>
            <a:rect l="l" t="t" r="r" b="b"/>
            <a:pathLst>
              <a:path w="214312" h="166688">
                <a:moveTo>
                  <a:pt x="17859" y="60945"/>
                </a:moveTo>
                <a:lnTo>
                  <a:pt x="95696" y="92981"/>
                </a:lnTo>
                <a:cubicBezTo>
                  <a:pt x="99343" y="94469"/>
                  <a:pt x="103212" y="95250"/>
                  <a:pt x="107156" y="95250"/>
                </a:cubicBezTo>
                <a:cubicBezTo>
                  <a:pt x="111100" y="95250"/>
                  <a:pt x="114971" y="94469"/>
                  <a:pt x="118615" y="92981"/>
                </a:cubicBezTo>
                <a:lnTo>
                  <a:pt x="208806" y="55849"/>
                </a:lnTo>
                <a:cubicBezTo>
                  <a:pt x="212154" y="54471"/>
                  <a:pt x="214312" y="51235"/>
                  <a:pt x="214312" y="47625"/>
                </a:cubicBezTo>
                <a:cubicBezTo>
                  <a:pt x="214312" y="44016"/>
                  <a:pt x="212154" y="40779"/>
                  <a:pt x="208806" y="39402"/>
                </a:cubicBezTo>
                <a:lnTo>
                  <a:pt x="118615" y="2270"/>
                </a:lnTo>
                <a:cubicBezTo>
                  <a:pt x="114971" y="783"/>
                  <a:pt x="111100" y="0"/>
                  <a:pt x="107156" y="0"/>
                </a:cubicBezTo>
                <a:cubicBezTo>
                  <a:pt x="103212" y="0"/>
                  <a:pt x="99343" y="783"/>
                  <a:pt x="95696" y="2270"/>
                </a:cubicBezTo>
                <a:lnTo>
                  <a:pt x="5507" y="39402"/>
                </a:lnTo>
                <a:cubicBezTo>
                  <a:pt x="2158" y="40779"/>
                  <a:pt x="0" y="44016"/>
                  <a:pt x="0" y="47625"/>
                </a:cubicBezTo>
                <a:lnTo>
                  <a:pt x="0" y="157758"/>
                </a:lnTo>
                <a:cubicBezTo>
                  <a:pt x="0" y="162708"/>
                  <a:pt x="3981" y="166688"/>
                  <a:pt x="8929" y="166688"/>
                </a:cubicBezTo>
                <a:cubicBezTo>
                  <a:pt x="13879" y="166688"/>
                  <a:pt x="17859" y="162708"/>
                  <a:pt x="17859" y="157758"/>
                </a:cubicBezTo>
                <a:lnTo>
                  <a:pt x="17859" y="60945"/>
                </a:lnTo>
                <a:close/>
                <a:moveTo>
                  <a:pt x="35719" y="87623"/>
                </a:moveTo>
                <a:lnTo>
                  <a:pt x="35719" y="130969"/>
                </a:lnTo>
                <a:cubicBezTo>
                  <a:pt x="35719" y="150690"/>
                  <a:pt x="67716" y="166688"/>
                  <a:pt x="107156" y="166688"/>
                </a:cubicBezTo>
                <a:cubicBezTo>
                  <a:pt x="146596" y="166688"/>
                  <a:pt x="178594" y="150690"/>
                  <a:pt x="178594" y="130969"/>
                </a:cubicBezTo>
                <a:lnTo>
                  <a:pt x="178594" y="87586"/>
                </a:lnTo>
                <a:lnTo>
                  <a:pt x="125425" y="109501"/>
                </a:lnTo>
                <a:cubicBezTo>
                  <a:pt x="119621" y="111882"/>
                  <a:pt x="113444" y="113110"/>
                  <a:pt x="107156" y="113110"/>
                </a:cubicBezTo>
                <a:cubicBezTo>
                  <a:pt x="100868" y="113110"/>
                  <a:pt x="94692" y="111882"/>
                  <a:pt x="88889" y="109501"/>
                </a:cubicBezTo>
                <a:lnTo>
                  <a:pt x="35719" y="87586"/>
                </a:ln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874487" y="6046377"/>
            <a:ext cx="10734675"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8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Training a large model is like developing an </a:t>
            </a:r>
            <a:r>
              <a:rPr lang="en-US" sz="885"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intern</a:t>
            </a:r>
            <a:r>
              <a:rPr lang="en-US" sz="88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first learn basic knowledge, then specialized training, and finally adjust based on feedback</a:t>
            </a:r>
            <a:endParaRPr lang="en-US" sz="1100"/>
          </a:p>
        </p:txBody>
      </p:sp>
      <p:grpSp>
        <p:nvGrpSpPr>
          <p:cNvPr id="96" name="组合 95"/>
          <p:cNvGrpSpPr/>
          <p:nvPr>
            <p:custDataLst>
              <p:tags r:id="rId1"/>
            </p:custDataLst>
          </p:nvPr>
        </p:nvGrpSpPr>
        <p:grpSpPr>
          <a:xfrm>
            <a:off x="492125" y="2563495"/>
            <a:ext cx="10603230" cy="2292985"/>
            <a:chOff x="775" y="4037"/>
            <a:chExt cx="16698" cy="3611"/>
          </a:xfrm>
        </p:grpSpPr>
        <p:grpSp>
          <p:nvGrpSpPr>
            <p:cNvPr id="21" name="组合 20"/>
            <p:cNvGrpSpPr/>
            <p:nvPr>
              <p:custDataLst>
                <p:tags r:id="rId2"/>
              </p:custDataLst>
            </p:nvPr>
          </p:nvGrpSpPr>
          <p:grpSpPr>
            <a:xfrm>
              <a:off x="6694" y="4280"/>
              <a:ext cx="1775" cy="2373"/>
              <a:chOff x="1725" y="2970"/>
              <a:chExt cx="1775" cy="2373"/>
            </a:xfrm>
          </p:grpSpPr>
          <p:sp>
            <p:nvSpPr>
              <p:cNvPr id="22" name="Shape 4"/>
              <p:cNvSpPr/>
              <p:nvPr>
                <p:custDataLst>
                  <p:tags r:id="rId3"/>
                </p:custDataLst>
              </p:nvPr>
            </p:nvSpPr>
            <p:spPr>
              <a:xfrm>
                <a:off x="1827" y="2970"/>
                <a:ext cx="1338" cy="1390"/>
              </a:xfrm>
              <a:custGeom>
                <a:avLst/>
                <a:gdLst/>
                <a:ahLst/>
                <a:cxnLst/>
                <a:rect l="l" t="t" r="r" b="b"/>
                <a:pathLst>
                  <a:path w="882361" h="882361">
                    <a:moveTo>
                      <a:pt x="441181" y="0"/>
                    </a:moveTo>
                    <a:lnTo>
                      <a:pt x="441181" y="0"/>
                    </a:lnTo>
                    <a:cubicBezTo>
                      <a:pt x="684675" y="0"/>
                      <a:pt x="882361" y="197686"/>
                      <a:pt x="882361" y="441181"/>
                    </a:cubicBezTo>
                    <a:lnTo>
                      <a:pt x="882361" y="441181"/>
                    </a:lnTo>
                    <a:cubicBezTo>
                      <a:pt x="882361" y="684675"/>
                      <a:pt x="684675" y="882361"/>
                      <a:pt x="441181" y="882361"/>
                    </a:cubicBezTo>
                    <a:lnTo>
                      <a:pt x="441181" y="882361"/>
                    </a:lnTo>
                    <a:cubicBezTo>
                      <a:pt x="197686" y="882361"/>
                      <a:pt x="0" y="684675"/>
                      <a:pt x="0" y="441181"/>
                    </a:cubicBezTo>
                    <a:lnTo>
                      <a:pt x="0" y="441181"/>
                    </a:lnTo>
                    <a:cubicBezTo>
                      <a:pt x="0" y="197686"/>
                      <a:pt x="197686" y="0"/>
                      <a:pt x="441181" y="0"/>
                    </a:cubicBezTo>
                    <a:close/>
                  </a:path>
                </a:pathLst>
              </a:custGeom>
              <a:solidFill>
                <a:srgbClr val="00CED1"/>
              </a:solidFill>
              <a:ln w="46182">
                <a:solidFill>
                  <a:srgbClr val="FFFFFF"/>
                </a:solidFill>
                <a:prstDash val="solid"/>
              </a:ln>
              <a:effectLst>
                <a:outerShdw blurRad="238125" dist="190500" dir="5400000" algn="bl" rotWithShape="0">
                  <a:srgbClr val="000000">
                    <a:alpha val="10196"/>
                  </a:srgbClr>
                </a:outerShdw>
              </a:effectLst>
            </p:spPr>
            <p:txBody>
              <a:bodyPr/>
              <a:p/>
            </p:txBody>
          </p:sp>
          <p:sp>
            <p:nvSpPr>
              <p:cNvPr id="23" name="Text 6"/>
              <p:cNvSpPr/>
              <p:nvPr>
                <p:custDataLst>
                  <p:tags r:id="rId4"/>
                </p:custDataLst>
              </p:nvPr>
            </p:nvSpPr>
            <p:spPr>
              <a:xfrm>
                <a:off x="1725" y="4563"/>
                <a:ext cx="1530" cy="420"/>
              </a:xfrm>
              <a:prstGeom prst="rect">
                <a:avLst/>
              </a:prstGeom>
              <a:noFill/>
            </p:spPr>
            <p:txBody>
              <a:bodyPr wrap="square" lIns="0" tIns="0" rIns="0" bIns="0" rtlCol="0" anchor="ctr"/>
              <a:p>
                <a:pPr algn="ctr">
                  <a:lnSpc>
                    <a:spcPct val="120000"/>
                  </a:lnSpc>
                </a:pPr>
                <a:r>
                  <a:rPr lang="zh-CN" altLang="en-US" sz="700" b="1" dirty="0">
                    <a:solidFill>
                      <a:srgbClr val="333333"/>
                    </a:solidFill>
                    <a:latin typeface="MiSans" panose="00000500000000000000" charset="-122"/>
                    <a:ea typeface="MiSans" panose="00000500000000000000" charset="-122"/>
                    <a:cs typeface="MiSans" panose="00000500000000000000" pitchFamily="34" charset="-120"/>
                  </a:rPr>
                  <a:t>Architecture Design</a:t>
                </a:r>
                <a:endParaRPr lang="zh-CN" altLang="en-US" sz="1500" b="1" dirty="0">
                  <a:solidFill>
                    <a:srgbClr val="333333"/>
                  </a:solidFill>
                  <a:latin typeface="MiSans" panose="00000500000000000000" charset="-122"/>
                  <a:ea typeface="MiSans" panose="00000500000000000000" charset="-122"/>
                  <a:cs typeface="MiSans" panose="00000500000000000000" pitchFamily="34" charset="-120"/>
                </a:endParaRPr>
              </a:p>
            </p:txBody>
          </p:sp>
          <p:sp>
            <p:nvSpPr>
              <p:cNvPr id="24" name="Text 7"/>
              <p:cNvSpPr/>
              <p:nvPr>
                <p:custDataLst>
                  <p:tags r:id="rId5"/>
                </p:custDataLst>
              </p:nvPr>
            </p:nvSpPr>
            <p:spPr>
              <a:xfrm>
                <a:off x="1740" y="4983"/>
                <a:ext cx="1760" cy="360"/>
              </a:xfrm>
              <a:prstGeom prst="rect">
                <a:avLst/>
              </a:prstGeom>
              <a:noFill/>
            </p:spPr>
            <p:txBody>
              <a:bodyPr wrap="square" lIns="0" tIns="0" rIns="0" bIns="0" rtlCol="0" anchor="ctr"/>
              <a:p>
                <a:pPr algn="ctr">
                  <a:lnSpc>
                    <a:spcPct val="130000"/>
                  </a:lnSpc>
                </a:pPr>
                <a:r>
                  <a:rPr lang="zh-CN" altLang="en-US" sz="700" dirty="0">
                    <a:solidFill>
                      <a:srgbClr val="666666"/>
                    </a:solidFill>
                    <a:latin typeface="MiSans" panose="00000500000000000000" charset="-122"/>
                    <a:ea typeface="MiSans" panose="00000500000000000000" charset="-122"/>
                    <a:cs typeface="MiSans" panose="00000500000000000000" pitchFamily="34" charset="-120"/>
                  </a:rPr>
                  <a:t>Large Model Architecture</a:t>
                </a:r>
                <a:r>
                  <a:rPr lang="zh-CN" altLang="en-US" sz="700" dirty="0">
                    <a:solidFill>
                      <a:srgbClr val="666666"/>
                    </a:solidFill>
                    <a:latin typeface="MiSans" panose="00000500000000000000" charset="-122"/>
                    <a:ea typeface="MiSans" panose="00000500000000000000" charset="-122"/>
                    <a:cs typeface="MiSans" panose="00000500000000000000" pitchFamily="34" charset="-120"/>
                  </a:rPr>
                  <a:t>Design</a:t>
                </a:r>
                <a:endParaRPr lang="zh-CN" altLang="en-US" sz="1200" dirty="0">
                  <a:solidFill>
                    <a:srgbClr val="666666"/>
                  </a:solidFill>
                  <a:latin typeface="MiSans" panose="00000500000000000000" charset="-122"/>
                  <a:ea typeface="MiSans" panose="00000500000000000000" charset="-122"/>
                  <a:cs typeface="MiSans" panose="00000500000000000000" pitchFamily="34" charset="-120"/>
                </a:endParaRPr>
              </a:p>
            </p:txBody>
          </p:sp>
        </p:grpSp>
        <p:sp>
          <p:nvSpPr>
            <p:cNvPr id="25" name="Shape 8"/>
            <p:cNvSpPr/>
            <p:nvPr>
              <p:custDataLst>
                <p:tags r:id="rId6"/>
              </p:custDataLst>
            </p:nvPr>
          </p:nvSpPr>
          <p:spPr>
            <a:xfrm>
              <a:off x="13412" y="4037"/>
              <a:ext cx="1390" cy="1390"/>
            </a:xfrm>
            <a:custGeom>
              <a:avLst/>
              <a:gdLst/>
              <a:ahLst/>
              <a:cxnLst/>
              <a:rect l="l" t="t" r="r" b="b"/>
              <a:pathLst>
                <a:path w="882361" h="882361">
                  <a:moveTo>
                    <a:pt x="441181" y="0"/>
                  </a:moveTo>
                  <a:lnTo>
                    <a:pt x="441181" y="0"/>
                  </a:lnTo>
                  <a:cubicBezTo>
                    <a:pt x="684675" y="0"/>
                    <a:pt x="882361" y="197686"/>
                    <a:pt x="882361" y="441181"/>
                  </a:cubicBezTo>
                  <a:lnTo>
                    <a:pt x="882361" y="441181"/>
                  </a:lnTo>
                  <a:cubicBezTo>
                    <a:pt x="882361" y="684675"/>
                    <a:pt x="684675" y="882361"/>
                    <a:pt x="441181" y="882361"/>
                  </a:cubicBezTo>
                  <a:lnTo>
                    <a:pt x="441181" y="882361"/>
                  </a:lnTo>
                  <a:cubicBezTo>
                    <a:pt x="197686" y="882361"/>
                    <a:pt x="0" y="684675"/>
                    <a:pt x="0" y="441181"/>
                  </a:cubicBezTo>
                  <a:lnTo>
                    <a:pt x="0" y="441181"/>
                  </a:lnTo>
                  <a:cubicBezTo>
                    <a:pt x="0" y="197686"/>
                    <a:pt x="197686" y="0"/>
                    <a:pt x="441181" y="0"/>
                  </a:cubicBezTo>
                  <a:close/>
                </a:path>
              </a:pathLst>
            </a:custGeom>
            <a:solidFill>
              <a:srgbClr val="00CED1"/>
            </a:solidFill>
            <a:ln w="46182">
              <a:solidFill>
                <a:srgbClr val="FFFFFF"/>
              </a:solidFill>
              <a:prstDash val="solid"/>
            </a:ln>
            <a:effectLst>
              <a:outerShdw blurRad="238125" dist="190500" dir="5400000" algn="bl" rotWithShape="0">
                <a:srgbClr val="000000">
                  <a:alpha val="10196"/>
                </a:srgbClr>
              </a:outerShdw>
            </a:effectLst>
          </p:spPr>
          <p:txBody>
            <a:bodyPr/>
            <a:p/>
          </p:txBody>
        </p:sp>
        <p:sp>
          <p:nvSpPr>
            <p:cNvPr id="26" name="Shape 9"/>
            <p:cNvSpPr/>
            <p:nvPr>
              <p:custDataLst>
                <p:tags r:id="rId7"/>
              </p:custDataLst>
            </p:nvPr>
          </p:nvSpPr>
          <p:spPr>
            <a:xfrm>
              <a:off x="13912" y="4505"/>
              <a:ext cx="394" cy="450"/>
            </a:xfrm>
            <a:custGeom>
              <a:avLst/>
              <a:gdLst/>
              <a:ahLst/>
              <a:cxnLst/>
              <a:rect l="l" t="t" r="r" b="b"/>
              <a:pathLst>
                <a:path w="250031" h="285750">
                  <a:moveTo>
                    <a:pt x="134671" y="-7255"/>
                  </a:moveTo>
                  <a:cubicBezTo>
                    <a:pt x="128308" y="-8539"/>
                    <a:pt x="121779" y="-8539"/>
                    <a:pt x="115416" y="-7255"/>
                  </a:cubicBezTo>
                  <a:lnTo>
                    <a:pt x="10771" y="13674"/>
                  </a:lnTo>
                  <a:cubicBezTo>
                    <a:pt x="4521" y="14901"/>
                    <a:pt x="0" y="20427"/>
                    <a:pt x="0" y="26789"/>
                  </a:cubicBezTo>
                  <a:cubicBezTo>
                    <a:pt x="0" y="32538"/>
                    <a:pt x="3628" y="37560"/>
                    <a:pt x="8930" y="39402"/>
                  </a:cubicBezTo>
                  <a:lnTo>
                    <a:pt x="8930" y="80367"/>
                  </a:lnTo>
                  <a:lnTo>
                    <a:pt x="167" y="124234"/>
                  </a:lnTo>
                  <a:cubicBezTo>
                    <a:pt x="56" y="124737"/>
                    <a:pt x="0" y="125295"/>
                    <a:pt x="0" y="125853"/>
                  </a:cubicBezTo>
                  <a:cubicBezTo>
                    <a:pt x="0" y="130318"/>
                    <a:pt x="3628" y="134001"/>
                    <a:pt x="8148" y="134001"/>
                  </a:cubicBezTo>
                  <a:lnTo>
                    <a:pt x="27626" y="134001"/>
                  </a:lnTo>
                  <a:cubicBezTo>
                    <a:pt x="32091" y="134001"/>
                    <a:pt x="35775" y="130373"/>
                    <a:pt x="35775" y="125853"/>
                  </a:cubicBezTo>
                  <a:cubicBezTo>
                    <a:pt x="35775" y="125295"/>
                    <a:pt x="35719" y="124792"/>
                    <a:pt x="35607" y="124234"/>
                  </a:cubicBezTo>
                  <a:lnTo>
                    <a:pt x="26789" y="80367"/>
                  </a:lnTo>
                  <a:lnTo>
                    <a:pt x="26789" y="43142"/>
                  </a:lnTo>
                  <a:lnTo>
                    <a:pt x="53578" y="48499"/>
                  </a:lnTo>
                  <a:lnTo>
                    <a:pt x="53578" y="80367"/>
                  </a:lnTo>
                  <a:cubicBezTo>
                    <a:pt x="53578" y="119825"/>
                    <a:pt x="85558" y="151805"/>
                    <a:pt x="125016" y="151805"/>
                  </a:cubicBezTo>
                  <a:cubicBezTo>
                    <a:pt x="164474" y="151805"/>
                    <a:pt x="196453" y="119825"/>
                    <a:pt x="196453" y="80367"/>
                  </a:cubicBezTo>
                  <a:lnTo>
                    <a:pt x="196453" y="48499"/>
                  </a:lnTo>
                  <a:lnTo>
                    <a:pt x="239260" y="39960"/>
                  </a:lnTo>
                  <a:cubicBezTo>
                    <a:pt x="245511" y="38677"/>
                    <a:pt x="250031" y="33151"/>
                    <a:pt x="250031" y="26789"/>
                  </a:cubicBezTo>
                  <a:cubicBezTo>
                    <a:pt x="250031" y="20427"/>
                    <a:pt x="245511" y="14901"/>
                    <a:pt x="239260" y="13674"/>
                  </a:cubicBezTo>
                  <a:lnTo>
                    <a:pt x="134671" y="-7255"/>
                  </a:lnTo>
                  <a:close/>
                  <a:moveTo>
                    <a:pt x="125016" y="125016"/>
                  </a:moveTo>
                  <a:cubicBezTo>
                    <a:pt x="100347" y="125016"/>
                    <a:pt x="80367" y="105035"/>
                    <a:pt x="80367" y="80367"/>
                  </a:cubicBezTo>
                  <a:lnTo>
                    <a:pt x="169664" y="80367"/>
                  </a:lnTo>
                  <a:cubicBezTo>
                    <a:pt x="169664" y="105035"/>
                    <a:pt x="149684" y="125016"/>
                    <a:pt x="125016" y="125016"/>
                  </a:cubicBezTo>
                  <a:close/>
                  <a:moveTo>
                    <a:pt x="67028" y="178650"/>
                  </a:moveTo>
                  <a:cubicBezTo>
                    <a:pt x="32761" y="194388"/>
                    <a:pt x="8930" y="228991"/>
                    <a:pt x="8930" y="269174"/>
                  </a:cubicBezTo>
                  <a:cubicBezTo>
                    <a:pt x="8930" y="278327"/>
                    <a:pt x="16352" y="285750"/>
                    <a:pt x="25505" y="285750"/>
                  </a:cubicBezTo>
                  <a:lnTo>
                    <a:pt x="111621" y="285750"/>
                  </a:lnTo>
                  <a:lnTo>
                    <a:pt x="111621" y="204267"/>
                  </a:lnTo>
                  <a:lnTo>
                    <a:pt x="79586" y="180268"/>
                  </a:lnTo>
                  <a:cubicBezTo>
                    <a:pt x="75958" y="177533"/>
                    <a:pt x="71103" y="176808"/>
                    <a:pt x="66973" y="178705"/>
                  </a:cubicBezTo>
                  <a:close/>
                  <a:moveTo>
                    <a:pt x="138410" y="285750"/>
                  </a:moveTo>
                  <a:lnTo>
                    <a:pt x="224526" y="285750"/>
                  </a:lnTo>
                  <a:cubicBezTo>
                    <a:pt x="233679" y="285750"/>
                    <a:pt x="241102" y="278327"/>
                    <a:pt x="241102" y="269174"/>
                  </a:cubicBezTo>
                  <a:cubicBezTo>
                    <a:pt x="241102" y="228991"/>
                    <a:pt x="217270" y="194388"/>
                    <a:pt x="183003" y="178705"/>
                  </a:cubicBezTo>
                  <a:cubicBezTo>
                    <a:pt x="178873" y="176808"/>
                    <a:pt x="174017" y="177533"/>
                    <a:pt x="170390" y="180268"/>
                  </a:cubicBezTo>
                  <a:lnTo>
                    <a:pt x="138354" y="204267"/>
                  </a:lnTo>
                  <a:lnTo>
                    <a:pt x="138354" y="285750"/>
                  </a:lnTo>
                  <a:close/>
                </a:path>
              </a:pathLst>
            </a:custGeom>
            <a:solidFill>
              <a:srgbClr val="FFFFFF"/>
            </a:solidFill>
          </p:spPr>
          <p:txBody>
            <a:bodyPr/>
            <a:p/>
          </p:txBody>
        </p:sp>
        <p:sp>
          <p:nvSpPr>
            <p:cNvPr id="27" name="Text 10"/>
            <p:cNvSpPr/>
            <p:nvPr>
              <p:custDataLst>
                <p:tags r:id="rId8"/>
              </p:custDataLst>
            </p:nvPr>
          </p:nvSpPr>
          <p:spPr>
            <a:xfrm>
              <a:off x="13310" y="5630"/>
              <a:ext cx="1590" cy="420"/>
            </a:xfrm>
            <a:prstGeom prst="rect">
              <a:avLst/>
            </a:prstGeom>
            <a:noFill/>
          </p:spPr>
          <p:txBody>
            <a:bodyPr wrap="square" lIns="0" tIns="0" rIns="0" bIns="0" rtlCol="0" anchor="ctr"/>
            <a:p>
              <a:pPr algn="ctr">
                <a:lnSpc>
                  <a:spcPct val="120000"/>
                </a:lnSpc>
              </a:pPr>
              <a:r>
                <a:rPr lang="en-US" sz="700" b="1" dirty="0">
                  <a:solidFill>
                    <a:srgbClr val="333333"/>
                  </a:solidFill>
                  <a:latin typeface="MiSans" panose="00000500000000000000" charset="-122"/>
                  <a:ea typeface="MiSans" panose="00000500000000000000" charset="-122"/>
                  <a:cs typeface="MiSans" panose="00000500000000000000" pitchFamily="34" charset="-120"/>
                </a:rPr>
                <a:t>SFT</a:t>
              </a:r>
              <a:endParaRPr lang="en-US" sz="1600" dirty="0"/>
            </a:p>
          </p:txBody>
        </p:sp>
        <p:sp>
          <p:nvSpPr>
            <p:cNvPr id="28" name="Text 11"/>
            <p:cNvSpPr/>
            <p:nvPr>
              <p:custDataLst>
                <p:tags r:id="rId9"/>
              </p:custDataLst>
            </p:nvPr>
          </p:nvSpPr>
          <p:spPr>
            <a:xfrm>
              <a:off x="13325" y="6050"/>
              <a:ext cx="1560" cy="360"/>
            </a:xfrm>
            <a:prstGeom prst="rect">
              <a:avLst/>
            </a:prstGeom>
            <a:noFill/>
          </p:spPr>
          <p:txBody>
            <a:bodyPr wrap="square" lIns="0" tIns="0" rIns="0" bIns="0" rtlCol="0" anchor="ctr"/>
            <a:p>
              <a:pPr algn="ctr">
                <a:lnSpc>
                  <a:spcPct val="130000"/>
                </a:lnSpc>
              </a:pPr>
              <a:r>
                <a:rPr lang="en-US" sz="700" dirty="0">
                  <a:solidFill>
                    <a:srgbClr val="666666"/>
                  </a:solidFill>
                  <a:latin typeface="MiSans" panose="00000500000000000000" charset="-122"/>
                  <a:ea typeface="MiSans" panose="00000500000000000000" charset="-122"/>
                  <a:cs typeface="MiSans" panose="00000500000000000000" pitchFamily="34" charset="-120"/>
                </a:rPr>
                <a:t>Supervised Fine-tuning</a:t>
              </a:r>
              <a:endParaRPr lang="en-US" sz="1600" dirty="0"/>
            </a:p>
          </p:txBody>
        </p:sp>
        <p:grpSp>
          <p:nvGrpSpPr>
            <p:cNvPr id="53" name="组合 52"/>
            <p:cNvGrpSpPr/>
            <p:nvPr>
              <p:custDataLst>
                <p:tags r:id="rId10"/>
              </p:custDataLst>
            </p:nvPr>
          </p:nvGrpSpPr>
          <p:grpSpPr>
            <a:xfrm>
              <a:off x="15883" y="5276"/>
              <a:ext cx="1590" cy="2373"/>
              <a:chOff x="14967" y="5856"/>
              <a:chExt cx="1590" cy="2373"/>
            </a:xfrm>
          </p:grpSpPr>
          <p:sp>
            <p:nvSpPr>
              <p:cNvPr id="29" name="Shape 12"/>
              <p:cNvSpPr/>
              <p:nvPr>
                <p:custDataLst>
                  <p:tags r:id="rId11"/>
                </p:custDataLst>
              </p:nvPr>
            </p:nvSpPr>
            <p:spPr>
              <a:xfrm>
                <a:off x="15069" y="5856"/>
                <a:ext cx="1390" cy="1390"/>
              </a:xfrm>
              <a:custGeom>
                <a:avLst/>
                <a:gdLst/>
                <a:ahLst/>
                <a:cxnLst/>
                <a:rect l="l" t="t" r="r" b="b"/>
                <a:pathLst>
                  <a:path w="882361" h="882361">
                    <a:moveTo>
                      <a:pt x="441181" y="0"/>
                    </a:moveTo>
                    <a:lnTo>
                      <a:pt x="441181" y="0"/>
                    </a:lnTo>
                    <a:cubicBezTo>
                      <a:pt x="684675" y="0"/>
                      <a:pt x="882361" y="197686"/>
                      <a:pt x="882361" y="441181"/>
                    </a:cubicBezTo>
                    <a:lnTo>
                      <a:pt x="882361" y="441181"/>
                    </a:lnTo>
                    <a:cubicBezTo>
                      <a:pt x="882361" y="684675"/>
                      <a:pt x="684675" y="882361"/>
                      <a:pt x="441181" y="882361"/>
                    </a:cubicBezTo>
                    <a:lnTo>
                      <a:pt x="441181" y="882361"/>
                    </a:lnTo>
                    <a:cubicBezTo>
                      <a:pt x="197686" y="882361"/>
                      <a:pt x="0" y="684675"/>
                      <a:pt x="0" y="441181"/>
                    </a:cubicBezTo>
                    <a:lnTo>
                      <a:pt x="0" y="441181"/>
                    </a:lnTo>
                    <a:cubicBezTo>
                      <a:pt x="0" y="197686"/>
                      <a:pt x="197686" y="0"/>
                      <a:pt x="441181" y="0"/>
                    </a:cubicBezTo>
                    <a:close/>
                  </a:path>
                </a:pathLst>
              </a:custGeom>
              <a:solidFill>
                <a:srgbClr val="5B92E5"/>
              </a:solidFill>
              <a:ln w="46182">
                <a:solidFill>
                  <a:srgbClr val="FFFFFF"/>
                </a:solidFill>
                <a:prstDash val="solid"/>
              </a:ln>
              <a:effectLst>
                <a:outerShdw blurRad="142875" dist="95250" dir="5400000" algn="bl" rotWithShape="0">
                  <a:srgbClr val="000000">
                    <a:alpha val="10196"/>
                  </a:srgbClr>
                </a:outerShdw>
              </a:effectLst>
            </p:spPr>
            <p:txBody>
              <a:bodyPr/>
              <a:p/>
            </p:txBody>
          </p:sp>
          <p:sp>
            <p:nvSpPr>
              <p:cNvPr id="30" name="Shape 13"/>
              <p:cNvSpPr/>
              <p:nvPr>
                <p:custDataLst>
                  <p:tags r:id="rId12"/>
                </p:custDataLst>
              </p:nvPr>
            </p:nvSpPr>
            <p:spPr>
              <a:xfrm>
                <a:off x="15541" y="6324"/>
                <a:ext cx="450" cy="450"/>
              </a:xfrm>
              <a:custGeom>
                <a:avLst/>
                <a:gdLst/>
                <a:ahLst/>
                <a:cxnLst/>
                <a:rect l="l" t="t" r="r" b="b"/>
                <a:pathLst>
                  <a:path w="285750" h="285750">
                    <a:moveTo>
                      <a:pt x="44648" y="89297"/>
                    </a:moveTo>
                    <a:cubicBezTo>
                      <a:pt x="54527" y="89297"/>
                      <a:pt x="62508" y="97278"/>
                      <a:pt x="62508" y="107156"/>
                    </a:cubicBezTo>
                    <a:lnTo>
                      <a:pt x="62508" y="250031"/>
                    </a:lnTo>
                    <a:cubicBezTo>
                      <a:pt x="62508" y="259910"/>
                      <a:pt x="54527" y="267891"/>
                      <a:pt x="44648" y="267891"/>
                    </a:cubicBezTo>
                    <a:lnTo>
                      <a:pt x="17859" y="267891"/>
                    </a:lnTo>
                    <a:cubicBezTo>
                      <a:pt x="7981" y="267891"/>
                      <a:pt x="0" y="259910"/>
                      <a:pt x="0" y="250031"/>
                    </a:cubicBezTo>
                    <a:lnTo>
                      <a:pt x="0" y="107156"/>
                    </a:lnTo>
                    <a:cubicBezTo>
                      <a:pt x="0" y="97278"/>
                      <a:pt x="7981" y="89297"/>
                      <a:pt x="17859" y="89297"/>
                    </a:cubicBezTo>
                    <a:lnTo>
                      <a:pt x="44648" y="89297"/>
                    </a:lnTo>
                    <a:close/>
                    <a:moveTo>
                      <a:pt x="151023" y="8930"/>
                    </a:moveTo>
                    <a:cubicBezTo>
                      <a:pt x="166260" y="8930"/>
                      <a:pt x="178594" y="21264"/>
                      <a:pt x="178594" y="36500"/>
                    </a:cubicBezTo>
                    <a:lnTo>
                      <a:pt x="178594" y="38844"/>
                    </a:lnTo>
                    <a:cubicBezTo>
                      <a:pt x="178594" y="42639"/>
                      <a:pt x="177868" y="46434"/>
                      <a:pt x="176473" y="49950"/>
                    </a:cubicBezTo>
                    <a:lnTo>
                      <a:pt x="160734" y="89297"/>
                    </a:lnTo>
                    <a:lnTo>
                      <a:pt x="250031" y="89297"/>
                    </a:lnTo>
                    <a:cubicBezTo>
                      <a:pt x="264821" y="89297"/>
                      <a:pt x="276820" y="101296"/>
                      <a:pt x="276820" y="116086"/>
                    </a:cubicBezTo>
                    <a:cubicBezTo>
                      <a:pt x="276820" y="127081"/>
                      <a:pt x="270179" y="136513"/>
                      <a:pt x="260691" y="140643"/>
                    </a:cubicBezTo>
                    <a:cubicBezTo>
                      <a:pt x="270179" y="144773"/>
                      <a:pt x="276820" y="154205"/>
                      <a:pt x="276820" y="165199"/>
                    </a:cubicBezTo>
                    <a:cubicBezTo>
                      <a:pt x="276820" y="178259"/>
                      <a:pt x="267444" y="189142"/>
                      <a:pt x="255054" y="191486"/>
                    </a:cubicBezTo>
                    <a:cubicBezTo>
                      <a:pt x="257510" y="195560"/>
                      <a:pt x="258961" y="200304"/>
                      <a:pt x="258961" y="205383"/>
                    </a:cubicBezTo>
                    <a:cubicBezTo>
                      <a:pt x="258961" y="217773"/>
                      <a:pt x="250589" y="228154"/>
                      <a:pt x="239204" y="231223"/>
                    </a:cubicBezTo>
                    <a:cubicBezTo>
                      <a:pt x="240432" y="234293"/>
                      <a:pt x="241102" y="237641"/>
                      <a:pt x="241102" y="241102"/>
                    </a:cubicBezTo>
                    <a:cubicBezTo>
                      <a:pt x="241102" y="255891"/>
                      <a:pt x="229102" y="267891"/>
                      <a:pt x="214313" y="267891"/>
                    </a:cubicBezTo>
                    <a:lnTo>
                      <a:pt x="165255" y="267891"/>
                    </a:lnTo>
                    <a:cubicBezTo>
                      <a:pt x="144996" y="267891"/>
                      <a:pt x="125295" y="260970"/>
                      <a:pt x="109500" y="248301"/>
                    </a:cubicBezTo>
                    <a:lnTo>
                      <a:pt x="102691" y="242888"/>
                    </a:lnTo>
                    <a:cubicBezTo>
                      <a:pt x="94208" y="236134"/>
                      <a:pt x="89297" y="225865"/>
                      <a:pt x="89297" y="214982"/>
                    </a:cubicBezTo>
                    <a:lnTo>
                      <a:pt x="89297" y="110840"/>
                    </a:lnTo>
                    <a:cubicBezTo>
                      <a:pt x="89297" y="102524"/>
                      <a:pt x="91250" y="94320"/>
                      <a:pt x="94934" y="86897"/>
                    </a:cubicBezTo>
                    <a:lnTo>
                      <a:pt x="126299" y="24166"/>
                    </a:lnTo>
                    <a:cubicBezTo>
                      <a:pt x="130987" y="14846"/>
                      <a:pt x="140531" y="8930"/>
                      <a:pt x="151023" y="8930"/>
                    </a:cubicBezTo>
                    <a:close/>
                  </a:path>
                </a:pathLst>
              </a:custGeom>
              <a:solidFill>
                <a:srgbClr val="FFFFFF"/>
              </a:solidFill>
            </p:spPr>
            <p:txBody>
              <a:bodyPr/>
              <a:p/>
            </p:txBody>
          </p:sp>
          <p:sp>
            <p:nvSpPr>
              <p:cNvPr id="31" name="Text 14"/>
              <p:cNvSpPr/>
              <p:nvPr>
                <p:custDataLst>
                  <p:tags r:id="rId13"/>
                </p:custDataLst>
              </p:nvPr>
            </p:nvSpPr>
            <p:spPr>
              <a:xfrm>
                <a:off x="14967" y="7449"/>
                <a:ext cx="1590" cy="420"/>
              </a:xfrm>
              <a:prstGeom prst="rect">
                <a:avLst/>
              </a:prstGeom>
              <a:noFill/>
            </p:spPr>
            <p:txBody>
              <a:bodyPr wrap="square" lIns="0" tIns="0" rIns="0" bIns="0" rtlCol="0" anchor="ctr"/>
              <a:p>
                <a:pPr algn="ctr">
                  <a:lnSpc>
                    <a:spcPct val="120000"/>
                  </a:lnSpc>
                </a:pPr>
                <a:r>
                  <a:rPr lang="en-US" sz="700" b="1" dirty="0">
                    <a:solidFill>
                      <a:srgbClr val="333333"/>
                    </a:solidFill>
                    <a:latin typeface="MiSans" panose="00000500000000000000" charset="-122"/>
                    <a:ea typeface="MiSans" panose="00000500000000000000" charset="-122"/>
                    <a:cs typeface="MiSans" panose="00000500000000000000" pitchFamily="34" charset="-120"/>
                  </a:rPr>
                  <a:t>RLHF</a:t>
                </a:r>
                <a:endParaRPr lang="en-US" sz="1600" dirty="0"/>
              </a:p>
            </p:txBody>
          </p:sp>
          <p:sp>
            <p:nvSpPr>
              <p:cNvPr id="32" name="Text 15"/>
              <p:cNvSpPr/>
              <p:nvPr>
                <p:custDataLst>
                  <p:tags r:id="rId14"/>
                </p:custDataLst>
              </p:nvPr>
            </p:nvSpPr>
            <p:spPr>
              <a:xfrm>
                <a:off x="14982" y="7869"/>
                <a:ext cx="1560" cy="360"/>
              </a:xfrm>
              <a:prstGeom prst="rect">
                <a:avLst/>
              </a:prstGeom>
              <a:noFill/>
            </p:spPr>
            <p:txBody>
              <a:bodyPr wrap="square" lIns="0" tIns="0" rIns="0" bIns="0" rtlCol="0" anchor="ctr"/>
              <a:p>
                <a:pPr algn="ctr">
                  <a:lnSpc>
                    <a:spcPct val="130000"/>
                  </a:lnSpc>
                </a:pPr>
                <a:r>
                  <a:rPr lang="en-US" sz="700" dirty="0">
                    <a:solidFill>
                      <a:srgbClr val="666666"/>
                    </a:solidFill>
                    <a:latin typeface="MiSans" panose="00000500000000000000" charset="-122"/>
                    <a:ea typeface="MiSans" panose="00000500000000000000" charset="-122"/>
                    <a:cs typeface="MiSans" panose="00000500000000000000" pitchFamily="34" charset="-120"/>
                  </a:rPr>
                  <a:t>Human Feedback</a:t>
                </a:r>
                <a:endParaRPr lang="en-US" sz="1600" dirty="0"/>
              </a:p>
            </p:txBody>
          </p:sp>
        </p:grpSp>
        <p:grpSp>
          <p:nvGrpSpPr>
            <p:cNvPr id="33" name="组合 32"/>
            <p:cNvGrpSpPr/>
            <p:nvPr>
              <p:custDataLst>
                <p:tags r:id="rId15"/>
              </p:custDataLst>
            </p:nvPr>
          </p:nvGrpSpPr>
          <p:grpSpPr>
            <a:xfrm>
              <a:off x="775" y="4037"/>
              <a:ext cx="1530" cy="2373"/>
              <a:chOff x="1725" y="2970"/>
              <a:chExt cx="1530" cy="2373"/>
            </a:xfrm>
          </p:grpSpPr>
          <p:sp>
            <p:nvSpPr>
              <p:cNvPr id="34" name="Shape 4"/>
              <p:cNvSpPr/>
              <p:nvPr>
                <p:custDataLst>
                  <p:tags r:id="rId16"/>
                </p:custDataLst>
              </p:nvPr>
            </p:nvSpPr>
            <p:spPr>
              <a:xfrm>
                <a:off x="1827" y="2970"/>
                <a:ext cx="1338" cy="1390"/>
              </a:xfrm>
              <a:custGeom>
                <a:avLst/>
                <a:gdLst/>
                <a:ahLst/>
                <a:cxnLst/>
                <a:rect l="l" t="t" r="r" b="b"/>
                <a:pathLst>
                  <a:path w="882361" h="882361">
                    <a:moveTo>
                      <a:pt x="441181" y="0"/>
                    </a:moveTo>
                    <a:lnTo>
                      <a:pt x="441181" y="0"/>
                    </a:lnTo>
                    <a:cubicBezTo>
                      <a:pt x="684675" y="0"/>
                      <a:pt x="882361" y="197686"/>
                      <a:pt x="882361" y="441181"/>
                    </a:cubicBezTo>
                    <a:lnTo>
                      <a:pt x="882361" y="441181"/>
                    </a:lnTo>
                    <a:cubicBezTo>
                      <a:pt x="882361" y="684675"/>
                      <a:pt x="684675" y="882361"/>
                      <a:pt x="441181" y="882361"/>
                    </a:cubicBezTo>
                    <a:lnTo>
                      <a:pt x="441181" y="882361"/>
                    </a:lnTo>
                    <a:cubicBezTo>
                      <a:pt x="197686" y="882361"/>
                      <a:pt x="0" y="684675"/>
                      <a:pt x="0" y="441181"/>
                    </a:cubicBezTo>
                    <a:lnTo>
                      <a:pt x="0" y="441181"/>
                    </a:lnTo>
                    <a:cubicBezTo>
                      <a:pt x="0" y="197686"/>
                      <a:pt x="197686" y="0"/>
                      <a:pt x="441181" y="0"/>
                    </a:cubicBezTo>
                    <a:close/>
                  </a:path>
                </a:pathLst>
              </a:custGeom>
              <a:solidFill>
                <a:srgbClr val="00CED1"/>
              </a:solidFill>
              <a:ln w="46182">
                <a:solidFill>
                  <a:srgbClr val="FFFFFF"/>
                </a:solidFill>
                <a:prstDash val="solid"/>
              </a:ln>
              <a:effectLst>
                <a:outerShdw blurRad="238125" dist="190500" dir="5400000" algn="bl" rotWithShape="0">
                  <a:srgbClr val="000000">
                    <a:alpha val="10196"/>
                  </a:srgbClr>
                </a:outerShdw>
              </a:effectLst>
            </p:spPr>
            <p:txBody>
              <a:bodyPr/>
              <a:p/>
            </p:txBody>
          </p:sp>
          <p:sp>
            <p:nvSpPr>
              <p:cNvPr id="35" name="Shape 5"/>
              <p:cNvSpPr/>
              <p:nvPr>
                <p:custDataLst>
                  <p:tags r:id="rId17"/>
                </p:custDataLst>
              </p:nvPr>
            </p:nvSpPr>
            <p:spPr>
              <a:xfrm>
                <a:off x="2188" y="3403"/>
                <a:ext cx="603" cy="485"/>
              </a:xfrm>
              <a:custGeom>
                <a:avLst/>
                <a:gdLst/>
                <a:ahLst/>
                <a:cxnLst/>
                <a:rect l="l" t="t" r="r" b="b"/>
                <a:pathLst>
                  <a:path w="250031" h="285750">
                    <a:moveTo>
                      <a:pt x="250031" y="114858"/>
                    </a:moveTo>
                    <a:cubicBezTo>
                      <a:pt x="241771" y="120328"/>
                      <a:pt x="232283" y="124737"/>
                      <a:pt x="222405" y="128253"/>
                    </a:cubicBezTo>
                    <a:cubicBezTo>
                      <a:pt x="196174" y="137629"/>
                      <a:pt x="161739" y="142875"/>
                      <a:pt x="125016" y="142875"/>
                    </a:cubicBezTo>
                    <a:cubicBezTo>
                      <a:pt x="88292" y="142875"/>
                      <a:pt x="53801" y="137573"/>
                      <a:pt x="27626" y="128253"/>
                    </a:cubicBezTo>
                    <a:cubicBezTo>
                      <a:pt x="17804" y="124737"/>
                      <a:pt x="8260" y="120328"/>
                      <a:pt x="0" y="114858"/>
                    </a:cubicBezTo>
                    <a:lnTo>
                      <a:pt x="0" y="160734"/>
                    </a:lnTo>
                    <a:cubicBezTo>
                      <a:pt x="0" y="185403"/>
                      <a:pt x="55978" y="205383"/>
                      <a:pt x="125016" y="205383"/>
                    </a:cubicBezTo>
                    <a:cubicBezTo>
                      <a:pt x="194053" y="205383"/>
                      <a:pt x="250031" y="185403"/>
                      <a:pt x="250031" y="160734"/>
                    </a:cubicBezTo>
                    <a:lnTo>
                      <a:pt x="250031" y="114858"/>
                    </a:lnTo>
                    <a:close/>
                    <a:moveTo>
                      <a:pt x="250031" y="71438"/>
                    </a:moveTo>
                    <a:lnTo>
                      <a:pt x="250031" y="44648"/>
                    </a:lnTo>
                    <a:cubicBezTo>
                      <a:pt x="250031" y="19980"/>
                      <a:pt x="194053" y="0"/>
                      <a:pt x="125016" y="0"/>
                    </a:cubicBezTo>
                    <a:cubicBezTo>
                      <a:pt x="55978" y="0"/>
                      <a:pt x="0" y="19980"/>
                      <a:pt x="0" y="44648"/>
                    </a:cubicBezTo>
                    <a:lnTo>
                      <a:pt x="0" y="71438"/>
                    </a:lnTo>
                    <a:cubicBezTo>
                      <a:pt x="0" y="96106"/>
                      <a:pt x="55978" y="116086"/>
                      <a:pt x="125016" y="116086"/>
                    </a:cubicBezTo>
                    <a:cubicBezTo>
                      <a:pt x="194053" y="116086"/>
                      <a:pt x="250031" y="96106"/>
                      <a:pt x="250031" y="71438"/>
                    </a:cubicBezTo>
                    <a:close/>
                    <a:moveTo>
                      <a:pt x="222405" y="217550"/>
                    </a:moveTo>
                    <a:cubicBezTo>
                      <a:pt x="196230" y="226870"/>
                      <a:pt x="161795" y="232172"/>
                      <a:pt x="125016" y="232172"/>
                    </a:cubicBezTo>
                    <a:cubicBezTo>
                      <a:pt x="88236" y="232172"/>
                      <a:pt x="53801" y="226870"/>
                      <a:pt x="27626" y="217550"/>
                    </a:cubicBezTo>
                    <a:cubicBezTo>
                      <a:pt x="17804" y="214033"/>
                      <a:pt x="8260" y="209624"/>
                      <a:pt x="0" y="204155"/>
                    </a:cubicBezTo>
                    <a:lnTo>
                      <a:pt x="0" y="241102"/>
                    </a:lnTo>
                    <a:cubicBezTo>
                      <a:pt x="0" y="265770"/>
                      <a:pt x="55978" y="285750"/>
                      <a:pt x="125016" y="285750"/>
                    </a:cubicBezTo>
                    <a:cubicBezTo>
                      <a:pt x="194053" y="285750"/>
                      <a:pt x="250031" y="265770"/>
                      <a:pt x="250031" y="241102"/>
                    </a:cubicBezTo>
                    <a:lnTo>
                      <a:pt x="250031" y="204155"/>
                    </a:lnTo>
                    <a:cubicBezTo>
                      <a:pt x="241771" y="209624"/>
                      <a:pt x="232283" y="214033"/>
                      <a:pt x="222405" y="217550"/>
                    </a:cubicBezTo>
                    <a:close/>
                  </a:path>
                </a:pathLst>
              </a:custGeom>
              <a:blipFill rotWithShape="1">
                <a:blip r:embed="rId18"/>
                <a:stretch>
                  <a:fillRect/>
                </a:stretch>
              </a:blipFill>
            </p:spPr>
            <p:txBody>
              <a:bodyPr/>
              <a:p/>
            </p:txBody>
          </p:sp>
          <p:sp>
            <p:nvSpPr>
              <p:cNvPr id="36" name="Text 6"/>
              <p:cNvSpPr/>
              <p:nvPr>
                <p:custDataLst>
                  <p:tags r:id="rId19"/>
                </p:custDataLst>
              </p:nvPr>
            </p:nvSpPr>
            <p:spPr>
              <a:xfrm>
                <a:off x="1725" y="4563"/>
                <a:ext cx="1530" cy="420"/>
              </a:xfrm>
              <a:prstGeom prst="rect">
                <a:avLst/>
              </a:prstGeom>
              <a:noFill/>
            </p:spPr>
            <p:txBody>
              <a:bodyPr wrap="square" lIns="0" tIns="0" rIns="0" bIns="0" rtlCol="0" anchor="ctr"/>
              <a:p>
                <a:pPr algn="ctr">
                  <a:lnSpc>
                    <a:spcPct val="120000"/>
                  </a:lnSpc>
                </a:pPr>
                <a:r>
                  <a:rPr lang="zh-CN" altLang="en-US" sz="700" b="1" dirty="0">
                    <a:solidFill>
                      <a:srgbClr val="333333"/>
                    </a:solidFill>
                    <a:latin typeface="MiSans" panose="00000500000000000000" charset="-122"/>
                    <a:ea typeface="MiSans" panose="00000500000000000000" charset="-122"/>
                    <a:cs typeface="MiSans" panose="00000500000000000000" pitchFamily="34" charset="-120"/>
                  </a:rPr>
                  <a:t>Data</a:t>
                </a:r>
                <a:r>
                  <a:rPr lang="zh-CN" altLang="en-US" sz="700" b="1" dirty="0">
                    <a:solidFill>
                      <a:srgbClr val="333333"/>
                    </a:solidFill>
                    <a:latin typeface="MiSans" panose="00000500000000000000" charset="-122"/>
                    <a:ea typeface="MiSans" panose="00000500000000000000" charset="-122"/>
                    <a:cs typeface="MiSans" panose="00000500000000000000" pitchFamily="34" charset="-120"/>
                  </a:rPr>
                  <a:t>Collection</a:t>
                </a:r>
                <a:endParaRPr lang="zh-CN" altLang="en-US" sz="1500" b="1" dirty="0">
                  <a:solidFill>
                    <a:srgbClr val="333333"/>
                  </a:solidFill>
                  <a:latin typeface="MiSans" panose="00000500000000000000" charset="-122"/>
                  <a:ea typeface="MiSans" panose="00000500000000000000" charset="-122"/>
                  <a:cs typeface="MiSans" panose="00000500000000000000" pitchFamily="34" charset="-120"/>
                </a:endParaRPr>
              </a:p>
            </p:txBody>
          </p:sp>
          <p:sp>
            <p:nvSpPr>
              <p:cNvPr id="37" name="Text 7"/>
              <p:cNvSpPr/>
              <p:nvPr>
                <p:custDataLst>
                  <p:tags r:id="rId20"/>
                </p:custDataLst>
              </p:nvPr>
            </p:nvSpPr>
            <p:spPr>
              <a:xfrm>
                <a:off x="1740" y="4983"/>
                <a:ext cx="1501" cy="360"/>
              </a:xfrm>
              <a:prstGeom prst="rect">
                <a:avLst/>
              </a:prstGeom>
              <a:noFill/>
            </p:spPr>
            <p:txBody>
              <a:bodyPr wrap="square" lIns="0" tIns="0" rIns="0" bIns="0" rtlCol="0" anchor="ctr"/>
              <a:p>
                <a:pPr algn="ctr">
                  <a:lnSpc>
                    <a:spcPct val="130000"/>
                  </a:lnSpc>
                </a:pPr>
                <a:r>
                  <a:rPr lang="zh-CN" altLang="en-US" sz="700" dirty="0">
                    <a:solidFill>
                      <a:srgbClr val="666666"/>
                    </a:solidFill>
                    <a:latin typeface="MiSans" panose="00000500000000000000" charset="-122"/>
                    <a:ea typeface="MiSans" panose="00000500000000000000" charset="-122"/>
                    <a:cs typeface="MiSans" panose="00000500000000000000" pitchFamily="34" charset="-120"/>
                  </a:rPr>
                  <a:t>Collect Training</a:t>
                </a:r>
                <a:r>
                  <a:rPr lang="zh-CN" altLang="en-US" sz="700" dirty="0">
                    <a:solidFill>
                      <a:srgbClr val="666666"/>
                    </a:solidFill>
                    <a:latin typeface="MiSans" panose="00000500000000000000" charset="-122"/>
                    <a:ea typeface="MiSans" panose="00000500000000000000" charset="-122"/>
                    <a:cs typeface="MiSans" panose="00000500000000000000" pitchFamily="34" charset="-120"/>
                  </a:rPr>
                  <a:t>Data</a:t>
                </a:r>
                <a:endParaRPr lang="zh-CN" altLang="en-US" sz="1200" dirty="0">
                  <a:solidFill>
                    <a:srgbClr val="666666"/>
                  </a:solidFill>
                  <a:latin typeface="MiSans" panose="00000500000000000000" charset="-122"/>
                  <a:ea typeface="MiSans" panose="00000500000000000000" charset="-122"/>
                  <a:cs typeface="MiSans" panose="00000500000000000000" pitchFamily="34" charset="-120"/>
                </a:endParaRPr>
              </a:p>
            </p:txBody>
          </p:sp>
        </p:grpSp>
        <p:sp>
          <p:nvSpPr>
            <p:cNvPr id="38" name="Shape 4"/>
            <p:cNvSpPr/>
            <p:nvPr>
              <p:custDataLst>
                <p:tags r:id="rId21"/>
              </p:custDataLst>
            </p:nvPr>
          </p:nvSpPr>
          <p:spPr>
            <a:xfrm>
              <a:off x="10267" y="5202"/>
              <a:ext cx="1338" cy="1390"/>
            </a:xfrm>
            <a:custGeom>
              <a:avLst/>
              <a:gdLst/>
              <a:ahLst/>
              <a:cxnLst/>
              <a:rect l="l" t="t" r="r" b="b"/>
              <a:pathLst>
                <a:path w="882361" h="882361">
                  <a:moveTo>
                    <a:pt x="441181" y="0"/>
                  </a:moveTo>
                  <a:lnTo>
                    <a:pt x="441181" y="0"/>
                  </a:lnTo>
                  <a:cubicBezTo>
                    <a:pt x="684675" y="0"/>
                    <a:pt x="882361" y="197686"/>
                    <a:pt x="882361" y="441181"/>
                  </a:cubicBezTo>
                  <a:lnTo>
                    <a:pt x="882361" y="441181"/>
                  </a:lnTo>
                  <a:cubicBezTo>
                    <a:pt x="882361" y="684675"/>
                    <a:pt x="684675" y="882361"/>
                    <a:pt x="441181" y="882361"/>
                  </a:cubicBezTo>
                  <a:lnTo>
                    <a:pt x="441181" y="882361"/>
                  </a:lnTo>
                  <a:cubicBezTo>
                    <a:pt x="197686" y="882361"/>
                    <a:pt x="0" y="684675"/>
                    <a:pt x="0" y="441181"/>
                  </a:cubicBezTo>
                  <a:lnTo>
                    <a:pt x="0" y="441181"/>
                  </a:lnTo>
                  <a:cubicBezTo>
                    <a:pt x="0" y="197686"/>
                    <a:pt x="197686" y="0"/>
                    <a:pt x="441181" y="0"/>
                  </a:cubicBezTo>
                  <a:close/>
                </a:path>
              </a:pathLst>
            </a:custGeom>
            <a:solidFill>
              <a:srgbClr val="5B92E5"/>
            </a:solidFill>
            <a:ln w="46182">
              <a:solidFill>
                <a:srgbClr val="FFFFFF"/>
              </a:solidFill>
              <a:prstDash val="solid"/>
            </a:ln>
            <a:effectLst>
              <a:outerShdw blurRad="142875" dist="95250" dir="5400000" algn="bl" rotWithShape="0">
                <a:srgbClr val="000000">
                  <a:alpha val="10196"/>
                </a:srgbClr>
              </a:outerShdw>
            </a:effectLst>
          </p:spPr>
          <p:txBody>
            <a:bodyPr/>
            <a:p/>
          </p:txBody>
        </p:sp>
        <p:sp>
          <p:nvSpPr>
            <p:cNvPr id="39" name="Shape 5"/>
            <p:cNvSpPr/>
            <p:nvPr>
              <p:custDataLst>
                <p:tags r:id="rId22"/>
              </p:custDataLst>
            </p:nvPr>
          </p:nvSpPr>
          <p:spPr>
            <a:xfrm>
              <a:off x="10767" y="5670"/>
              <a:ext cx="379" cy="450"/>
            </a:xfrm>
            <a:custGeom>
              <a:avLst/>
              <a:gdLst/>
              <a:ahLst/>
              <a:cxnLst/>
              <a:rect l="l" t="t" r="r" b="b"/>
              <a:pathLst>
                <a:path w="250031" h="285750">
                  <a:moveTo>
                    <a:pt x="250031" y="114858"/>
                  </a:moveTo>
                  <a:cubicBezTo>
                    <a:pt x="241771" y="120328"/>
                    <a:pt x="232283" y="124737"/>
                    <a:pt x="222405" y="128253"/>
                  </a:cubicBezTo>
                  <a:cubicBezTo>
                    <a:pt x="196174" y="137629"/>
                    <a:pt x="161739" y="142875"/>
                    <a:pt x="125016" y="142875"/>
                  </a:cubicBezTo>
                  <a:cubicBezTo>
                    <a:pt x="88292" y="142875"/>
                    <a:pt x="53801" y="137573"/>
                    <a:pt x="27626" y="128253"/>
                  </a:cubicBezTo>
                  <a:cubicBezTo>
                    <a:pt x="17804" y="124737"/>
                    <a:pt x="8260" y="120328"/>
                    <a:pt x="0" y="114858"/>
                  </a:cubicBezTo>
                  <a:lnTo>
                    <a:pt x="0" y="160734"/>
                  </a:lnTo>
                  <a:cubicBezTo>
                    <a:pt x="0" y="185403"/>
                    <a:pt x="55978" y="205383"/>
                    <a:pt x="125016" y="205383"/>
                  </a:cubicBezTo>
                  <a:cubicBezTo>
                    <a:pt x="194053" y="205383"/>
                    <a:pt x="250031" y="185403"/>
                    <a:pt x="250031" y="160734"/>
                  </a:cubicBezTo>
                  <a:lnTo>
                    <a:pt x="250031" y="114858"/>
                  </a:lnTo>
                  <a:close/>
                  <a:moveTo>
                    <a:pt x="250031" y="71438"/>
                  </a:moveTo>
                  <a:lnTo>
                    <a:pt x="250031" y="44648"/>
                  </a:lnTo>
                  <a:cubicBezTo>
                    <a:pt x="250031" y="19980"/>
                    <a:pt x="194053" y="0"/>
                    <a:pt x="125016" y="0"/>
                  </a:cubicBezTo>
                  <a:cubicBezTo>
                    <a:pt x="55978" y="0"/>
                    <a:pt x="0" y="19980"/>
                    <a:pt x="0" y="44648"/>
                  </a:cubicBezTo>
                  <a:lnTo>
                    <a:pt x="0" y="71438"/>
                  </a:lnTo>
                  <a:cubicBezTo>
                    <a:pt x="0" y="96106"/>
                    <a:pt x="55978" y="116086"/>
                    <a:pt x="125016" y="116086"/>
                  </a:cubicBezTo>
                  <a:cubicBezTo>
                    <a:pt x="194053" y="116086"/>
                    <a:pt x="250031" y="96106"/>
                    <a:pt x="250031" y="71438"/>
                  </a:cubicBezTo>
                  <a:close/>
                  <a:moveTo>
                    <a:pt x="222405" y="217550"/>
                  </a:moveTo>
                  <a:cubicBezTo>
                    <a:pt x="196230" y="226870"/>
                    <a:pt x="161795" y="232172"/>
                    <a:pt x="125016" y="232172"/>
                  </a:cubicBezTo>
                  <a:cubicBezTo>
                    <a:pt x="88236" y="232172"/>
                    <a:pt x="53801" y="226870"/>
                    <a:pt x="27626" y="217550"/>
                  </a:cubicBezTo>
                  <a:cubicBezTo>
                    <a:pt x="17804" y="214033"/>
                    <a:pt x="8260" y="209624"/>
                    <a:pt x="0" y="204155"/>
                  </a:cubicBezTo>
                  <a:lnTo>
                    <a:pt x="0" y="241102"/>
                  </a:lnTo>
                  <a:cubicBezTo>
                    <a:pt x="0" y="265770"/>
                    <a:pt x="55978" y="285750"/>
                    <a:pt x="125016" y="285750"/>
                  </a:cubicBezTo>
                  <a:cubicBezTo>
                    <a:pt x="194053" y="285750"/>
                    <a:pt x="250031" y="265770"/>
                    <a:pt x="250031" y="241102"/>
                  </a:cubicBezTo>
                  <a:lnTo>
                    <a:pt x="250031" y="204155"/>
                  </a:lnTo>
                  <a:cubicBezTo>
                    <a:pt x="241771" y="209624"/>
                    <a:pt x="232283" y="214033"/>
                    <a:pt x="222405" y="217550"/>
                  </a:cubicBezTo>
                  <a:close/>
                </a:path>
              </a:pathLst>
            </a:custGeom>
            <a:solidFill>
              <a:srgbClr val="FFFFFF"/>
            </a:solidFill>
          </p:spPr>
          <p:txBody>
            <a:bodyPr/>
            <a:p/>
          </p:txBody>
        </p:sp>
        <p:sp>
          <p:nvSpPr>
            <p:cNvPr id="40" name="Text 6"/>
            <p:cNvSpPr/>
            <p:nvPr>
              <p:custDataLst>
                <p:tags r:id="rId23"/>
              </p:custDataLst>
            </p:nvPr>
          </p:nvSpPr>
          <p:spPr>
            <a:xfrm>
              <a:off x="10165" y="6795"/>
              <a:ext cx="1530" cy="420"/>
            </a:xfrm>
            <a:prstGeom prst="rect">
              <a:avLst/>
            </a:prstGeom>
            <a:noFill/>
          </p:spPr>
          <p:txBody>
            <a:bodyPr wrap="square" lIns="0" tIns="0" rIns="0" bIns="0" rtlCol="0" anchor="ctr"/>
            <a:p>
              <a:pPr algn="ctr">
                <a:lnSpc>
                  <a:spcPct val="120000"/>
                </a:lnSpc>
              </a:pPr>
              <a:r>
                <a:rPr lang="en-US" sz="700" b="1" dirty="0">
                  <a:solidFill>
                    <a:srgbClr val="333333"/>
                  </a:solidFill>
                  <a:latin typeface="MiSans" panose="00000500000000000000" charset="-122"/>
                  <a:ea typeface="MiSans" panose="00000500000000000000" charset="-122"/>
                  <a:cs typeface="MiSans" panose="00000500000000000000" pitchFamily="34" charset="-120"/>
                </a:rPr>
                <a:t>Pre-training</a:t>
              </a:r>
              <a:endParaRPr lang="en-US" sz="1600" dirty="0"/>
            </a:p>
          </p:txBody>
        </p:sp>
        <p:sp>
          <p:nvSpPr>
            <p:cNvPr id="41" name="Text 7"/>
            <p:cNvSpPr/>
            <p:nvPr>
              <p:custDataLst>
                <p:tags r:id="rId24"/>
              </p:custDataLst>
            </p:nvPr>
          </p:nvSpPr>
          <p:spPr>
            <a:xfrm>
              <a:off x="10180" y="7215"/>
              <a:ext cx="1501" cy="360"/>
            </a:xfrm>
            <a:prstGeom prst="rect">
              <a:avLst/>
            </a:prstGeom>
            <a:noFill/>
          </p:spPr>
          <p:txBody>
            <a:bodyPr wrap="square" lIns="0" tIns="0" rIns="0" bIns="0" rtlCol="0" anchor="ctr"/>
            <a:p>
              <a:pPr algn="ctr">
                <a:lnSpc>
                  <a:spcPct val="130000"/>
                </a:lnSpc>
              </a:pPr>
              <a:r>
                <a:rPr lang="en-US" sz="700" dirty="0">
                  <a:solidFill>
                    <a:srgbClr val="666666"/>
                  </a:solidFill>
                  <a:latin typeface="MiSans" panose="00000500000000000000" charset="-122"/>
                  <a:ea typeface="MiSans" panose="00000500000000000000" charset="-122"/>
                  <a:cs typeface="MiSans" panose="00000500000000000000" pitchFamily="34" charset="-120"/>
                </a:rPr>
                <a:t>Learn General Knowledge</a:t>
              </a:r>
              <a:endParaRPr lang="en-US" sz="1600" dirty="0"/>
            </a:p>
          </p:txBody>
        </p:sp>
        <p:sp>
          <p:nvSpPr>
            <p:cNvPr id="42" name="Shape 4"/>
            <p:cNvSpPr/>
            <p:nvPr>
              <p:custDataLst>
                <p:tags r:id="rId25"/>
              </p:custDataLst>
            </p:nvPr>
          </p:nvSpPr>
          <p:spPr>
            <a:xfrm>
              <a:off x="3783" y="5202"/>
              <a:ext cx="1338" cy="1390"/>
            </a:xfrm>
            <a:custGeom>
              <a:avLst/>
              <a:gdLst/>
              <a:ahLst/>
              <a:cxnLst/>
              <a:rect l="l" t="t" r="r" b="b"/>
              <a:pathLst>
                <a:path w="882361" h="882361">
                  <a:moveTo>
                    <a:pt x="441181" y="0"/>
                  </a:moveTo>
                  <a:lnTo>
                    <a:pt x="441181" y="0"/>
                  </a:lnTo>
                  <a:cubicBezTo>
                    <a:pt x="684675" y="0"/>
                    <a:pt x="882361" y="197686"/>
                    <a:pt x="882361" y="441181"/>
                  </a:cubicBezTo>
                  <a:lnTo>
                    <a:pt x="882361" y="441181"/>
                  </a:lnTo>
                  <a:cubicBezTo>
                    <a:pt x="882361" y="684675"/>
                    <a:pt x="684675" y="882361"/>
                    <a:pt x="441181" y="882361"/>
                  </a:cubicBezTo>
                  <a:lnTo>
                    <a:pt x="441181" y="882361"/>
                  </a:lnTo>
                  <a:cubicBezTo>
                    <a:pt x="197686" y="882361"/>
                    <a:pt x="0" y="684675"/>
                    <a:pt x="0" y="441181"/>
                  </a:cubicBezTo>
                  <a:lnTo>
                    <a:pt x="0" y="441181"/>
                  </a:lnTo>
                  <a:cubicBezTo>
                    <a:pt x="0" y="197686"/>
                    <a:pt x="197686" y="0"/>
                    <a:pt x="441181" y="0"/>
                  </a:cubicBezTo>
                  <a:close/>
                </a:path>
              </a:pathLst>
            </a:custGeom>
            <a:solidFill>
              <a:srgbClr val="5B92E5"/>
            </a:solidFill>
            <a:ln w="46182">
              <a:solidFill>
                <a:srgbClr val="FFFFFF"/>
              </a:solidFill>
              <a:prstDash val="solid"/>
            </a:ln>
            <a:effectLst>
              <a:outerShdw blurRad="142875" dist="95250" dir="5400000" algn="bl" rotWithShape="0">
                <a:srgbClr val="000000">
                  <a:alpha val="10196"/>
                </a:srgbClr>
              </a:outerShdw>
            </a:effectLst>
          </p:spPr>
          <p:txBody>
            <a:bodyPr/>
            <a:p>
              <a:endParaRPr lang="zh-CN" altLang="en-US"/>
            </a:p>
          </p:txBody>
        </p:sp>
        <p:sp>
          <p:nvSpPr>
            <p:cNvPr id="43" name="Text 6"/>
            <p:cNvSpPr/>
            <p:nvPr>
              <p:custDataLst>
                <p:tags r:id="rId26"/>
              </p:custDataLst>
            </p:nvPr>
          </p:nvSpPr>
          <p:spPr>
            <a:xfrm>
              <a:off x="3681" y="6795"/>
              <a:ext cx="1530" cy="420"/>
            </a:xfrm>
            <a:prstGeom prst="rect">
              <a:avLst/>
            </a:prstGeom>
            <a:noFill/>
          </p:spPr>
          <p:txBody>
            <a:bodyPr wrap="square" lIns="0" tIns="0" rIns="0" bIns="0" rtlCol="0" anchor="ctr"/>
            <a:p>
              <a:pPr algn="ctr">
                <a:lnSpc>
                  <a:spcPct val="120000"/>
                </a:lnSpc>
                <a:buClrTx/>
                <a:buSzTx/>
                <a:buFontTx/>
              </a:pPr>
              <a:r>
                <a:rPr lang="zh-CN" altLang="en-US" sz="700" b="1" dirty="0">
                  <a:solidFill>
                    <a:srgbClr val="333333"/>
                  </a:solidFill>
                  <a:latin typeface="MiSans" panose="00000500000000000000" charset="-122"/>
                  <a:ea typeface="MiSans" panose="00000500000000000000" charset="-122"/>
                  <a:cs typeface="MiSans" panose="00000500000000000000" pitchFamily="34" charset="-120"/>
                </a:rPr>
                <a:t>Vocabulary Construction</a:t>
              </a:r>
              <a:endParaRPr lang="zh-CN" altLang="en-US" sz="1500" b="1" dirty="0">
                <a:solidFill>
                  <a:srgbClr val="333333"/>
                </a:solidFill>
                <a:latin typeface="MiSans" panose="00000500000000000000" charset="-122"/>
                <a:ea typeface="MiSans" panose="00000500000000000000" charset="-122"/>
                <a:cs typeface="MiSans" panose="00000500000000000000" pitchFamily="34" charset="-120"/>
              </a:endParaRPr>
            </a:p>
          </p:txBody>
        </p:sp>
        <p:sp>
          <p:nvSpPr>
            <p:cNvPr id="44" name="Text 7"/>
            <p:cNvSpPr/>
            <p:nvPr>
              <p:custDataLst>
                <p:tags r:id="rId27"/>
              </p:custDataLst>
            </p:nvPr>
          </p:nvSpPr>
          <p:spPr>
            <a:xfrm>
              <a:off x="3544" y="7215"/>
              <a:ext cx="2084" cy="360"/>
            </a:xfrm>
            <a:prstGeom prst="rect">
              <a:avLst/>
            </a:prstGeom>
            <a:noFill/>
          </p:spPr>
          <p:txBody>
            <a:bodyPr wrap="square" lIns="0" tIns="0" rIns="0" bIns="0" rtlCol="0" anchor="ctr"/>
            <a:p>
              <a:pPr algn="ctr">
                <a:lnSpc>
                  <a:spcPct val="130000"/>
                </a:lnSpc>
              </a:pPr>
              <a:r>
                <a:rPr lang="zh-CN" altLang="en-US" sz="700" dirty="0">
                  <a:solidFill>
                    <a:srgbClr val="666666"/>
                  </a:solidFill>
                  <a:latin typeface="MiSans" panose="00000500000000000000" charset="-122"/>
                  <a:ea typeface="MiSans" panose="00000500000000000000" charset="-122"/>
                  <a:cs typeface="MiSans" panose="00000500000000000000" pitchFamily="34" charset="-120"/>
                </a:rPr>
                <a:t>Through</a:t>
              </a:r>
              <a:r>
                <a:rPr lang="zh-CN" altLang="en-US" sz="700" dirty="0">
                  <a:solidFill>
                    <a:srgbClr val="666666"/>
                  </a:solidFill>
                  <a:latin typeface="MiSans" panose="00000500000000000000" charset="-122"/>
                  <a:ea typeface="MiSans" panose="00000500000000000000" charset="-122"/>
                  <a:cs typeface="MiSans" panose="00000500000000000000" pitchFamily="34" charset="-120"/>
                </a:rPr>
                <a:t>Tokenization Build</a:t>
              </a:r>
              <a:r>
                <a:rPr lang="zh-CN" altLang="en-US" sz="700" dirty="0">
                  <a:solidFill>
                    <a:srgbClr val="666666"/>
                  </a:solidFill>
                  <a:latin typeface="MiSans" panose="00000500000000000000" charset="-122"/>
                  <a:ea typeface="MiSans" panose="00000500000000000000" charset="-122"/>
                  <a:cs typeface="MiSans" panose="00000500000000000000" pitchFamily="34" charset="-120"/>
                </a:rPr>
                <a:t>Vocabulary</a:t>
              </a:r>
              <a:endParaRPr lang="zh-CN" altLang="en-US" sz="1200" dirty="0">
                <a:solidFill>
                  <a:srgbClr val="666666"/>
                </a:solidFill>
                <a:latin typeface="MiSans" panose="00000500000000000000" charset="-122"/>
                <a:ea typeface="MiSans" panose="00000500000000000000" charset="-122"/>
                <a:cs typeface="MiSans" panose="00000500000000000000" pitchFamily="34" charset="-120"/>
              </a:endParaRPr>
            </a:p>
          </p:txBody>
        </p:sp>
        <p:cxnSp>
          <p:nvCxnSpPr>
            <p:cNvPr id="54" name="曲线连接符 53"/>
            <p:cNvCxnSpPr/>
            <p:nvPr>
              <p:custDataLst>
                <p:tags r:id="rId28"/>
              </p:custDataLst>
            </p:nvPr>
          </p:nvCxnSpPr>
          <p:spPr>
            <a:xfrm>
              <a:off x="2216" y="4897"/>
              <a:ext cx="1465" cy="773"/>
            </a:xfrm>
            <a:prstGeom prst="curvedConnector3">
              <a:avLst>
                <a:gd name="adj1" fmla="val 50034"/>
              </a:avLst>
            </a:prstGeom>
            <a:ln w="31750">
              <a:gradFill>
                <a:gsLst>
                  <a:gs pos="0">
                    <a:schemeClr val="accent5">
                      <a:hueOff val="-4200000"/>
                    </a:schemeClr>
                  </a:gs>
                  <a:gs pos="100000">
                    <a:schemeClr val="accent5"/>
                  </a:gs>
                </a:gsLst>
              </a:gradFill>
              <a:tailEnd type="arrow" w="med" len="med"/>
            </a:ln>
          </p:spPr>
          <p:style>
            <a:lnRef idx="0">
              <a:srgbClr val="FFFFFF"/>
            </a:lnRef>
            <a:fillRef idx="0">
              <a:srgbClr val="FFFFFF"/>
            </a:fillRef>
            <a:effectRef idx="0">
              <a:srgbClr val="FFFFFF"/>
            </a:effectRef>
            <a:fontRef idx="minor">
              <a:schemeClr val="tx1"/>
            </a:fontRef>
          </p:style>
        </p:cxnSp>
        <p:cxnSp>
          <p:nvCxnSpPr>
            <p:cNvPr id="55" name="曲线连接符 54"/>
            <p:cNvCxnSpPr/>
            <p:nvPr>
              <p:custDataLst>
                <p:tags r:id="rId29"/>
              </p:custDataLst>
            </p:nvPr>
          </p:nvCxnSpPr>
          <p:spPr>
            <a:xfrm flipV="1">
              <a:off x="5223" y="5202"/>
              <a:ext cx="1465" cy="691"/>
            </a:xfrm>
            <a:prstGeom prst="curvedConnector3">
              <a:avLst>
                <a:gd name="adj1" fmla="val 50034"/>
              </a:avLst>
            </a:prstGeom>
            <a:ln w="31750">
              <a:gradFill>
                <a:gsLst>
                  <a:gs pos="0">
                    <a:schemeClr val="accent5">
                      <a:hueOff val="-4200000"/>
                    </a:schemeClr>
                  </a:gs>
                  <a:gs pos="100000">
                    <a:schemeClr val="accent5"/>
                  </a:gs>
                </a:gsLst>
              </a:gradFill>
              <a:tailEnd type="arrow" w="med" len="med"/>
            </a:ln>
          </p:spPr>
          <p:style>
            <a:lnRef idx="0">
              <a:srgbClr val="FFFFFF"/>
            </a:lnRef>
            <a:fillRef idx="0">
              <a:srgbClr val="FFFFFF"/>
            </a:fillRef>
            <a:effectRef idx="0">
              <a:srgbClr val="FFFFFF"/>
            </a:effectRef>
            <a:fontRef idx="minor">
              <a:schemeClr val="tx1"/>
            </a:fontRef>
          </p:style>
        </p:cxnSp>
        <p:cxnSp>
          <p:nvCxnSpPr>
            <p:cNvPr id="56" name="曲线连接符 55"/>
            <p:cNvCxnSpPr/>
            <p:nvPr>
              <p:custDataLst>
                <p:tags r:id="rId30"/>
              </p:custDataLst>
            </p:nvPr>
          </p:nvCxnSpPr>
          <p:spPr>
            <a:xfrm>
              <a:off x="8223" y="5014"/>
              <a:ext cx="2012" cy="679"/>
            </a:xfrm>
            <a:prstGeom prst="curvedConnector3">
              <a:avLst>
                <a:gd name="adj1" fmla="val 50050"/>
              </a:avLst>
            </a:prstGeom>
            <a:ln w="31750">
              <a:gradFill>
                <a:gsLst>
                  <a:gs pos="0">
                    <a:schemeClr val="accent5">
                      <a:hueOff val="-4200000"/>
                    </a:schemeClr>
                  </a:gs>
                  <a:gs pos="100000">
                    <a:schemeClr val="accent5"/>
                  </a:gs>
                </a:gsLst>
              </a:gradFill>
              <a:tailEnd type="arrow" w="med" len="med"/>
            </a:ln>
          </p:spPr>
          <p:style>
            <a:lnRef idx="0">
              <a:srgbClr val="FFFFFF"/>
            </a:lnRef>
            <a:fillRef idx="0">
              <a:srgbClr val="FFFFFF"/>
            </a:fillRef>
            <a:effectRef idx="0">
              <a:srgbClr val="FFFFFF"/>
            </a:effectRef>
            <a:fontRef idx="minor">
              <a:schemeClr val="tx1"/>
            </a:fontRef>
          </p:style>
        </p:cxnSp>
        <p:cxnSp>
          <p:nvCxnSpPr>
            <p:cNvPr id="57" name="曲线连接符 56"/>
            <p:cNvCxnSpPr/>
            <p:nvPr>
              <p:custDataLst>
                <p:tags r:id="rId31"/>
              </p:custDataLst>
            </p:nvPr>
          </p:nvCxnSpPr>
          <p:spPr>
            <a:xfrm flipV="1">
              <a:off x="11711" y="5202"/>
              <a:ext cx="1599" cy="652"/>
            </a:xfrm>
            <a:prstGeom prst="curvedConnector3">
              <a:avLst>
                <a:gd name="adj1" fmla="val 50031"/>
              </a:avLst>
            </a:prstGeom>
            <a:ln w="31750">
              <a:gradFill>
                <a:gsLst>
                  <a:gs pos="0">
                    <a:schemeClr val="accent5">
                      <a:hueOff val="-4200000"/>
                    </a:schemeClr>
                  </a:gs>
                  <a:gs pos="100000">
                    <a:schemeClr val="accent5"/>
                  </a:gs>
                </a:gsLst>
              </a:gradFill>
              <a:tailEnd type="arrow" w="med" len="med"/>
            </a:ln>
          </p:spPr>
          <p:style>
            <a:lnRef idx="0">
              <a:srgbClr val="FFFFFF"/>
            </a:lnRef>
            <a:fillRef idx="0">
              <a:srgbClr val="FFFFFF"/>
            </a:fillRef>
            <a:effectRef idx="0">
              <a:srgbClr val="FFFFFF"/>
            </a:effectRef>
            <a:fontRef idx="minor">
              <a:schemeClr val="tx1"/>
            </a:fontRef>
          </p:style>
        </p:cxnSp>
        <p:cxnSp>
          <p:nvCxnSpPr>
            <p:cNvPr id="59" name="曲线连接符 58"/>
            <p:cNvCxnSpPr/>
            <p:nvPr>
              <p:custDataLst>
                <p:tags r:id="rId32"/>
              </p:custDataLst>
            </p:nvPr>
          </p:nvCxnSpPr>
          <p:spPr>
            <a:xfrm>
              <a:off x="14849" y="4664"/>
              <a:ext cx="1294" cy="763"/>
            </a:xfrm>
            <a:prstGeom prst="curvedConnector3">
              <a:avLst>
                <a:gd name="adj1" fmla="val 50077"/>
              </a:avLst>
            </a:prstGeom>
            <a:ln w="31750">
              <a:gradFill>
                <a:gsLst>
                  <a:gs pos="0">
                    <a:schemeClr val="accent5">
                      <a:hueOff val="-4200000"/>
                    </a:schemeClr>
                  </a:gs>
                  <a:gs pos="100000">
                    <a:schemeClr val="accent5"/>
                  </a:gs>
                </a:gsLst>
              </a:gradFill>
              <a:tailEnd type="arrow" w="med" len="med"/>
            </a:ln>
          </p:spPr>
          <p:style>
            <a:lnRef idx="0">
              <a:srgbClr val="FFFFFF"/>
            </a:lnRef>
            <a:fillRef idx="0">
              <a:srgbClr val="FFFFFF"/>
            </a:fillRef>
            <a:effectRef idx="0">
              <a:srgbClr val="FFFFFF"/>
            </a:effectRef>
            <a:fontRef idx="minor">
              <a:schemeClr val="tx1"/>
            </a:fontRef>
          </p:style>
        </p:cxnSp>
        <p:pic>
          <p:nvPicPr>
            <p:cNvPr id="94" name="图片 93" descr="vocabulary (1)"/>
            <p:cNvPicPr>
              <a:picLocks noChangeAspect="1"/>
            </p:cNvPicPr>
            <p:nvPr>
              <p:custDataLst>
                <p:tags r:id="rId33"/>
              </p:custDataLst>
            </p:nvPr>
          </p:nvPicPr>
          <p:blipFill>
            <a:blip r:embed="rId34"/>
            <a:stretch>
              <a:fillRect/>
            </a:stretch>
          </p:blipFill>
          <p:spPr>
            <a:xfrm>
              <a:off x="4226" y="5630"/>
              <a:ext cx="453" cy="453"/>
            </a:xfrm>
            <a:prstGeom prst="rect">
              <a:avLst/>
            </a:prstGeom>
            <a:solidFill>
              <a:schemeClr val="tx1">
                <a:alpha val="0"/>
              </a:schemeClr>
            </a:solidFill>
          </p:spPr>
        </p:pic>
        <p:pic>
          <p:nvPicPr>
            <p:cNvPr id="95" name="图片 94" descr="architecture-outlined"/>
            <p:cNvPicPr preferRelativeResize="0">
              <a:picLocks noChangeAspect="1"/>
            </p:cNvPicPr>
            <p:nvPr>
              <p:custDataLst>
                <p:tags r:id="rId35"/>
              </p:custDataLst>
            </p:nvPr>
          </p:nvPicPr>
          <p:blipFill>
            <a:blip r:embed="rId36"/>
            <a:stretch>
              <a:fillRect/>
            </a:stretch>
          </p:blipFill>
          <p:spPr>
            <a:xfrm>
              <a:off x="7152" y="4669"/>
              <a:ext cx="607" cy="607"/>
            </a:xfrm>
            <a:prstGeom prst="rect">
              <a:avLst/>
            </a:prstGeom>
          </p:spPr>
        </p:pic>
      </p:grpSp>
    </p:spTree>
  </p:cSld>
  <p:clrMapOvr>
    <a:masterClrMapping/>
  </p:clrMapOvr>
  <p:transition spd="slow">
    <p:fade/>
  </p:transition>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61780" y="361780"/>
            <a:ext cx="11661389" cy="578849"/>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460" b="0" i="0" u="none" strike="noStrike">
                <a:solidFill>
                  <a:srgbClr val="5B92E5"/>
                </a:solidFill>
                <a:latin typeface="Alimama ShuHeiTi"/>
                <a:ea typeface="Alimama ShuHeiTi"/>
                <a:cs typeface="Alimama ShuHeiTi"/>
                <a:sym typeface="Alimama ShuHeiTi"/>
              </a:rPr>
              <a:t>Step 1 Data Collection</a:t>
            </a:r>
            <a:endParaRPr lang="en-US" sz="1100"/>
          </a:p>
        </p:txBody>
      </p:sp>
      <p:sp>
        <p:nvSpPr>
          <p:cNvPr id="3" name="Freeform 3"/>
          <p:cNvSpPr/>
          <p:nvPr/>
        </p:nvSpPr>
        <p:spPr>
          <a:xfrm>
            <a:off x="4194546" y="1230000"/>
            <a:ext cx="759739" cy="868274"/>
          </a:xfrm>
          <a:custGeom>
            <a:avLst/>
            <a:gdLst/>
            <a:ahLst/>
            <a:cxnLst/>
            <a:rect l="l" t="t" r="r" b="b"/>
            <a:pathLst>
              <a:path w="759739" h="868274">
                <a:moveTo>
                  <a:pt x="651205" y="868274"/>
                </a:moveTo>
                <a:lnTo>
                  <a:pt x="162801" y="868274"/>
                </a:lnTo>
                <a:cubicBezTo>
                  <a:pt x="72921" y="868274"/>
                  <a:pt x="0" y="795351"/>
                  <a:pt x="0" y="705472"/>
                </a:cubicBezTo>
                <a:lnTo>
                  <a:pt x="0" y="162801"/>
                </a:lnTo>
                <a:cubicBezTo>
                  <a:pt x="0" y="72921"/>
                  <a:pt x="72921" y="0"/>
                  <a:pt x="162801" y="0"/>
                </a:cubicBezTo>
                <a:lnTo>
                  <a:pt x="678337" y="0"/>
                </a:lnTo>
                <a:cubicBezTo>
                  <a:pt x="723278" y="0"/>
                  <a:pt x="759739" y="36460"/>
                  <a:pt x="759739" y="81401"/>
                </a:cubicBezTo>
                <a:lnTo>
                  <a:pt x="759739" y="569805"/>
                </a:lnTo>
                <a:cubicBezTo>
                  <a:pt x="759739" y="605246"/>
                  <a:pt x="737015" y="635433"/>
                  <a:pt x="705472" y="646626"/>
                </a:cubicBezTo>
                <a:lnTo>
                  <a:pt x="705472" y="759739"/>
                </a:lnTo>
                <a:cubicBezTo>
                  <a:pt x="735487" y="759739"/>
                  <a:pt x="759739" y="783989"/>
                  <a:pt x="759739" y="814006"/>
                </a:cubicBezTo>
                <a:cubicBezTo>
                  <a:pt x="759739" y="844022"/>
                  <a:pt x="735487" y="868274"/>
                  <a:pt x="705472" y="868274"/>
                </a:cubicBezTo>
                <a:lnTo>
                  <a:pt x="651205" y="868274"/>
                </a:lnTo>
                <a:close/>
                <a:moveTo>
                  <a:pt x="162801" y="651205"/>
                </a:moveTo>
                <a:cubicBezTo>
                  <a:pt x="132785" y="651205"/>
                  <a:pt x="108534" y="675455"/>
                  <a:pt x="108534" y="705472"/>
                </a:cubicBezTo>
                <a:cubicBezTo>
                  <a:pt x="108534" y="735487"/>
                  <a:pt x="132785" y="759739"/>
                  <a:pt x="162801" y="759739"/>
                </a:cubicBezTo>
                <a:lnTo>
                  <a:pt x="596938" y="759739"/>
                </a:lnTo>
                <a:lnTo>
                  <a:pt x="596938" y="651205"/>
                </a:lnTo>
                <a:lnTo>
                  <a:pt x="162801" y="651205"/>
                </a:lnTo>
                <a:close/>
                <a:moveTo>
                  <a:pt x="217068" y="257769"/>
                </a:moveTo>
                <a:cubicBezTo>
                  <a:pt x="217068" y="280323"/>
                  <a:pt x="235214" y="298469"/>
                  <a:pt x="257769" y="298469"/>
                </a:cubicBezTo>
                <a:lnTo>
                  <a:pt x="556237" y="298469"/>
                </a:lnTo>
                <a:cubicBezTo>
                  <a:pt x="578792" y="298469"/>
                  <a:pt x="596938" y="280323"/>
                  <a:pt x="596938" y="257769"/>
                </a:cubicBezTo>
                <a:cubicBezTo>
                  <a:pt x="596938" y="235214"/>
                  <a:pt x="578792" y="217068"/>
                  <a:pt x="556237" y="217068"/>
                </a:cubicBezTo>
                <a:lnTo>
                  <a:pt x="257769" y="217068"/>
                </a:lnTo>
                <a:cubicBezTo>
                  <a:pt x="235214" y="217068"/>
                  <a:pt x="217068" y="235214"/>
                  <a:pt x="217068" y="257769"/>
                </a:cubicBezTo>
                <a:close/>
                <a:moveTo>
                  <a:pt x="257769" y="379868"/>
                </a:moveTo>
                <a:cubicBezTo>
                  <a:pt x="235214" y="379868"/>
                  <a:pt x="217068" y="398015"/>
                  <a:pt x="217068" y="420569"/>
                </a:cubicBezTo>
                <a:cubicBezTo>
                  <a:pt x="217068" y="443125"/>
                  <a:pt x="235214" y="461270"/>
                  <a:pt x="257769" y="461270"/>
                </a:cubicBezTo>
                <a:lnTo>
                  <a:pt x="556237" y="461270"/>
                </a:lnTo>
                <a:cubicBezTo>
                  <a:pt x="578792" y="461270"/>
                  <a:pt x="596938" y="443125"/>
                  <a:pt x="596938" y="420569"/>
                </a:cubicBezTo>
                <a:cubicBezTo>
                  <a:pt x="596938" y="398015"/>
                  <a:pt x="578792" y="379868"/>
                  <a:pt x="556237" y="379868"/>
                </a:cubicBezTo>
                <a:lnTo>
                  <a:pt x="257769" y="379868"/>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4289513" y="2242880"/>
            <a:ext cx="569805" cy="651205"/>
          </a:xfrm>
          <a:custGeom>
            <a:avLst/>
            <a:gdLst/>
            <a:ahLst/>
            <a:cxnLst/>
            <a:rect l="l" t="t" r="r" b="b"/>
            <a:pathLst>
              <a:path w="569805" h="651205">
                <a:moveTo>
                  <a:pt x="488404" y="651205"/>
                </a:moveTo>
                <a:lnTo>
                  <a:pt x="122102" y="651205"/>
                </a:lnTo>
                <a:cubicBezTo>
                  <a:pt x="54691" y="651205"/>
                  <a:pt x="0" y="596514"/>
                  <a:pt x="0" y="529104"/>
                </a:cubicBezTo>
                <a:lnTo>
                  <a:pt x="0" y="122102"/>
                </a:lnTo>
                <a:cubicBezTo>
                  <a:pt x="0" y="54691"/>
                  <a:pt x="54691" y="0"/>
                  <a:pt x="122102" y="0"/>
                </a:cubicBezTo>
                <a:lnTo>
                  <a:pt x="508754" y="0"/>
                </a:lnTo>
                <a:cubicBezTo>
                  <a:pt x="542459" y="0"/>
                  <a:pt x="569805" y="27346"/>
                  <a:pt x="569805" y="61050"/>
                </a:cubicBezTo>
                <a:lnTo>
                  <a:pt x="569805" y="427352"/>
                </a:lnTo>
                <a:cubicBezTo>
                  <a:pt x="569805" y="453935"/>
                  <a:pt x="552761" y="476575"/>
                  <a:pt x="529104" y="484969"/>
                </a:cubicBezTo>
                <a:lnTo>
                  <a:pt x="529104" y="569805"/>
                </a:lnTo>
                <a:cubicBezTo>
                  <a:pt x="551616" y="569805"/>
                  <a:pt x="569805" y="587992"/>
                  <a:pt x="569805" y="610504"/>
                </a:cubicBezTo>
                <a:cubicBezTo>
                  <a:pt x="569805" y="633018"/>
                  <a:pt x="551616" y="651205"/>
                  <a:pt x="529104" y="651205"/>
                </a:cubicBezTo>
                <a:lnTo>
                  <a:pt x="488404" y="651205"/>
                </a:lnTo>
                <a:close/>
                <a:moveTo>
                  <a:pt x="122102" y="488404"/>
                </a:moveTo>
                <a:cubicBezTo>
                  <a:pt x="99590" y="488404"/>
                  <a:pt x="81401" y="506592"/>
                  <a:pt x="81401" y="529104"/>
                </a:cubicBezTo>
                <a:cubicBezTo>
                  <a:pt x="81401" y="551616"/>
                  <a:pt x="99590" y="569805"/>
                  <a:pt x="122102" y="569805"/>
                </a:cubicBezTo>
                <a:lnTo>
                  <a:pt x="447703" y="569805"/>
                </a:lnTo>
                <a:lnTo>
                  <a:pt x="447703" y="488404"/>
                </a:lnTo>
                <a:lnTo>
                  <a:pt x="122102" y="488404"/>
                </a:lnTo>
                <a:close/>
                <a:moveTo>
                  <a:pt x="162801" y="193326"/>
                </a:moveTo>
                <a:cubicBezTo>
                  <a:pt x="162801" y="210242"/>
                  <a:pt x="176411" y="223851"/>
                  <a:pt x="193326" y="223851"/>
                </a:cubicBezTo>
                <a:lnTo>
                  <a:pt x="417178" y="223851"/>
                </a:lnTo>
                <a:cubicBezTo>
                  <a:pt x="434094" y="223851"/>
                  <a:pt x="447703" y="210242"/>
                  <a:pt x="447703" y="193326"/>
                </a:cubicBezTo>
                <a:cubicBezTo>
                  <a:pt x="447703" y="176411"/>
                  <a:pt x="434094" y="162801"/>
                  <a:pt x="417178" y="162801"/>
                </a:cubicBezTo>
                <a:lnTo>
                  <a:pt x="193326" y="162801"/>
                </a:lnTo>
                <a:cubicBezTo>
                  <a:pt x="176411" y="162801"/>
                  <a:pt x="162801" y="176411"/>
                  <a:pt x="162801" y="193326"/>
                </a:cubicBezTo>
                <a:close/>
                <a:moveTo>
                  <a:pt x="193326" y="284902"/>
                </a:moveTo>
                <a:cubicBezTo>
                  <a:pt x="176411" y="284902"/>
                  <a:pt x="162801" y="298511"/>
                  <a:pt x="162801" y="315427"/>
                </a:cubicBezTo>
                <a:cubicBezTo>
                  <a:pt x="162801" y="332342"/>
                  <a:pt x="176411" y="345953"/>
                  <a:pt x="193326" y="345953"/>
                </a:cubicBezTo>
                <a:lnTo>
                  <a:pt x="417178" y="345953"/>
                </a:lnTo>
                <a:cubicBezTo>
                  <a:pt x="434094" y="345953"/>
                  <a:pt x="447703" y="332342"/>
                  <a:pt x="447703" y="315427"/>
                </a:cubicBezTo>
                <a:cubicBezTo>
                  <a:pt x="447703" y="298511"/>
                  <a:pt x="434094" y="284902"/>
                  <a:pt x="417178" y="284902"/>
                </a:cubicBezTo>
                <a:lnTo>
                  <a:pt x="193326" y="28490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4336997" y="3038761"/>
            <a:ext cx="474836" cy="542671"/>
          </a:xfrm>
          <a:custGeom>
            <a:avLst/>
            <a:gdLst/>
            <a:ahLst/>
            <a:cxnLst/>
            <a:rect l="l" t="t" r="r" b="b"/>
            <a:pathLst>
              <a:path w="474836" h="542671">
                <a:moveTo>
                  <a:pt x="407003" y="542671"/>
                </a:moveTo>
                <a:lnTo>
                  <a:pt x="101751" y="542671"/>
                </a:lnTo>
                <a:cubicBezTo>
                  <a:pt x="45576" y="542671"/>
                  <a:pt x="0" y="497095"/>
                  <a:pt x="0" y="440920"/>
                </a:cubicBezTo>
                <a:lnTo>
                  <a:pt x="0" y="101751"/>
                </a:lnTo>
                <a:cubicBezTo>
                  <a:pt x="0" y="45576"/>
                  <a:pt x="45576" y="0"/>
                  <a:pt x="101751" y="0"/>
                </a:cubicBezTo>
                <a:lnTo>
                  <a:pt x="423962" y="0"/>
                </a:lnTo>
                <a:cubicBezTo>
                  <a:pt x="452049" y="0"/>
                  <a:pt x="474836" y="22788"/>
                  <a:pt x="474836" y="50875"/>
                </a:cubicBezTo>
                <a:lnTo>
                  <a:pt x="474836" y="356128"/>
                </a:lnTo>
                <a:cubicBezTo>
                  <a:pt x="474836" y="378280"/>
                  <a:pt x="460634" y="397146"/>
                  <a:pt x="440920" y="404141"/>
                </a:cubicBezTo>
                <a:lnTo>
                  <a:pt x="440920" y="474836"/>
                </a:lnTo>
                <a:cubicBezTo>
                  <a:pt x="459680" y="474836"/>
                  <a:pt x="474836" y="489993"/>
                  <a:pt x="474836" y="508754"/>
                </a:cubicBezTo>
                <a:cubicBezTo>
                  <a:pt x="474836" y="527514"/>
                  <a:pt x="459680" y="542671"/>
                  <a:pt x="440920" y="542671"/>
                </a:cubicBezTo>
                <a:lnTo>
                  <a:pt x="407003" y="542671"/>
                </a:lnTo>
                <a:close/>
                <a:moveTo>
                  <a:pt x="101751" y="407003"/>
                </a:moveTo>
                <a:cubicBezTo>
                  <a:pt x="82989" y="407003"/>
                  <a:pt x="67835" y="422159"/>
                  <a:pt x="67835" y="440920"/>
                </a:cubicBezTo>
                <a:cubicBezTo>
                  <a:pt x="67835" y="459680"/>
                  <a:pt x="82989" y="474836"/>
                  <a:pt x="101751" y="474836"/>
                </a:cubicBezTo>
                <a:lnTo>
                  <a:pt x="373087" y="474836"/>
                </a:lnTo>
                <a:lnTo>
                  <a:pt x="373087" y="407003"/>
                </a:lnTo>
                <a:lnTo>
                  <a:pt x="101751" y="407003"/>
                </a:lnTo>
                <a:close/>
                <a:moveTo>
                  <a:pt x="135668" y="161105"/>
                </a:moveTo>
                <a:cubicBezTo>
                  <a:pt x="135668" y="175202"/>
                  <a:pt x="147009" y="186543"/>
                  <a:pt x="161105" y="186543"/>
                </a:cubicBezTo>
                <a:lnTo>
                  <a:pt x="347649" y="186543"/>
                </a:lnTo>
                <a:cubicBezTo>
                  <a:pt x="361746" y="186543"/>
                  <a:pt x="373087" y="175202"/>
                  <a:pt x="373087" y="161105"/>
                </a:cubicBezTo>
                <a:cubicBezTo>
                  <a:pt x="373087" y="147009"/>
                  <a:pt x="361746" y="135668"/>
                  <a:pt x="347649" y="135668"/>
                </a:cubicBezTo>
                <a:lnTo>
                  <a:pt x="161105" y="135668"/>
                </a:lnTo>
                <a:cubicBezTo>
                  <a:pt x="147009" y="135668"/>
                  <a:pt x="135668" y="147009"/>
                  <a:pt x="135668" y="161105"/>
                </a:cubicBezTo>
                <a:close/>
                <a:moveTo>
                  <a:pt x="161105" y="237418"/>
                </a:moveTo>
                <a:cubicBezTo>
                  <a:pt x="147009" y="237418"/>
                  <a:pt x="135668" y="248759"/>
                  <a:pt x="135668" y="262856"/>
                </a:cubicBezTo>
                <a:cubicBezTo>
                  <a:pt x="135668" y="276953"/>
                  <a:pt x="147009" y="288294"/>
                  <a:pt x="161105" y="288294"/>
                </a:cubicBezTo>
                <a:lnTo>
                  <a:pt x="347649" y="288294"/>
                </a:lnTo>
                <a:cubicBezTo>
                  <a:pt x="361746" y="288294"/>
                  <a:pt x="373087" y="276953"/>
                  <a:pt x="373087" y="262856"/>
                </a:cubicBezTo>
                <a:cubicBezTo>
                  <a:pt x="373087" y="248759"/>
                  <a:pt x="361746" y="237418"/>
                  <a:pt x="347649" y="237418"/>
                </a:cubicBezTo>
                <a:lnTo>
                  <a:pt x="161105" y="237418"/>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4384480" y="3726109"/>
            <a:ext cx="379868" cy="434136"/>
          </a:xfrm>
          <a:custGeom>
            <a:avLst/>
            <a:gdLst/>
            <a:ahLst/>
            <a:cxnLst/>
            <a:rect l="l" t="t" r="r" b="b"/>
            <a:pathLst>
              <a:path w="379868" h="434136">
                <a:moveTo>
                  <a:pt x="325603" y="434136"/>
                </a:moveTo>
                <a:lnTo>
                  <a:pt x="81401" y="434136"/>
                </a:lnTo>
                <a:cubicBezTo>
                  <a:pt x="36460" y="434136"/>
                  <a:pt x="0" y="397676"/>
                  <a:pt x="0" y="352736"/>
                </a:cubicBezTo>
                <a:lnTo>
                  <a:pt x="0" y="81401"/>
                </a:lnTo>
                <a:cubicBezTo>
                  <a:pt x="0" y="36460"/>
                  <a:pt x="36460" y="0"/>
                  <a:pt x="81401" y="0"/>
                </a:cubicBezTo>
                <a:lnTo>
                  <a:pt x="339169" y="0"/>
                </a:lnTo>
                <a:cubicBezTo>
                  <a:pt x="361639" y="0"/>
                  <a:pt x="379868" y="18230"/>
                  <a:pt x="379868" y="40700"/>
                </a:cubicBezTo>
                <a:lnTo>
                  <a:pt x="379868" y="284902"/>
                </a:lnTo>
                <a:cubicBezTo>
                  <a:pt x="379868" y="302624"/>
                  <a:pt x="368507" y="317717"/>
                  <a:pt x="352736" y="323313"/>
                </a:cubicBezTo>
                <a:lnTo>
                  <a:pt x="352736" y="379868"/>
                </a:lnTo>
                <a:cubicBezTo>
                  <a:pt x="367744" y="379868"/>
                  <a:pt x="379868" y="391994"/>
                  <a:pt x="379868" y="407003"/>
                </a:cubicBezTo>
                <a:cubicBezTo>
                  <a:pt x="379868" y="422011"/>
                  <a:pt x="367744" y="434136"/>
                  <a:pt x="352736" y="434136"/>
                </a:cubicBezTo>
                <a:lnTo>
                  <a:pt x="325603" y="434136"/>
                </a:lnTo>
                <a:close/>
                <a:moveTo>
                  <a:pt x="81401" y="325603"/>
                </a:moveTo>
                <a:cubicBezTo>
                  <a:pt x="66392" y="325603"/>
                  <a:pt x="54267" y="337729"/>
                  <a:pt x="54267" y="352736"/>
                </a:cubicBezTo>
                <a:cubicBezTo>
                  <a:pt x="54267" y="367744"/>
                  <a:pt x="66392" y="379868"/>
                  <a:pt x="81401" y="379868"/>
                </a:cubicBezTo>
                <a:lnTo>
                  <a:pt x="298469" y="379868"/>
                </a:lnTo>
                <a:lnTo>
                  <a:pt x="298469" y="325603"/>
                </a:lnTo>
                <a:lnTo>
                  <a:pt x="81401" y="325603"/>
                </a:lnTo>
                <a:close/>
                <a:moveTo>
                  <a:pt x="108534" y="128883"/>
                </a:moveTo>
                <a:cubicBezTo>
                  <a:pt x="108534" y="140162"/>
                  <a:pt x="117607" y="149234"/>
                  <a:pt x="128883" y="149234"/>
                </a:cubicBezTo>
                <a:lnTo>
                  <a:pt x="278119" y="149234"/>
                </a:lnTo>
                <a:cubicBezTo>
                  <a:pt x="289396" y="149234"/>
                  <a:pt x="298469" y="140162"/>
                  <a:pt x="298469" y="128883"/>
                </a:cubicBezTo>
                <a:cubicBezTo>
                  <a:pt x="298469" y="117607"/>
                  <a:pt x="289396" y="108534"/>
                  <a:pt x="278119" y="108534"/>
                </a:cubicBezTo>
                <a:lnTo>
                  <a:pt x="128883" y="108534"/>
                </a:lnTo>
                <a:cubicBezTo>
                  <a:pt x="117607" y="108534"/>
                  <a:pt x="108534" y="117607"/>
                  <a:pt x="108534" y="128883"/>
                </a:cubicBezTo>
                <a:close/>
                <a:moveTo>
                  <a:pt x="128883" y="189935"/>
                </a:moveTo>
                <a:cubicBezTo>
                  <a:pt x="117607" y="189935"/>
                  <a:pt x="108534" y="199006"/>
                  <a:pt x="108534" y="210285"/>
                </a:cubicBezTo>
                <a:cubicBezTo>
                  <a:pt x="108534" y="221562"/>
                  <a:pt x="117607" y="230635"/>
                  <a:pt x="128883" y="230635"/>
                </a:cubicBezTo>
                <a:lnTo>
                  <a:pt x="278119" y="230635"/>
                </a:lnTo>
                <a:cubicBezTo>
                  <a:pt x="289396" y="230635"/>
                  <a:pt x="298469" y="221562"/>
                  <a:pt x="298469" y="210285"/>
                </a:cubicBezTo>
                <a:cubicBezTo>
                  <a:pt x="298469" y="199006"/>
                  <a:pt x="289396" y="189935"/>
                  <a:pt x="278119" y="189935"/>
                </a:cubicBezTo>
                <a:lnTo>
                  <a:pt x="128883" y="189935"/>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5713998" y="1284267"/>
            <a:ext cx="759739" cy="759739"/>
          </a:xfrm>
          <a:custGeom>
            <a:avLst/>
            <a:gdLst/>
            <a:ahLst/>
            <a:cxnLst/>
            <a:rect l="l" t="t" r="r" b="b"/>
            <a:pathLst>
              <a:path w="759739" h="759739">
                <a:moveTo>
                  <a:pt x="108534" y="0"/>
                </a:moveTo>
                <a:cubicBezTo>
                  <a:pt x="48671" y="0"/>
                  <a:pt x="0" y="48672"/>
                  <a:pt x="0" y="108534"/>
                </a:cubicBezTo>
                <a:lnTo>
                  <a:pt x="0" y="217069"/>
                </a:lnTo>
                <a:cubicBezTo>
                  <a:pt x="0" y="276932"/>
                  <a:pt x="48671" y="325601"/>
                  <a:pt x="108534" y="325601"/>
                </a:cubicBezTo>
                <a:lnTo>
                  <a:pt x="651205" y="325601"/>
                </a:lnTo>
                <a:cubicBezTo>
                  <a:pt x="711068" y="325601"/>
                  <a:pt x="759739" y="276932"/>
                  <a:pt x="759739" y="217069"/>
                </a:cubicBezTo>
                <a:lnTo>
                  <a:pt x="759739" y="108534"/>
                </a:lnTo>
                <a:cubicBezTo>
                  <a:pt x="759739" y="48672"/>
                  <a:pt x="711068" y="0"/>
                  <a:pt x="651205" y="0"/>
                </a:cubicBezTo>
                <a:lnTo>
                  <a:pt x="108534" y="0"/>
                </a:lnTo>
                <a:close/>
                <a:moveTo>
                  <a:pt x="474836" y="122100"/>
                </a:moveTo>
                <a:cubicBezTo>
                  <a:pt x="497300" y="122100"/>
                  <a:pt x="515537" y="140338"/>
                  <a:pt x="515537" y="162801"/>
                </a:cubicBezTo>
                <a:cubicBezTo>
                  <a:pt x="515537" y="185264"/>
                  <a:pt x="497300" y="203502"/>
                  <a:pt x="474836" y="203502"/>
                </a:cubicBezTo>
                <a:cubicBezTo>
                  <a:pt x="452374" y="203502"/>
                  <a:pt x="434136" y="185264"/>
                  <a:pt x="434136" y="162801"/>
                </a:cubicBezTo>
                <a:cubicBezTo>
                  <a:pt x="434136" y="140338"/>
                  <a:pt x="452374" y="122100"/>
                  <a:pt x="474836" y="122100"/>
                </a:cubicBezTo>
                <a:close/>
                <a:moveTo>
                  <a:pt x="569805" y="162801"/>
                </a:moveTo>
                <a:cubicBezTo>
                  <a:pt x="569805" y="140338"/>
                  <a:pt x="588040" y="122100"/>
                  <a:pt x="610504" y="122100"/>
                </a:cubicBezTo>
                <a:cubicBezTo>
                  <a:pt x="632968" y="122100"/>
                  <a:pt x="651205" y="140338"/>
                  <a:pt x="651205" y="162801"/>
                </a:cubicBezTo>
                <a:cubicBezTo>
                  <a:pt x="651205" y="185264"/>
                  <a:pt x="632968" y="203502"/>
                  <a:pt x="610504" y="203502"/>
                </a:cubicBezTo>
                <a:cubicBezTo>
                  <a:pt x="588040" y="203502"/>
                  <a:pt x="569805" y="185264"/>
                  <a:pt x="569805" y="162801"/>
                </a:cubicBezTo>
                <a:close/>
                <a:moveTo>
                  <a:pt x="108534" y="434137"/>
                </a:moveTo>
                <a:cubicBezTo>
                  <a:pt x="48671" y="434137"/>
                  <a:pt x="0" y="482807"/>
                  <a:pt x="0" y="542671"/>
                </a:cubicBezTo>
                <a:lnTo>
                  <a:pt x="0" y="651205"/>
                </a:lnTo>
                <a:cubicBezTo>
                  <a:pt x="0" y="711068"/>
                  <a:pt x="48671" y="759739"/>
                  <a:pt x="108534" y="759739"/>
                </a:cubicBezTo>
                <a:lnTo>
                  <a:pt x="651205" y="759739"/>
                </a:lnTo>
                <a:cubicBezTo>
                  <a:pt x="711068" y="759739"/>
                  <a:pt x="759739" y="711068"/>
                  <a:pt x="759739" y="651205"/>
                </a:cubicBezTo>
                <a:lnTo>
                  <a:pt x="759739" y="542671"/>
                </a:lnTo>
                <a:cubicBezTo>
                  <a:pt x="759739" y="482807"/>
                  <a:pt x="711068" y="434137"/>
                  <a:pt x="651205" y="434137"/>
                </a:cubicBezTo>
                <a:lnTo>
                  <a:pt x="108534" y="434137"/>
                </a:lnTo>
                <a:close/>
                <a:moveTo>
                  <a:pt x="474836" y="556237"/>
                </a:moveTo>
                <a:cubicBezTo>
                  <a:pt x="497300" y="556237"/>
                  <a:pt x="515537" y="574474"/>
                  <a:pt x="515537" y="596938"/>
                </a:cubicBezTo>
                <a:cubicBezTo>
                  <a:pt x="515537" y="619401"/>
                  <a:pt x="497300" y="637638"/>
                  <a:pt x="474836" y="637638"/>
                </a:cubicBezTo>
                <a:cubicBezTo>
                  <a:pt x="452374" y="637638"/>
                  <a:pt x="434136" y="619401"/>
                  <a:pt x="434136" y="596938"/>
                </a:cubicBezTo>
                <a:cubicBezTo>
                  <a:pt x="434136" y="574474"/>
                  <a:pt x="452374" y="556237"/>
                  <a:pt x="474836" y="556237"/>
                </a:cubicBezTo>
                <a:close/>
                <a:moveTo>
                  <a:pt x="569805" y="596938"/>
                </a:moveTo>
                <a:cubicBezTo>
                  <a:pt x="569805" y="574474"/>
                  <a:pt x="588040" y="556237"/>
                  <a:pt x="610504" y="556237"/>
                </a:cubicBezTo>
                <a:cubicBezTo>
                  <a:pt x="632968" y="556237"/>
                  <a:pt x="651205" y="574474"/>
                  <a:pt x="651205" y="596938"/>
                </a:cubicBezTo>
                <a:cubicBezTo>
                  <a:pt x="651205" y="619401"/>
                  <a:pt x="632968" y="637638"/>
                  <a:pt x="610504" y="637638"/>
                </a:cubicBezTo>
                <a:cubicBezTo>
                  <a:pt x="588040" y="637638"/>
                  <a:pt x="569805" y="619401"/>
                  <a:pt x="569805" y="596938"/>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5808965" y="2242880"/>
            <a:ext cx="569805" cy="651205"/>
          </a:xfrm>
          <a:custGeom>
            <a:avLst/>
            <a:gdLst/>
            <a:ahLst/>
            <a:cxnLst/>
            <a:rect l="l" t="t" r="r" b="b"/>
            <a:pathLst>
              <a:path w="569805" h="651205">
                <a:moveTo>
                  <a:pt x="569805" y="261755"/>
                </a:moveTo>
                <a:cubicBezTo>
                  <a:pt x="550981" y="274218"/>
                  <a:pt x="529358" y="284265"/>
                  <a:pt x="506846" y="292279"/>
                </a:cubicBezTo>
                <a:cubicBezTo>
                  <a:pt x="447067" y="313647"/>
                  <a:pt x="368592" y="325603"/>
                  <a:pt x="284902" y="325603"/>
                </a:cubicBezTo>
                <a:cubicBezTo>
                  <a:pt x="201212" y="325603"/>
                  <a:pt x="122610" y="313519"/>
                  <a:pt x="62958" y="292279"/>
                </a:cubicBezTo>
                <a:cubicBezTo>
                  <a:pt x="40573" y="284265"/>
                  <a:pt x="18824" y="274218"/>
                  <a:pt x="0" y="261755"/>
                </a:cubicBezTo>
                <a:lnTo>
                  <a:pt x="0" y="366304"/>
                </a:lnTo>
                <a:cubicBezTo>
                  <a:pt x="0" y="422520"/>
                  <a:pt x="127570" y="468053"/>
                  <a:pt x="284902" y="468053"/>
                </a:cubicBezTo>
                <a:cubicBezTo>
                  <a:pt x="442234" y="468053"/>
                  <a:pt x="569805" y="422520"/>
                  <a:pt x="569805" y="366304"/>
                </a:cubicBezTo>
                <a:lnTo>
                  <a:pt x="569805" y="261755"/>
                </a:lnTo>
                <a:close/>
                <a:moveTo>
                  <a:pt x="569805" y="162801"/>
                </a:moveTo>
                <a:lnTo>
                  <a:pt x="569805" y="101751"/>
                </a:lnTo>
                <a:cubicBezTo>
                  <a:pt x="569805" y="45533"/>
                  <a:pt x="442234" y="0"/>
                  <a:pt x="284902" y="0"/>
                </a:cubicBezTo>
                <a:cubicBezTo>
                  <a:pt x="127570" y="0"/>
                  <a:pt x="0" y="45533"/>
                  <a:pt x="0" y="101751"/>
                </a:cubicBezTo>
                <a:lnTo>
                  <a:pt x="0" y="162801"/>
                </a:lnTo>
                <a:cubicBezTo>
                  <a:pt x="0" y="219018"/>
                  <a:pt x="127570" y="264552"/>
                  <a:pt x="284902" y="264552"/>
                </a:cubicBezTo>
                <a:cubicBezTo>
                  <a:pt x="442234" y="264552"/>
                  <a:pt x="569805" y="219018"/>
                  <a:pt x="569805" y="162801"/>
                </a:cubicBezTo>
                <a:close/>
                <a:moveTo>
                  <a:pt x="506846" y="495780"/>
                </a:moveTo>
                <a:cubicBezTo>
                  <a:pt x="447195" y="517021"/>
                  <a:pt x="368719" y="529104"/>
                  <a:pt x="284902" y="529104"/>
                </a:cubicBezTo>
                <a:cubicBezTo>
                  <a:pt x="201085" y="529104"/>
                  <a:pt x="122610" y="517021"/>
                  <a:pt x="62958" y="495780"/>
                </a:cubicBezTo>
                <a:cubicBezTo>
                  <a:pt x="40573" y="487768"/>
                  <a:pt x="18824" y="477719"/>
                  <a:pt x="0" y="465256"/>
                </a:cubicBezTo>
                <a:lnTo>
                  <a:pt x="0" y="549454"/>
                </a:lnTo>
                <a:cubicBezTo>
                  <a:pt x="0" y="605671"/>
                  <a:pt x="127570" y="651205"/>
                  <a:pt x="284902" y="651205"/>
                </a:cubicBezTo>
                <a:cubicBezTo>
                  <a:pt x="442234" y="651205"/>
                  <a:pt x="569805" y="605671"/>
                  <a:pt x="569805" y="549454"/>
                </a:cubicBezTo>
                <a:lnTo>
                  <a:pt x="569805" y="465256"/>
                </a:lnTo>
                <a:cubicBezTo>
                  <a:pt x="550981" y="477719"/>
                  <a:pt x="529358" y="487768"/>
                  <a:pt x="506846" y="49578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5856449" y="3072678"/>
            <a:ext cx="474836" cy="474838"/>
          </a:xfrm>
          <a:custGeom>
            <a:avLst/>
            <a:gdLst/>
            <a:ahLst/>
            <a:cxnLst/>
            <a:rect l="l" t="t" r="r" b="b"/>
            <a:pathLst>
              <a:path w="474836" h="474838">
                <a:moveTo>
                  <a:pt x="67835" y="0"/>
                </a:moveTo>
                <a:cubicBezTo>
                  <a:pt x="30419" y="0"/>
                  <a:pt x="0" y="30419"/>
                  <a:pt x="0" y="67834"/>
                </a:cubicBezTo>
                <a:lnTo>
                  <a:pt x="0" y="241764"/>
                </a:lnTo>
                <a:cubicBezTo>
                  <a:pt x="19185" y="228302"/>
                  <a:pt x="42609" y="220460"/>
                  <a:pt x="67835" y="220460"/>
                </a:cubicBezTo>
                <a:lnTo>
                  <a:pt x="407003" y="220460"/>
                </a:lnTo>
                <a:cubicBezTo>
                  <a:pt x="432229" y="220460"/>
                  <a:pt x="455653" y="228302"/>
                  <a:pt x="474836" y="241764"/>
                </a:cubicBezTo>
                <a:lnTo>
                  <a:pt x="474836" y="67834"/>
                </a:lnTo>
                <a:cubicBezTo>
                  <a:pt x="474836" y="30419"/>
                  <a:pt x="444417" y="0"/>
                  <a:pt x="407003" y="0"/>
                </a:cubicBezTo>
                <a:lnTo>
                  <a:pt x="67835" y="0"/>
                </a:lnTo>
                <a:close/>
                <a:moveTo>
                  <a:pt x="474836" y="339170"/>
                </a:moveTo>
                <a:cubicBezTo>
                  <a:pt x="474836" y="301754"/>
                  <a:pt x="444417" y="271335"/>
                  <a:pt x="407003" y="271335"/>
                </a:cubicBezTo>
                <a:lnTo>
                  <a:pt x="67835" y="271335"/>
                </a:lnTo>
                <a:cubicBezTo>
                  <a:pt x="30419" y="271335"/>
                  <a:pt x="0" y="301754"/>
                  <a:pt x="0" y="339170"/>
                </a:cubicBezTo>
                <a:lnTo>
                  <a:pt x="0" y="407003"/>
                </a:lnTo>
                <a:cubicBezTo>
                  <a:pt x="0" y="444417"/>
                  <a:pt x="30419" y="474837"/>
                  <a:pt x="67835" y="474837"/>
                </a:cubicBezTo>
                <a:lnTo>
                  <a:pt x="407003" y="474837"/>
                </a:lnTo>
                <a:cubicBezTo>
                  <a:pt x="444417" y="474837"/>
                  <a:pt x="474836" y="444417"/>
                  <a:pt x="474836" y="407003"/>
                </a:cubicBezTo>
                <a:lnTo>
                  <a:pt x="474836" y="339170"/>
                </a:lnTo>
                <a:close/>
                <a:moveTo>
                  <a:pt x="237418" y="373086"/>
                </a:moveTo>
                <a:cubicBezTo>
                  <a:pt x="237418" y="354366"/>
                  <a:pt x="252616" y="339170"/>
                  <a:pt x="271335" y="339170"/>
                </a:cubicBezTo>
                <a:cubicBezTo>
                  <a:pt x="290055" y="339170"/>
                  <a:pt x="305252" y="354366"/>
                  <a:pt x="305252" y="373086"/>
                </a:cubicBezTo>
                <a:cubicBezTo>
                  <a:pt x="305252" y="391805"/>
                  <a:pt x="290055" y="407003"/>
                  <a:pt x="271335" y="407003"/>
                </a:cubicBezTo>
                <a:cubicBezTo>
                  <a:pt x="252616" y="407003"/>
                  <a:pt x="237418" y="391805"/>
                  <a:pt x="237418" y="373086"/>
                </a:cubicBezTo>
                <a:close/>
                <a:moveTo>
                  <a:pt x="373087" y="339170"/>
                </a:moveTo>
                <a:cubicBezTo>
                  <a:pt x="391805" y="339170"/>
                  <a:pt x="407003" y="354366"/>
                  <a:pt x="407003" y="373086"/>
                </a:cubicBezTo>
                <a:cubicBezTo>
                  <a:pt x="407003" y="391805"/>
                  <a:pt x="391805" y="407003"/>
                  <a:pt x="373087" y="407003"/>
                </a:cubicBezTo>
                <a:cubicBezTo>
                  <a:pt x="354367" y="407003"/>
                  <a:pt x="339169" y="391805"/>
                  <a:pt x="339169" y="373086"/>
                </a:cubicBezTo>
                <a:cubicBezTo>
                  <a:pt x="339169" y="354366"/>
                  <a:pt x="354367" y="339170"/>
                  <a:pt x="373087" y="33917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5849665" y="3753243"/>
            <a:ext cx="488404" cy="379870"/>
          </a:xfrm>
          <a:custGeom>
            <a:avLst/>
            <a:gdLst/>
            <a:ahLst/>
            <a:cxnLst/>
            <a:rect l="l" t="t" r="r" b="b"/>
            <a:pathLst>
              <a:path w="488404" h="379870">
                <a:moveTo>
                  <a:pt x="0" y="257768"/>
                </a:moveTo>
                <a:cubicBezTo>
                  <a:pt x="0" y="325178"/>
                  <a:pt x="54691" y="379869"/>
                  <a:pt x="122102" y="379869"/>
                </a:cubicBezTo>
                <a:lnTo>
                  <a:pt x="379868" y="379869"/>
                </a:lnTo>
                <a:cubicBezTo>
                  <a:pt x="439818" y="379869"/>
                  <a:pt x="488404" y="331283"/>
                  <a:pt x="488404" y="271335"/>
                </a:cubicBezTo>
                <a:cubicBezTo>
                  <a:pt x="488404" y="227582"/>
                  <a:pt x="462542" y="189849"/>
                  <a:pt x="425233" y="172721"/>
                </a:cubicBezTo>
                <a:cubicBezTo>
                  <a:pt x="430914" y="161613"/>
                  <a:pt x="434136" y="148979"/>
                  <a:pt x="434136" y="135667"/>
                </a:cubicBezTo>
                <a:cubicBezTo>
                  <a:pt x="434136" y="90727"/>
                  <a:pt x="397676" y="54267"/>
                  <a:pt x="352736" y="54267"/>
                </a:cubicBezTo>
                <a:cubicBezTo>
                  <a:pt x="337729" y="54267"/>
                  <a:pt x="323737" y="58337"/>
                  <a:pt x="311696" y="65374"/>
                </a:cubicBezTo>
                <a:cubicBezTo>
                  <a:pt x="291261" y="26540"/>
                  <a:pt x="250476" y="0"/>
                  <a:pt x="203501" y="0"/>
                </a:cubicBezTo>
                <a:cubicBezTo>
                  <a:pt x="136092" y="0"/>
                  <a:pt x="81401" y="54691"/>
                  <a:pt x="81401" y="122100"/>
                </a:cubicBezTo>
                <a:cubicBezTo>
                  <a:pt x="81401" y="128884"/>
                  <a:pt x="81994" y="135582"/>
                  <a:pt x="83012" y="142027"/>
                </a:cubicBezTo>
                <a:cubicBezTo>
                  <a:pt x="34765" y="158308"/>
                  <a:pt x="0" y="204010"/>
                  <a:pt x="0" y="257768"/>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7181727" y="1230000"/>
            <a:ext cx="864542" cy="868274"/>
          </a:xfrm>
          <a:custGeom>
            <a:avLst/>
            <a:gdLst/>
            <a:ahLst/>
            <a:cxnLst/>
            <a:rect l="l" t="t" r="r" b="b"/>
            <a:pathLst>
              <a:path w="864542" h="868274">
                <a:moveTo>
                  <a:pt x="594224" y="474836"/>
                </a:moveTo>
                <a:lnTo>
                  <a:pt x="270487" y="474836"/>
                </a:lnTo>
                <a:cubicBezTo>
                  <a:pt x="275404" y="584219"/>
                  <a:pt x="299656" y="684952"/>
                  <a:pt x="334081" y="758721"/>
                </a:cubicBezTo>
                <a:cubicBezTo>
                  <a:pt x="353414" y="800270"/>
                  <a:pt x="374273" y="829608"/>
                  <a:pt x="393606" y="847584"/>
                </a:cubicBezTo>
                <a:cubicBezTo>
                  <a:pt x="412599" y="865389"/>
                  <a:pt x="425657" y="868274"/>
                  <a:pt x="432440" y="868274"/>
                </a:cubicBezTo>
                <a:cubicBezTo>
                  <a:pt x="439224" y="868274"/>
                  <a:pt x="452282" y="865389"/>
                  <a:pt x="471275" y="847584"/>
                </a:cubicBezTo>
                <a:cubicBezTo>
                  <a:pt x="490608" y="829608"/>
                  <a:pt x="511467" y="800100"/>
                  <a:pt x="530799" y="758721"/>
                </a:cubicBezTo>
                <a:cubicBezTo>
                  <a:pt x="565225" y="684952"/>
                  <a:pt x="589475" y="584219"/>
                  <a:pt x="594394" y="474836"/>
                </a:cubicBezTo>
                <a:close/>
                <a:moveTo>
                  <a:pt x="270318" y="393436"/>
                </a:moveTo>
                <a:lnTo>
                  <a:pt x="594055" y="393436"/>
                </a:lnTo>
                <a:cubicBezTo>
                  <a:pt x="589306" y="284055"/>
                  <a:pt x="565056" y="183321"/>
                  <a:pt x="530630" y="109551"/>
                </a:cubicBezTo>
                <a:cubicBezTo>
                  <a:pt x="511297" y="68174"/>
                  <a:pt x="490438" y="38665"/>
                  <a:pt x="471106" y="20690"/>
                </a:cubicBezTo>
                <a:cubicBezTo>
                  <a:pt x="452112" y="2883"/>
                  <a:pt x="439054" y="0"/>
                  <a:pt x="432271" y="0"/>
                </a:cubicBezTo>
                <a:cubicBezTo>
                  <a:pt x="425487" y="0"/>
                  <a:pt x="412428" y="2883"/>
                  <a:pt x="393436" y="20690"/>
                </a:cubicBezTo>
                <a:cubicBezTo>
                  <a:pt x="374102" y="38665"/>
                  <a:pt x="353244" y="68174"/>
                  <a:pt x="333912" y="109551"/>
                </a:cubicBezTo>
                <a:cubicBezTo>
                  <a:pt x="299486" y="183321"/>
                  <a:pt x="275235" y="284055"/>
                  <a:pt x="270318" y="393436"/>
                </a:cubicBezTo>
                <a:close/>
                <a:moveTo>
                  <a:pt x="188917" y="393436"/>
                </a:moveTo>
                <a:cubicBezTo>
                  <a:pt x="194852" y="248272"/>
                  <a:pt x="232331" y="113452"/>
                  <a:pt x="287106" y="24929"/>
                </a:cubicBezTo>
                <a:cubicBezTo>
                  <a:pt x="130919" y="80214"/>
                  <a:pt x="15941" y="222495"/>
                  <a:pt x="0" y="393436"/>
                </a:cubicBezTo>
                <a:lnTo>
                  <a:pt x="188917" y="393436"/>
                </a:lnTo>
                <a:close/>
                <a:moveTo>
                  <a:pt x="0" y="474836"/>
                </a:moveTo>
                <a:cubicBezTo>
                  <a:pt x="15941" y="645778"/>
                  <a:pt x="130919" y="788059"/>
                  <a:pt x="287106" y="843344"/>
                </a:cubicBezTo>
                <a:cubicBezTo>
                  <a:pt x="232331" y="754821"/>
                  <a:pt x="194852" y="620001"/>
                  <a:pt x="188917" y="474836"/>
                </a:cubicBezTo>
                <a:lnTo>
                  <a:pt x="0" y="474836"/>
                </a:lnTo>
                <a:close/>
                <a:moveTo>
                  <a:pt x="675625" y="474836"/>
                </a:moveTo>
                <a:cubicBezTo>
                  <a:pt x="669689" y="620001"/>
                  <a:pt x="632211" y="754821"/>
                  <a:pt x="577435" y="843344"/>
                </a:cubicBezTo>
                <a:cubicBezTo>
                  <a:pt x="733623" y="787890"/>
                  <a:pt x="848601" y="645778"/>
                  <a:pt x="864542" y="474836"/>
                </a:cubicBezTo>
                <a:lnTo>
                  <a:pt x="675625" y="474836"/>
                </a:lnTo>
                <a:close/>
                <a:moveTo>
                  <a:pt x="864542" y="393436"/>
                </a:moveTo>
                <a:cubicBezTo>
                  <a:pt x="848601" y="222495"/>
                  <a:pt x="733623" y="80214"/>
                  <a:pt x="577435" y="24929"/>
                </a:cubicBezTo>
                <a:cubicBezTo>
                  <a:pt x="632211" y="113452"/>
                  <a:pt x="669689" y="248272"/>
                  <a:pt x="675625" y="393436"/>
                </a:cubicBezTo>
                <a:lnTo>
                  <a:pt x="864542" y="393436"/>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7287717" y="2283580"/>
            <a:ext cx="651205" cy="569805"/>
          </a:xfrm>
          <a:custGeom>
            <a:avLst/>
            <a:gdLst/>
            <a:ahLst/>
            <a:cxnLst/>
            <a:rect l="l" t="t" r="r" b="b"/>
            <a:pathLst>
              <a:path w="651205" h="569805">
                <a:moveTo>
                  <a:pt x="0" y="488404"/>
                </a:moveTo>
                <a:lnTo>
                  <a:pt x="0" y="111926"/>
                </a:lnTo>
                <a:cubicBezTo>
                  <a:pt x="0" y="95010"/>
                  <a:pt x="13609" y="81402"/>
                  <a:pt x="30524" y="81402"/>
                </a:cubicBezTo>
                <a:cubicBezTo>
                  <a:pt x="47441" y="81402"/>
                  <a:pt x="61050" y="95010"/>
                  <a:pt x="61050" y="111926"/>
                </a:cubicBezTo>
                <a:lnTo>
                  <a:pt x="61050" y="478230"/>
                </a:lnTo>
                <a:cubicBezTo>
                  <a:pt x="61050" y="495145"/>
                  <a:pt x="74659" y="508754"/>
                  <a:pt x="91576" y="508754"/>
                </a:cubicBezTo>
                <a:cubicBezTo>
                  <a:pt x="108492" y="508754"/>
                  <a:pt x="122102" y="495145"/>
                  <a:pt x="122102" y="478230"/>
                </a:cubicBezTo>
                <a:lnTo>
                  <a:pt x="122102" y="81402"/>
                </a:lnTo>
                <a:cubicBezTo>
                  <a:pt x="122102" y="36503"/>
                  <a:pt x="158604" y="0"/>
                  <a:pt x="203501" y="0"/>
                </a:cubicBezTo>
                <a:lnTo>
                  <a:pt x="569805" y="0"/>
                </a:lnTo>
                <a:cubicBezTo>
                  <a:pt x="614702" y="0"/>
                  <a:pt x="651205" y="36503"/>
                  <a:pt x="651205" y="81402"/>
                </a:cubicBezTo>
                <a:lnTo>
                  <a:pt x="651205" y="488404"/>
                </a:lnTo>
                <a:cubicBezTo>
                  <a:pt x="651205" y="533301"/>
                  <a:pt x="614702" y="569804"/>
                  <a:pt x="569805" y="569804"/>
                </a:cubicBezTo>
                <a:lnTo>
                  <a:pt x="81401" y="569804"/>
                </a:lnTo>
                <a:cubicBezTo>
                  <a:pt x="36504" y="569804"/>
                  <a:pt x="0" y="533301"/>
                  <a:pt x="0" y="488404"/>
                </a:cubicBezTo>
                <a:close/>
                <a:moveTo>
                  <a:pt x="203501" y="122101"/>
                </a:moveTo>
                <a:lnTo>
                  <a:pt x="203501" y="203502"/>
                </a:lnTo>
                <a:cubicBezTo>
                  <a:pt x="203501" y="226014"/>
                  <a:pt x="221689" y="244202"/>
                  <a:pt x="244202" y="244202"/>
                </a:cubicBezTo>
                <a:lnTo>
                  <a:pt x="325603" y="244202"/>
                </a:lnTo>
                <a:cubicBezTo>
                  <a:pt x="348115" y="244202"/>
                  <a:pt x="366304" y="226014"/>
                  <a:pt x="366304" y="203502"/>
                </a:cubicBezTo>
                <a:lnTo>
                  <a:pt x="366304" y="122101"/>
                </a:lnTo>
                <a:cubicBezTo>
                  <a:pt x="366304" y="99589"/>
                  <a:pt x="348115" y="81402"/>
                  <a:pt x="325603" y="81402"/>
                </a:cubicBezTo>
                <a:lnTo>
                  <a:pt x="244202" y="81402"/>
                </a:lnTo>
                <a:cubicBezTo>
                  <a:pt x="221689" y="81402"/>
                  <a:pt x="203501" y="99589"/>
                  <a:pt x="203501" y="122101"/>
                </a:cubicBezTo>
                <a:close/>
                <a:moveTo>
                  <a:pt x="234027" y="427353"/>
                </a:moveTo>
                <a:cubicBezTo>
                  <a:pt x="217112" y="427353"/>
                  <a:pt x="203501" y="440963"/>
                  <a:pt x="203501" y="457879"/>
                </a:cubicBezTo>
                <a:cubicBezTo>
                  <a:pt x="203501" y="474796"/>
                  <a:pt x="217112" y="488404"/>
                  <a:pt x="234027" y="488404"/>
                </a:cubicBezTo>
                <a:lnTo>
                  <a:pt x="539279" y="488404"/>
                </a:lnTo>
                <a:cubicBezTo>
                  <a:pt x="556195" y="488404"/>
                  <a:pt x="569805" y="474796"/>
                  <a:pt x="569805" y="457879"/>
                </a:cubicBezTo>
                <a:cubicBezTo>
                  <a:pt x="569805" y="440963"/>
                  <a:pt x="556195" y="427353"/>
                  <a:pt x="539279" y="427353"/>
                </a:cubicBezTo>
                <a:lnTo>
                  <a:pt x="234027" y="427353"/>
                </a:lnTo>
                <a:close/>
                <a:moveTo>
                  <a:pt x="203501" y="335778"/>
                </a:moveTo>
                <a:cubicBezTo>
                  <a:pt x="203501" y="352694"/>
                  <a:pt x="217112" y="366303"/>
                  <a:pt x="234027" y="366303"/>
                </a:cubicBezTo>
                <a:lnTo>
                  <a:pt x="539279" y="366303"/>
                </a:lnTo>
                <a:cubicBezTo>
                  <a:pt x="556195" y="366303"/>
                  <a:pt x="569805" y="352694"/>
                  <a:pt x="569805" y="335778"/>
                </a:cubicBezTo>
                <a:cubicBezTo>
                  <a:pt x="569805" y="318862"/>
                  <a:pt x="556195" y="305253"/>
                  <a:pt x="539279" y="305253"/>
                </a:cubicBezTo>
                <a:lnTo>
                  <a:pt x="234027" y="305253"/>
                </a:lnTo>
                <a:cubicBezTo>
                  <a:pt x="217112" y="305253"/>
                  <a:pt x="203501" y="318862"/>
                  <a:pt x="203501" y="335778"/>
                </a:cubicBezTo>
                <a:close/>
                <a:moveTo>
                  <a:pt x="457878" y="183151"/>
                </a:moveTo>
                <a:cubicBezTo>
                  <a:pt x="440962" y="183151"/>
                  <a:pt x="427352" y="196761"/>
                  <a:pt x="427352" y="213677"/>
                </a:cubicBezTo>
                <a:cubicBezTo>
                  <a:pt x="427352" y="230594"/>
                  <a:pt x="440962" y="244202"/>
                  <a:pt x="457878" y="244202"/>
                </a:cubicBezTo>
                <a:lnTo>
                  <a:pt x="539279" y="244202"/>
                </a:lnTo>
                <a:cubicBezTo>
                  <a:pt x="556195" y="244202"/>
                  <a:pt x="569805" y="230594"/>
                  <a:pt x="569805" y="213677"/>
                </a:cubicBezTo>
                <a:cubicBezTo>
                  <a:pt x="569805" y="196761"/>
                  <a:pt x="556195" y="183151"/>
                  <a:pt x="539279" y="183151"/>
                </a:cubicBezTo>
                <a:lnTo>
                  <a:pt x="457878" y="183151"/>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7409818" y="3038761"/>
            <a:ext cx="407003" cy="542671"/>
          </a:xfrm>
          <a:custGeom>
            <a:avLst/>
            <a:gdLst/>
            <a:ahLst/>
            <a:cxnLst/>
            <a:rect l="l" t="t" r="r" b="b"/>
            <a:pathLst>
              <a:path w="407003" h="542671">
                <a:moveTo>
                  <a:pt x="0" y="67835"/>
                </a:moveTo>
                <a:cubicBezTo>
                  <a:pt x="0" y="30419"/>
                  <a:pt x="30419" y="0"/>
                  <a:pt x="67835" y="0"/>
                </a:cubicBezTo>
                <a:lnTo>
                  <a:pt x="226289" y="0"/>
                </a:lnTo>
                <a:cubicBezTo>
                  <a:pt x="244309" y="0"/>
                  <a:pt x="261584" y="7101"/>
                  <a:pt x="274303" y="19820"/>
                </a:cubicBezTo>
                <a:lnTo>
                  <a:pt x="387184" y="132806"/>
                </a:lnTo>
                <a:cubicBezTo>
                  <a:pt x="399901" y="145525"/>
                  <a:pt x="407003" y="162801"/>
                  <a:pt x="407003" y="180820"/>
                </a:cubicBezTo>
                <a:lnTo>
                  <a:pt x="407003" y="474836"/>
                </a:lnTo>
                <a:cubicBezTo>
                  <a:pt x="407003" y="512251"/>
                  <a:pt x="376584" y="542671"/>
                  <a:pt x="339169" y="542671"/>
                </a:cubicBezTo>
                <a:lnTo>
                  <a:pt x="67835" y="542671"/>
                </a:lnTo>
                <a:cubicBezTo>
                  <a:pt x="30419" y="542671"/>
                  <a:pt x="0" y="512251"/>
                  <a:pt x="0" y="474836"/>
                </a:cubicBezTo>
                <a:lnTo>
                  <a:pt x="0" y="67835"/>
                </a:lnTo>
                <a:close/>
                <a:moveTo>
                  <a:pt x="220461" y="62004"/>
                </a:moveTo>
                <a:lnTo>
                  <a:pt x="220461" y="161105"/>
                </a:lnTo>
                <a:cubicBezTo>
                  <a:pt x="220461" y="175202"/>
                  <a:pt x="231800" y="186543"/>
                  <a:pt x="245897" y="186543"/>
                </a:cubicBezTo>
                <a:lnTo>
                  <a:pt x="344999" y="186543"/>
                </a:lnTo>
                <a:lnTo>
                  <a:pt x="220461" y="62004"/>
                </a:lnTo>
                <a:close/>
                <a:moveTo>
                  <a:pt x="127188" y="271335"/>
                </a:moveTo>
                <a:cubicBezTo>
                  <a:pt x="113092" y="271335"/>
                  <a:pt x="101751" y="282677"/>
                  <a:pt x="101751" y="296774"/>
                </a:cubicBezTo>
                <a:cubicBezTo>
                  <a:pt x="101751" y="310871"/>
                  <a:pt x="113092" y="322210"/>
                  <a:pt x="127188" y="322210"/>
                </a:cubicBezTo>
                <a:lnTo>
                  <a:pt x="279815" y="322210"/>
                </a:lnTo>
                <a:cubicBezTo>
                  <a:pt x="293911" y="322210"/>
                  <a:pt x="305252" y="310871"/>
                  <a:pt x="305252" y="296774"/>
                </a:cubicBezTo>
                <a:cubicBezTo>
                  <a:pt x="305252" y="282677"/>
                  <a:pt x="293911" y="271335"/>
                  <a:pt x="279815" y="271335"/>
                </a:cubicBezTo>
                <a:lnTo>
                  <a:pt x="127188" y="271335"/>
                </a:lnTo>
                <a:close/>
                <a:moveTo>
                  <a:pt x="127188" y="373087"/>
                </a:moveTo>
                <a:cubicBezTo>
                  <a:pt x="113092" y="373087"/>
                  <a:pt x="101751" y="384426"/>
                  <a:pt x="101751" y="398523"/>
                </a:cubicBezTo>
                <a:cubicBezTo>
                  <a:pt x="101751" y="412620"/>
                  <a:pt x="113092" y="423962"/>
                  <a:pt x="127188" y="423962"/>
                </a:cubicBezTo>
                <a:lnTo>
                  <a:pt x="279815" y="423962"/>
                </a:lnTo>
                <a:cubicBezTo>
                  <a:pt x="293911" y="423962"/>
                  <a:pt x="305252" y="412620"/>
                  <a:pt x="305252" y="398523"/>
                </a:cubicBezTo>
                <a:cubicBezTo>
                  <a:pt x="305252" y="384426"/>
                  <a:pt x="293911" y="373087"/>
                  <a:pt x="279815" y="373087"/>
                </a:cubicBezTo>
                <a:lnTo>
                  <a:pt x="127188" y="373087"/>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7366489" y="3722972"/>
            <a:ext cx="493746" cy="440411"/>
          </a:xfrm>
          <a:custGeom>
            <a:avLst/>
            <a:gdLst/>
            <a:ahLst/>
            <a:cxnLst/>
            <a:rect l="l" t="t" r="r" b="b"/>
            <a:pathLst>
              <a:path w="493746" h="440411">
                <a:moveTo>
                  <a:pt x="308561" y="4156"/>
                </a:moveTo>
                <a:cubicBezTo>
                  <a:pt x="294145" y="0"/>
                  <a:pt x="279137" y="8394"/>
                  <a:pt x="274982" y="22809"/>
                </a:cubicBezTo>
                <a:lnTo>
                  <a:pt x="166448" y="402678"/>
                </a:lnTo>
                <a:cubicBezTo>
                  <a:pt x="162293" y="417094"/>
                  <a:pt x="170687" y="432101"/>
                  <a:pt x="185103" y="436257"/>
                </a:cubicBezTo>
                <a:cubicBezTo>
                  <a:pt x="199517" y="440411"/>
                  <a:pt x="214525" y="432016"/>
                  <a:pt x="218680" y="417602"/>
                </a:cubicBezTo>
                <a:lnTo>
                  <a:pt x="327214" y="37732"/>
                </a:lnTo>
                <a:cubicBezTo>
                  <a:pt x="331369" y="23319"/>
                  <a:pt x="322974" y="8308"/>
                  <a:pt x="308561" y="4156"/>
                </a:cubicBezTo>
                <a:close/>
                <a:moveTo>
                  <a:pt x="363334" y="119557"/>
                </a:moveTo>
                <a:cubicBezTo>
                  <a:pt x="352736" y="130156"/>
                  <a:pt x="352736" y="147370"/>
                  <a:pt x="363334" y="157968"/>
                </a:cubicBezTo>
                <a:lnTo>
                  <a:pt x="425573" y="220205"/>
                </a:lnTo>
                <a:lnTo>
                  <a:pt x="363334" y="282443"/>
                </a:lnTo>
                <a:cubicBezTo>
                  <a:pt x="352736" y="293042"/>
                  <a:pt x="352736" y="310255"/>
                  <a:pt x="363334" y="320854"/>
                </a:cubicBezTo>
                <a:cubicBezTo>
                  <a:pt x="373934" y="331454"/>
                  <a:pt x="391147" y="331454"/>
                  <a:pt x="401746" y="320854"/>
                </a:cubicBezTo>
                <a:lnTo>
                  <a:pt x="483147" y="239454"/>
                </a:lnTo>
                <a:cubicBezTo>
                  <a:pt x="493746" y="228854"/>
                  <a:pt x="493746" y="211641"/>
                  <a:pt x="483147" y="201042"/>
                </a:cubicBezTo>
                <a:lnTo>
                  <a:pt x="401746" y="119642"/>
                </a:lnTo>
                <a:cubicBezTo>
                  <a:pt x="391147" y="109044"/>
                  <a:pt x="373934" y="109044"/>
                  <a:pt x="363334" y="119642"/>
                </a:cubicBezTo>
                <a:close/>
                <a:moveTo>
                  <a:pt x="130411" y="119557"/>
                </a:moveTo>
                <a:cubicBezTo>
                  <a:pt x="119812" y="108958"/>
                  <a:pt x="102600" y="108958"/>
                  <a:pt x="92000" y="119557"/>
                </a:cubicBezTo>
                <a:lnTo>
                  <a:pt x="10600" y="200957"/>
                </a:lnTo>
                <a:cubicBezTo>
                  <a:pt x="0" y="211555"/>
                  <a:pt x="0" y="228769"/>
                  <a:pt x="10600" y="239368"/>
                </a:cubicBezTo>
                <a:lnTo>
                  <a:pt x="92000" y="320769"/>
                </a:lnTo>
                <a:cubicBezTo>
                  <a:pt x="102600" y="331369"/>
                  <a:pt x="119812" y="331369"/>
                  <a:pt x="130411" y="320769"/>
                </a:cubicBezTo>
                <a:cubicBezTo>
                  <a:pt x="141009" y="310170"/>
                  <a:pt x="141009" y="292957"/>
                  <a:pt x="130411" y="282358"/>
                </a:cubicBezTo>
                <a:lnTo>
                  <a:pt x="68172" y="220205"/>
                </a:lnTo>
                <a:lnTo>
                  <a:pt x="130326" y="157968"/>
                </a:lnTo>
                <a:cubicBezTo>
                  <a:pt x="140924" y="147370"/>
                  <a:pt x="140924" y="130156"/>
                  <a:pt x="130326" y="119557"/>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4633770" y="4538435"/>
            <a:ext cx="2918088" cy="1832747"/>
          </a:xfrm>
          <a:custGeom>
            <a:avLst/>
            <a:gdLst/>
            <a:ahLst/>
            <a:cxnLst/>
            <a:rect l="l" t="t" r="r" b="b"/>
            <a:pathLst>
              <a:path w="2918088" h="1832747">
                <a:moveTo>
                  <a:pt x="144714" y="0"/>
                </a:moveTo>
                <a:lnTo>
                  <a:pt x="2773374" y="0"/>
                </a:lnTo>
                <a:cubicBezTo>
                  <a:pt x="2853244" y="0"/>
                  <a:pt x="2918088" y="64844"/>
                  <a:pt x="2918088" y="144714"/>
                </a:cubicBezTo>
                <a:lnTo>
                  <a:pt x="2918088" y="1688033"/>
                </a:lnTo>
                <a:cubicBezTo>
                  <a:pt x="2918088" y="1767904"/>
                  <a:pt x="2853244" y="1832747"/>
                  <a:pt x="2773374" y="1832747"/>
                </a:cubicBezTo>
                <a:lnTo>
                  <a:pt x="144714" y="1832747"/>
                </a:lnTo>
                <a:cubicBezTo>
                  <a:pt x="64844" y="1832747"/>
                  <a:pt x="0" y="1767904"/>
                  <a:pt x="0" y="1688033"/>
                </a:cubicBezTo>
                <a:lnTo>
                  <a:pt x="0" y="144714"/>
                </a:lnTo>
                <a:cubicBezTo>
                  <a:pt x="0" y="64844"/>
                  <a:pt x="64844" y="0"/>
                  <a:pt x="144714" y="0"/>
                </a:cubicBezTo>
                <a:close/>
              </a:path>
            </a:pathLst>
          </a:custGeom>
          <a:noFill/>
          <a:ln w="38100">
            <a:solidFill>
              <a:srgbClr val="1E90FF">
                <a:alpha val="100000"/>
              </a:srgbClr>
            </a:solidFill>
            <a:prstDash val="solid"/>
          </a:ln>
        </p:spPr>
        <p:txBody>
          <a:bodyPr wrap="square" lIns="91440" tIns="45720" rIns="91440" bIns="45720" rtlCol="0" anchor="t">
            <a:noAutofit/>
          </a:bodyPr>
          <a:lstStyle/>
          <a:p>
            <a:pPr algn="ctr">
              <a:defRPr/>
            </a:pPr>
          </a:p>
        </p:txBody>
      </p:sp>
      <p:sp>
        <p:nvSpPr>
          <p:cNvPr id="16" name="AutoShape 16"/>
          <p:cNvSpPr/>
          <p:nvPr/>
        </p:nvSpPr>
        <p:spPr>
          <a:xfrm>
            <a:off x="5047992" y="4670280"/>
            <a:ext cx="2107371" cy="253246"/>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15"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Training Data Scale by Mainstream LLM</a:t>
            </a:r>
            <a:endParaRPr lang="en-US" sz="1100"/>
          </a:p>
        </p:txBody>
      </p:sp>
      <p:sp>
        <p:nvSpPr>
          <p:cNvPr id="17" name="AutoShape 17"/>
          <p:cNvSpPr/>
          <p:nvPr/>
        </p:nvSpPr>
        <p:spPr>
          <a:xfrm>
            <a:off x="4915494" y="5097430"/>
            <a:ext cx="2354588" cy="678338"/>
          </a:xfrm>
          <a:prstGeom prst="rect">
            <a:avLst/>
          </a:prstGeom>
          <a:noFill/>
          <a:ln w="12700">
            <a:noFill/>
            <a:prstDash val="solid"/>
          </a:ln>
        </p:spPr>
        <p:txBody>
          <a:bodyPr wrap="square" lIns="0" tIns="0" rIns="0" bIns="0" rtlCol="0" anchor="ctr">
            <a:noAutofit/>
          </a:bodyPr>
          <a:lstStyle/>
          <a:p>
            <a:pPr indent="0" algn="ctr">
              <a:lnSpc>
                <a:spcPct val="83000"/>
              </a:lnSpc>
              <a:defRPr/>
            </a:pPr>
            <a:r>
              <a:rPr lang="en-US" sz="296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Trillions + </a:t>
            </a:r>
            <a:endParaRPr lang="en-US" sz="1100"/>
          </a:p>
        </p:txBody>
      </p:sp>
      <p:sp>
        <p:nvSpPr>
          <p:cNvPr id="18" name="AutoShape 18"/>
          <p:cNvSpPr/>
          <p:nvPr/>
        </p:nvSpPr>
        <p:spPr>
          <a:xfrm>
            <a:off x="5030058" y="5845138"/>
            <a:ext cx="2125460" cy="289424"/>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Token</a:t>
            </a:r>
            <a:endParaRPr lang="en-US" sz="1100"/>
          </a:p>
        </p:txBody>
      </p:sp>
      <p:sp>
        <p:nvSpPr>
          <p:cNvPr id="19" name="AutoShape 19"/>
          <p:cNvSpPr/>
          <p:nvPr/>
        </p:nvSpPr>
        <p:spPr>
          <a:xfrm>
            <a:off x="321080" y="6601450"/>
            <a:ext cx="11549840" cy="253246"/>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15"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Including web pages, books, papers, code, and other types of text data</a:t>
            </a:r>
            <a:endParaRPr lang="en-US" sz="1100"/>
          </a:p>
        </p:txBody>
      </p:sp>
    </p:spTree>
  </p:cSld>
  <p:clrMapOvr>
    <a:masterClrMapping/>
  </p:clrMapOvr>
  <p:transition spd="slow">
    <p:fade/>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615" b="0" i="0" u="none" strike="noStrike">
                <a:solidFill>
                  <a:srgbClr val="5B92E5"/>
                </a:solidFill>
                <a:latin typeface="Alimama ShuHeiTi"/>
                <a:ea typeface="Alimama ShuHeiTi"/>
                <a:cs typeface="Alimama ShuHeiTi"/>
                <a:sym typeface="Alimama ShuHeiTi"/>
              </a:rPr>
              <a:t>Step 2 Build Vocabulary</a:t>
            </a:r>
            <a:endParaRPr lang="en-US" sz="1100"/>
          </a:p>
        </p:txBody>
      </p:sp>
      <p:sp>
        <p:nvSpPr>
          <p:cNvPr id="3" name="Freeform 3"/>
          <p:cNvSpPr/>
          <p:nvPr/>
        </p:nvSpPr>
        <p:spPr>
          <a:xfrm>
            <a:off x="2871842" y="1983470"/>
            <a:ext cx="4543425" cy="2247900"/>
          </a:xfrm>
          <a:custGeom>
            <a:avLst/>
            <a:gdLst/>
            <a:ahLst/>
            <a:cxnLst/>
            <a:rect l="l" t="t" r="r" b="b"/>
            <a:pathLst>
              <a:path w="4543425" h="2247900">
                <a:moveTo>
                  <a:pt x="152408" y="0"/>
                </a:moveTo>
                <a:lnTo>
                  <a:pt x="4391017" y="0"/>
                </a:lnTo>
                <a:cubicBezTo>
                  <a:pt x="4475190" y="0"/>
                  <a:pt x="4543425" y="68235"/>
                  <a:pt x="4543425" y="152408"/>
                </a:cubicBezTo>
                <a:lnTo>
                  <a:pt x="4543425" y="2095492"/>
                </a:lnTo>
                <a:cubicBezTo>
                  <a:pt x="4543425" y="2179665"/>
                  <a:pt x="4475190" y="2247900"/>
                  <a:pt x="4391017" y="2247900"/>
                </a:cubicBezTo>
                <a:lnTo>
                  <a:pt x="152408" y="2247900"/>
                </a:lnTo>
                <a:cubicBezTo>
                  <a:pt x="68235" y="2247900"/>
                  <a:pt x="0" y="2179665"/>
                  <a:pt x="0" y="2095492"/>
                </a:cubicBezTo>
                <a:lnTo>
                  <a:pt x="0" y="152408"/>
                </a:lnTo>
                <a:cubicBezTo>
                  <a:pt x="0" y="68292"/>
                  <a:pt x="68292" y="0"/>
                  <a:pt x="152408"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3133671" y="2288177"/>
            <a:ext cx="40195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85"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Vocabulary Example</a:t>
            </a:r>
            <a:endParaRPr lang="en-US" sz="1100"/>
          </a:p>
        </p:txBody>
      </p:sp>
      <p:sp>
        <p:nvSpPr>
          <p:cNvPr id="5" name="Freeform 5"/>
          <p:cNvSpPr/>
          <p:nvPr/>
        </p:nvSpPr>
        <p:spPr>
          <a:xfrm>
            <a:off x="3180863" y="2711383"/>
            <a:ext cx="884959" cy="542059"/>
          </a:xfrm>
          <a:custGeom>
            <a:avLst/>
            <a:gdLst/>
            <a:ahLst/>
            <a:cxnLst/>
            <a:rect l="l" t="t" r="r" b="b"/>
            <a:pathLst>
              <a:path w="884959" h="542059">
                <a:moveTo>
                  <a:pt x="76203" y="0"/>
                </a:moveTo>
                <a:lnTo>
                  <a:pt x="808756" y="0"/>
                </a:lnTo>
                <a:cubicBezTo>
                  <a:pt x="850842" y="0"/>
                  <a:pt x="884959" y="34117"/>
                  <a:pt x="884959" y="76203"/>
                </a:cubicBezTo>
                <a:lnTo>
                  <a:pt x="884959" y="465856"/>
                </a:lnTo>
                <a:cubicBezTo>
                  <a:pt x="884959" y="507942"/>
                  <a:pt x="850842" y="542059"/>
                  <a:pt x="808756" y="542059"/>
                </a:cubicBezTo>
                <a:lnTo>
                  <a:pt x="76203" y="542059"/>
                </a:lnTo>
                <a:cubicBezTo>
                  <a:pt x="34117" y="542059"/>
                  <a:pt x="0" y="507942"/>
                  <a:pt x="0" y="465856"/>
                </a:cubicBezTo>
                <a:lnTo>
                  <a:pt x="0" y="76203"/>
                </a:lnTo>
                <a:cubicBezTo>
                  <a:pt x="0" y="34145"/>
                  <a:pt x="34145" y="0"/>
                  <a:pt x="76203"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6" name="AutoShape 6"/>
          <p:cNvSpPr/>
          <p:nvPr/>
        </p:nvSpPr>
        <p:spPr>
          <a:xfrm>
            <a:off x="3299438" y="2791885"/>
            <a:ext cx="6477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the</a:t>
            </a:r>
            <a:endParaRPr lang="en-US" sz="1100"/>
          </a:p>
        </p:txBody>
      </p:sp>
      <p:sp>
        <p:nvSpPr>
          <p:cNvPr id="7" name="AutoShape 7"/>
          <p:cNvSpPr/>
          <p:nvPr/>
        </p:nvSpPr>
        <p:spPr>
          <a:xfrm>
            <a:off x="3308963" y="3020411"/>
            <a:ext cx="628650"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 1</a:t>
            </a:r>
            <a:endParaRPr lang="en-US" sz="1100"/>
          </a:p>
        </p:txBody>
      </p:sp>
      <p:sp>
        <p:nvSpPr>
          <p:cNvPr id="8" name="Freeform 8"/>
          <p:cNvSpPr/>
          <p:nvPr/>
        </p:nvSpPr>
        <p:spPr>
          <a:xfrm>
            <a:off x="4192894" y="2711383"/>
            <a:ext cx="884959" cy="542059"/>
          </a:xfrm>
          <a:custGeom>
            <a:avLst/>
            <a:gdLst/>
            <a:ahLst/>
            <a:cxnLst/>
            <a:rect l="l" t="t" r="r" b="b"/>
            <a:pathLst>
              <a:path w="884959" h="542059">
                <a:moveTo>
                  <a:pt x="76203" y="0"/>
                </a:moveTo>
                <a:lnTo>
                  <a:pt x="808756" y="0"/>
                </a:lnTo>
                <a:cubicBezTo>
                  <a:pt x="850842" y="0"/>
                  <a:pt x="884959" y="34117"/>
                  <a:pt x="884959" y="76203"/>
                </a:cubicBezTo>
                <a:lnTo>
                  <a:pt x="884959" y="465856"/>
                </a:lnTo>
                <a:cubicBezTo>
                  <a:pt x="884959" y="507942"/>
                  <a:pt x="850842" y="542059"/>
                  <a:pt x="808756" y="542059"/>
                </a:cubicBezTo>
                <a:lnTo>
                  <a:pt x="76203" y="542059"/>
                </a:lnTo>
                <a:cubicBezTo>
                  <a:pt x="34117" y="542059"/>
                  <a:pt x="0" y="507942"/>
                  <a:pt x="0" y="465856"/>
                </a:cubicBezTo>
                <a:lnTo>
                  <a:pt x="0" y="76203"/>
                </a:lnTo>
                <a:cubicBezTo>
                  <a:pt x="0" y="34145"/>
                  <a:pt x="34145" y="0"/>
                  <a:pt x="76203"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9" name="AutoShape 9"/>
          <p:cNvSpPr/>
          <p:nvPr/>
        </p:nvSpPr>
        <p:spPr>
          <a:xfrm>
            <a:off x="4311469" y="2791885"/>
            <a:ext cx="6477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is</a:t>
            </a:r>
            <a:endParaRPr lang="en-US" sz="1100"/>
          </a:p>
        </p:txBody>
      </p:sp>
      <p:sp>
        <p:nvSpPr>
          <p:cNvPr id="10" name="AutoShape 10"/>
          <p:cNvSpPr/>
          <p:nvPr/>
        </p:nvSpPr>
        <p:spPr>
          <a:xfrm>
            <a:off x="4320994" y="3020411"/>
            <a:ext cx="628650"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 2</a:t>
            </a:r>
            <a:endParaRPr lang="en-US" sz="1100"/>
          </a:p>
        </p:txBody>
      </p:sp>
      <p:sp>
        <p:nvSpPr>
          <p:cNvPr id="11" name="Freeform 11"/>
          <p:cNvSpPr/>
          <p:nvPr/>
        </p:nvSpPr>
        <p:spPr>
          <a:xfrm>
            <a:off x="5204925" y="2711383"/>
            <a:ext cx="884959" cy="542059"/>
          </a:xfrm>
          <a:custGeom>
            <a:avLst/>
            <a:gdLst/>
            <a:ahLst/>
            <a:cxnLst/>
            <a:rect l="l" t="t" r="r" b="b"/>
            <a:pathLst>
              <a:path w="884959" h="542059">
                <a:moveTo>
                  <a:pt x="76203" y="0"/>
                </a:moveTo>
                <a:lnTo>
                  <a:pt x="808756" y="0"/>
                </a:lnTo>
                <a:cubicBezTo>
                  <a:pt x="850842" y="0"/>
                  <a:pt x="884959" y="34117"/>
                  <a:pt x="884959" y="76203"/>
                </a:cubicBezTo>
                <a:lnTo>
                  <a:pt x="884959" y="465856"/>
                </a:lnTo>
                <a:cubicBezTo>
                  <a:pt x="884959" y="507942"/>
                  <a:pt x="850842" y="542059"/>
                  <a:pt x="808756" y="542059"/>
                </a:cubicBezTo>
                <a:lnTo>
                  <a:pt x="76203" y="542059"/>
                </a:lnTo>
                <a:cubicBezTo>
                  <a:pt x="34117" y="542059"/>
                  <a:pt x="0" y="507942"/>
                  <a:pt x="0" y="465856"/>
                </a:cubicBezTo>
                <a:lnTo>
                  <a:pt x="0" y="76203"/>
                </a:lnTo>
                <a:cubicBezTo>
                  <a:pt x="0" y="34145"/>
                  <a:pt x="34145" y="0"/>
                  <a:pt x="76203"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12" name="AutoShape 12"/>
          <p:cNvSpPr/>
          <p:nvPr/>
        </p:nvSpPr>
        <p:spPr>
          <a:xfrm>
            <a:off x="5323501" y="2791885"/>
            <a:ext cx="6477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AI</a:t>
            </a:r>
            <a:endParaRPr lang="en-US" sz="1100"/>
          </a:p>
        </p:txBody>
      </p:sp>
      <p:sp>
        <p:nvSpPr>
          <p:cNvPr id="13" name="AutoShape 13"/>
          <p:cNvSpPr/>
          <p:nvPr/>
        </p:nvSpPr>
        <p:spPr>
          <a:xfrm>
            <a:off x="5333026" y="3020411"/>
            <a:ext cx="628650"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 3</a:t>
            </a:r>
            <a:endParaRPr lang="en-US" sz="1100"/>
          </a:p>
        </p:txBody>
      </p:sp>
      <p:sp>
        <p:nvSpPr>
          <p:cNvPr id="14" name="Freeform 14"/>
          <p:cNvSpPr/>
          <p:nvPr/>
        </p:nvSpPr>
        <p:spPr>
          <a:xfrm>
            <a:off x="6216957" y="2711383"/>
            <a:ext cx="884959" cy="542059"/>
          </a:xfrm>
          <a:custGeom>
            <a:avLst/>
            <a:gdLst/>
            <a:ahLst/>
            <a:cxnLst/>
            <a:rect l="l" t="t" r="r" b="b"/>
            <a:pathLst>
              <a:path w="884959" h="542059">
                <a:moveTo>
                  <a:pt x="76203" y="0"/>
                </a:moveTo>
                <a:lnTo>
                  <a:pt x="808756" y="0"/>
                </a:lnTo>
                <a:cubicBezTo>
                  <a:pt x="850842" y="0"/>
                  <a:pt x="884959" y="34117"/>
                  <a:pt x="884959" y="76203"/>
                </a:cubicBezTo>
                <a:lnTo>
                  <a:pt x="884959" y="465856"/>
                </a:lnTo>
                <a:cubicBezTo>
                  <a:pt x="884959" y="507942"/>
                  <a:pt x="850842" y="542059"/>
                  <a:pt x="808756" y="542059"/>
                </a:cubicBezTo>
                <a:lnTo>
                  <a:pt x="76203" y="542059"/>
                </a:lnTo>
                <a:cubicBezTo>
                  <a:pt x="34117" y="542059"/>
                  <a:pt x="0" y="507942"/>
                  <a:pt x="0" y="465856"/>
                </a:cubicBezTo>
                <a:lnTo>
                  <a:pt x="0" y="76203"/>
                </a:lnTo>
                <a:cubicBezTo>
                  <a:pt x="0" y="34145"/>
                  <a:pt x="34145" y="0"/>
                  <a:pt x="76203"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15" name="AutoShape 15"/>
          <p:cNvSpPr/>
          <p:nvPr/>
        </p:nvSpPr>
        <p:spPr>
          <a:xfrm>
            <a:off x="6335532" y="2791885"/>
            <a:ext cx="6477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of</a:t>
            </a:r>
            <a:endParaRPr lang="en-US" sz="1100"/>
          </a:p>
        </p:txBody>
      </p:sp>
      <p:sp>
        <p:nvSpPr>
          <p:cNvPr id="16" name="AutoShape 16"/>
          <p:cNvSpPr/>
          <p:nvPr/>
        </p:nvSpPr>
        <p:spPr>
          <a:xfrm>
            <a:off x="6345057" y="3020411"/>
            <a:ext cx="628650"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 4</a:t>
            </a:r>
            <a:endParaRPr lang="en-US" sz="1100"/>
          </a:p>
        </p:txBody>
      </p:sp>
      <p:sp>
        <p:nvSpPr>
          <p:cNvPr id="17" name="Freeform 17"/>
          <p:cNvSpPr/>
          <p:nvPr/>
        </p:nvSpPr>
        <p:spPr>
          <a:xfrm>
            <a:off x="3180863" y="3376105"/>
            <a:ext cx="884959" cy="542059"/>
          </a:xfrm>
          <a:custGeom>
            <a:avLst/>
            <a:gdLst/>
            <a:ahLst/>
            <a:cxnLst/>
            <a:rect l="l" t="t" r="r" b="b"/>
            <a:pathLst>
              <a:path w="884959" h="542059">
                <a:moveTo>
                  <a:pt x="76203" y="0"/>
                </a:moveTo>
                <a:lnTo>
                  <a:pt x="808756" y="0"/>
                </a:lnTo>
                <a:cubicBezTo>
                  <a:pt x="850842" y="0"/>
                  <a:pt x="884959" y="34117"/>
                  <a:pt x="884959" y="76203"/>
                </a:cubicBezTo>
                <a:lnTo>
                  <a:pt x="884959" y="465856"/>
                </a:lnTo>
                <a:cubicBezTo>
                  <a:pt x="884959" y="507942"/>
                  <a:pt x="850842" y="542059"/>
                  <a:pt x="808756" y="542059"/>
                </a:cubicBezTo>
                <a:lnTo>
                  <a:pt x="76203" y="542059"/>
                </a:lnTo>
                <a:cubicBezTo>
                  <a:pt x="34117" y="542059"/>
                  <a:pt x="0" y="507942"/>
                  <a:pt x="0" y="465856"/>
                </a:cubicBezTo>
                <a:lnTo>
                  <a:pt x="0" y="76203"/>
                </a:lnTo>
                <a:cubicBezTo>
                  <a:pt x="0" y="34145"/>
                  <a:pt x="34145" y="0"/>
                  <a:pt x="76203"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18" name="AutoShape 18"/>
          <p:cNvSpPr/>
          <p:nvPr/>
        </p:nvSpPr>
        <p:spPr>
          <a:xfrm>
            <a:off x="3299438" y="3456608"/>
            <a:ext cx="6477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to</a:t>
            </a:r>
            <a:endParaRPr lang="en-US" sz="1100"/>
          </a:p>
        </p:txBody>
      </p:sp>
      <p:sp>
        <p:nvSpPr>
          <p:cNvPr id="19" name="AutoShape 19"/>
          <p:cNvSpPr/>
          <p:nvPr/>
        </p:nvSpPr>
        <p:spPr>
          <a:xfrm>
            <a:off x="3308963" y="3685115"/>
            <a:ext cx="628650"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 5</a:t>
            </a:r>
            <a:endParaRPr lang="en-US" sz="1100"/>
          </a:p>
        </p:txBody>
      </p:sp>
      <p:sp>
        <p:nvSpPr>
          <p:cNvPr id="20" name="Freeform 20"/>
          <p:cNvSpPr/>
          <p:nvPr/>
        </p:nvSpPr>
        <p:spPr>
          <a:xfrm>
            <a:off x="4192894" y="3376105"/>
            <a:ext cx="884959" cy="542059"/>
          </a:xfrm>
          <a:custGeom>
            <a:avLst/>
            <a:gdLst/>
            <a:ahLst/>
            <a:cxnLst/>
            <a:rect l="l" t="t" r="r" b="b"/>
            <a:pathLst>
              <a:path w="884959" h="542059">
                <a:moveTo>
                  <a:pt x="76203" y="0"/>
                </a:moveTo>
                <a:lnTo>
                  <a:pt x="808756" y="0"/>
                </a:lnTo>
                <a:cubicBezTo>
                  <a:pt x="850842" y="0"/>
                  <a:pt x="884959" y="34117"/>
                  <a:pt x="884959" y="76203"/>
                </a:cubicBezTo>
                <a:lnTo>
                  <a:pt x="884959" y="465856"/>
                </a:lnTo>
                <a:cubicBezTo>
                  <a:pt x="884959" y="507942"/>
                  <a:pt x="850842" y="542059"/>
                  <a:pt x="808756" y="542059"/>
                </a:cubicBezTo>
                <a:lnTo>
                  <a:pt x="76203" y="542059"/>
                </a:lnTo>
                <a:cubicBezTo>
                  <a:pt x="34117" y="542059"/>
                  <a:pt x="0" y="507942"/>
                  <a:pt x="0" y="465856"/>
                </a:cubicBezTo>
                <a:lnTo>
                  <a:pt x="0" y="76203"/>
                </a:lnTo>
                <a:cubicBezTo>
                  <a:pt x="0" y="34145"/>
                  <a:pt x="34145" y="0"/>
                  <a:pt x="76203" y="0"/>
                </a:cubicBezTo>
                <a:close/>
              </a:path>
            </a:pathLst>
          </a:custGeom>
          <a:solidFill>
            <a:srgbClr val="FFFFFF">
              <a:alpha val="100000"/>
            </a:srgbClr>
          </a:solidFill>
          <a:ln w="12700">
            <a:solidFill>
              <a:srgbClr val="CCCCCC">
                <a:alpha val="100000"/>
              </a:srgbClr>
            </a:solidFill>
            <a:prstDash val="solid"/>
          </a:ln>
        </p:spPr>
        <p:txBody>
          <a:bodyPr wrap="square" lIns="91440" tIns="45720" rIns="91440" bIns="45720" rtlCol="0" anchor="t">
            <a:noAutofit/>
          </a:bodyPr>
          <a:lstStyle/>
          <a:p>
            <a:pPr algn="ctr">
              <a:defRPr/>
            </a:pPr>
          </a:p>
        </p:txBody>
      </p:sp>
      <p:sp>
        <p:nvSpPr>
          <p:cNvPr id="21" name="AutoShape 21"/>
          <p:cNvSpPr/>
          <p:nvPr/>
        </p:nvSpPr>
        <p:spPr>
          <a:xfrm>
            <a:off x="4311469" y="3456608"/>
            <a:ext cx="6477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22" name="Freeform 22"/>
          <p:cNvSpPr/>
          <p:nvPr/>
        </p:nvSpPr>
        <p:spPr>
          <a:xfrm>
            <a:off x="5204925" y="3376105"/>
            <a:ext cx="884959" cy="542059"/>
          </a:xfrm>
          <a:custGeom>
            <a:avLst/>
            <a:gdLst/>
            <a:ahLst/>
            <a:cxnLst/>
            <a:rect l="l" t="t" r="r" b="b"/>
            <a:pathLst>
              <a:path w="884959" h="542059">
                <a:moveTo>
                  <a:pt x="76203" y="0"/>
                </a:moveTo>
                <a:lnTo>
                  <a:pt x="808756" y="0"/>
                </a:lnTo>
                <a:cubicBezTo>
                  <a:pt x="850842" y="0"/>
                  <a:pt x="884959" y="34117"/>
                  <a:pt x="884959" y="76203"/>
                </a:cubicBezTo>
                <a:lnTo>
                  <a:pt x="884959" y="465856"/>
                </a:lnTo>
                <a:cubicBezTo>
                  <a:pt x="884959" y="507942"/>
                  <a:pt x="850842" y="542059"/>
                  <a:pt x="808756" y="542059"/>
                </a:cubicBezTo>
                <a:lnTo>
                  <a:pt x="76203" y="542059"/>
                </a:lnTo>
                <a:cubicBezTo>
                  <a:pt x="34117" y="542059"/>
                  <a:pt x="0" y="507942"/>
                  <a:pt x="0" y="465856"/>
                </a:cubicBezTo>
                <a:lnTo>
                  <a:pt x="0" y="76203"/>
                </a:lnTo>
                <a:cubicBezTo>
                  <a:pt x="0" y="34145"/>
                  <a:pt x="34145" y="0"/>
                  <a:pt x="76203" y="0"/>
                </a:cubicBezTo>
                <a:close/>
              </a:path>
            </a:pathLst>
          </a:custGeom>
          <a:solidFill>
            <a:srgbClr val="FFFFFF">
              <a:alpha val="100000"/>
            </a:srgbClr>
          </a:solidFill>
          <a:ln w="12700">
            <a:solidFill>
              <a:srgbClr val="1E90FF">
                <a:alpha val="100000"/>
              </a:srgbClr>
            </a:solidFill>
            <a:prstDash val="solid"/>
          </a:ln>
        </p:spPr>
        <p:txBody>
          <a:bodyPr wrap="square" lIns="91440" tIns="45720" rIns="91440" bIns="45720" rtlCol="0" anchor="t">
            <a:noAutofit/>
          </a:bodyPr>
          <a:lstStyle/>
          <a:p>
            <a:pPr algn="ctr">
              <a:defRPr/>
            </a:pPr>
          </a:p>
        </p:txBody>
      </p:sp>
      <p:sp>
        <p:nvSpPr>
          <p:cNvPr id="23" name="AutoShape 23"/>
          <p:cNvSpPr/>
          <p:nvPr/>
        </p:nvSpPr>
        <p:spPr>
          <a:xfrm>
            <a:off x="5323501" y="3456608"/>
            <a:ext cx="6477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learn</a:t>
            </a:r>
            <a:endParaRPr lang="en-US" sz="1100"/>
          </a:p>
        </p:txBody>
      </p:sp>
      <p:sp>
        <p:nvSpPr>
          <p:cNvPr id="24" name="AutoShape 24"/>
          <p:cNvSpPr/>
          <p:nvPr/>
        </p:nvSpPr>
        <p:spPr>
          <a:xfrm>
            <a:off x="5333026" y="3685115"/>
            <a:ext cx="628650"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 99999</a:t>
            </a:r>
            <a:endParaRPr lang="en-US" sz="1100"/>
          </a:p>
        </p:txBody>
      </p:sp>
      <p:sp>
        <p:nvSpPr>
          <p:cNvPr id="25" name="Freeform 25"/>
          <p:cNvSpPr/>
          <p:nvPr/>
        </p:nvSpPr>
        <p:spPr>
          <a:xfrm>
            <a:off x="6216957" y="3376105"/>
            <a:ext cx="884959" cy="542059"/>
          </a:xfrm>
          <a:custGeom>
            <a:avLst/>
            <a:gdLst/>
            <a:ahLst/>
            <a:cxnLst/>
            <a:rect l="l" t="t" r="r" b="b"/>
            <a:pathLst>
              <a:path w="884959" h="542059">
                <a:moveTo>
                  <a:pt x="76203" y="0"/>
                </a:moveTo>
                <a:lnTo>
                  <a:pt x="808756" y="0"/>
                </a:lnTo>
                <a:cubicBezTo>
                  <a:pt x="850842" y="0"/>
                  <a:pt x="884959" y="34117"/>
                  <a:pt x="884959" y="76203"/>
                </a:cubicBezTo>
                <a:lnTo>
                  <a:pt x="884959" y="465856"/>
                </a:lnTo>
                <a:cubicBezTo>
                  <a:pt x="884959" y="507942"/>
                  <a:pt x="850842" y="542059"/>
                  <a:pt x="808756" y="542059"/>
                </a:cubicBezTo>
                <a:lnTo>
                  <a:pt x="76203" y="542059"/>
                </a:lnTo>
                <a:cubicBezTo>
                  <a:pt x="34117" y="542059"/>
                  <a:pt x="0" y="507942"/>
                  <a:pt x="0" y="465856"/>
                </a:cubicBezTo>
                <a:lnTo>
                  <a:pt x="0" y="76203"/>
                </a:lnTo>
                <a:cubicBezTo>
                  <a:pt x="0" y="34145"/>
                  <a:pt x="34145" y="0"/>
                  <a:pt x="76203" y="0"/>
                </a:cubicBezTo>
                <a:close/>
              </a:path>
            </a:pathLst>
          </a:custGeom>
          <a:solidFill>
            <a:srgbClr val="FFFFFF">
              <a:alpha val="100000"/>
            </a:srgbClr>
          </a:solidFill>
          <a:ln w="12700">
            <a:solidFill>
              <a:srgbClr val="1E90FF">
                <a:alpha val="100000"/>
              </a:srgbClr>
            </a:solidFill>
            <a:prstDash val="solid"/>
          </a:ln>
        </p:spPr>
        <p:txBody>
          <a:bodyPr wrap="square" lIns="91440" tIns="45720" rIns="91440" bIns="45720" rtlCol="0" anchor="t">
            <a:noAutofit/>
          </a:bodyPr>
          <a:lstStyle/>
          <a:p>
            <a:pPr algn="ctr">
              <a:defRPr/>
            </a:pPr>
          </a:p>
        </p:txBody>
      </p:sp>
      <p:sp>
        <p:nvSpPr>
          <p:cNvPr id="26" name="AutoShape 26"/>
          <p:cNvSpPr/>
          <p:nvPr/>
        </p:nvSpPr>
        <p:spPr>
          <a:xfrm>
            <a:off x="6335532" y="3456608"/>
            <a:ext cx="6477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intelligent</a:t>
            </a:r>
            <a:endParaRPr lang="en-US" sz="1100"/>
          </a:p>
        </p:txBody>
      </p:sp>
      <p:sp>
        <p:nvSpPr>
          <p:cNvPr id="27" name="AutoShape 27"/>
          <p:cNvSpPr/>
          <p:nvPr/>
        </p:nvSpPr>
        <p:spPr>
          <a:xfrm>
            <a:off x="6345057" y="3685115"/>
            <a:ext cx="628650"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 100000</a:t>
            </a:r>
            <a:endParaRPr lang="en-US" sz="1100"/>
          </a:p>
        </p:txBody>
      </p:sp>
      <p:sp>
        <p:nvSpPr>
          <p:cNvPr id="28" name="Freeform 28"/>
          <p:cNvSpPr/>
          <p:nvPr/>
        </p:nvSpPr>
        <p:spPr>
          <a:xfrm>
            <a:off x="7796158" y="2133786"/>
            <a:ext cx="1524000" cy="1524000"/>
          </a:xfrm>
          <a:custGeom>
            <a:avLst/>
            <a:gdLst/>
            <a:ahLst/>
            <a:cxnLst/>
            <a:rect l="l" t="t" r="r" b="b"/>
            <a:pathLst>
              <a:path w="1524000" h="1524000">
                <a:moveTo>
                  <a:pt x="762000" y="0"/>
                </a:moveTo>
                <a:lnTo>
                  <a:pt x="762000" y="0"/>
                </a:lnTo>
                <a:cubicBezTo>
                  <a:pt x="1182559" y="0"/>
                  <a:pt x="1524000" y="341441"/>
                  <a:pt x="1524000" y="762000"/>
                </a:cubicBezTo>
                <a:lnTo>
                  <a:pt x="1524000" y="762000"/>
                </a:lnTo>
                <a:cubicBezTo>
                  <a:pt x="1524000" y="1182559"/>
                  <a:pt x="1182559" y="1524000"/>
                  <a:pt x="762000" y="1524000"/>
                </a:cubicBezTo>
                <a:lnTo>
                  <a:pt x="762000" y="1524000"/>
                </a:lnTo>
                <a:cubicBezTo>
                  <a:pt x="341441" y="1524000"/>
                  <a:pt x="0" y="1182559"/>
                  <a:pt x="0" y="762000"/>
                </a:cubicBezTo>
                <a:lnTo>
                  <a:pt x="0" y="762000"/>
                </a:lnTo>
                <a:cubicBezTo>
                  <a:pt x="0" y="341441"/>
                  <a:pt x="341441" y="0"/>
                  <a:pt x="7620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9" name="AutoShape 29"/>
          <p:cNvSpPr/>
          <p:nvPr/>
        </p:nvSpPr>
        <p:spPr>
          <a:xfrm>
            <a:off x="7886050" y="2476779"/>
            <a:ext cx="1343025" cy="533400"/>
          </a:xfrm>
          <a:prstGeom prst="rect">
            <a:avLst/>
          </a:prstGeom>
          <a:noFill/>
          <a:ln w="12700">
            <a:noFill/>
            <a:prstDash val="solid"/>
          </a:ln>
        </p:spPr>
        <p:txBody>
          <a:bodyPr wrap="square" lIns="0" tIns="0" rIns="0" bIns="0" rtlCol="0" anchor="ctr">
            <a:noAutofit/>
          </a:bodyPr>
          <a:lstStyle/>
          <a:p>
            <a:pPr indent="0" algn="ctr">
              <a:lnSpc>
                <a:spcPct val="83000"/>
              </a:lnSpc>
              <a:defRPr/>
            </a:pPr>
            <a:r>
              <a:rPr lang="en-US" sz="223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100K+</a:t>
            </a:r>
            <a:endParaRPr lang="en-US" sz="1100"/>
          </a:p>
        </p:txBody>
      </p:sp>
      <p:sp>
        <p:nvSpPr>
          <p:cNvPr id="30" name="AutoShape 30"/>
          <p:cNvSpPr/>
          <p:nvPr/>
        </p:nvSpPr>
        <p:spPr>
          <a:xfrm>
            <a:off x="7976538" y="3048130"/>
            <a:ext cx="11620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85"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Token</a:t>
            </a:r>
            <a:endParaRPr lang="en-US" sz="1100"/>
          </a:p>
        </p:txBody>
      </p:sp>
      <p:sp>
        <p:nvSpPr>
          <p:cNvPr id="31" name="AutoShape 31"/>
          <p:cNvSpPr/>
          <p:nvPr/>
        </p:nvSpPr>
        <p:spPr>
          <a:xfrm>
            <a:off x="8172315" y="3810130"/>
            <a:ext cx="771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45"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Vocabulary Size</a:t>
            </a:r>
            <a:endParaRPr lang="en-US" sz="1100"/>
          </a:p>
        </p:txBody>
      </p:sp>
      <p:sp>
        <p:nvSpPr>
          <p:cNvPr id="32" name="Freeform 32"/>
          <p:cNvSpPr/>
          <p:nvPr/>
        </p:nvSpPr>
        <p:spPr>
          <a:xfrm>
            <a:off x="3736019" y="4550625"/>
            <a:ext cx="226055" cy="228600"/>
          </a:xfrm>
          <a:custGeom>
            <a:avLst/>
            <a:gdLst/>
            <a:ahLst/>
            <a:cxnLst/>
            <a:rect l="l" t="t" r="r" b="b"/>
            <a:pathLst>
              <a:path w="226055" h="228600">
                <a:moveTo>
                  <a:pt x="85725" y="114300"/>
                </a:moveTo>
                <a:lnTo>
                  <a:pt x="68089" y="131936"/>
                </a:lnTo>
                <a:cubicBezTo>
                  <a:pt x="62462" y="129748"/>
                  <a:pt x="56391" y="128587"/>
                  <a:pt x="50006" y="128587"/>
                </a:cubicBezTo>
                <a:cubicBezTo>
                  <a:pt x="22369" y="128587"/>
                  <a:pt x="0" y="150956"/>
                  <a:pt x="0" y="178594"/>
                </a:cubicBezTo>
                <a:cubicBezTo>
                  <a:pt x="0" y="206231"/>
                  <a:pt x="22369" y="228600"/>
                  <a:pt x="50006" y="228600"/>
                </a:cubicBezTo>
                <a:cubicBezTo>
                  <a:pt x="77644" y="228600"/>
                  <a:pt x="100012" y="206231"/>
                  <a:pt x="100012" y="178594"/>
                </a:cubicBezTo>
                <a:cubicBezTo>
                  <a:pt x="100012" y="172209"/>
                  <a:pt x="98807" y="166138"/>
                  <a:pt x="96664" y="160511"/>
                </a:cubicBezTo>
                <a:lnTo>
                  <a:pt x="222885" y="34290"/>
                </a:lnTo>
                <a:cubicBezTo>
                  <a:pt x="226055" y="31120"/>
                  <a:pt x="226055" y="26030"/>
                  <a:pt x="222885" y="22860"/>
                </a:cubicBezTo>
                <a:cubicBezTo>
                  <a:pt x="210249" y="10223"/>
                  <a:pt x="189801" y="10223"/>
                  <a:pt x="177165" y="22860"/>
                </a:cubicBezTo>
                <a:lnTo>
                  <a:pt x="114300" y="85725"/>
                </a:lnTo>
                <a:lnTo>
                  <a:pt x="96664" y="68089"/>
                </a:lnTo>
                <a:cubicBezTo>
                  <a:pt x="98852" y="62462"/>
                  <a:pt x="100012" y="56391"/>
                  <a:pt x="100012" y="50006"/>
                </a:cubicBezTo>
                <a:cubicBezTo>
                  <a:pt x="100012" y="22369"/>
                  <a:pt x="77644" y="0"/>
                  <a:pt x="50006" y="0"/>
                </a:cubicBezTo>
                <a:cubicBezTo>
                  <a:pt x="22369" y="0"/>
                  <a:pt x="0" y="22369"/>
                  <a:pt x="0" y="50006"/>
                </a:cubicBezTo>
                <a:cubicBezTo>
                  <a:pt x="0" y="77644"/>
                  <a:pt x="22369" y="100013"/>
                  <a:pt x="50006" y="100013"/>
                </a:cubicBezTo>
                <a:cubicBezTo>
                  <a:pt x="56391" y="100013"/>
                  <a:pt x="62462" y="98807"/>
                  <a:pt x="68089" y="96664"/>
                </a:cubicBezTo>
                <a:lnTo>
                  <a:pt x="85725" y="114300"/>
                </a:lnTo>
                <a:close/>
                <a:moveTo>
                  <a:pt x="129436" y="158011"/>
                </a:moveTo>
                <a:lnTo>
                  <a:pt x="177165" y="205740"/>
                </a:lnTo>
                <a:cubicBezTo>
                  <a:pt x="189801" y="218377"/>
                  <a:pt x="210249" y="218377"/>
                  <a:pt x="222885" y="205740"/>
                </a:cubicBezTo>
                <a:cubicBezTo>
                  <a:pt x="226055" y="202570"/>
                  <a:pt x="226055" y="197480"/>
                  <a:pt x="222885" y="194310"/>
                </a:cubicBezTo>
                <a:lnTo>
                  <a:pt x="158011" y="129436"/>
                </a:lnTo>
                <a:lnTo>
                  <a:pt x="129436" y="158011"/>
                </a:lnTo>
                <a:close/>
                <a:moveTo>
                  <a:pt x="28575" y="50006"/>
                </a:moveTo>
                <a:cubicBezTo>
                  <a:pt x="28575" y="38177"/>
                  <a:pt x="38177" y="28575"/>
                  <a:pt x="50006" y="28575"/>
                </a:cubicBezTo>
                <a:cubicBezTo>
                  <a:pt x="61834" y="28575"/>
                  <a:pt x="71437" y="38177"/>
                  <a:pt x="71437" y="50006"/>
                </a:cubicBezTo>
                <a:cubicBezTo>
                  <a:pt x="71437" y="61834"/>
                  <a:pt x="61834" y="71437"/>
                  <a:pt x="50006" y="71437"/>
                </a:cubicBezTo>
                <a:cubicBezTo>
                  <a:pt x="38177" y="71437"/>
                  <a:pt x="28575" y="61834"/>
                  <a:pt x="28575" y="50006"/>
                </a:cubicBezTo>
                <a:close/>
                <a:moveTo>
                  <a:pt x="50006" y="157163"/>
                </a:moveTo>
                <a:cubicBezTo>
                  <a:pt x="61834" y="157163"/>
                  <a:pt x="71437" y="166766"/>
                  <a:pt x="71437" y="178594"/>
                </a:cubicBezTo>
                <a:cubicBezTo>
                  <a:pt x="71437" y="190423"/>
                  <a:pt x="61834" y="200025"/>
                  <a:pt x="50006" y="200025"/>
                </a:cubicBezTo>
                <a:cubicBezTo>
                  <a:pt x="38177" y="200025"/>
                  <a:pt x="28575" y="190423"/>
                  <a:pt x="28575" y="178594"/>
                </a:cubicBezTo>
                <a:cubicBezTo>
                  <a:pt x="28575" y="166766"/>
                  <a:pt x="38177" y="157163"/>
                  <a:pt x="50006" y="157163"/>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33" name="AutoShape 33"/>
          <p:cNvSpPr/>
          <p:nvPr/>
        </p:nvSpPr>
        <p:spPr>
          <a:xfrm>
            <a:off x="4107386" y="4531686"/>
            <a:ext cx="771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2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Token Statistics</a:t>
            </a:r>
            <a:endParaRPr lang="en-US" sz="1100"/>
          </a:p>
        </p:txBody>
      </p:sp>
      <p:sp>
        <p:nvSpPr>
          <p:cNvPr id="34" name="Freeform 34"/>
          <p:cNvSpPr/>
          <p:nvPr/>
        </p:nvSpPr>
        <p:spPr>
          <a:xfrm>
            <a:off x="5121717" y="4592409"/>
            <a:ext cx="191653" cy="145255"/>
          </a:xfrm>
          <a:custGeom>
            <a:avLst/>
            <a:gdLst/>
            <a:ahLst/>
            <a:cxnLst/>
            <a:rect l="l" t="t" r="r" b="b"/>
            <a:pathLst>
              <a:path w="191653" h="145255">
                <a:moveTo>
                  <a:pt x="187002" y="81036"/>
                </a:moveTo>
                <a:cubicBezTo>
                  <a:pt x="191653" y="76385"/>
                  <a:pt x="191653" y="68832"/>
                  <a:pt x="187002" y="64181"/>
                </a:cubicBezTo>
                <a:lnTo>
                  <a:pt x="127471" y="4650"/>
                </a:lnTo>
                <a:cubicBezTo>
                  <a:pt x="122820" y="0"/>
                  <a:pt x="115266" y="0"/>
                  <a:pt x="110617" y="4650"/>
                </a:cubicBezTo>
                <a:cubicBezTo>
                  <a:pt x="105966" y="9301"/>
                  <a:pt x="105966" y="16854"/>
                  <a:pt x="110617" y="21504"/>
                </a:cubicBezTo>
                <a:lnTo>
                  <a:pt x="149833" y="60721"/>
                </a:lnTo>
                <a:lnTo>
                  <a:pt x="11906" y="60721"/>
                </a:lnTo>
                <a:cubicBezTo>
                  <a:pt x="5321" y="60721"/>
                  <a:pt x="0" y="66041"/>
                  <a:pt x="0" y="72627"/>
                </a:cubicBezTo>
                <a:cubicBezTo>
                  <a:pt x="0" y="79213"/>
                  <a:pt x="5321" y="84533"/>
                  <a:pt x="11906" y="84533"/>
                </a:cubicBezTo>
                <a:lnTo>
                  <a:pt x="149833" y="84533"/>
                </a:lnTo>
                <a:lnTo>
                  <a:pt x="110617" y="123750"/>
                </a:lnTo>
                <a:cubicBezTo>
                  <a:pt x="105966" y="128400"/>
                  <a:pt x="105966" y="135953"/>
                  <a:pt x="110617" y="140604"/>
                </a:cubicBezTo>
                <a:cubicBezTo>
                  <a:pt x="115266" y="145254"/>
                  <a:pt x="122820" y="145254"/>
                  <a:pt x="127471" y="140604"/>
                </a:cubicBezTo>
                <a:lnTo>
                  <a:pt x="187002" y="81073"/>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35" name="Freeform 35"/>
          <p:cNvSpPr/>
          <p:nvPr/>
        </p:nvSpPr>
        <p:spPr>
          <a:xfrm>
            <a:off x="5653579" y="4564912"/>
            <a:ext cx="258604" cy="201409"/>
          </a:xfrm>
          <a:custGeom>
            <a:avLst/>
            <a:gdLst/>
            <a:ahLst/>
            <a:cxnLst/>
            <a:rect l="l" t="t" r="r" b="b"/>
            <a:pathLst>
              <a:path w="258604" h="201409">
                <a:moveTo>
                  <a:pt x="111532" y="152966"/>
                </a:moveTo>
                <a:lnTo>
                  <a:pt x="68670" y="195829"/>
                </a:lnTo>
                <a:cubicBezTo>
                  <a:pt x="63088" y="201410"/>
                  <a:pt x="54025" y="201410"/>
                  <a:pt x="48444" y="195829"/>
                </a:cubicBezTo>
                <a:lnTo>
                  <a:pt x="5581" y="152966"/>
                </a:lnTo>
                <a:cubicBezTo>
                  <a:pt x="0" y="147385"/>
                  <a:pt x="0" y="138321"/>
                  <a:pt x="5581" y="132740"/>
                </a:cubicBezTo>
                <a:cubicBezTo>
                  <a:pt x="11162" y="127159"/>
                  <a:pt x="20226" y="127159"/>
                  <a:pt x="25807" y="132740"/>
                </a:cubicBezTo>
                <a:lnTo>
                  <a:pt x="44291" y="151224"/>
                </a:lnTo>
                <a:lnTo>
                  <a:pt x="44291" y="14288"/>
                </a:lnTo>
                <a:cubicBezTo>
                  <a:pt x="44291" y="6385"/>
                  <a:pt x="50676" y="0"/>
                  <a:pt x="58579" y="0"/>
                </a:cubicBezTo>
                <a:cubicBezTo>
                  <a:pt x="66482" y="0"/>
                  <a:pt x="72867" y="6385"/>
                  <a:pt x="72867" y="14288"/>
                </a:cubicBezTo>
                <a:lnTo>
                  <a:pt x="72867" y="151224"/>
                </a:lnTo>
                <a:lnTo>
                  <a:pt x="91351" y="132740"/>
                </a:lnTo>
                <a:cubicBezTo>
                  <a:pt x="96932" y="127159"/>
                  <a:pt x="105996" y="127159"/>
                  <a:pt x="111577" y="132740"/>
                </a:cubicBezTo>
                <a:cubicBezTo>
                  <a:pt x="117158" y="138321"/>
                  <a:pt x="117158" y="147385"/>
                  <a:pt x="111577" y="152966"/>
                </a:cubicBezTo>
                <a:close/>
                <a:moveTo>
                  <a:pt x="144304" y="200026"/>
                </a:moveTo>
                <a:cubicBezTo>
                  <a:pt x="136401" y="200026"/>
                  <a:pt x="130017" y="193641"/>
                  <a:pt x="130017" y="185738"/>
                </a:cubicBezTo>
                <a:cubicBezTo>
                  <a:pt x="130017" y="177835"/>
                  <a:pt x="136401" y="171450"/>
                  <a:pt x="144304" y="171450"/>
                </a:cubicBezTo>
                <a:lnTo>
                  <a:pt x="158591" y="171450"/>
                </a:lnTo>
                <a:cubicBezTo>
                  <a:pt x="166493" y="171450"/>
                  <a:pt x="172879" y="177835"/>
                  <a:pt x="172879" y="185738"/>
                </a:cubicBezTo>
                <a:cubicBezTo>
                  <a:pt x="172879" y="193641"/>
                  <a:pt x="166493" y="200026"/>
                  <a:pt x="158591" y="200026"/>
                </a:cubicBezTo>
                <a:lnTo>
                  <a:pt x="144304" y="200026"/>
                </a:lnTo>
                <a:close/>
                <a:moveTo>
                  <a:pt x="144304" y="142876"/>
                </a:moveTo>
                <a:cubicBezTo>
                  <a:pt x="136401" y="142876"/>
                  <a:pt x="130017" y="136491"/>
                  <a:pt x="130017" y="128588"/>
                </a:cubicBezTo>
                <a:cubicBezTo>
                  <a:pt x="130017" y="120685"/>
                  <a:pt x="136401" y="114300"/>
                  <a:pt x="144304" y="114300"/>
                </a:cubicBezTo>
                <a:lnTo>
                  <a:pt x="187167" y="114300"/>
                </a:lnTo>
                <a:cubicBezTo>
                  <a:pt x="195068" y="114300"/>
                  <a:pt x="201454" y="120685"/>
                  <a:pt x="201454" y="128588"/>
                </a:cubicBezTo>
                <a:cubicBezTo>
                  <a:pt x="201454" y="136491"/>
                  <a:pt x="195068" y="142876"/>
                  <a:pt x="187167" y="142876"/>
                </a:cubicBezTo>
                <a:lnTo>
                  <a:pt x="144304" y="142876"/>
                </a:lnTo>
                <a:close/>
                <a:moveTo>
                  <a:pt x="144304" y="85726"/>
                </a:moveTo>
                <a:cubicBezTo>
                  <a:pt x="136401" y="85726"/>
                  <a:pt x="130017" y="79341"/>
                  <a:pt x="130017" y="71438"/>
                </a:cubicBezTo>
                <a:cubicBezTo>
                  <a:pt x="130017" y="63535"/>
                  <a:pt x="136401" y="57150"/>
                  <a:pt x="144304" y="57150"/>
                </a:cubicBezTo>
                <a:lnTo>
                  <a:pt x="215741" y="57150"/>
                </a:lnTo>
                <a:cubicBezTo>
                  <a:pt x="223643" y="57150"/>
                  <a:pt x="230029" y="63535"/>
                  <a:pt x="230029" y="71438"/>
                </a:cubicBezTo>
                <a:cubicBezTo>
                  <a:pt x="230029" y="79341"/>
                  <a:pt x="223643" y="85726"/>
                  <a:pt x="215741" y="85726"/>
                </a:cubicBezTo>
                <a:lnTo>
                  <a:pt x="144304" y="85726"/>
                </a:lnTo>
                <a:close/>
                <a:moveTo>
                  <a:pt x="144304" y="28576"/>
                </a:moveTo>
                <a:cubicBezTo>
                  <a:pt x="136401" y="28576"/>
                  <a:pt x="130017" y="22191"/>
                  <a:pt x="130017" y="14288"/>
                </a:cubicBezTo>
                <a:cubicBezTo>
                  <a:pt x="130017" y="6385"/>
                  <a:pt x="136401" y="0"/>
                  <a:pt x="144304" y="0"/>
                </a:cubicBezTo>
                <a:lnTo>
                  <a:pt x="244317" y="0"/>
                </a:lnTo>
                <a:cubicBezTo>
                  <a:pt x="252218" y="0"/>
                  <a:pt x="258604" y="6385"/>
                  <a:pt x="258604" y="14288"/>
                </a:cubicBezTo>
                <a:cubicBezTo>
                  <a:pt x="258604" y="22191"/>
                  <a:pt x="252218" y="28576"/>
                  <a:pt x="244317" y="28576"/>
                </a:cubicBezTo>
                <a:lnTo>
                  <a:pt x="144304" y="28576"/>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36" name="AutoShape 36"/>
          <p:cNvSpPr/>
          <p:nvPr/>
        </p:nvSpPr>
        <p:spPr>
          <a:xfrm>
            <a:off x="6040663" y="4531686"/>
            <a:ext cx="771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Frequency Sorting</a:t>
            </a:r>
            <a:endParaRPr lang="en-US" sz="1100"/>
          </a:p>
        </p:txBody>
      </p:sp>
      <p:sp>
        <p:nvSpPr>
          <p:cNvPr id="37" name="Freeform 37"/>
          <p:cNvSpPr/>
          <p:nvPr/>
        </p:nvSpPr>
        <p:spPr>
          <a:xfrm>
            <a:off x="7054994" y="4592409"/>
            <a:ext cx="191653" cy="145255"/>
          </a:xfrm>
          <a:custGeom>
            <a:avLst/>
            <a:gdLst/>
            <a:ahLst/>
            <a:cxnLst/>
            <a:rect l="l" t="t" r="r" b="b"/>
            <a:pathLst>
              <a:path w="191653" h="145255">
                <a:moveTo>
                  <a:pt x="187002" y="81036"/>
                </a:moveTo>
                <a:cubicBezTo>
                  <a:pt x="191653" y="76385"/>
                  <a:pt x="191653" y="68832"/>
                  <a:pt x="187002" y="64181"/>
                </a:cubicBezTo>
                <a:lnTo>
                  <a:pt x="127471" y="4650"/>
                </a:lnTo>
                <a:cubicBezTo>
                  <a:pt x="122820" y="0"/>
                  <a:pt x="115266" y="0"/>
                  <a:pt x="110617" y="4650"/>
                </a:cubicBezTo>
                <a:cubicBezTo>
                  <a:pt x="105966" y="9301"/>
                  <a:pt x="105966" y="16854"/>
                  <a:pt x="110617" y="21504"/>
                </a:cubicBezTo>
                <a:lnTo>
                  <a:pt x="149833" y="60721"/>
                </a:lnTo>
                <a:lnTo>
                  <a:pt x="11906" y="60721"/>
                </a:lnTo>
                <a:cubicBezTo>
                  <a:pt x="5321" y="60721"/>
                  <a:pt x="0" y="66041"/>
                  <a:pt x="0" y="72627"/>
                </a:cubicBezTo>
                <a:cubicBezTo>
                  <a:pt x="0" y="79213"/>
                  <a:pt x="5321" y="84533"/>
                  <a:pt x="11906" y="84533"/>
                </a:cubicBezTo>
                <a:lnTo>
                  <a:pt x="149833" y="84533"/>
                </a:lnTo>
                <a:lnTo>
                  <a:pt x="110617" y="123750"/>
                </a:lnTo>
                <a:cubicBezTo>
                  <a:pt x="105966" y="128400"/>
                  <a:pt x="105966" y="135953"/>
                  <a:pt x="110617" y="140604"/>
                </a:cubicBezTo>
                <a:cubicBezTo>
                  <a:pt x="115266" y="145254"/>
                  <a:pt x="122820" y="145254"/>
                  <a:pt x="127471" y="140604"/>
                </a:cubicBezTo>
                <a:lnTo>
                  <a:pt x="187002" y="81073"/>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38" name="Freeform 38"/>
          <p:cNvSpPr/>
          <p:nvPr/>
        </p:nvSpPr>
        <p:spPr>
          <a:xfrm>
            <a:off x="7601144" y="4572056"/>
            <a:ext cx="230029" cy="185738"/>
          </a:xfrm>
          <a:custGeom>
            <a:avLst/>
            <a:gdLst/>
            <a:ahLst/>
            <a:cxnLst/>
            <a:rect l="l" t="t" r="r" b="b"/>
            <a:pathLst>
              <a:path w="230029" h="185738">
                <a:moveTo>
                  <a:pt x="1429" y="10717"/>
                </a:moveTo>
                <a:cubicBezTo>
                  <a:pt x="1429" y="4822"/>
                  <a:pt x="6205" y="0"/>
                  <a:pt x="12145" y="0"/>
                </a:cubicBezTo>
                <a:lnTo>
                  <a:pt x="33577" y="0"/>
                </a:lnTo>
                <a:cubicBezTo>
                  <a:pt x="39514" y="0"/>
                  <a:pt x="44292" y="4778"/>
                  <a:pt x="44292" y="10717"/>
                </a:cubicBezTo>
                <a:lnTo>
                  <a:pt x="44292" y="57150"/>
                </a:lnTo>
                <a:lnTo>
                  <a:pt x="55006" y="57150"/>
                </a:lnTo>
                <a:cubicBezTo>
                  <a:pt x="60945" y="57150"/>
                  <a:pt x="65723" y="61928"/>
                  <a:pt x="65723" y="67867"/>
                </a:cubicBezTo>
                <a:cubicBezTo>
                  <a:pt x="65723" y="73804"/>
                  <a:pt x="60945" y="78582"/>
                  <a:pt x="55006" y="78582"/>
                </a:cubicBezTo>
                <a:lnTo>
                  <a:pt x="12145" y="78582"/>
                </a:lnTo>
                <a:cubicBezTo>
                  <a:pt x="6205" y="78582"/>
                  <a:pt x="1429" y="73804"/>
                  <a:pt x="1429" y="67867"/>
                </a:cubicBezTo>
                <a:cubicBezTo>
                  <a:pt x="1429" y="61928"/>
                  <a:pt x="6205" y="57150"/>
                  <a:pt x="12145" y="57150"/>
                </a:cubicBezTo>
                <a:lnTo>
                  <a:pt x="22860" y="57150"/>
                </a:lnTo>
                <a:lnTo>
                  <a:pt x="22860" y="21432"/>
                </a:lnTo>
                <a:lnTo>
                  <a:pt x="12145" y="21432"/>
                </a:lnTo>
                <a:cubicBezTo>
                  <a:pt x="6205" y="21432"/>
                  <a:pt x="1429" y="16654"/>
                  <a:pt x="1429" y="10717"/>
                </a:cubicBezTo>
                <a:close/>
                <a:moveTo>
                  <a:pt x="15001" y="113051"/>
                </a:moveTo>
                <a:cubicBezTo>
                  <a:pt x="20092" y="109210"/>
                  <a:pt x="26298" y="107156"/>
                  <a:pt x="32682" y="107156"/>
                </a:cubicBezTo>
                <a:lnTo>
                  <a:pt x="34871" y="107156"/>
                </a:lnTo>
                <a:cubicBezTo>
                  <a:pt x="49918" y="107156"/>
                  <a:pt x="62152" y="119390"/>
                  <a:pt x="62152" y="134437"/>
                </a:cubicBezTo>
                <a:cubicBezTo>
                  <a:pt x="62152" y="143188"/>
                  <a:pt x="57954" y="151358"/>
                  <a:pt x="50899" y="156493"/>
                </a:cubicBezTo>
                <a:lnTo>
                  <a:pt x="40184" y="164306"/>
                </a:lnTo>
                <a:lnTo>
                  <a:pt x="55006" y="164306"/>
                </a:lnTo>
                <a:cubicBezTo>
                  <a:pt x="60945" y="164306"/>
                  <a:pt x="65723" y="169084"/>
                  <a:pt x="65723" y="175021"/>
                </a:cubicBezTo>
                <a:cubicBezTo>
                  <a:pt x="65723" y="180960"/>
                  <a:pt x="60945" y="185738"/>
                  <a:pt x="55006" y="185738"/>
                </a:cubicBezTo>
                <a:lnTo>
                  <a:pt x="14511" y="185738"/>
                </a:lnTo>
                <a:cubicBezTo>
                  <a:pt x="7279" y="185738"/>
                  <a:pt x="1429" y="179889"/>
                  <a:pt x="1429" y="172655"/>
                </a:cubicBezTo>
                <a:cubicBezTo>
                  <a:pt x="1429" y="168459"/>
                  <a:pt x="3438" y="164530"/>
                  <a:pt x="6832" y="162074"/>
                </a:cubicBezTo>
                <a:lnTo>
                  <a:pt x="38309" y="139169"/>
                </a:lnTo>
                <a:cubicBezTo>
                  <a:pt x="39827" y="138053"/>
                  <a:pt x="40720" y="136312"/>
                  <a:pt x="40720" y="134437"/>
                </a:cubicBezTo>
                <a:cubicBezTo>
                  <a:pt x="40720" y="131222"/>
                  <a:pt x="38085" y="128588"/>
                  <a:pt x="34871" y="128588"/>
                </a:cubicBezTo>
                <a:lnTo>
                  <a:pt x="32682" y="128588"/>
                </a:lnTo>
                <a:cubicBezTo>
                  <a:pt x="30943" y="128588"/>
                  <a:pt x="29245" y="129168"/>
                  <a:pt x="27862" y="130196"/>
                </a:cubicBezTo>
                <a:lnTo>
                  <a:pt x="18574" y="137160"/>
                </a:lnTo>
                <a:cubicBezTo>
                  <a:pt x="13841" y="140731"/>
                  <a:pt x="7144" y="139750"/>
                  <a:pt x="3571" y="135016"/>
                </a:cubicBezTo>
                <a:cubicBezTo>
                  <a:pt x="0" y="130284"/>
                  <a:pt x="983" y="123586"/>
                  <a:pt x="5715" y="120015"/>
                </a:cubicBezTo>
                <a:lnTo>
                  <a:pt x="15001" y="113051"/>
                </a:lnTo>
                <a:close/>
                <a:moveTo>
                  <a:pt x="101442" y="7144"/>
                </a:moveTo>
                <a:lnTo>
                  <a:pt x="215742" y="7144"/>
                </a:lnTo>
                <a:cubicBezTo>
                  <a:pt x="223643" y="7144"/>
                  <a:pt x="230029" y="13530"/>
                  <a:pt x="230029" y="21432"/>
                </a:cubicBezTo>
                <a:cubicBezTo>
                  <a:pt x="230029" y="29333"/>
                  <a:pt x="223643" y="35719"/>
                  <a:pt x="215742" y="35719"/>
                </a:cubicBezTo>
                <a:lnTo>
                  <a:pt x="101442" y="35719"/>
                </a:lnTo>
                <a:cubicBezTo>
                  <a:pt x="93540" y="35719"/>
                  <a:pt x="87154" y="29333"/>
                  <a:pt x="87154" y="21432"/>
                </a:cubicBezTo>
                <a:cubicBezTo>
                  <a:pt x="87154" y="13530"/>
                  <a:pt x="93540" y="7144"/>
                  <a:pt x="101442" y="7144"/>
                </a:cubicBezTo>
                <a:close/>
                <a:moveTo>
                  <a:pt x="101442" y="78582"/>
                </a:moveTo>
                <a:lnTo>
                  <a:pt x="215742" y="78582"/>
                </a:lnTo>
                <a:cubicBezTo>
                  <a:pt x="223643" y="78582"/>
                  <a:pt x="230029" y="84966"/>
                  <a:pt x="230029" y="92869"/>
                </a:cubicBezTo>
                <a:cubicBezTo>
                  <a:pt x="230029" y="100772"/>
                  <a:pt x="223643" y="107156"/>
                  <a:pt x="215742" y="107156"/>
                </a:cubicBezTo>
                <a:lnTo>
                  <a:pt x="101442" y="107156"/>
                </a:lnTo>
                <a:cubicBezTo>
                  <a:pt x="93540" y="107156"/>
                  <a:pt x="87154" y="100772"/>
                  <a:pt x="87154" y="92869"/>
                </a:cubicBezTo>
                <a:cubicBezTo>
                  <a:pt x="87154" y="84966"/>
                  <a:pt x="93540" y="78582"/>
                  <a:pt x="101442" y="78582"/>
                </a:cubicBezTo>
                <a:close/>
                <a:moveTo>
                  <a:pt x="101442" y="150019"/>
                </a:moveTo>
                <a:lnTo>
                  <a:pt x="215742" y="150019"/>
                </a:lnTo>
                <a:cubicBezTo>
                  <a:pt x="223643" y="150019"/>
                  <a:pt x="230029" y="156405"/>
                  <a:pt x="230029" y="164306"/>
                </a:cubicBezTo>
                <a:cubicBezTo>
                  <a:pt x="230029" y="172208"/>
                  <a:pt x="223643" y="178594"/>
                  <a:pt x="215742" y="178594"/>
                </a:cubicBezTo>
                <a:lnTo>
                  <a:pt x="101442" y="178594"/>
                </a:lnTo>
                <a:cubicBezTo>
                  <a:pt x="93540" y="178594"/>
                  <a:pt x="87154" y="172208"/>
                  <a:pt x="87154" y="164306"/>
                </a:cubicBezTo>
                <a:cubicBezTo>
                  <a:pt x="87154" y="156405"/>
                  <a:pt x="93540" y="150019"/>
                  <a:pt x="101442" y="150019"/>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39" name="AutoShape 39"/>
          <p:cNvSpPr/>
          <p:nvPr/>
        </p:nvSpPr>
        <p:spPr>
          <a:xfrm>
            <a:off x="7973940" y="4531686"/>
            <a:ext cx="6000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7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Assign IDs</a:t>
            </a:r>
            <a:endParaRPr lang="en-US" sz="1100"/>
          </a:p>
        </p:txBody>
      </p:sp>
      <p:sp>
        <p:nvSpPr>
          <p:cNvPr id="40" name="Freeform 40"/>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1" name="AutoShape 41"/>
          <p:cNvSpPr/>
          <p:nvPr/>
        </p:nvSpPr>
        <p:spPr>
          <a:xfrm>
            <a:off x="609519" y="5962594"/>
            <a:ext cx="55276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88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Vocabulary</a:t>
            </a:r>
            <a:r>
              <a:rPr lang="en-US" sz="88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The set of all tokens and their IDs that the model can recognize</a:t>
            </a:r>
            <a:endParaRPr lang="en-US" sz="1100"/>
          </a:p>
        </p:txBody>
      </p:sp>
    </p:spTree>
  </p:cSld>
  <p:clrMapOvr>
    <a:masterClrMapping/>
  </p:clrMapOvr>
  <p:transition spd="slow">
    <p:fade/>
  </p:transition>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615" b="0" i="0" u="none" strike="noStrike">
                <a:solidFill>
                  <a:srgbClr val="5B92E5"/>
                </a:solidFill>
                <a:latin typeface="Alimama ShuHeiTi"/>
                <a:ea typeface="Alimama ShuHeiTi"/>
                <a:cs typeface="Alimama ShuHeiTi"/>
                <a:sym typeface="Alimama ShuHeiTi"/>
              </a:rPr>
              <a:t>Step 3 Architecture Design</a:t>
            </a:r>
            <a:endParaRPr lang="en-US" sz="1100"/>
          </a:p>
        </p:txBody>
      </p:sp>
      <p:sp>
        <p:nvSpPr>
          <p:cNvPr id="3" name="Freeform 3"/>
          <p:cNvSpPr/>
          <p:nvPr/>
        </p:nvSpPr>
        <p:spPr>
          <a:xfrm>
            <a:off x="3929468" y="1329984"/>
            <a:ext cx="1905000" cy="1981200"/>
          </a:xfrm>
          <a:custGeom>
            <a:avLst/>
            <a:gdLst/>
            <a:ahLst/>
            <a:cxnLst/>
            <a:rect l="l" t="t" r="r" b="b"/>
            <a:pathLst>
              <a:path w="1905000" h="1981200">
                <a:moveTo>
                  <a:pt x="152400" y="0"/>
                </a:moveTo>
                <a:lnTo>
                  <a:pt x="1752600" y="0"/>
                </a:lnTo>
                <a:cubicBezTo>
                  <a:pt x="1836712" y="0"/>
                  <a:pt x="1905000" y="68288"/>
                  <a:pt x="1905000" y="152400"/>
                </a:cubicBezTo>
                <a:lnTo>
                  <a:pt x="1905000" y="1828800"/>
                </a:lnTo>
                <a:cubicBezTo>
                  <a:pt x="1905000" y="1912912"/>
                  <a:pt x="1836712" y="1981200"/>
                  <a:pt x="1752600" y="1981200"/>
                </a:cubicBezTo>
                <a:lnTo>
                  <a:pt x="152400" y="1981200"/>
                </a:lnTo>
                <a:cubicBezTo>
                  <a:pt x="68288" y="1981200"/>
                  <a:pt x="0" y="1912912"/>
                  <a:pt x="0" y="1828800"/>
                </a:cubicBezTo>
                <a:lnTo>
                  <a:pt x="0" y="152400"/>
                </a:lnTo>
                <a:cubicBezTo>
                  <a:pt x="0" y="68288"/>
                  <a:pt x="68288" y="0"/>
                  <a:pt x="1524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4595001" y="1670391"/>
            <a:ext cx="571500" cy="500062"/>
          </a:xfrm>
          <a:custGeom>
            <a:avLst/>
            <a:gdLst/>
            <a:ahLst/>
            <a:cxnLst/>
            <a:rect l="l" t="t" r="r" b="b"/>
            <a:pathLst>
              <a:path w="571500" h="500062">
                <a:moveTo>
                  <a:pt x="214313" y="35718"/>
                </a:moveTo>
                <a:cubicBezTo>
                  <a:pt x="214313" y="15962"/>
                  <a:pt x="230274" y="0"/>
                  <a:pt x="250031" y="0"/>
                </a:cubicBezTo>
                <a:lnTo>
                  <a:pt x="321469" y="0"/>
                </a:lnTo>
                <a:cubicBezTo>
                  <a:pt x="341226" y="0"/>
                  <a:pt x="357187" y="15962"/>
                  <a:pt x="357187" y="35718"/>
                </a:cubicBezTo>
                <a:lnTo>
                  <a:pt x="357187" y="107156"/>
                </a:lnTo>
                <a:cubicBezTo>
                  <a:pt x="357187" y="126913"/>
                  <a:pt x="341226" y="142875"/>
                  <a:pt x="321469" y="142875"/>
                </a:cubicBezTo>
                <a:lnTo>
                  <a:pt x="312539" y="142875"/>
                </a:lnTo>
                <a:lnTo>
                  <a:pt x="312539" y="214312"/>
                </a:lnTo>
                <a:lnTo>
                  <a:pt x="446484" y="214312"/>
                </a:lnTo>
                <a:cubicBezTo>
                  <a:pt x="490910" y="214312"/>
                  <a:pt x="526852" y="250255"/>
                  <a:pt x="526852" y="294679"/>
                </a:cubicBezTo>
                <a:lnTo>
                  <a:pt x="526852" y="357187"/>
                </a:lnTo>
                <a:lnTo>
                  <a:pt x="535781" y="357187"/>
                </a:lnTo>
                <a:cubicBezTo>
                  <a:pt x="555537" y="357187"/>
                  <a:pt x="571500" y="373149"/>
                  <a:pt x="571500" y="392906"/>
                </a:cubicBezTo>
                <a:lnTo>
                  <a:pt x="571500" y="464343"/>
                </a:lnTo>
                <a:cubicBezTo>
                  <a:pt x="571500" y="484100"/>
                  <a:pt x="555537" y="500062"/>
                  <a:pt x="535781" y="500062"/>
                </a:cubicBezTo>
                <a:lnTo>
                  <a:pt x="464344" y="500062"/>
                </a:lnTo>
                <a:cubicBezTo>
                  <a:pt x="444588" y="500062"/>
                  <a:pt x="428625" y="484100"/>
                  <a:pt x="428625" y="464343"/>
                </a:cubicBezTo>
                <a:lnTo>
                  <a:pt x="428625" y="392906"/>
                </a:lnTo>
                <a:cubicBezTo>
                  <a:pt x="428625" y="373149"/>
                  <a:pt x="444588" y="357187"/>
                  <a:pt x="464344" y="357187"/>
                </a:cubicBezTo>
                <a:lnTo>
                  <a:pt x="473273" y="357187"/>
                </a:lnTo>
                <a:lnTo>
                  <a:pt x="473273" y="294679"/>
                </a:lnTo>
                <a:cubicBezTo>
                  <a:pt x="473273" y="279834"/>
                  <a:pt x="461330" y="267890"/>
                  <a:pt x="446484" y="267890"/>
                </a:cubicBezTo>
                <a:lnTo>
                  <a:pt x="312539" y="267890"/>
                </a:lnTo>
                <a:lnTo>
                  <a:pt x="312539" y="357187"/>
                </a:lnTo>
                <a:lnTo>
                  <a:pt x="321469" y="357187"/>
                </a:lnTo>
                <a:cubicBezTo>
                  <a:pt x="341226" y="357187"/>
                  <a:pt x="357187" y="373149"/>
                  <a:pt x="357187" y="392906"/>
                </a:cubicBezTo>
                <a:lnTo>
                  <a:pt x="357187" y="464343"/>
                </a:lnTo>
                <a:cubicBezTo>
                  <a:pt x="357187" y="484100"/>
                  <a:pt x="341226" y="500062"/>
                  <a:pt x="321469" y="500062"/>
                </a:cubicBezTo>
                <a:lnTo>
                  <a:pt x="250031" y="500062"/>
                </a:lnTo>
                <a:cubicBezTo>
                  <a:pt x="230274" y="500062"/>
                  <a:pt x="214313" y="484100"/>
                  <a:pt x="214313" y="464343"/>
                </a:cubicBezTo>
                <a:lnTo>
                  <a:pt x="214313" y="392906"/>
                </a:lnTo>
                <a:cubicBezTo>
                  <a:pt x="214313" y="373149"/>
                  <a:pt x="230274" y="357187"/>
                  <a:pt x="250031" y="357187"/>
                </a:cubicBezTo>
                <a:lnTo>
                  <a:pt x="258961" y="357187"/>
                </a:lnTo>
                <a:lnTo>
                  <a:pt x="258961" y="267890"/>
                </a:lnTo>
                <a:lnTo>
                  <a:pt x="125016" y="267890"/>
                </a:lnTo>
                <a:cubicBezTo>
                  <a:pt x="110170" y="267890"/>
                  <a:pt x="98227" y="279834"/>
                  <a:pt x="98227" y="294679"/>
                </a:cubicBezTo>
                <a:lnTo>
                  <a:pt x="98227" y="357187"/>
                </a:lnTo>
                <a:lnTo>
                  <a:pt x="107156" y="357187"/>
                </a:lnTo>
                <a:cubicBezTo>
                  <a:pt x="126912" y="357187"/>
                  <a:pt x="142875" y="373149"/>
                  <a:pt x="142875" y="392906"/>
                </a:cubicBezTo>
                <a:lnTo>
                  <a:pt x="142875" y="464343"/>
                </a:lnTo>
                <a:cubicBezTo>
                  <a:pt x="142875" y="484100"/>
                  <a:pt x="126912" y="500062"/>
                  <a:pt x="107156" y="500062"/>
                </a:cubicBezTo>
                <a:lnTo>
                  <a:pt x="35719" y="500062"/>
                </a:lnTo>
                <a:cubicBezTo>
                  <a:pt x="15963" y="500062"/>
                  <a:pt x="0" y="484100"/>
                  <a:pt x="0" y="464343"/>
                </a:cubicBezTo>
                <a:lnTo>
                  <a:pt x="0" y="392906"/>
                </a:lnTo>
                <a:cubicBezTo>
                  <a:pt x="0" y="373149"/>
                  <a:pt x="15963" y="357187"/>
                  <a:pt x="35719" y="357187"/>
                </a:cubicBezTo>
                <a:lnTo>
                  <a:pt x="44648" y="357187"/>
                </a:lnTo>
                <a:lnTo>
                  <a:pt x="44648" y="294679"/>
                </a:lnTo>
                <a:cubicBezTo>
                  <a:pt x="44648" y="250255"/>
                  <a:pt x="80590" y="214312"/>
                  <a:pt x="125016" y="214312"/>
                </a:cubicBezTo>
                <a:lnTo>
                  <a:pt x="258961" y="214312"/>
                </a:lnTo>
                <a:lnTo>
                  <a:pt x="258961" y="142875"/>
                </a:lnTo>
                <a:lnTo>
                  <a:pt x="250031" y="142875"/>
                </a:lnTo>
                <a:cubicBezTo>
                  <a:pt x="230274" y="142875"/>
                  <a:pt x="214313" y="126913"/>
                  <a:pt x="214313" y="107156"/>
                </a:cubicBezTo>
                <a:lnTo>
                  <a:pt x="214313" y="35718"/>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4177010" y="2358517"/>
            <a:ext cx="1409700"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075"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Transformer</a:t>
            </a:r>
            <a:endParaRPr lang="en-US" sz="1100"/>
          </a:p>
        </p:txBody>
      </p:sp>
      <p:sp>
        <p:nvSpPr>
          <p:cNvPr id="6" name="AutoShape 6"/>
          <p:cNvSpPr/>
          <p:nvPr/>
        </p:nvSpPr>
        <p:spPr>
          <a:xfrm>
            <a:off x="4191297" y="2739517"/>
            <a:ext cx="13811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85"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Core Architecture</a:t>
            </a:r>
            <a:endParaRPr lang="en-US" sz="1100"/>
          </a:p>
        </p:txBody>
      </p:sp>
      <p:sp>
        <p:nvSpPr>
          <p:cNvPr id="7" name="AutoShape 7"/>
          <p:cNvSpPr/>
          <p:nvPr/>
        </p:nvSpPr>
        <p:spPr>
          <a:xfrm>
            <a:off x="6213168" y="2091723"/>
            <a:ext cx="504825" cy="457200"/>
          </a:xfrm>
          <a:prstGeom prst="rect">
            <a:avLst/>
          </a:prstGeom>
          <a:noFill/>
          <a:ln w="12700">
            <a:noFill/>
            <a:prstDash val="solid"/>
          </a:ln>
        </p:spPr>
        <p:txBody>
          <a:bodyPr wrap="square" lIns="0" tIns="0" rIns="0" bIns="0" rtlCol="0" anchor="ctr">
            <a:noAutofit/>
          </a:bodyPr>
          <a:lstStyle/>
          <a:p>
            <a:pPr indent="0" algn="l">
              <a:lnSpc>
                <a:spcPct val="83000"/>
              </a:lnSpc>
              <a:defRPr/>
            </a:pPr>
            <a:r>
              <a:rPr lang="en-US" sz="1845"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Freeform 8"/>
          <p:cNvSpPr/>
          <p:nvPr/>
        </p:nvSpPr>
        <p:spPr>
          <a:xfrm>
            <a:off x="6886818" y="1312662"/>
            <a:ext cx="1358610" cy="2015835"/>
          </a:xfrm>
          <a:custGeom>
            <a:avLst/>
            <a:gdLst/>
            <a:ahLst/>
            <a:cxnLst/>
            <a:rect l="l" t="t" r="r" b="b"/>
            <a:pathLst>
              <a:path w="1358610" h="2015835">
                <a:moveTo>
                  <a:pt x="152395" y="0"/>
                </a:moveTo>
                <a:lnTo>
                  <a:pt x="1206216" y="0"/>
                </a:lnTo>
                <a:cubicBezTo>
                  <a:pt x="1290325" y="0"/>
                  <a:pt x="1358610" y="68287"/>
                  <a:pt x="1358610" y="152395"/>
                </a:cubicBezTo>
                <a:lnTo>
                  <a:pt x="1358610" y="1863441"/>
                </a:lnTo>
                <a:cubicBezTo>
                  <a:pt x="1358610" y="1947607"/>
                  <a:pt x="1290382" y="2015835"/>
                  <a:pt x="1206216" y="2015835"/>
                </a:cubicBezTo>
                <a:lnTo>
                  <a:pt x="152395" y="2015835"/>
                </a:lnTo>
                <a:cubicBezTo>
                  <a:pt x="68229" y="2015835"/>
                  <a:pt x="0" y="1947607"/>
                  <a:pt x="0" y="1863441"/>
                </a:cubicBezTo>
                <a:lnTo>
                  <a:pt x="0" y="152395"/>
                </a:lnTo>
                <a:cubicBezTo>
                  <a:pt x="0" y="68229"/>
                  <a:pt x="68229" y="0"/>
                  <a:pt x="152395" y="0"/>
                </a:cubicBezTo>
                <a:close/>
              </a:path>
            </a:pathLst>
          </a:custGeom>
          <a:solidFill>
            <a:srgbClr val="1E90FF">
              <a:alpha val="100000"/>
            </a:srgbClr>
          </a:solidFill>
          <a:ln w="38100">
            <a:solidFill>
              <a:srgbClr val="1E90FF">
                <a:alpha val="100000"/>
              </a:srgbClr>
            </a:solidFill>
            <a:prstDash val="solid"/>
          </a:ln>
        </p:spPr>
        <p:txBody>
          <a:bodyPr wrap="square" lIns="91440" tIns="45720" rIns="91440" bIns="45720" rtlCol="0" anchor="t">
            <a:noAutofit/>
          </a:bodyPr>
          <a:lstStyle/>
          <a:p>
            <a:pPr algn="ctr">
              <a:defRPr/>
            </a:pPr>
          </a:p>
        </p:txBody>
      </p:sp>
      <p:sp>
        <p:nvSpPr>
          <p:cNvPr id="9" name="Freeform 9"/>
          <p:cNvSpPr/>
          <p:nvPr/>
        </p:nvSpPr>
        <p:spPr>
          <a:xfrm>
            <a:off x="7280266" y="1670391"/>
            <a:ext cx="571500" cy="500062"/>
          </a:xfrm>
          <a:custGeom>
            <a:avLst/>
            <a:gdLst/>
            <a:ahLst/>
            <a:cxnLst/>
            <a:rect l="l" t="t" r="r" b="b"/>
            <a:pathLst>
              <a:path w="571500" h="500062">
                <a:moveTo>
                  <a:pt x="0" y="53579"/>
                </a:moveTo>
                <a:cubicBezTo>
                  <a:pt x="0" y="23998"/>
                  <a:pt x="23999" y="0"/>
                  <a:pt x="53577" y="0"/>
                </a:cubicBezTo>
                <a:lnTo>
                  <a:pt x="160734" y="0"/>
                </a:lnTo>
                <a:cubicBezTo>
                  <a:pt x="190315" y="0"/>
                  <a:pt x="214312" y="23998"/>
                  <a:pt x="214312" y="53579"/>
                </a:cubicBezTo>
                <a:lnTo>
                  <a:pt x="214312" y="71437"/>
                </a:lnTo>
                <a:lnTo>
                  <a:pt x="357188" y="71437"/>
                </a:lnTo>
                <a:lnTo>
                  <a:pt x="357188" y="53579"/>
                </a:lnTo>
                <a:cubicBezTo>
                  <a:pt x="357188" y="23998"/>
                  <a:pt x="381185" y="0"/>
                  <a:pt x="410766" y="0"/>
                </a:cubicBezTo>
                <a:lnTo>
                  <a:pt x="517923" y="0"/>
                </a:lnTo>
                <a:cubicBezTo>
                  <a:pt x="547501" y="0"/>
                  <a:pt x="571500" y="23998"/>
                  <a:pt x="571500" y="53579"/>
                </a:cubicBezTo>
                <a:lnTo>
                  <a:pt x="571500" y="160733"/>
                </a:lnTo>
                <a:cubicBezTo>
                  <a:pt x="571500" y="190314"/>
                  <a:pt x="547501" y="214312"/>
                  <a:pt x="517923" y="214312"/>
                </a:cubicBezTo>
                <a:lnTo>
                  <a:pt x="410766" y="214312"/>
                </a:lnTo>
                <a:cubicBezTo>
                  <a:pt x="381185" y="214312"/>
                  <a:pt x="357188" y="190314"/>
                  <a:pt x="357188" y="160733"/>
                </a:cubicBezTo>
                <a:lnTo>
                  <a:pt x="357188" y="142875"/>
                </a:lnTo>
                <a:lnTo>
                  <a:pt x="214312" y="142875"/>
                </a:lnTo>
                <a:lnTo>
                  <a:pt x="214312" y="160733"/>
                </a:lnTo>
                <a:cubicBezTo>
                  <a:pt x="214312" y="168882"/>
                  <a:pt x="212415" y="176696"/>
                  <a:pt x="209178" y="183616"/>
                </a:cubicBezTo>
                <a:lnTo>
                  <a:pt x="285750" y="285750"/>
                </a:lnTo>
                <a:lnTo>
                  <a:pt x="375048" y="285750"/>
                </a:lnTo>
                <a:cubicBezTo>
                  <a:pt x="404626" y="285750"/>
                  <a:pt x="428625" y="309748"/>
                  <a:pt x="428625" y="339329"/>
                </a:cubicBezTo>
                <a:lnTo>
                  <a:pt x="428625" y="446483"/>
                </a:lnTo>
                <a:cubicBezTo>
                  <a:pt x="428625" y="476064"/>
                  <a:pt x="404626" y="500062"/>
                  <a:pt x="375048" y="500062"/>
                </a:cubicBezTo>
                <a:lnTo>
                  <a:pt x="267891" y="500062"/>
                </a:lnTo>
                <a:cubicBezTo>
                  <a:pt x="238310" y="500062"/>
                  <a:pt x="214312" y="476064"/>
                  <a:pt x="214312" y="446483"/>
                </a:cubicBezTo>
                <a:lnTo>
                  <a:pt x="214312" y="339329"/>
                </a:lnTo>
                <a:cubicBezTo>
                  <a:pt x="214312" y="331180"/>
                  <a:pt x="216210" y="323366"/>
                  <a:pt x="219447" y="316446"/>
                </a:cubicBezTo>
                <a:lnTo>
                  <a:pt x="142875" y="214312"/>
                </a:lnTo>
                <a:lnTo>
                  <a:pt x="53577" y="214312"/>
                </a:lnTo>
                <a:cubicBezTo>
                  <a:pt x="23999" y="214312"/>
                  <a:pt x="0" y="190314"/>
                  <a:pt x="0" y="160733"/>
                </a:cubicBezTo>
                <a:lnTo>
                  <a:pt x="0" y="53579"/>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7151678" y="2358517"/>
            <a:ext cx="828675"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075"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MoE</a:t>
            </a:r>
            <a:endParaRPr lang="en-US" sz="1100"/>
          </a:p>
        </p:txBody>
      </p:sp>
      <p:sp>
        <p:nvSpPr>
          <p:cNvPr id="11" name="AutoShape 11"/>
          <p:cNvSpPr/>
          <p:nvPr/>
        </p:nvSpPr>
        <p:spPr>
          <a:xfrm>
            <a:off x="7165966" y="2739517"/>
            <a:ext cx="80010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Mixture of Experts</a:t>
            </a:r>
            <a:endParaRPr lang="en-US" sz="1100"/>
          </a:p>
        </p:txBody>
      </p:sp>
      <p:sp>
        <p:nvSpPr>
          <p:cNvPr id="12" name="Freeform 12"/>
          <p:cNvSpPr/>
          <p:nvPr/>
        </p:nvSpPr>
        <p:spPr>
          <a:xfrm>
            <a:off x="381000" y="3650084"/>
            <a:ext cx="5600700" cy="2057400"/>
          </a:xfrm>
          <a:custGeom>
            <a:avLst/>
            <a:gdLst/>
            <a:ahLst/>
            <a:cxnLst/>
            <a:rect l="l" t="t" r="r" b="b"/>
            <a:pathLst>
              <a:path w="5600700" h="2057400">
                <a:moveTo>
                  <a:pt x="114309" y="0"/>
                </a:moveTo>
                <a:lnTo>
                  <a:pt x="5486391" y="0"/>
                </a:lnTo>
                <a:cubicBezTo>
                  <a:pt x="5549522" y="0"/>
                  <a:pt x="5600700" y="51178"/>
                  <a:pt x="5600700" y="114309"/>
                </a:cubicBezTo>
                <a:lnTo>
                  <a:pt x="5600700" y="1943091"/>
                </a:lnTo>
                <a:cubicBezTo>
                  <a:pt x="5600700" y="2006222"/>
                  <a:pt x="5549522" y="2057400"/>
                  <a:pt x="5486391" y="2057400"/>
                </a:cubicBezTo>
                <a:lnTo>
                  <a:pt x="114309" y="2057400"/>
                </a:lnTo>
                <a:cubicBezTo>
                  <a:pt x="51178" y="2057400"/>
                  <a:pt x="0" y="2006222"/>
                  <a:pt x="0" y="1943091"/>
                </a:cubicBezTo>
                <a:lnTo>
                  <a:pt x="0" y="114309"/>
                </a:lnTo>
                <a:cubicBezTo>
                  <a:pt x="0" y="51220"/>
                  <a:pt x="51220" y="0"/>
                  <a:pt x="114309"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13" name="Freeform 13"/>
          <p:cNvSpPr/>
          <p:nvPr/>
        </p:nvSpPr>
        <p:spPr>
          <a:xfrm>
            <a:off x="638094" y="3897548"/>
            <a:ext cx="228600" cy="228600"/>
          </a:xfrm>
          <a:custGeom>
            <a:avLst/>
            <a:gdLst/>
            <a:ahLst/>
            <a:cxnLst/>
            <a:rect l="l" t="t" r="r" b="b"/>
            <a:pathLst>
              <a:path w="228600" h="228600">
                <a:moveTo>
                  <a:pt x="114300" y="228600"/>
                </a:moveTo>
                <a:cubicBezTo>
                  <a:pt x="177383" y="228600"/>
                  <a:pt x="228600" y="177383"/>
                  <a:pt x="228600" y="114300"/>
                </a:cubicBezTo>
                <a:cubicBezTo>
                  <a:pt x="228600" y="51217"/>
                  <a:pt x="177383" y="0"/>
                  <a:pt x="114300" y="0"/>
                </a:cubicBezTo>
                <a:cubicBezTo>
                  <a:pt x="51217" y="0"/>
                  <a:pt x="0" y="51217"/>
                  <a:pt x="0" y="114300"/>
                </a:cubicBezTo>
                <a:cubicBezTo>
                  <a:pt x="0" y="177383"/>
                  <a:pt x="51217" y="228600"/>
                  <a:pt x="114300" y="228600"/>
                </a:cubicBezTo>
                <a:close/>
                <a:moveTo>
                  <a:pt x="151983" y="94967"/>
                </a:moveTo>
                <a:lnTo>
                  <a:pt x="116265" y="152117"/>
                </a:lnTo>
                <a:cubicBezTo>
                  <a:pt x="114389" y="155109"/>
                  <a:pt x="111175" y="156983"/>
                  <a:pt x="107646" y="157162"/>
                </a:cubicBezTo>
                <a:cubicBezTo>
                  <a:pt x="104120" y="157342"/>
                  <a:pt x="100728" y="155734"/>
                  <a:pt x="98628" y="152876"/>
                </a:cubicBezTo>
                <a:lnTo>
                  <a:pt x="77197" y="124301"/>
                </a:lnTo>
                <a:cubicBezTo>
                  <a:pt x="73624" y="119569"/>
                  <a:pt x="74607" y="112871"/>
                  <a:pt x="79339" y="109299"/>
                </a:cubicBezTo>
                <a:cubicBezTo>
                  <a:pt x="84073" y="105727"/>
                  <a:pt x="90769" y="106710"/>
                  <a:pt x="94342" y="111442"/>
                </a:cubicBezTo>
                <a:lnTo>
                  <a:pt x="106397" y="127516"/>
                </a:lnTo>
                <a:lnTo>
                  <a:pt x="133811" y="83627"/>
                </a:lnTo>
                <a:cubicBezTo>
                  <a:pt x="136936" y="78626"/>
                  <a:pt x="143546" y="77064"/>
                  <a:pt x="148590" y="80234"/>
                </a:cubicBezTo>
                <a:cubicBezTo>
                  <a:pt x="153634" y="83403"/>
                  <a:pt x="155153" y="89967"/>
                  <a:pt x="151983" y="95013"/>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1009461" y="3878591"/>
            <a:ext cx="11715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Transformer</a:t>
            </a:r>
            <a:endParaRPr lang="en-US" sz="1100"/>
          </a:p>
        </p:txBody>
      </p:sp>
      <p:sp>
        <p:nvSpPr>
          <p:cNvPr id="15" name="AutoShape 15"/>
          <p:cNvSpPr/>
          <p:nvPr/>
        </p:nvSpPr>
        <p:spPr>
          <a:xfrm>
            <a:off x="609519" y="4297617"/>
            <a:ext cx="52197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Standard architecture for current large language models</a:t>
            </a:r>
            <a:endParaRPr lang="en-US" sz="1100"/>
          </a:p>
        </p:txBody>
      </p:sp>
      <p:sp>
        <p:nvSpPr>
          <p:cNvPr id="16" name="AutoShape 16"/>
          <p:cNvSpPr/>
          <p:nvPr/>
        </p:nvSpPr>
        <p:spPr>
          <a:xfrm>
            <a:off x="609519" y="4602305"/>
            <a:ext cx="52197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Self-Attention mechanism</a:t>
            </a:r>
            <a:endParaRPr lang="en-US" sz="1100"/>
          </a:p>
        </p:txBody>
      </p:sp>
      <p:sp>
        <p:nvSpPr>
          <p:cNvPr id="17" name="AutoShape 17"/>
          <p:cNvSpPr/>
          <p:nvPr/>
        </p:nvSpPr>
        <p:spPr>
          <a:xfrm>
            <a:off x="609519" y="4906994"/>
            <a:ext cx="52197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Multi-layer stacking design</a:t>
            </a:r>
            <a:endParaRPr lang="en-US" sz="1100"/>
          </a:p>
        </p:txBody>
      </p:sp>
      <p:sp>
        <p:nvSpPr>
          <p:cNvPr id="18" name="AutoShape 18"/>
          <p:cNvSpPr/>
          <p:nvPr/>
        </p:nvSpPr>
        <p:spPr>
          <a:xfrm>
            <a:off x="609519" y="5211700"/>
            <a:ext cx="52197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Supports parallel computation</a:t>
            </a:r>
            <a:endParaRPr lang="en-US" sz="1100"/>
          </a:p>
        </p:txBody>
      </p:sp>
      <p:sp>
        <p:nvSpPr>
          <p:cNvPr id="19" name="Freeform 19"/>
          <p:cNvSpPr/>
          <p:nvPr/>
        </p:nvSpPr>
        <p:spPr>
          <a:xfrm>
            <a:off x="6218850" y="3658743"/>
            <a:ext cx="5579918" cy="2036618"/>
          </a:xfrm>
          <a:custGeom>
            <a:avLst/>
            <a:gdLst/>
            <a:ahLst/>
            <a:cxnLst/>
            <a:rect l="l" t="t" r="r" b="b"/>
            <a:pathLst>
              <a:path w="5579918" h="2036618">
                <a:moveTo>
                  <a:pt x="114295" y="0"/>
                </a:moveTo>
                <a:lnTo>
                  <a:pt x="5465623" y="0"/>
                </a:lnTo>
                <a:cubicBezTo>
                  <a:pt x="5528747" y="0"/>
                  <a:pt x="5579918" y="51172"/>
                  <a:pt x="5579918" y="114295"/>
                </a:cubicBezTo>
                <a:lnTo>
                  <a:pt x="5579918" y="1922323"/>
                </a:lnTo>
                <a:cubicBezTo>
                  <a:pt x="5579918" y="1985447"/>
                  <a:pt x="5528747" y="2036618"/>
                  <a:pt x="5465623" y="2036618"/>
                </a:cubicBezTo>
                <a:lnTo>
                  <a:pt x="114295" y="2036618"/>
                </a:lnTo>
                <a:cubicBezTo>
                  <a:pt x="51172" y="2036618"/>
                  <a:pt x="0" y="1985447"/>
                  <a:pt x="0" y="1922323"/>
                </a:cubicBezTo>
                <a:lnTo>
                  <a:pt x="0" y="114295"/>
                </a:lnTo>
                <a:cubicBezTo>
                  <a:pt x="0" y="51214"/>
                  <a:pt x="51214" y="0"/>
                  <a:pt x="114295" y="0"/>
                </a:cubicBezTo>
                <a:close/>
              </a:path>
            </a:pathLst>
          </a:custGeom>
          <a:noFill/>
          <a:ln w="12700" cap="flat">
            <a:solidFill>
              <a:srgbClr val="8DAAC2">
                <a:alpha val="100000"/>
              </a:srgbClr>
            </a:solidFill>
            <a:prstDash val="solid"/>
          </a:ln>
        </p:spPr>
        <p:txBody>
          <a:bodyPr wrap="square" lIns="91440" tIns="45720" rIns="91440" bIns="45720" rtlCol="0" anchor="t">
            <a:noAutofit/>
          </a:bodyPr>
          <a:lstStyle/>
          <a:p>
            <a:pPr algn="ctr">
              <a:defRPr/>
            </a:pPr>
          </a:p>
        </p:txBody>
      </p:sp>
      <p:sp>
        <p:nvSpPr>
          <p:cNvPr id="20" name="Freeform 20"/>
          <p:cNvSpPr/>
          <p:nvPr/>
        </p:nvSpPr>
        <p:spPr>
          <a:xfrm>
            <a:off x="6484604" y="3914868"/>
            <a:ext cx="228600" cy="228600"/>
          </a:xfrm>
          <a:custGeom>
            <a:avLst/>
            <a:gdLst/>
            <a:ahLst/>
            <a:cxnLst/>
            <a:rect l="l" t="t" r="r" b="b"/>
            <a:pathLst>
              <a:path w="228600" h="228600">
                <a:moveTo>
                  <a:pt x="114300" y="228600"/>
                </a:moveTo>
                <a:cubicBezTo>
                  <a:pt x="177383" y="228600"/>
                  <a:pt x="228600" y="177383"/>
                  <a:pt x="228600" y="114300"/>
                </a:cubicBezTo>
                <a:cubicBezTo>
                  <a:pt x="228600" y="51217"/>
                  <a:pt x="177383" y="0"/>
                  <a:pt x="114300" y="0"/>
                </a:cubicBezTo>
                <a:cubicBezTo>
                  <a:pt x="51217" y="0"/>
                  <a:pt x="0" y="51217"/>
                  <a:pt x="0" y="114300"/>
                </a:cubicBezTo>
                <a:cubicBezTo>
                  <a:pt x="0" y="177383"/>
                  <a:pt x="51217" y="228600"/>
                  <a:pt x="114300" y="228600"/>
                </a:cubicBezTo>
                <a:close/>
                <a:moveTo>
                  <a:pt x="103584" y="153591"/>
                </a:moveTo>
                <a:lnTo>
                  <a:pt x="103584" y="125016"/>
                </a:lnTo>
                <a:lnTo>
                  <a:pt x="75009" y="125016"/>
                </a:lnTo>
                <a:cubicBezTo>
                  <a:pt x="69071" y="125016"/>
                  <a:pt x="64294" y="120239"/>
                  <a:pt x="64294" y="114300"/>
                </a:cubicBezTo>
                <a:cubicBezTo>
                  <a:pt x="64294" y="108361"/>
                  <a:pt x="69071" y="103584"/>
                  <a:pt x="75009" y="103584"/>
                </a:cubicBezTo>
                <a:lnTo>
                  <a:pt x="103584" y="103584"/>
                </a:lnTo>
                <a:lnTo>
                  <a:pt x="103584" y="75009"/>
                </a:lnTo>
                <a:cubicBezTo>
                  <a:pt x="103584" y="69071"/>
                  <a:pt x="108361" y="64294"/>
                  <a:pt x="114300" y="64294"/>
                </a:cubicBezTo>
                <a:cubicBezTo>
                  <a:pt x="120239" y="64294"/>
                  <a:pt x="125016" y="69071"/>
                  <a:pt x="125016" y="75009"/>
                </a:cubicBezTo>
                <a:lnTo>
                  <a:pt x="125016" y="103584"/>
                </a:lnTo>
                <a:lnTo>
                  <a:pt x="153591" y="103584"/>
                </a:lnTo>
                <a:cubicBezTo>
                  <a:pt x="159529" y="103584"/>
                  <a:pt x="164306" y="108361"/>
                  <a:pt x="164306" y="114300"/>
                </a:cubicBezTo>
                <a:cubicBezTo>
                  <a:pt x="164306" y="120239"/>
                  <a:pt x="159529" y="125016"/>
                  <a:pt x="153591" y="125016"/>
                </a:cubicBezTo>
                <a:lnTo>
                  <a:pt x="125016" y="125016"/>
                </a:lnTo>
                <a:lnTo>
                  <a:pt x="125016" y="153591"/>
                </a:lnTo>
                <a:cubicBezTo>
                  <a:pt x="125016" y="159529"/>
                  <a:pt x="120239" y="164306"/>
                  <a:pt x="114300" y="164306"/>
                </a:cubicBezTo>
                <a:cubicBezTo>
                  <a:pt x="108361" y="164306"/>
                  <a:pt x="103584" y="159529"/>
                  <a:pt x="103584" y="153591"/>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6855970" y="3895911"/>
            <a:ext cx="12477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MoE (Optional)</a:t>
            </a:r>
            <a:endParaRPr lang="en-US" sz="1100"/>
          </a:p>
        </p:txBody>
      </p:sp>
      <p:sp>
        <p:nvSpPr>
          <p:cNvPr id="22" name="AutoShape 22"/>
          <p:cNvSpPr/>
          <p:nvPr/>
        </p:nvSpPr>
        <p:spPr>
          <a:xfrm>
            <a:off x="6456029" y="4314937"/>
            <a:ext cx="5181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Mixture of Experts system</a:t>
            </a:r>
            <a:endParaRPr lang="en-US" sz="1100"/>
          </a:p>
        </p:txBody>
      </p:sp>
      <p:sp>
        <p:nvSpPr>
          <p:cNvPr id="23" name="AutoShape 23"/>
          <p:cNvSpPr/>
          <p:nvPr/>
        </p:nvSpPr>
        <p:spPr>
          <a:xfrm>
            <a:off x="6456029" y="4619625"/>
            <a:ext cx="5181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Only activates partial parameters</a:t>
            </a:r>
            <a:endParaRPr lang="en-US" sz="1100"/>
          </a:p>
        </p:txBody>
      </p:sp>
      <p:sp>
        <p:nvSpPr>
          <p:cNvPr id="24" name="AutoShape 24"/>
          <p:cNvSpPr/>
          <p:nvPr/>
        </p:nvSpPr>
        <p:spPr>
          <a:xfrm>
            <a:off x="6456029" y="4924313"/>
            <a:ext cx="5181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Improves computational efficiency</a:t>
            </a:r>
            <a:endParaRPr lang="en-US" sz="1100"/>
          </a:p>
        </p:txBody>
      </p:sp>
      <p:sp>
        <p:nvSpPr>
          <p:cNvPr id="25" name="AutoShape 25"/>
          <p:cNvSpPr/>
          <p:nvPr/>
        </p:nvSpPr>
        <p:spPr>
          <a:xfrm>
            <a:off x="6456029" y="5229020"/>
            <a:ext cx="5181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Supports larger models</a:t>
            </a:r>
            <a:endParaRPr lang="en-US" sz="1100"/>
          </a:p>
        </p:txBody>
      </p:sp>
      <p:sp>
        <p:nvSpPr>
          <p:cNvPr id="26" name="Freeform 26"/>
          <p:cNvSpPr/>
          <p:nvPr/>
        </p:nvSpPr>
        <p:spPr>
          <a:xfrm>
            <a:off x="381000" y="5931880"/>
            <a:ext cx="11430000" cy="542925"/>
          </a:xfrm>
          <a:custGeom>
            <a:avLst/>
            <a:gdLst/>
            <a:ahLst/>
            <a:cxnLst/>
            <a:rect l="l" t="t" r="r" b="b"/>
            <a:pathLst>
              <a:path w="11430000" h="542925">
                <a:moveTo>
                  <a:pt x="76200" y="0"/>
                </a:moveTo>
                <a:lnTo>
                  <a:pt x="11353800" y="0"/>
                </a:lnTo>
                <a:cubicBezTo>
                  <a:pt x="11395884" y="0"/>
                  <a:pt x="11430000" y="34116"/>
                  <a:pt x="11430000" y="76200"/>
                </a:cubicBezTo>
                <a:lnTo>
                  <a:pt x="11430000" y="466725"/>
                </a:lnTo>
                <a:cubicBezTo>
                  <a:pt x="11430000" y="508809"/>
                  <a:pt x="11395884" y="542925"/>
                  <a:pt x="11353800" y="542925"/>
                </a:cubicBezTo>
                <a:lnTo>
                  <a:pt x="76200" y="542925"/>
                </a:lnTo>
                <a:cubicBezTo>
                  <a:pt x="34116" y="542925"/>
                  <a:pt x="0" y="508809"/>
                  <a:pt x="0" y="466725"/>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609519" y="6071108"/>
            <a:ext cx="48799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6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76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MoE (Mixture of Experts)</a:t>
            </a:r>
            <a:r>
              <a:rPr lang="en-US" sz="76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Conditional computation architecture, only activates partial parameters</a:t>
            </a:r>
            <a:endParaRPr lang="en-US" sz="1100"/>
          </a:p>
        </p:txBody>
      </p:sp>
    </p:spTree>
  </p:cSld>
  <p:clrMapOvr>
    <a:masterClrMapping/>
  </p:clrMapOvr>
  <p:transition spd="slow">
    <p:fade/>
  </p:transition>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615" b="0" i="0" u="none" strike="noStrike">
                <a:solidFill>
                  <a:srgbClr val="5B92E5"/>
                </a:solidFill>
                <a:latin typeface="Alimama ShuHeiTi"/>
                <a:ea typeface="Alimama ShuHeiTi"/>
                <a:cs typeface="Alimama ShuHeiTi"/>
                <a:sym typeface="Alimama ShuHeiTi"/>
              </a:rPr>
              <a:t>Step 4 Pre-training</a:t>
            </a:r>
            <a:endParaRPr lang="en-US" sz="1100"/>
          </a:p>
        </p:txBody>
      </p:sp>
      <p:sp>
        <p:nvSpPr>
          <p:cNvPr id="3" name="Freeform 3"/>
          <p:cNvSpPr/>
          <p:nvPr/>
        </p:nvSpPr>
        <p:spPr>
          <a:xfrm>
            <a:off x="210185" y="1265499"/>
            <a:ext cx="11430000" cy="2238375"/>
          </a:xfrm>
          <a:custGeom>
            <a:avLst/>
            <a:gdLst/>
            <a:ahLst/>
            <a:cxnLst/>
            <a:rect l="l" t="t" r="r" b="b"/>
            <a:pathLst>
              <a:path w="11430000" h="2238375">
                <a:moveTo>
                  <a:pt x="152411" y="0"/>
                </a:moveTo>
                <a:lnTo>
                  <a:pt x="11277589" y="0"/>
                </a:lnTo>
                <a:cubicBezTo>
                  <a:pt x="11361763" y="0"/>
                  <a:pt x="11430000" y="68237"/>
                  <a:pt x="11430000" y="152411"/>
                </a:cubicBezTo>
                <a:lnTo>
                  <a:pt x="11430000" y="2085964"/>
                </a:lnTo>
                <a:cubicBezTo>
                  <a:pt x="11430000" y="2170138"/>
                  <a:pt x="11361763" y="2238375"/>
                  <a:pt x="11277589" y="2238375"/>
                </a:cubicBezTo>
                <a:lnTo>
                  <a:pt x="152411" y="2238375"/>
                </a:lnTo>
                <a:cubicBezTo>
                  <a:pt x="68237" y="2238375"/>
                  <a:pt x="0" y="2170138"/>
                  <a:pt x="0" y="2085964"/>
                </a:cubicBezTo>
                <a:lnTo>
                  <a:pt x="0" y="152411"/>
                </a:lnTo>
                <a:cubicBezTo>
                  <a:pt x="0" y="68293"/>
                  <a:pt x="68293" y="0"/>
                  <a:pt x="152411"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42829" y="1600033"/>
            <a:ext cx="109061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85"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Pre-training Task: Predict Next Words</a:t>
            </a:r>
            <a:endParaRPr lang="en-US" sz="1100"/>
          </a:p>
        </p:txBody>
      </p:sp>
      <p:sp>
        <p:nvSpPr>
          <p:cNvPr id="26" name="Freeform 26"/>
          <p:cNvSpPr/>
          <p:nvPr/>
        </p:nvSpPr>
        <p:spPr>
          <a:xfrm>
            <a:off x="3384351" y="3781460"/>
            <a:ext cx="2549235" cy="1711035"/>
          </a:xfrm>
          <a:custGeom>
            <a:avLst/>
            <a:gdLst/>
            <a:ahLst/>
            <a:cxnLst/>
            <a:rect l="l" t="t" r="r" b="b"/>
            <a:pathLst>
              <a:path w="2549235" h="1711035">
                <a:moveTo>
                  <a:pt x="114297" y="0"/>
                </a:moveTo>
                <a:lnTo>
                  <a:pt x="2434939" y="0"/>
                </a:lnTo>
                <a:cubicBezTo>
                  <a:pt x="2498065" y="0"/>
                  <a:pt x="2549235" y="51173"/>
                  <a:pt x="2549235" y="114297"/>
                </a:cubicBezTo>
                <a:lnTo>
                  <a:pt x="2549235" y="1596739"/>
                </a:lnTo>
                <a:cubicBezTo>
                  <a:pt x="2549235" y="1659865"/>
                  <a:pt x="2498065" y="1711035"/>
                  <a:pt x="2434939" y="1711035"/>
                </a:cubicBezTo>
                <a:lnTo>
                  <a:pt x="114297" y="1711035"/>
                </a:lnTo>
                <a:cubicBezTo>
                  <a:pt x="51173" y="1711035"/>
                  <a:pt x="0" y="1659865"/>
                  <a:pt x="0" y="1596739"/>
                </a:cubicBezTo>
                <a:lnTo>
                  <a:pt x="0" y="114297"/>
                </a:lnTo>
                <a:cubicBezTo>
                  <a:pt x="0" y="51173"/>
                  <a:pt x="51173" y="0"/>
                  <a:pt x="114297" y="0"/>
                </a:cubicBezTo>
                <a:close/>
              </a:path>
            </a:pathLst>
          </a:custGeom>
          <a:noFill/>
          <a:ln w="38100">
            <a:solidFill>
              <a:srgbClr val="00CED1">
                <a:alpha val="100000"/>
              </a:srgbClr>
            </a:solidFill>
            <a:prstDash val="solid"/>
          </a:ln>
        </p:spPr>
        <p:txBody>
          <a:bodyPr wrap="square" lIns="91440" tIns="45720" rIns="91440" bIns="45720" rtlCol="0" anchor="t">
            <a:noAutofit/>
          </a:bodyPr>
          <a:lstStyle/>
          <a:p>
            <a:pPr algn="ctr">
              <a:defRPr/>
            </a:pPr>
          </a:p>
        </p:txBody>
      </p:sp>
      <p:sp>
        <p:nvSpPr>
          <p:cNvPr id="27" name="AutoShape 27"/>
          <p:cNvSpPr/>
          <p:nvPr/>
        </p:nvSpPr>
        <p:spPr>
          <a:xfrm>
            <a:off x="3587326" y="4027289"/>
            <a:ext cx="21431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85"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Training Data</a:t>
            </a:r>
            <a:endParaRPr lang="en-US" sz="1100"/>
          </a:p>
        </p:txBody>
      </p:sp>
      <p:sp>
        <p:nvSpPr>
          <p:cNvPr id="28" name="AutoShape 28"/>
          <p:cNvSpPr/>
          <p:nvPr/>
        </p:nvSpPr>
        <p:spPr>
          <a:xfrm>
            <a:off x="3496838" y="4370003"/>
            <a:ext cx="2324100" cy="533400"/>
          </a:xfrm>
          <a:prstGeom prst="rect">
            <a:avLst/>
          </a:prstGeom>
          <a:noFill/>
          <a:ln w="12700">
            <a:noFill/>
            <a:prstDash val="solid"/>
          </a:ln>
        </p:spPr>
        <p:txBody>
          <a:bodyPr wrap="square" lIns="0" tIns="0" rIns="0" bIns="0" rtlCol="0" anchor="ctr">
            <a:noAutofit/>
          </a:bodyPr>
          <a:lstStyle/>
          <a:p>
            <a:pPr indent="0" algn="ctr">
              <a:lnSpc>
                <a:spcPct val="83000"/>
              </a:lnSpc>
              <a:defRPr/>
            </a:pPr>
            <a:r>
              <a:rPr lang="en-US" sz="2185"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Trillion-level</a:t>
            </a:r>
            <a:endParaRPr lang="en-US" sz="1100"/>
          </a:p>
        </p:txBody>
      </p:sp>
      <p:sp>
        <p:nvSpPr>
          <p:cNvPr id="29" name="AutoShape 29"/>
          <p:cNvSpPr/>
          <p:nvPr/>
        </p:nvSpPr>
        <p:spPr>
          <a:xfrm>
            <a:off x="3582563" y="4979529"/>
            <a:ext cx="2152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8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Tokens</a:t>
            </a:r>
            <a:endParaRPr lang="en-US" sz="1100"/>
          </a:p>
        </p:txBody>
      </p:sp>
      <p:sp>
        <p:nvSpPr>
          <p:cNvPr id="30" name="Freeform 30"/>
          <p:cNvSpPr/>
          <p:nvPr/>
        </p:nvSpPr>
        <p:spPr>
          <a:xfrm>
            <a:off x="6336019" y="3779695"/>
            <a:ext cx="2486025" cy="1714500"/>
          </a:xfrm>
          <a:custGeom>
            <a:avLst/>
            <a:gdLst/>
            <a:ahLst/>
            <a:cxnLst/>
            <a:rect l="l" t="t" r="r" b="b"/>
            <a:pathLst>
              <a:path w="2486025" h="1714500">
                <a:moveTo>
                  <a:pt x="114306" y="0"/>
                </a:moveTo>
                <a:lnTo>
                  <a:pt x="2371719" y="0"/>
                </a:lnTo>
                <a:cubicBezTo>
                  <a:pt x="2434849" y="0"/>
                  <a:pt x="2486025" y="51176"/>
                  <a:pt x="2486025" y="114306"/>
                </a:cubicBezTo>
                <a:lnTo>
                  <a:pt x="2486025" y="1600194"/>
                </a:lnTo>
                <a:cubicBezTo>
                  <a:pt x="2486025" y="1663324"/>
                  <a:pt x="2434849" y="1714500"/>
                  <a:pt x="2371719" y="1714500"/>
                </a:cubicBezTo>
                <a:lnTo>
                  <a:pt x="114306" y="1714500"/>
                </a:lnTo>
                <a:cubicBezTo>
                  <a:pt x="51176" y="1714500"/>
                  <a:pt x="0" y="1663324"/>
                  <a:pt x="0" y="1600194"/>
                </a:cubicBezTo>
                <a:lnTo>
                  <a:pt x="0" y="114306"/>
                </a:lnTo>
                <a:cubicBezTo>
                  <a:pt x="0" y="51176"/>
                  <a:pt x="51176" y="0"/>
                  <a:pt x="114306"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6521675" y="4008220"/>
            <a:ext cx="21145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85"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Training Cost</a:t>
            </a:r>
            <a:endParaRPr lang="en-US" sz="1100"/>
          </a:p>
        </p:txBody>
      </p:sp>
      <p:sp>
        <p:nvSpPr>
          <p:cNvPr id="32" name="AutoShape 32"/>
          <p:cNvSpPr/>
          <p:nvPr/>
        </p:nvSpPr>
        <p:spPr>
          <a:xfrm>
            <a:off x="6462938" y="4350934"/>
            <a:ext cx="2232025" cy="6096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203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Millions of Dollars</a:t>
            </a:r>
            <a:endParaRPr lang="en-US" sz="1100"/>
          </a:p>
        </p:txBody>
      </p:sp>
      <p:sp>
        <p:nvSpPr>
          <p:cNvPr id="33" name="AutoShape 33"/>
          <p:cNvSpPr/>
          <p:nvPr/>
        </p:nvSpPr>
        <p:spPr>
          <a:xfrm>
            <a:off x="6526438" y="5036753"/>
            <a:ext cx="2105025"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GPU/TPU Computing Power</a:t>
            </a:r>
            <a:endParaRPr lang="en-US" sz="1100"/>
          </a:p>
        </p:txBody>
      </p:sp>
      <p:sp>
        <p:nvSpPr>
          <p:cNvPr id="34" name="Freeform 34"/>
          <p:cNvSpPr/>
          <p:nvPr/>
        </p:nvSpPr>
        <p:spPr>
          <a:xfrm>
            <a:off x="381000" y="5737864"/>
            <a:ext cx="11430000" cy="742950"/>
          </a:xfrm>
          <a:custGeom>
            <a:avLst/>
            <a:gdLst/>
            <a:ahLst/>
            <a:cxnLst/>
            <a:rect l="l" t="t" r="r" b="b"/>
            <a:pathLst>
              <a:path w="11430000" h="742950">
                <a:moveTo>
                  <a:pt x="76197" y="0"/>
                </a:moveTo>
                <a:lnTo>
                  <a:pt x="11353803" y="0"/>
                </a:lnTo>
                <a:cubicBezTo>
                  <a:pt x="11395885" y="0"/>
                  <a:pt x="11430000" y="34115"/>
                  <a:pt x="11430000" y="76197"/>
                </a:cubicBezTo>
                <a:lnTo>
                  <a:pt x="11430000" y="666753"/>
                </a:lnTo>
                <a:cubicBezTo>
                  <a:pt x="11430000" y="708835"/>
                  <a:pt x="11395885" y="742950"/>
                  <a:pt x="11353803" y="742950"/>
                </a:cubicBezTo>
                <a:lnTo>
                  <a:pt x="76197" y="742950"/>
                </a:lnTo>
                <a:cubicBezTo>
                  <a:pt x="34115" y="742950"/>
                  <a:pt x="0" y="708835"/>
                  <a:pt x="0" y="666753"/>
                </a:cubicBezTo>
                <a:lnTo>
                  <a:pt x="0" y="76197"/>
                </a:lnTo>
                <a:cubicBezTo>
                  <a:pt x="0" y="34143"/>
                  <a:pt x="34143" y="0"/>
                  <a:pt x="76197"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5" name="AutoShape 35"/>
          <p:cNvSpPr/>
          <p:nvPr/>
        </p:nvSpPr>
        <p:spPr>
          <a:xfrm>
            <a:off x="609519" y="5974091"/>
            <a:ext cx="6677674" cy="20935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700" b="1"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Pre-training</a:t>
            </a:r>
            <a:r>
              <a:rPr lang="en-US" sz="7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a:t>
            </a:r>
            <a:r>
              <a:rPr lang="en-US" sz="700" b="0"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Training on large-scale unlabeled data to learn general language representations</a:t>
            </a:r>
            <a:endParaRPr lang="en-US" sz="1100" dirty="0"/>
          </a:p>
        </p:txBody>
      </p:sp>
      <p:sp>
        <p:nvSpPr>
          <p:cNvPr id="36" name="Freeform 17"/>
          <p:cNvSpPr/>
          <p:nvPr/>
        </p:nvSpPr>
        <p:spPr>
          <a:xfrm>
            <a:off x="3326130" y="2823845"/>
            <a:ext cx="1533525" cy="398145"/>
          </a:xfrm>
          <a:custGeom>
            <a:avLst/>
            <a:gdLst/>
            <a:ahLst/>
            <a:cxnLst/>
            <a:rect l="l" t="t" r="r" b="b"/>
            <a:pathLst>
              <a:path w="1131743" h="398318">
                <a:moveTo>
                  <a:pt x="76197" y="0"/>
                </a:moveTo>
                <a:lnTo>
                  <a:pt x="1055545" y="0"/>
                </a:lnTo>
                <a:cubicBezTo>
                  <a:pt x="1097600" y="0"/>
                  <a:pt x="1131743" y="34143"/>
                  <a:pt x="1131743" y="76197"/>
                </a:cubicBezTo>
                <a:lnTo>
                  <a:pt x="1131743" y="322120"/>
                </a:lnTo>
                <a:cubicBezTo>
                  <a:pt x="1131743" y="364175"/>
                  <a:pt x="1097600" y="398318"/>
                  <a:pt x="1055545" y="398318"/>
                </a:cubicBezTo>
                <a:lnTo>
                  <a:pt x="76197" y="398318"/>
                </a:lnTo>
                <a:cubicBezTo>
                  <a:pt x="34143" y="398318"/>
                  <a:pt x="0" y="364175"/>
                  <a:pt x="0" y="322120"/>
                </a:cubicBezTo>
                <a:lnTo>
                  <a:pt x="0" y="76197"/>
                </a:lnTo>
                <a:cubicBezTo>
                  <a:pt x="0" y="34115"/>
                  <a:pt x="34115" y="0"/>
                  <a:pt x="76197" y="0"/>
                </a:cubicBezTo>
                <a:close/>
              </a:path>
            </a:pathLst>
          </a:custGeom>
          <a:noFill/>
          <a:ln w="12700">
            <a:solidFill>
              <a:srgbClr val="1E90FF">
                <a:alpha val="100000"/>
              </a:srgbClr>
            </a:solidFill>
            <a:prstDash val="solid"/>
          </a:ln>
        </p:spPr>
        <p:txBody>
          <a:bodyPr wrap="square" lIns="91440" tIns="45720" rIns="91440" bIns="45720" rtlCol="0" anchor="t">
            <a:noAutofit/>
          </a:bodyPr>
          <a:p>
            <a:pPr algn="ctr">
              <a:defRPr/>
            </a:pPr>
          </a:p>
        </p:txBody>
      </p:sp>
      <p:sp>
        <p:nvSpPr>
          <p:cNvPr id="37" name="AutoShape 18"/>
          <p:cNvSpPr/>
          <p:nvPr/>
        </p:nvSpPr>
        <p:spPr>
          <a:xfrm>
            <a:off x="3442335" y="2917825"/>
            <a:ext cx="387985" cy="199390"/>
          </a:xfrm>
          <a:prstGeom prst="rect">
            <a:avLst/>
          </a:prstGeom>
          <a:noFill/>
          <a:ln w="12700">
            <a:noFill/>
            <a:prstDash val="solid"/>
          </a:ln>
        </p:spPr>
        <p:txBody>
          <a:bodyPr wrap="square" lIns="0" tIns="0" rIns="0" bIns="0" rtlCol="0" anchor="ctr">
            <a:noAutofit/>
          </a:bodyPr>
          <a:p>
            <a:pPr indent="0" algn="l">
              <a:lnSpc>
                <a:spcPct val="133000"/>
              </a:lnSpc>
              <a:defRPr/>
            </a:pPr>
            <a:r>
              <a:rPr lang="en-US" sz="12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are</a:t>
            </a:r>
            <a:endParaRPr lang="en-US" sz="1100"/>
          </a:p>
        </p:txBody>
      </p:sp>
      <p:sp>
        <p:nvSpPr>
          <p:cNvPr id="38" name="AutoShape 19"/>
          <p:cNvSpPr/>
          <p:nvPr/>
        </p:nvSpPr>
        <p:spPr>
          <a:xfrm>
            <a:off x="3891280" y="2934970"/>
            <a:ext cx="875665" cy="173355"/>
          </a:xfrm>
          <a:prstGeom prst="rect">
            <a:avLst/>
          </a:prstGeom>
          <a:noFill/>
          <a:ln w="12700">
            <a:noFill/>
            <a:prstDash val="solid"/>
          </a:ln>
        </p:spPr>
        <p:txBody>
          <a:bodyPr wrap="square" lIns="0" tIns="0" rIns="0" bIns="0" rtlCol="0" anchor="ctr">
            <a:noAutofit/>
          </a:bodyPr>
          <a:p>
            <a:pPr indent="0" algn="l">
              <a:lnSpc>
                <a:spcPct val="117000"/>
              </a:lnSpc>
              <a:defRPr/>
            </a:pPr>
            <a:r>
              <a:rPr lang="en-US" altLang="zh-CN"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prob: </a:t>
            </a: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55%</a:t>
            </a:r>
            <a:endParaRPr lang="en-US" sz="1100"/>
          </a:p>
        </p:txBody>
      </p:sp>
      <p:sp>
        <p:nvSpPr>
          <p:cNvPr id="39" name="Freeform 20"/>
          <p:cNvSpPr/>
          <p:nvPr/>
        </p:nvSpPr>
        <p:spPr>
          <a:xfrm>
            <a:off x="5026773" y="2819748"/>
            <a:ext cx="1246909" cy="408709"/>
          </a:xfrm>
          <a:custGeom>
            <a:avLst/>
            <a:gdLst/>
            <a:ahLst/>
            <a:cxnLst/>
            <a:rect l="l" t="t" r="r" b="b"/>
            <a:pathLst>
              <a:path w="1246909" h="408709">
                <a:moveTo>
                  <a:pt x="76200" y="0"/>
                </a:moveTo>
                <a:lnTo>
                  <a:pt x="1170709" y="0"/>
                </a:lnTo>
                <a:cubicBezTo>
                  <a:pt x="1212793" y="0"/>
                  <a:pt x="1246909" y="34116"/>
                  <a:pt x="1246909" y="76200"/>
                </a:cubicBezTo>
                <a:lnTo>
                  <a:pt x="1246909" y="332509"/>
                </a:lnTo>
                <a:cubicBezTo>
                  <a:pt x="1246909" y="374593"/>
                  <a:pt x="1212793" y="408709"/>
                  <a:pt x="1170709" y="408709"/>
                </a:cubicBezTo>
                <a:lnTo>
                  <a:pt x="76200" y="408709"/>
                </a:lnTo>
                <a:cubicBezTo>
                  <a:pt x="34116" y="408709"/>
                  <a:pt x="0" y="374593"/>
                  <a:pt x="0" y="332509"/>
                </a:cubicBezTo>
                <a:lnTo>
                  <a:pt x="0" y="76200"/>
                </a:lnTo>
                <a:cubicBezTo>
                  <a:pt x="0" y="34144"/>
                  <a:pt x="34144" y="0"/>
                  <a:pt x="76200" y="0"/>
                </a:cubicBezTo>
                <a:close/>
              </a:path>
            </a:pathLst>
          </a:custGeom>
          <a:solidFill>
            <a:srgbClr val="FFFFFF">
              <a:alpha val="100000"/>
            </a:srgbClr>
          </a:solidFill>
          <a:ln w="12700">
            <a:solidFill>
              <a:srgbClr val="CCCCCC">
                <a:alpha val="100000"/>
              </a:srgbClr>
            </a:solidFill>
            <a:prstDash val="solid"/>
          </a:ln>
        </p:spPr>
        <p:txBody>
          <a:bodyPr wrap="square" lIns="91440" tIns="45720" rIns="91440" bIns="45720" rtlCol="0" anchor="t">
            <a:noAutofit/>
          </a:bodyPr>
          <a:p>
            <a:pPr algn="ctr">
              <a:defRPr/>
            </a:pPr>
          </a:p>
        </p:txBody>
      </p:sp>
      <p:sp>
        <p:nvSpPr>
          <p:cNvPr id="40" name="AutoShape 21"/>
          <p:cNvSpPr/>
          <p:nvPr/>
        </p:nvSpPr>
        <p:spPr>
          <a:xfrm>
            <a:off x="5183449" y="2908920"/>
            <a:ext cx="302419" cy="199159"/>
          </a:xfrm>
          <a:prstGeom prst="rect">
            <a:avLst/>
          </a:prstGeom>
          <a:noFill/>
          <a:ln w="12700">
            <a:noFill/>
            <a:prstDash val="solid"/>
          </a:ln>
        </p:spPr>
        <p:txBody>
          <a:bodyPr wrap="square" lIns="0" tIns="0" rIns="0" bIns="0" rtlCol="0" anchor="ctr">
            <a:noAutofit/>
          </a:bodyPr>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is</a:t>
            </a:r>
            <a:endPar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41" name="AutoShape 22"/>
          <p:cNvSpPr/>
          <p:nvPr/>
        </p:nvSpPr>
        <p:spPr>
          <a:xfrm>
            <a:off x="5441315" y="2926080"/>
            <a:ext cx="738505" cy="173355"/>
          </a:xfrm>
          <a:prstGeom prst="rect">
            <a:avLst/>
          </a:prstGeom>
          <a:noFill/>
          <a:ln w="12700">
            <a:noFill/>
            <a:prstDash val="solid"/>
          </a:ln>
        </p:spPr>
        <p:txBody>
          <a:bodyPr wrap="square" lIns="0" tIns="0" rIns="0" bIns="0" rtlCol="0" anchor="ctr">
            <a:noAutofit/>
          </a:bodyPr>
          <a:p>
            <a:pPr indent="0" algn="l">
              <a:lnSpc>
                <a:spcPct val="117000"/>
              </a:lnSpc>
              <a:defRPr/>
            </a:pPr>
            <a:r>
              <a:rPr lang="en-US" altLang="zh-CN"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prob: </a:t>
            </a: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12%</a:t>
            </a:r>
            <a:endParaRPr lang="en-US" sz="1100"/>
          </a:p>
        </p:txBody>
      </p:sp>
      <p:sp>
        <p:nvSpPr>
          <p:cNvPr id="42" name="Freeform 23"/>
          <p:cNvSpPr/>
          <p:nvPr/>
        </p:nvSpPr>
        <p:spPr>
          <a:xfrm>
            <a:off x="6430645" y="2820035"/>
            <a:ext cx="1642110" cy="408940"/>
          </a:xfrm>
          <a:custGeom>
            <a:avLst/>
            <a:gdLst/>
            <a:ahLst/>
            <a:cxnLst/>
            <a:rect l="l" t="t" r="r" b="b"/>
            <a:pathLst>
              <a:path w="1132609" h="408709">
                <a:moveTo>
                  <a:pt x="76200" y="0"/>
                </a:moveTo>
                <a:lnTo>
                  <a:pt x="1056409" y="0"/>
                </a:lnTo>
                <a:cubicBezTo>
                  <a:pt x="1098493" y="0"/>
                  <a:pt x="1132609" y="34116"/>
                  <a:pt x="1132609" y="76200"/>
                </a:cubicBezTo>
                <a:lnTo>
                  <a:pt x="1132609" y="332509"/>
                </a:lnTo>
                <a:cubicBezTo>
                  <a:pt x="1132609" y="374593"/>
                  <a:pt x="1098493" y="408709"/>
                  <a:pt x="1056409" y="408709"/>
                </a:cubicBezTo>
                <a:lnTo>
                  <a:pt x="76200" y="408709"/>
                </a:lnTo>
                <a:cubicBezTo>
                  <a:pt x="34116" y="408709"/>
                  <a:pt x="0" y="374593"/>
                  <a:pt x="0" y="332509"/>
                </a:cubicBezTo>
                <a:lnTo>
                  <a:pt x="0" y="76200"/>
                </a:lnTo>
                <a:cubicBezTo>
                  <a:pt x="0" y="34144"/>
                  <a:pt x="34144" y="0"/>
                  <a:pt x="76200" y="0"/>
                </a:cubicBezTo>
                <a:close/>
              </a:path>
            </a:pathLst>
          </a:custGeom>
          <a:solidFill>
            <a:srgbClr val="FFFFFF">
              <a:alpha val="100000"/>
            </a:srgbClr>
          </a:solidFill>
          <a:ln w="12700">
            <a:solidFill>
              <a:srgbClr val="CCCCCC">
                <a:alpha val="100000"/>
              </a:srgbClr>
            </a:solidFill>
            <a:prstDash val="solid"/>
          </a:ln>
        </p:spPr>
        <p:txBody>
          <a:bodyPr wrap="square" lIns="91440" tIns="45720" rIns="91440" bIns="45720" rtlCol="0" anchor="t">
            <a:noAutofit/>
          </a:bodyPr>
          <a:p>
            <a:pPr algn="ctr">
              <a:defRPr/>
            </a:pPr>
          </a:p>
        </p:txBody>
      </p:sp>
      <p:sp>
        <p:nvSpPr>
          <p:cNvPr id="43" name="AutoShape 24"/>
          <p:cNvSpPr/>
          <p:nvPr/>
        </p:nvSpPr>
        <p:spPr>
          <a:xfrm>
            <a:off x="6532880" y="2908935"/>
            <a:ext cx="486410" cy="199390"/>
          </a:xfrm>
          <a:prstGeom prst="rect">
            <a:avLst/>
          </a:prstGeom>
          <a:noFill/>
          <a:ln w="12700">
            <a:noFill/>
            <a:prstDash val="solid"/>
          </a:ln>
        </p:spPr>
        <p:txBody>
          <a:bodyPr wrap="square" lIns="0" tIns="0" rIns="0" bIns="0" rtlCol="0" anchor="ctr">
            <a:noAutofit/>
          </a:bodyPr>
          <a:p>
            <a:pPr indent="0" algn="l">
              <a:lnSpc>
                <a:spcPct val="133000"/>
              </a:lnSpc>
              <a:defRPr/>
            </a:pPr>
            <a:r>
              <a:rPr lang="en-US" sz="1100"/>
              <a:t>were</a:t>
            </a:r>
            <a:endParaRPr lang="en-US" sz="1100"/>
          </a:p>
        </p:txBody>
      </p:sp>
      <p:sp>
        <p:nvSpPr>
          <p:cNvPr id="44" name="AutoShape 25"/>
          <p:cNvSpPr/>
          <p:nvPr/>
        </p:nvSpPr>
        <p:spPr>
          <a:xfrm>
            <a:off x="7018655" y="2926080"/>
            <a:ext cx="1005840" cy="173355"/>
          </a:xfrm>
          <a:prstGeom prst="rect">
            <a:avLst/>
          </a:prstGeom>
          <a:noFill/>
          <a:ln w="12700">
            <a:noFill/>
            <a:prstDash val="solid"/>
          </a:ln>
        </p:spPr>
        <p:txBody>
          <a:bodyPr wrap="square" lIns="0" tIns="0" rIns="0" bIns="0" rtlCol="0" anchor="ctr">
            <a:noAutofit/>
          </a:bodyPr>
          <a:p>
            <a:pPr indent="0" algn="l">
              <a:lnSpc>
                <a:spcPct val="117000"/>
              </a:lnSpc>
              <a:defRPr/>
            </a:pPr>
            <a:r>
              <a:rPr lang="en-US" altLang="zh-CN"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prob: </a:t>
            </a: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10%</a:t>
            </a:r>
            <a:endParaRPr lang="en-US" sz="1100"/>
          </a:p>
        </p:txBody>
      </p:sp>
      <p:sp>
        <p:nvSpPr>
          <p:cNvPr id="45" name="文本框 44"/>
          <p:cNvSpPr txBox="1"/>
          <p:nvPr/>
        </p:nvSpPr>
        <p:spPr>
          <a:xfrm>
            <a:off x="2670810" y="2077085"/>
            <a:ext cx="713740" cy="391160"/>
          </a:xfrm>
          <a:prstGeom prst="rect">
            <a:avLst/>
          </a:prstGeom>
          <a:noFill/>
          <a:ln w="12700" cap="rnd" cmpd="sng">
            <a:solidFill>
              <a:schemeClr val="accent1"/>
            </a:solidFill>
            <a:prstDash val="solid"/>
          </a:ln>
          <a:effectLst/>
        </p:spPr>
        <p:txBody>
          <a:bodyPr wrap="square" rtlCol="0">
            <a:noAutofit/>
          </a:bodyPr>
          <a:p>
            <a:pPr algn="ctr"/>
            <a:r>
              <a:rPr lang="en-US" altLang="zh-CN" sz="1600"/>
              <a:t>The</a:t>
            </a:r>
            <a:endParaRPr lang="en-US" altLang="zh-CN" sz="1600"/>
          </a:p>
        </p:txBody>
      </p:sp>
      <p:sp>
        <p:nvSpPr>
          <p:cNvPr id="46" name="文本框 45"/>
          <p:cNvSpPr txBox="1"/>
          <p:nvPr/>
        </p:nvSpPr>
        <p:spPr>
          <a:xfrm>
            <a:off x="3587115" y="2077085"/>
            <a:ext cx="713740" cy="391160"/>
          </a:xfrm>
          <a:prstGeom prst="rect">
            <a:avLst/>
          </a:prstGeom>
          <a:noFill/>
          <a:ln w="12700" cap="rnd" cmpd="sng">
            <a:solidFill>
              <a:schemeClr val="accent1"/>
            </a:solidFill>
            <a:prstDash val="solid"/>
          </a:ln>
          <a:effectLst/>
        </p:spPr>
        <p:txBody>
          <a:bodyPr wrap="square" rtlCol="0">
            <a:noAutofit/>
          </a:bodyPr>
          <a:p>
            <a:pPr algn="ctr"/>
            <a:r>
              <a:rPr lang="en-US" altLang="zh-CN" sz="1600"/>
              <a:t>keys</a:t>
            </a:r>
            <a:endParaRPr lang="en-US" altLang="zh-CN" sz="1600"/>
          </a:p>
        </p:txBody>
      </p:sp>
      <p:sp>
        <p:nvSpPr>
          <p:cNvPr id="47" name="文本框 46"/>
          <p:cNvSpPr txBox="1"/>
          <p:nvPr/>
        </p:nvSpPr>
        <p:spPr>
          <a:xfrm>
            <a:off x="4542790" y="2077085"/>
            <a:ext cx="713740" cy="391160"/>
          </a:xfrm>
          <a:prstGeom prst="rect">
            <a:avLst/>
          </a:prstGeom>
          <a:noFill/>
          <a:ln w="12700" cap="rnd" cmpd="sng">
            <a:solidFill>
              <a:schemeClr val="accent1"/>
            </a:solidFill>
            <a:prstDash val="solid"/>
          </a:ln>
          <a:effectLst/>
        </p:spPr>
        <p:txBody>
          <a:bodyPr wrap="square" rtlCol="0">
            <a:noAutofit/>
          </a:bodyPr>
          <a:p>
            <a:pPr algn="ctr"/>
            <a:r>
              <a:rPr lang="en-US" altLang="zh-CN" sz="1600"/>
              <a:t>on</a:t>
            </a:r>
            <a:endParaRPr lang="en-US" altLang="zh-CN" sz="1600"/>
          </a:p>
        </p:txBody>
      </p:sp>
      <p:sp>
        <p:nvSpPr>
          <p:cNvPr id="48" name="文本框 47"/>
          <p:cNvSpPr txBox="1"/>
          <p:nvPr/>
        </p:nvSpPr>
        <p:spPr>
          <a:xfrm>
            <a:off x="5568315" y="2077085"/>
            <a:ext cx="713740" cy="391160"/>
          </a:xfrm>
          <a:prstGeom prst="rect">
            <a:avLst/>
          </a:prstGeom>
          <a:noFill/>
          <a:ln w="12700" cap="rnd" cmpd="sng">
            <a:solidFill>
              <a:schemeClr val="accent1"/>
            </a:solidFill>
            <a:prstDash val="solid"/>
          </a:ln>
          <a:effectLst/>
        </p:spPr>
        <p:txBody>
          <a:bodyPr wrap="square" rtlCol="0">
            <a:noAutofit/>
          </a:bodyPr>
          <a:p>
            <a:pPr algn="ctr"/>
            <a:r>
              <a:rPr lang="en-US" altLang="zh-CN" sz="1600"/>
              <a:t>the</a:t>
            </a:r>
            <a:endParaRPr lang="en-US" altLang="zh-CN" sz="1600"/>
          </a:p>
        </p:txBody>
      </p:sp>
      <p:sp>
        <p:nvSpPr>
          <p:cNvPr id="49" name="文本框 48"/>
          <p:cNvSpPr txBox="1"/>
          <p:nvPr/>
        </p:nvSpPr>
        <p:spPr>
          <a:xfrm>
            <a:off x="6593840" y="2077085"/>
            <a:ext cx="713740" cy="391160"/>
          </a:xfrm>
          <a:prstGeom prst="rect">
            <a:avLst/>
          </a:prstGeom>
          <a:noFill/>
          <a:ln w="12700" cap="rnd" cmpd="sng">
            <a:solidFill>
              <a:schemeClr val="accent1"/>
            </a:solidFill>
            <a:prstDash val="solid"/>
          </a:ln>
          <a:effectLst/>
        </p:spPr>
        <p:txBody>
          <a:bodyPr wrap="square" rtlCol="0">
            <a:noAutofit/>
          </a:bodyPr>
          <a:p>
            <a:r>
              <a:rPr lang="en-US" altLang="zh-CN" sz="1600"/>
              <a:t>table</a:t>
            </a:r>
            <a:endParaRPr lang="en-US" altLang="zh-CN" sz="1600"/>
          </a:p>
        </p:txBody>
      </p:sp>
      <p:sp>
        <p:nvSpPr>
          <p:cNvPr id="50" name="文本框 49"/>
          <p:cNvSpPr txBox="1"/>
          <p:nvPr/>
        </p:nvSpPr>
        <p:spPr>
          <a:xfrm>
            <a:off x="7619365" y="2077085"/>
            <a:ext cx="713740" cy="391160"/>
          </a:xfrm>
          <a:prstGeom prst="rect">
            <a:avLst/>
          </a:prstGeom>
          <a:noFill/>
          <a:ln w="12700" cap="rnd" cmpd="sng">
            <a:solidFill>
              <a:schemeClr val="accent1"/>
            </a:solidFill>
            <a:prstDash val="solid"/>
          </a:ln>
          <a:effectLst/>
        </p:spPr>
        <p:txBody>
          <a:bodyPr wrap="square" rtlCol="0">
            <a:noAutofit/>
          </a:bodyPr>
          <a:p>
            <a:r>
              <a:rPr lang="en-US" altLang="zh-CN" sz="1600">
                <a:ea typeface="宋体" panose="02010600030101010101" pitchFamily="2" charset="-122"/>
              </a:rPr>
              <a:t>...</a:t>
            </a:r>
            <a:endParaRPr lang="en-US" altLang="zh-CN" sz="1600">
              <a:ea typeface="宋体" panose="02010600030101010101" pitchFamily="2" charset="-122"/>
            </a:endParaRPr>
          </a:p>
        </p:txBody>
      </p:sp>
    </p:spTree>
  </p:cSld>
  <p:clrMapOvr>
    <a:masterClrMapping/>
  </p:clrMapOvr>
  <p:transition spd="slow">
    <p:fade/>
  </p:transition>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7985"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615" b="0" i="0" u="none" strike="noStrike">
                <a:solidFill>
                  <a:srgbClr val="5B92E5"/>
                </a:solidFill>
                <a:latin typeface="Alimama ShuHeiTi"/>
                <a:ea typeface="Alimama ShuHeiTi"/>
                <a:cs typeface="Alimama ShuHeiTi"/>
                <a:sym typeface="Alimama ShuHeiTi"/>
              </a:rPr>
              <a:t>Step 5 Supervised Fine-Tuning</a:t>
            </a:r>
            <a:endParaRPr lang="en-US" sz="1100"/>
          </a:p>
        </p:txBody>
      </p:sp>
      <p:sp>
        <p:nvSpPr>
          <p:cNvPr id="3" name="Freeform 3"/>
          <p:cNvSpPr/>
          <p:nvPr>
            <p:custDataLst>
              <p:tags r:id="rId1"/>
            </p:custDataLst>
          </p:nvPr>
        </p:nvSpPr>
        <p:spPr>
          <a:xfrm>
            <a:off x="381000" y="1758479"/>
            <a:ext cx="5562600" cy="2390775"/>
          </a:xfrm>
          <a:custGeom>
            <a:avLst/>
            <a:gdLst/>
            <a:ahLst/>
            <a:cxnLst/>
            <a:rect l="l" t="t" r="r" b="b"/>
            <a:pathLst>
              <a:path w="5562600" h="2390775">
                <a:moveTo>
                  <a:pt x="152411" y="0"/>
                </a:moveTo>
                <a:lnTo>
                  <a:pt x="5410189" y="0"/>
                </a:lnTo>
                <a:cubicBezTo>
                  <a:pt x="5494363" y="0"/>
                  <a:pt x="5562600" y="68237"/>
                  <a:pt x="5562600" y="152411"/>
                </a:cubicBezTo>
                <a:lnTo>
                  <a:pt x="5562600" y="2238364"/>
                </a:lnTo>
                <a:cubicBezTo>
                  <a:pt x="5562600" y="2322538"/>
                  <a:pt x="5494363" y="2390775"/>
                  <a:pt x="5410189" y="2390775"/>
                </a:cubicBezTo>
                <a:lnTo>
                  <a:pt x="152411" y="2390775"/>
                </a:lnTo>
                <a:cubicBezTo>
                  <a:pt x="68237" y="2390775"/>
                  <a:pt x="0" y="2322538"/>
                  <a:pt x="0" y="2238364"/>
                </a:cubicBezTo>
                <a:lnTo>
                  <a:pt x="0" y="152411"/>
                </a:lnTo>
                <a:cubicBezTo>
                  <a:pt x="0" y="68237"/>
                  <a:pt x="68237" y="0"/>
                  <a:pt x="152411"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custDataLst>
              <p:tags r:id="rId2"/>
            </p:custDataLst>
          </p:nvPr>
        </p:nvSpPr>
        <p:spPr>
          <a:xfrm>
            <a:off x="609519" y="1991656"/>
            <a:ext cx="285750" cy="228600"/>
          </a:xfrm>
          <a:custGeom>
            <a:avLst/>
            <a:gdLst/>
            <a:ahLst/>
            <a:cxnLst/>
            <a:rect l="l" t="t" r="r" b="b"/>
            <a:pathLst>
              <a:path w="285750" h="228600">
                <a:moveTo>
                  <a:pt x="157163" y="14287"/>
                </a:moveTo>
                <a:cubicBezTo>
                  <a:pt x="157163" y="6384"/>
                  <a:pt x="150778" y="0"/>
                  <a:pt x="142875" y="0"/>
                </a:cubicBezTo>
                <a:cubicBezTo>
                  <a:pt x="134972" y="0"/>
                  <a:pt x="128587" y="6384"/>
                  <a:pt x="128587" y="14287"/>
                </a:cubicBezTo>
                <a:lnTo>
                  <a:pt x="128587" y="42862"/>
                </a:lnTo>
                <a:lnTo>
                  <a:pt x="85725" y="42862"/>
                </a:lnTo>
                <a:cubicBezTo>
                  <a:pt x="62061" y="42862"/>
                  <a:pt x="42863" y="62061"/>
                  <a:pt x="42863" y="85724"/>
                </a:cubicBezTo>
                <a:lnTo>
                  <a:pt x="42863" y="185737"/>
                </a:lnTo>
                <a:cubicBezTo>
                  <a:pt x="42863" y="209401"/>
                  <a:pt x="62061" y="228600"/>
                  <a:pt x="85725" y="228600"/>
                </a:cubicBezTo>
                <a:lnTo>
                  <a:pt x="200025" y="228600"/>
                </a:lnTo>
                <a:cubicBezTo>
                  <a:pt x="223689" y="228600"/>
                  <a:pt x="242887" y="209401"/>
                  <a:pt x="242887" y="185737"/>
                </a:cubicBezTo>
                <a:lnTo>
                  <a:pt x="242887" y="85724"/>
                </a:lnTo>
                <a:cubicBezTo>
                  <a:pt x="242887" y="62061"/>
                  <a:pt x="223689" y="42862"/>
                  <a:pt x="200025" y="42862"/>
                </a:cubicBezTo>
                <a:lnTo>
                  <a:pt x="157163" y="42862"/>
                </a:lnTo>
                <a:lnTo>
                  <a:pt x="157163" y="14287"/>
                </a:lnTo>
                <a:close/>
                <a:moveTo>
                  <a:pt x="71437" y="178593"/>
                </a:moveTo>
                <a:cubicBezTo>
                  <a:pt x="71437" y="172655"/>
                  <a:pt x="76215" y="167878"/>
                  <a:pt x="82152" y="167878"/>
                </a:cubicBezTo>
                <a:lnTo>
                  <a:pt x="96441" y="167878"/>
                </a:lnTo>
                <a:cubicBezTo>
                  <a:pt x="102379" y="167878"/>
                  <a:pt x="107156" y="172655"/>
                  <a:pt x="107156" y="178593"/>
                </a:cubicBezTo>
                <a:cubicBezTo>
                  <a:pt x="107156" y="184530"/>
                  <a:pt x="102379" y="189310"/>
                  <a:pt x="96441" y="189310"/>
                </a:cubicBezTo>
                <a:lnTo>
                  <a:pt x="82152" y="189310"/>
                </a:lnTo>
                <a:cubicBezTo>
                  <a:pt x="76215" y="189310"/>
                  <a:pt x="71437" y="184530"/>
                  <a:pt x="71437" y="178593"/>
                </a:cubicBezTo>
                <a:close/>
                <a:moveTo>
                  <a:pt x="125016" y="178593"/>
                </a:moveTo>
                <a:cubicBezTo>
                  <a:pt x="125016" y="172655"/>
                  <a:pt x="129793" y="167878"/>
                  <a:pt x="135731" y="167878"/>
                </a:cubicBezTo>
                <a:lnTo>
                  <a:pt x="150019" y="167878"/>
                </a:lnTo>
                <a:cubicBezTo>
                  <a:pt x="155957" y="167878"/>
                  <a:pt x="160734" y="172655"/>
                  <a:pt x="160734" y="178593"/>
                </a:cubicBezTo>
                <a:cubicBezTo>
                  <a:pt x="160734" y="184530"/>
                  <a:pt x="155957" y="189310"/>
                  <a:pt x="150019" y="189310"/>
                </a:cubicBezTo>
                <a:lnTo>
                  <a:pt x="135731" y="189310"/>
                </a:lnTo>
                <a:cubicBezTo>
                  <a:pt x="129793" y="189310"/>
                  <a:pt x="125016" y="184530"/>
                  <a:pt x="125016" y="178593"/>
                </a:cubicBezTo>
                <a:close/>
                <a:moveTo>
                  <a:pt x="178594" y="178593"/>
                </a:moveTo>
                <a:cubicBezTo>
                  <a:pt x="178594" y="172655"/>
                  <a:pt x="183371" y="167878"/>
                  <a:pt x="189309" y="167878"/>
                </a:cubicBezTo>
                <a:lnTo>
                  <a:pt x="203598" y="167878"/>
                </a:lnTo>
                <a:cubicBezTo>
                  <a:pt x="209535" y="167878"/>
                  <a:pt x="214312" y="172655"/>
                  <a:pt x="214312" y="178593"/>
                </a:cubicBezTo>
                <a:cubicBezTo>
                  <a:pt x="214312" y="184530"/>
                  <a:pt x="209535" y="189310"/>
                  <a:pt x="203598" y="189310"/>
                </a:cubicBezTo>
                <a:lnTo>
                  <a:pt x="189309" y="189310"/>
                </a:lnTo>
                <a:cubicBezTo>
                  <a:pt x="183371" y="189310"/>
                  <a:pt x="178594" y="184530"/>
                  <a:pt x="178594" y="178593"/>
                </a:cubicBezTo>
                <a:close/>
                <a:moveTo>
                  <a:pt x="100013" y="92868"/>
                </a:moveTo>
                <a:cubicBezTo>
                  <a:pt x="111841" y="92868"/>
                  <a:pt x="121444" y="102471"/>
                  <a:pt x="121444" y="114300"/>
                </a:cubicBezTo>
                <a:cubicBezTo>
                  <a:pt x="121444" y="126128"/>
                  <a:pt x="111841" y="135731"/>
                  <a:pt x="100013" y="135731"/>
                </a:cubicBezTo>
                <a:cubicBezTo>
                  <a:pt x="88184" y="135731"/>
                  <a:pt x="78581" y="126128"/>
                  <a:pt x="78581" y="114300"/>
                </a:cubicBezTo>
                <a:cubicBezTo>
                  <a:pt x="78581" y="102471"/>
                  <a:pt x="88184" y="92868"/>
                  <a:pt x="100013" y="92868"/>
                </a:cubicBezTo>
                <a:close/>
                <a:moveTo>
                  <a:pt x="164306" y="114300"/>
                </a:moveTo>
                <a:cubicBezTo>
                  <a:pt x="164306" y="102471"/>
                  <a:pt x="173909" y="92868"/>
                  <a:pt x="185737" y="92868"/>
                </a:cubicBezTo>
                <a:cubicBezTo>
                  <a:pt x="197566" y="92868"/>
                  <a:pt x="207169" y="102471"/>
                  <a:pt x="207169" y="114300"/>
                </a:cubicBezTo>
                <a:cubicBezTo>
                  <a:pt x="207169" y="126128"/>
                  <a:pt x="197566" y="135731"/>
                  <a:pt x="185737" y="135731"/>
                </a:cubicBezTo>
                <a:cubicBezTo>
                  <a:pt x="173909" y="135731"/>
                  <a:pt x="164306" y="126128"/>
                  <a:pt x="164306" y="114300"/>
                </a:cubicBezTo>
                <a:close/>
                <a:moveTo>
                  <a:pt x="28575" y="114300"/>
                </a:moveTo>
                <a:cubicBezTo>
                  <a:pt x="28575" y="106398"/>
                  <a:pt x="22189" y="100012"/>
                  <a:pt x="14287" y="100012"/>
                </a:cubicBezTo>
                <a:cubicBezTo>
                  <a:pt x="6386" y="100012"/>
                  <a:pt x="0" y="106398"/>
                  <a:pt x="0" y="114300"/>
                </a:cubicBezTo>
                <a:lnTo>
                  <a:pt x="0" y="157162"/>
                </a:lnTo>
                <a:cubicBezTo>
                  <a:pt x="0" y="165065"/>
                  <a:pt x="6386" y="171450"/>
                  <a:pt x="14287" y="171450"/>
                </a:cubicBezTo>
                <a:cubicBezTo>
                  <a:pt x="22189" y="171450"/>
                  <a:pt x="28575" y="165065"/>
                  <a:pt x="28575" y="157162"/>
                </a:cubicBezTo>
                <a:lnTo>
                  <a:pt x="28575" y="114300"/>
                </a:lnTo>
                <a:close/>
                <a:moveTo>
                  <a:pt x="271462" y="100012"/>
                </a:moveTo>
                <a:cubicBezTo>
                  <a:pt x="263561" y="100012"/>
                  <a:pt x="257175" y="106398"/>
                  <a:pt x="257175" y="114300"/>
                </a:cubicBezTo>
                <a:lnTo>
                  <a:pt x="257175" y="157162"/>
                </a:lnTo>
                <a:cubicBezTo>
                  <a:pt x="257175" y="165065"/>
                  <a:pt x="263561" y="171450"/>
                  <a:pt x="271462" y="171450"/>
                </a:cubicBezTo>
                <a:cubicBezTo>
                  <a:pt x="279364" y="171450"/>
                  <a:pt x="285750" y="165065"/>
                  <a:pt x="285750" y="157162"/>
                </a:cubicBezTo>
                <a:lnTo>
                  <a:pt x="285750" y="114300"/>
                </a:lnTo>
                <a:cubicBezTo>
                  <a:pt x="285750" y="106398"/>
                  <a:pt x="279364" y="100012"/>
                  <a:pt x="271462" y="100012"/>
                </a:cubicBezTo>
                <a:close/>
              </a:path>
            </a:pathLst>
          </a:custGeom>
          <a:solidFill>
            <a:srgbClr val="666666">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custDataLst>
              <p:tags r:id="rId3"/>
            </p:custDataLst>
          </p:nvPr>
        </p:nvSpPr>
        <p:spPr>
          <a:xfrm>
            <a:off x="1009650" y="1986915"/>
            <a:ext cx="18097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1"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Before Fine-Tuning</a:t>
            </a:r>
            <a:endParaRPr lang="en-US" sz="1100"/>
          </a:p>
        </p:txBody>
      </p:sp>
      <p:sp>
        <p:nvSpPr>
          <p:cNvPr id="6" name="Freeform 6"/>
          <p:cNvSpPr/>
          <p:nvPr>
            <p:custDataLst>
              <p:tags r:id="rId4"/>
            </p:custDataLst>
          </p:nvPr>
        </p:nvSpPr>
        <p:spPr>
          <a:xfrm>
            <a:off x="609519" y="2406011"/>
            <a:ext cx="5105400" cy="457200"/>
          </a:xfrm>
          <a:custGeom>
            <a:avLst/>
            <a:gdLst/>
            <a:ahLst/>
            <a:cxnLst/>
            <a:rect l="l" t="t" r="r" b="b"/>
            <a:pathLst>
              <a:path w="5105400" h="457200">
                <a:moveTo>
                  <a:pt x="76203" y="0"/>
                </a:moveTo>
                <a:lnTo>
                  <a:pt x="5029197" y="0"/>
                </a:lnTo>
                <a:cubicBezTo>
                  <a:pt x="5071283" y="0"/>
                  <a:pt x="5105400" y="34117"/>
                  <a:pt x="5105400" y="76203"/>
                </a:cubicBezTo>
                <a:lnTo>
                  <a:pt x="5105400" y="380997"/>
                </a:lnTo>
                <a:cubicBezTo>
                  <a:pt x="5105400" y="423083"/>
                  <a:pt x="5071283" y="457200"/>
                  <a:pt x="5029197" y="457200"/>
                </a:cubicBezTo>
                <a:lnTo>
                  <a:pt x="76203" y="457200"/>
                </a:lnTo>
                <a:cubicBezTo>
                  <a:pt x="34145" y="457200"/>
                  <a:pt x="0" y="423055"/>
                  <a:pt x="0" y="380997"/>
                </a:cubicBezTo>
                <a:lnTo>
                  <a:pt x="0" y="76203"/>
                </a:lnTo>
                <a:cubicBezTo>
                  <a:pt x="0" y="34145"/>
                  <a:pt x="34145" y="0"/>
                  <a:pt x="762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custDataLst>
              <p:tags r:id="rId5"/>
            </p:custDataLst>
          </p:nvPr>
        </p:nvSpPr>
        <p:spPr>
          <a:xfrm>
            <a:off x="723711" y="2520200"/>
            <a:ext cx="4953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User: Hello</a:t>
            </a:r>
            <a:endParaRPr lang="en-US" sz="1100"/>
          </a:p>
        </p:txBody>
      </p:sp>
      <p:sp>
        <p:nvSpPr>
          <p:cNvPr id="8" name="Freeform 8"/>
          <p:cNvSpPr/>
          <p:nvPr>
            <p:custDataLst>
              <p:tags r:id="rId6"/>
            </p:custDataLst>
          </p:nvPr>
        </p:nvSpPr>
        <p:spPr>
          <a:xfrm>
            <a:off x="609519" y="2977102"/>
            <a:ext cx="5105400" cy="457200"/>
          </a:xfrm>
          <a:custGeom>
            <a:avLst/>
            <a:gdLst/>
            <a:ahLst/>
            <a:cxnLst/>
            <a:rect l="l" t="t" r="r" b="b"/>
            <a:pathLst>
              <a:path w="5105400" h="457200">
                <a:moveTo>
                  <a:pt x="76203" y="0"/>
                </a:moveTo>
                <a:lnTo>
                  <a:pt x="5029197" y="0"/>
                </a:lnTo>
                <a:cubicBezTo>
                  <a:pt x="5071283" y="0"/>
                  <a:pt x="5105400" y="34117"/>
                  <a:pt x="5105400" y="76203"/>
                </a:cubicBezTo>
                <a:lnTo>
                  <a:pt x="5105400" y="380997"/>
                </a:lnTo>
                <a:cubicBezTo>
                  <a:pt x="5105400" y="423083"/>
                  <a:pt x="5071283" y="457200"/>
                  <a:pt x="5029197" y="457200"/>
                </a:cubicBezTo>
                <a:lnTo>
                  <a:pt x="76203" y="457200"/>
                </a:lnTo>
                <a:cubicBezTo>
                  <a:pt x="34145" y="457200"/>
                  <a:pt x="0" y="423055"/>
                  <a:pt x="0" y="380997"/>
                </a:cubicBezTo>
                <a:lnTo>
                  <a:pt x="0" y="76203"/>
                </a:lnTo>
                <a:cubicBezTo>
                  <a:pt x="0" y="34145"/>
                  <a:pt x="34145" y="0"/>
                  <a:pt x="762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custDataLst>
              <p:tags r:id="rId7"/>
            </p:custDataLst>
          </p:nvPr>
        </p:nvSpPr>
        <p:spPr>
          <a:xfrm>
            <a:off x="723711" y="3091290"/>
            <a:ext cx="4953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AI: Hello is a common greeting, typically used for...</a:t>
            </a:r>
            <a:endParaRPr lang="en-US" sz="1100"/>
          </a:p>
        </p:txBody>
      </p:sp>
      <p:sp>
        <p:nvSpPr>
          <p:cNvPr id="10" name="Freeform 10"/>
          <p:cNvSpPr/>
          <p:nvPr>
            <p:custDataLst>
              <p:tags r:id="rId8"/>
            </p:custDataLst>
          </p:nvPr>
        </p:nvSpPr>
        <p:spPr>
          <a:xfrm>
            <a:off x="2666973" y="3612338"/>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49709" y="49709"/>
                </a:moveTo>
                <a:cubicBezTo>
                  <a:pt x="52507" y="46911"/>
                  <a:pt x="57031" y="46911"/>
                  <a:pt x="59799" y="49709"/>
                </a:cubicBezTo>
                <a:lnTo>
                  <a:pt x="76170" y="66079"/>
                </a:lnTo>
                <a:lnTo>
                  <a:pt x="92541" y="49709"/>
                </a:lnTo>
                <a:cubicBezTo>
                  <a:pt x="95339" y="46911"/>
                  <a:pt x="99864" y="46911"/>
                  <a:pt x="102633" y="49709"/>
                </a:cubicBezTo>
                <a:cubicBezTo>
                  <a:pt x="105400" y="52507"/>
                  <a:pt x="105430" y="57031"/>
                  <a:pt x="102633" y="59799"/>
                </a:cubicBezTo>
                <a:lnTo>
                  <a:pt x="86261" y="76170"/>
                </a:lnTo>
                <a:lnTo>
                  <a:pt x="102633" y="92541"/>
                </a:lnTo>
                <a:cubicBezTo>
                  <a:pt x="105430" y="95339"/>
                  <a:pt x="105430" y="99864"/>
                  <a:pt x="102633" y="102633"/>
                </a:cubicBezTo>
                <a:cubicBezTo>
                  <a:pt x="99833" y="105400"/>
                  <a:pt x="95310" y="105430"/>
                  <a:pt x="92541" y="102633"/>
                </a:cubicBezTo>
                <a:lnTo>
                  <a:pt x="76170" y="86261"/>
                </a:lnTo>
                <a:lnTo>
                  <a:pt x="59799" y="102633"/>
                </a:lnTo>
                <a:cubicBezTo>
                  <a:pt x="57001" y="105430"/>
                  <a:pt x="52476" y="105430"/>
                  <a:pt x="49709" y="102633"/>
                </a:cubicBezTo>
                <a:cubicBezTo>
                  <a:pt x="46940" y="99833"/>
                  <a:pt x="46911" y="95310"/>
                  <a:pt x="49709" y="92541"/>
                </a:cubicBezTo>
                <a:lnTo>
                  <a:pt x="66079" y="76170"/>
                </a:lnTo>
                <a:lnTo>
                  <a:pt x="49709" y="59799"/>
                </a:lnTo>
                <a:cubicBezTo>
                  <a:pt x="46911" y="57001"/>
                  <a:pt x="46911" y="52476"/>
                  <a:pt x="49709" y="49709"/>
                </a:cubicBezTo>
                <a:close/>
              </a:path>
            </a:pathLst>
          </a:custGeom>
          <a:solidFill>
            <a:srgbClr val="666666">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custDataLst>
              <p:tags r:id="rId9"/>
            </p:custDataLst>
          </p:nvPr>
        </p:nvSpPr>
        <p:spPr>
          <a:xfrm>
            <a:off x="819069" y="3586349"/>
            <a:ext cx="493395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Too academic</a:t>
            </a:r>
            <a:endParaRPr lang="en-US" sz="1100"/>
          </a:p>
        </p:txBody>
      </p:sp>
      <p:sp>
        <p:nvSpPr>
          <p:cNvPr id="12" name="Freeform 12"/>
          <p:cNvSpPr/>
          <p:nvPr>
            <p:custDataLst>
              <p:tags r:id="rId10"/>
            </p:custDataLst>
          </p:nvPr>
        </p:nvSpPr>
        <p:spPr>
          <a:xfrm>
            <a:off x="6265664" y="1775797"/>
            <a:ext cx="5530560" cy="2358735"/>
          </a:xfrm>
          <a:custGeom>
            <a:avLst/>
            <a:gdLst/>
            <a:ahLst/>
            <a:cxnLst/>
            <a:rect l="l" t="t" r="r" b="b"/>
            <a:pathLst>
              <a:path w="5530560" h="2358735">
                <a:moveTo>
                  <a:pt x="152397" y="0"/>
                </a:moveTo>
                <a:lnTo>
                  <a:pt x="5378163" y="0"/>
                </a:lnTo>
                <a:cubicBezTo>
                  <a:pt x="5462330" y="0"/>
                  <a:pt x="5530560" y="68231"/>
                  <a:pt x="5530560" y="152397"/>
                </a:cubicBezTo>
                <a:lnTo>
                  <a:pt x="5530560" y="2206338"/>
                </a:lnTo>
                <a:cubicBezTo>
                  <a:pt x="5530560" y="2290505"/>
                  <a:pt x="5462330" y="2358735"/>
                  <a:pt x="5378163" y="2358735"/>
                </a:cubicBezTo>
                <a:lnTo>
                  <a:pt x="152397" y="2358735"/>
                </a:lnTo>
                <a:cubicBezTo>
                  <a:pt x="68231" y="2358735"/>
                  <a:pt x="0" y="2290505"/>
                  <a:pt x="0" y="2206338"/>
                </a:cubicBezTo>
                <a:lnTo>
                  <a:pt x="0" y="152397"/>
                </a:lnTo>
                <a:cubicBezTo>
                  <a:pt x="0" y="68287"/>
                  <a:pt x="68287" y="0"/>
                  <a:pt x="152397" y="0"/>
                </a:cubicBezTo>
                <a:close/>
              </a:path>
            </a:pathLst>
          </a:custGeom>
          <a:solidFill>
            <a:srgbClr val="FFFFFF">
              <a:alpha val="100000"/>
            </a:srgbClr>
          </a:solidFill>
          <a:ln w="38100">
            <a:solidFill>
              <a:srgbClr val="5B92E5">
                <a:alpha val="100000"/>
              </a:srgbClr>
            </a:solidFill>
            <a:prstDash val="solid"/>
          </a:ln>
        </p:spPr>
        <p:txBody>
          <a:bodyPr wrap="square" lIns="91440" tIns="45720" rIns="91440" bIns="45720" rtlCol="0" anchor="t">
            <a:noAutofit/>
          </a:bodyPr>
          <a:lstStyle/>
          <a:p>
            <a:pPr algn="ctr">
              <a:defRPr/>
            </a:pPr>
          </a:p>
        </p:txBody>
      </p:sp>
      <p:sp>
        <p:nvSpPr>
          <p:cNvPr id="13" name="Freeform 13"/>
          <p:cNvSpPr/>
          <p:nvPr>
            <p:custDataLst>
              <p:tags r:id="rId11"/>
            </p:custDataLst>
          </p:nvPr>
        </p:nvSpPr>
        <p:spPr>
          <a:xfrm>
            <a:off x="6511501" y="2026276"/>
            <a:ext cx="285750" cy="228600"/>
          </a:xfrm>
          <a:custGeom>
            <a:avLst/>
            <a:gdLst/>
            <a:ahLst/>
            <a:cxnLst/>
            <a:rect l="l" t="t" r="r" b="b"/>
            <a:pathLst>
              <a:path w="285750" h="228600">
                <a:moveTo>
                  <a:pt x="157163" y="14288"/>
                </a:moveTo>
                <a:cubicBezTo>
                  <a:pt x="157163" y="6385"/>
                  <a:pt x="150778" y="0"/>
                  <a:pt x="142875" y="0"/>
                </a:cubicBezTo>
                <a:cubicBezTo>
                  <a:pt x="134972" y="0"/>
                  <a:pt x="128587" y="6385"/>
                  <a:pt x="128587" y="14288"/>
                </a:cubicBezTo>
                <a:lnTo>
                  <a:pt x="128587" y="42863"/>
                </a:lnTo>
                <a:lnTo>
                  <a:pt x="85725" y="42863"/>
                </a:lnTo>
                <a:cubicBezTo>
                  <a:pt x="62061" y="42863"/>
                  <a:pt x="42863" y="62062"/>
                  <a:pt x="42863" y="85726"/>
                </a:cubicBezTo>
                <a:lnTo>
                  <a:pt x="42863" y="185738"/>
                </a:lnTo>
                <a:cubicBezTo>
                  <a:pt x="42863" y="209402"/>
                  <a:pt x="62061" y="228600"/>
                  <a:pt x="85725" y="228600"/>
                </a:cubicBezTo>
                <a:lnTo>
                  <a:pt x="200025" y="228600"/>
                </a:lnTo>
                <a:cubicBezTo>
                  <a:pt x="223689" y="228600"/>
                  <a:pt x="242887" y="209402"/>
                  <a:pt x="242887" y="185738"/>
                </a:cubicBezTo>
                <a:lnTo>
                  <a:pt x="242887" y="85726"/>
                </a:lnTo>
                <a:cubicBezTo>
                  <a:pt x="242887" y="62062"/>
                  <a:pt x="223689" y="42863"/>
                  <a:pt x="200025" y="42863"/>
                </a:cubicBezTo>
                <a:lnTo>
                  <a:pt x="157163" y="42863"/>
                </a:lnTo>
                <a:lnTo>
                  <a:pt x="157163" y="14288"/>
                </a:lnTo>
                <a:close/>
                <a:moveTo>
                  <a:pt x="71437" y="178594"/>
                </a:moveTo>
                <a:cubicBezTo>
                  <a:pt x="71437" y="172656"/>
                  <a:pt x="76215" y="167879"/>
                  <a:pt x="82152" y="167879"/>
                </a:cubicBezTo>
                <a:lnTo>
                  <a:pt x="96441" y="167879"/>
                </a:lnTo>
                <a:cubicBezTo>
                  <a:pt x="102379" y="167879"/>
                  <a:pt x="107156" y="172656"/>
                  <a:pt x="107156" y="178594"/>
                </a:cubicBezTo>
                <a:cubicBezTo>
                  <a:pt x="107156" y="184532"/>
                  <a:pt x="102379" y="189311"/>
                  <a:pt x="96441" y="189311"/>
                </a:cubicBezTo>
                <a:lnTo>
                  <a:pt x="82152" y="189311"/>
                </a:lnTo>
                <a:cubicBezTo>
                  <a:pt x="76215" y="189311"/>
                  <a:pt x="71437" y="184532"/>
                  <a:pt x="71437" y="178594"/>
                </a:cubicBezTo>
                <a:close/>
                <a:moveTo>
                  <a:pt x="125016" y="178594"/>
                </a:moveTo>
                <a:cubicBezTo>
                  <a:pt x="125016" y="172656"/>
                  <a:pt x="129793" y="167879"/>
                  <a:pt x="135731" y="167879"/>
                </a:cubicBezTo>
                <a:lnTo>
                  <a:pt x="150019" y="167879"/>
                </a:lnTo>
                <a:cubicBezTo>
                  <a:pt x="155957" y="167879"/>
                  <a:pt x="160734" y="172656"/>
                  <a:pt x="160734" y="178594"/>
                </a:cubicBezTo>
                <a:cubicBezTo>
                  <a:pt x="160734" y="184532"/>
                  <a:pt x="155957" y="189311"/>
                  <a:pt x="150019" y="189311"/>
                </a:cubicBezTo>
                <a:lnTo>
                  <a:pt x="135731" y="189311"/>
                </a:lnTo>
                <a:cubicBezTo>
                  <a:pt x="129793" y="189311"/>
                  <a:pt x="125016" y="184532"/>
                  <a:pt x="125016" y="178594"/>
                </a:cubicBezTo>
                <a:close/>
                <a:moveTo>
                  <a:pt x="178594" y="178594"/>
                </a:moveTo>
                <a:cubicBezTo>
                  <a:pt x="178594" y="172656"/>
                  <a:pt x="183371" y="167879"/>
                  <a:pt x="189309" y="167879"/>
                </a:cubicBezTo>
                <a:lnTo>
                  <a:pt x="203598" y="167879"/>
                </a:lnTo>
                <a:cubicBezTo>
                  <a:pt x="209535" y="167879"/>
                  <a:pt x="214313" y="172656"/>
                  <a:pt x="214313" y="178594"/>
                </a:cubicBezTo>
                <a:cubicBezTo>
                  <a:pt x="214313" y="184532"/>
                  <a:pt x="209535" y="189311"/>
                  <a:pt x="203598" y="189311"/>
                </a:cubicBezTo>
                <a:lnTo>
                  <a:pt x="189309" y="189311"/>
                </a:lnTo>
                <a:cubicBezTo>
                  <a:pt x="183371" y="189311"/>
                  <a:pt x="178594" y="184532"/>
                  <a:pt x="178594" y="178594"/>
                </a:cubicBezTo>
                <a:close/>
                <a:moveTo>
                  <a:pt x="100013" y="92869"/>
                </a:moveTo>
                <a:cubicBezTo>
                  <a:pt x="111841" y="92869"/>
                  <a:pt x="121444" y="102472"/>
                  <a:pt x="121444" y="114300"/>
                </a:cubicBezTo>
                <a:cubicBezTo>
                  <a:pt x="121444" y="126129"/>
                  <a:pt x="111841" y="135732"/>
                  <a:pt x="100013" y="135732"/>
                </a:cubicBezTo>
                <a:cubicBezTo>
                  <a:pt x="88184" y="135732"/>
                  <a:pt x="78581" y="126129"/>
                  <a:pt x="78581" y="114300"/>
                </a:cubicBezTo>
                <a:cubicBezTo>
                  <a:pt x="78581" y="102472"/>
                  <a:pt x="88184" y="92869"/>
                  <a:pt x="100013" y="92869"/>
                </a:cubicBezTo>
                <a:close/>
                <a:moveTo>
                  <a:pt x="164306" y="114300"/>
                </a:moveTo>
                <a:cubicBezTo>
                  <a:pt x="164306" y="102472"/>
                  <a:pt x="173909" y="92869"/>
                  <a:pt x="185737" y="92869"/>
                </a:cubicBezTo>
                <a:cubicBezTo>
                  <a:pt x="197566" y="92869"/>
                  <a:pt x="207169" y="102472"/>
                  <a:pt x="207169" y="114300"/>
                </a:cubicBezTo>
                <a:cubicBezTo>
                  <a:pt x="207169" y="126129"/>
                  <a:pt x="197566" y="135732"/>
                  <a:pt x="185737" y="135732"/>
                </a:cubicBezTo>
                <a:cubicBezTo>
                  <a:pt x="173909" y="135732"/>
                  <a:pt x="164306" y="126129"/>
                  <a:pt x="164306" y="114300"/>
                </a:cubicBezTo>
                <a:close/>
                <a:moveTo>
                  <a:pt x="28575" y="114300"/>
                </a:moveTo>
                <a:cubicBezTo>
                  <a:pt x="28575" y="106399"/>
                  <a:pt x="22189" y="100013"/>
                  <a:pt x="14287" y="100013"/>
                </a:cubicBezTo>
                <a:cubicBezTo>
                  <a:pt x="6386" y="100013"/>
                  <a:pt x="0" y="106399"/>
                  <a:pt x="0" y="114300"/>
                </a:cubicBezTo>
                <a:lnTo>
                  <a:pt x="0" y="157163"/>
                </a:lnTo>
                <a:cubicBezTo>
                  <a:pt x="0" y="165066"/>
                  <a:pt x="6386" y="171450"/>
                  <a:pt x="14287" y="171450"/>
                </a:cubicBezTo>
                <a:cubicBezTo>
                  <a:pt x="22189" y="171450"/>
                  <a:pt x="28575" y="165066"/>
                  <a:pt x="28575" y="157163"/>
                </a:cubicBezTo>
                <a:lnTo>
                  <a:pt x="28575" y="114300"/>
                </a:lnTo>
                <a:close/>
                <a:moveTo>
                  <a:pt x="271463" y="100013"/>
                </a:moveTo>
                <a:cubicBezTo>
                  <a:pt x="263561" y="100013"/>
                  <a:pt x="257175" y="106399"/>
                  <a:pt x="257175" y="114300"/>
                </a:cubicBezTo>
                <a:lnTo>
                  <a:pt x="257175" y="157163"/>
                </a:lnTo>
                <a:cubicBezTo>
                  <a:pt x="257175" y="165066"/>
                  <a:pt x="263561" y="171450"/>
                  <a:pt x="271463" y="171450"/>
                </a:cubicBezTo>
                <a:cubicBezTo>
                  <a:pt x="279364" y="171450"/>
                  <a:pt x="285750" y="165066"/>
                  <a:pt x="285750" y="157163"/>
                </a:cubicBezTo>
                <a:lnTo>
                  <a:pt x="285750" y="114300"/>
                </a:lnTo>
                <a:cubicBezTo>
                  <a:pt x="285750" y="106399"/>
                  <a:pt x="279364" y="100013"/>
                  <a:pt x="271463" y="100013"/>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custDataLst>
              <p:tags r:id="rId12"/>
            </p:custDataLst>
          </p:nvPr>
        </p:nvSpPr>
        <p:spPr>
          <a:xfrm>
            <a:off x="6911340" y="2021840"/>
            <a:ext cx="151892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After Fine-Tuning</a:t>
            </a:r>
            <a:endParaRPr lang="en-US" sz="1100"/>
          </a:p>
        </p:txBody>
      </p:sp>
      <p:sp>
        <p:nvSpPr>
          <p:cNvPr id="15" name="Freeform 15"/>
          <p:cNvSpPr/>
          <p:nvPr>
            <p:custDataLst>
              <p:tags r:id="rId13"/>
            </p:custDataLst>
          </p:nvPr>
        </p:nvSpPr>
        <p:spPr>
          <a:xfrm>
            <a:off x="6511501" y="2440651"/>
            <a:ext cx="5038725" cy="457200"/>
          </a:xfrm>
          <a:custGeom>
            <a:avLst/>
            <a:gdLst/>
            <a:ahLst/>
            <a:cxnLst/>
            <a:rect l="l" t="t" r="r" b="b"/>
            <a:pathLst>
              <a:path w="5038725" h="457200">
                <a:moveTo>
                  <a:pt x="76203" y="0"/>
                </a:moveTo>
                <a:lnTo>
                  <a:pt x="4962522" y="0"/>
                </a:lnTo>
                <a:cubicBezTo>
                  <a:pt x="5004608" y="0"/>
                  <a:pt x="5038725" y="34117"/>
                  <a:pt x="5038725" y="76203"/>
                </a:cubicBezTo>
                <a:lnTo>
                  <a:pt x="5038725" y="380997"/>
                </a:lnTo>
                <a:cubicBezTo>
                  <a:pt x="5038725" y="423083"/>
                  <a:pt x="5004608" y="457200"/>
                  <a:pt x="4962522" y="457200"/>
                </a:cubicBezTo>
                <a:lnTo>
                  <a:pt x="76203" y="457200"/>
                </a:lnTo>
                <a:cubicBezTo>
                  <a:pt x="34145" y="457200"/>
                  <a:pt x="0" y="423055"/>
                  <a:pt x="0" y="380997"/>
                </a:cubicBezTo>
                <a:lnTo>
                  <a:pt x="0" y="76203"/>
                </a:lnTo>
                <a:cubicBezTo>
                  <a:pt x="0" y="34145"/>
                  <a:pt x="34145" y="0"/>
                  <a:pt x="76203"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custDataLst>
              <p:tags r:id="rId14"/>
            </p:custDataLst>
          </p:nvPr>
        </p:nvSpPr>
        <p:spPr>
          <a:xfrm>
            <a:off x="6625693" y="2554839"/>
            <a:ext cx="48863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User: Hello</a:t>
            </a:r>
            <a:endParaRPr lang="en-US" sz="1100"/>
          </a:p>
        </p:txBody>
      </p:sp>
      <p:sp>
        <p:nvSpPr>
          <p:cNvPr id="17" name="Freeform 17"/>
          <p:cNvSpPr/>
          <p:nvPr>
            <p:custDataLst>
              <p:tags r:id="rId15"/>
            </p:custDataLst>
          </p:nvPr>
        </p:nvSpPr>
        <p:spPr>
          <a:xfrm>
            <a:off x="6520160" y="3020401"/>
            <a:ext cx="5017943" cy="474518"/>
          </a:xfrm>
          <a:custGeom>
            <a:avLst/>
            <a:gdLst/>
            <a:ahLst/>
            <a:cxnLst/>
            <a:rect l="l" t="t" r="r" b="b"/>
            <a:pathLst>
              <a:path w="5017943" h="474518">
                <a:moveTo>
                  <a:pt x="76197" y="0"/>
                </a:moveTo>
                <a:lnTo>
                  <a:pt x="4941745" y="0"/>
                </a:lnTo>
                <a:cubicBezTo>
                  <a:pt x="4983828" y="0"/>
                  <a:pt x="5017943" y="34115"/>
                  <a:pt x="5017943" y="76197"/>
                </a:cubicBezTo>
                <a:lnTo>
                  <a:pt x="5017943" y="398320"/>
                </a:lnTo>
                <a:cubicBezTo>
                  <a:pt x="5017943" y="440403"/>
                  <a:pt x="4983828" y="474518"/>
                  <a:pt x="4941745" y="474518"/>
                </a:cubicBezTo>
                <a:lnTo>
                  <a:pt x="76197" y="474518"/>
                </a:lnTo>
                <a:cubicBezTo>
                  <a:pt x="34115" y="474518"/>
                  <a:pt x="0" y="440403"/>
                  <a:pt x="0" y="398320"/>
                </a:cubicBezTo>
                <a:lnTo>
                  <a:pt x="0" y="76197"/>
                </a:lnTo>
                <a:cubicBezTo>
                  <a:pt x="0" y="34115"/>
                  <a:pt x="34115" y="0"/>
                  <a:pt x="76197" y="0"/>
                </a:cubicBezTo>
                <a:close/>
              </a:path>
            </a:pathLst>
          </a:custGeom>
          <a:solidFill>
            <a:srgbClr val="00CED1">
              <a:alpha val="100000"/>
            </a:srgbClr>
          </a:solidFill>
          <a:ln w="12700">
            <a:solidFill>
              <a:srgbClr val="00CED1">
                <a:alpha val="100000"/>
              </a:srgbClr>
            </a:solidFill>
            <a:prstDash val="solid"/>
          </a:ln>
        </p:spPr>
        <p:txBody>
          <a:bodyPr wrap="square" lIns="91440" tIns="45720" rIns="91440" bIns="45720" rtlCol="0" anchor="t">
            <a:noAutofit/>
          </a:bodyPr>
          <a:lstStyle/>
          <a:p>
            <a:pPr algn="ctr">
              <a:defRPr/>
            </a:pPr>
          </a:p>
        </p:txBody>
      </p:sp>
      <p:sp>
        <p:nvSpPr>
          <p:cNvPr id="18" name="AutoShape 18"/>
          <p:cNvSpPr/>
          <p:nvPr>
            <p:custDataLst>
              <p:tags r:id="rId16"/>
            </p:custDataLst>
          </p:nvPr>
        </p:nvSpPr>
        <p:spPr>
          <a:xfrm>
            <a:off x="6643011" y="3143250"/>
            <a:ext cx="48482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AI: Hello! Nice to meet you. How can I help you? 😊</a:t>
            </a:r>
            <a:endParaRPr lang="en-US" sz="1100"/>
          </a:p>
        </p:txBody>
      </p:sp>
      <p:sp>
        <p:nvSpPr>
          <p:cNvPr id="19" name="Freeform 19"/>
          <p:cNvSpPr/>
          <p:nvPr>
            <p:custDataLst>
              <p:tags r:id="rId17"/>
            </p:custDataLst>
          </p:nvPr>
        </p:nvSpPr>
        <p:spPr>
          <a:xfrm>
            <a:off x="8534319" y="3681599"/>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09" y="101411"/>
                </a:lnTo>
                <a:cubicBezTo>
                  <a:pt x="76260" y="103406"/>
                  <a:pt x="74116" y="104656"/>
                  <a:pt x="71765" y="104775"/>
                </a:cubicBezTo>
                <a:cubicBezTo>
                  <a:pt x="69413" y="104894"/>
                  <a:pt x="67151" y="103823"/>
                  <a:pt x="65752" y="101917"/>
                </a:cubicBezTo>
                <a:lnTo>
                  <a:pt x="51465" y="82867"/>
                </a:lnTo>
                <a:cubicBezTo>
                  <a:pt x="49084" y="79712"/>
                  <a:pt x="49738" y="75247"/>
                  <a:pt x="52894" y="72866"/>
                </a:cubicBezTo>
                <a:cubicBezTo>
                  <a:pt x="56049" y="70485"/>
                  <a:pt x="60514" y="71140"/>
                  <a:pt x="62895" y="74295"/>
                </a:cubicBezTo>
                <a:lnTo>
                  <a:pt x="70931" y="85011"/>
                </a:lnTo>
                <a:lnTo>
                  <a:pt x="89209" y="55750"/>
                </a:lnTo>
                <a:cubicBezTo>
                  <a:pt x="91291" y="52417"/>
                  <a:pt x="95696" y="51375"/>
                  <a:pt x="99060" y="53489"/>
                </a:cubicBezTo>
                <a:cubicBezTo>
                  <a:pt x="102424" y="55602"/>
                  <a:pt x="103436" y="59978"/>
                  <a:pt x="101322" y="63341"/>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custDataLst>
              <p:tags r:id="rId18"/>
            </p:custDataLst>
          </p:nvPr>
        </p:nvSpPr>
        <p:spPr>
          <a:xfrm>
            <a:off x="6721051" y="3655628"/>
            <a:ext cx="4867275"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Friendly and natural</a:t>
            </a:r>
            <a:endParaRPr lang="en-US" sz="1100"/>
          </a:p>
        </p:txBody>
      </p:sp>
      <p:sp>
        <p:nvSpPr>
          <p:cNvPr id="21" name="Freeform 21"/>
          <p:cNvSpPr/>
          <p:nvPr/>
        </p:nvSpPr>
        <p:spPr>
          <a:xfrm>
            <a:off x="381000" y="4375826"/>
            <a:ext cx="11430000" cy="647700"/>
          </a:xfrm>
          <a:custGeom>
            <a:avLst/>
            <a:gdLst/>
            <a:ahLst/>
            <a:cxnLst/>
            <a:rect l="l" t="t" r="r" b="b"/>
            <a:pathLst>
              <a:path w="11430000" h="647700">
                <a:moveTo>
                  <a:pt x="114300" y="0"/>
                </a:moveTo>
                <a:lnTo>
                  <a:pt x="11315700" y="0"/>
                </a:lnTo>
                <a:cubicBezTo>
                  <a:pt x="11378827" y="0"/>
                  <a:pt x="11430000" y="51173"/>
                  <a:pt x="11430000" y="114300"/>
                </a:cubicBezTo>
                <a:lnTo>
                  <a:pt x="11430000" y="533400"/>
                </a:lnTo>
                <a:cubicBezTo>
                  <a:pt x="11430000" y="596527"/>
                  <a:pt x="11378827" y="647700"/>
                  <a:pt x="11315700" y="647700"/>
                </a:cubicBezTo>
                <a:lnTo>
                  <a:pt x="114300" y="647700"/>
                </a:lnTo>
                <a:cubicBezTo>
                  <a:pt x="51217" y="647700"/>
                  <a:pt x="0" y="596483"/>
                  <a:pt x="0" y="533400"/>
                </a:cubicBezTo>
                <a:lnTo>
                  <a:pt x="0" y="114300"/>
                </a:lnTo>
                <a:cubicBezTo>
                  <a:pt x="0" y="51217"/>
                  <a:pt x="51217" y="0"/>
                  <a:pt x="114300" y="0"/>
                </a:cubicBezTo>
                <a:close/>
              </a:path>
            </a:pathLst>
          </a:custGeom>
          <a:no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528637" y="4566326"/>
            <a:ext cx="111347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8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Use high-quality </a:t>
            </a:r>
            <a:r>
              <a:rPr lang="en-US" sz="885"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instruction-response </a:t>
            </a:r>
            <a:r>
              <a:rPr lang="en-US" sz="88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pairs to train the model to respond in ways that meet human expectations</a:t>
            </a:r>
            <a:endParaRPr lang="en-US" sz="1100"/>
          </a:p>
        </p:txBody>
      </p:sp>
      <p:sp>
        <p:nvSpPr>
          <p:cNvPr id="23" name="Freeform 23"/>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24" name="AutoShape 24"/>
          <p:cNvSpPr/>
          <p:nvPr/>
        </p:nvSpPr>
        <p:spPr>
          <a:xfrm>
            <a:off x="609519" y="5962594"/>
            <a:ext cx="80994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5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85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SFT (Supervised Fine-Tuning)</a:t>
            </a:r>
            <a:r>
              <a:rPr lang="en-US" sz="85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Fine-tune the model using labeled instruction-response data pairs to align it with human intentions</a:t>
            </a:r>
            <a:endParaRPr lang="en-US" sz="1100"/>
          </a:p>
        </p:txBody>
      </p:sp>
    </p:spTree>
  </p:cSld>
  <p:clrMapOvr>
    <a:masterClrMapping/>
  </p:clrMapOvr>
  <p:transition spd="slow">
    <p:fade/>
  </p:transition>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615" b="0" i="0" u="none" strike="noStrike">
                <a:solidFill>
                  <a:srgbClr val="5B92E5"/>
                </a:solidFill>
                <a:latin typeface="Alimama ShuHeiTi"/>
                <a:ea typeface="Alimama ShuHeiTi"/>
                <a:cs typeface="Alimama ShuHeiTi"/>
                <a:sym typeface="Alimama ShuHeiTi"/>
              </a:rPr>
              <a:t>Step 6 RLHF</a:t>
            </a:r>
            <a:endParaRPr lang="en-US" sz="1100"/>
          </a:p>
        </p:txBody>
      </p:sp>
      <p:sp>
        <p:nvSpPr>
          <p:cNvPr id="3" name="Freeform 3"/>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09519" y="5962594"/>
            <a:ext cx="8832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6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86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RLHF (Reinforcement Learning from Human Feedback)</a:t>
            </a:r>
            <a:r>
              <a:rPr lang="en-US" sz="86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Reinforcement learning based on human feedback, used to align with human preferences</a:t>
            </a:r>
            <a:endParaRPr lang="en-US" sz="1100"/>
          </a:p>
        </p:txBody>
      </p:sp>
      <p:sp>
        <p:nvSpPr>
          <p:cNvPr id="5" name="Freeform 5"/>
          <p:cNvSpPr/>
          <p:nvPr/>
        </p:nvSpPr>
        <p:spPr>
          <a:xfrm>
            <a:off x="3444294" y="1523926"/>
            <a:ext cx="340355" cy="340222"/>
          </a:xfrm>
          <a:custGeom>
            <a:avLst/>
            <a:gdLst/>
            <a:ahLst/>
            <a:cxnLst/>
            <a:rect l="l" t="t" r="r" b="b"/>
            <a:pathLst>
              <a:path w="340355" h="340222">
                <a:moveTo>
                  <a:pt x="247531" y="18150"/>
                </a:moveTo>
                <a:cubicBezTo>
                  <a:pt x="257577" y="6629"/>
                  <a:pt x="272111" y="0"/>
                  <a:pt x="287447" y="0"/>
                </a:cubicBezTo>
                <a:cubicBezTo>
                  <a:pt x="316647" y="0"/>
                  <a:pt x="340355" y="23708"/>
                  <a:pt x="340355" y="52908"/>
                </a:cubicBezTo>
                <a:cubicBezTo>
                  <a:pt x="340355" y="68177"/>
                  <a:pt x="333725" y="82779"/>
                  <a:pt x="322204" y="92824"/>
                </a:cubicBezTo>
                <a:lnTo>
                  <a:pt x="187389" y="210160"/>
                </a:lnTo>
                <a:lnTo>
                  <a:pt x="180224" y="202927"/>
                </a:lnTo>
                <a:lnTo>
                  <a:pt x="137361" y="160064"/>
                </a:lnTo>
                <a:lnTo>
                  <a:pt x="130128" y="152899"/>
                </a:lnTo>
                <a:lnTo>
                  <a:pt x="247531" y="18150"/>
                </a:lnTo>
                <a:close/>
                <a:moveTo>
                  <a:pt x="105281" y="173459"/>
                </a:moveTo>
                <a:cubicBezTo>
                  <a:pt x="105884" y="174128"/>
                  <a:pt x="123297" y="191541"/>
                  <a:pt x="157452" y="225698"/>
                </a:cubicBezTo>
                <a:lnTo>
                  <a:pt x="166762" y="235007"/>
                </a:lnTo>
                <a:lnTo>
                  <a:pt x="155310" y="284701"/>
                </a:lnTo>
                <a:cubicBezTo>
                  <a:pt x="152698" y="296153"/>
                  <a:pt x="143990" y="305261"/>
                  <a:pt x="132673" y="308409"/>
                </a:cubicBezTo>
                <a:lnTo>
                  <a:pt x="18953" y="340222"/>
                </a:lnTo>
                <a:lnTo>
                  <a:pt x="80769" y="278406"/>
                </a:lnTo>
                <a:cubicBezTo>
                  <a:pt x="81572" y="278472"/>
                  <a:pt x="82309" y="278539"/>
                  <a:pt x="83113" y="278539"/>
                </a:cubicBezTo>
                <a:cubicBezTo>
                  <a:pt x="94967" y="278539"/>
                  <a:pt x="104544" y="268962"/>
                  <a:pt x="104544" y="257108"/>
                </a:cubicBezTo>
                <a:cubicBezTo>
                  <a:pt x="104544" y="245254"/>
                  <a:pt x="94967" y="235676"/>
                  <a:pt x="83113" y="235676"/>
                </a:cubicBezTo>
                <a:cubicBezTo>
                  <a:pt x="71259" y="235676"/>
                  <a:pt x="61682" y="245254"/>
                  <a:pt x="61682" y="257108"/>
                </a:cubicBezTo>
                <a:cubicBezTo>
                  <a:pt x="61682" y="257912"/>
                  <a:pt x="61749" y="258716"/>
                  <a:pt x="61816" y="259452"/>
                </a:cubicBezTo>
                <a:lnTo>
                  <a:pt x="0" y="321335"/>
                </a:lnTo>
                <a:lnTo>
                  <a:pt x="31879" y="207615"/>
                </a:lnTo>
                <a:cubicBezTo>
                  <a:pt x="35027" y="196298"/>
                  <a:pt x="44135" y="187590"/>
                  <a:pt x="55587" y="184978"/>
                </a:cubicBezTo>
                <a:lnTo>
                  <a:pt x="105281" y="173459"/>
                </a:lnTo>
                <a:close/>
              </a:path>
            </a:pathLst>
          </a:custGeom>
          <a:solidFill>
            <a:srgbClr val="666666">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2274833" y="1981126"/>
            <a:ext cx="2676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8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Write a poem about spring</a:t>
            </a:r>
            <a:endParaRPr lang="en-US" sz="1100"/>
          </a:p>
        </p:txBody>
      </p:sp>
      <p:sp>
        <p:nvSpPr>
          <p:cNvPr id="7" name="Freeform 7"/>
          <p:cNvSpPr/>
          <p:nvPr/>
        </p:nvSpPr>
        <p:spPr>
          <a:xfrm>
            <a:off x="2326355" y="2408847"/>
            <a:ext cx="2570018" cy="1312718"/>
          </a:xfrm>
          <a:custGeom>
            <a:avLst/>
            <a:gdLst/>
            <a:ahLst/>
            <a:cxnLst/>
            <a:rect l="l" t="t" r="r" b="b"/>
            <a:pathLst>
              <a:path w="2570018" h="1312718">
                <a:moveTo>
                  <a:pt x="76203" y="0"/>
                </a:moveTo>
                <a:lnTo>
                  <a:pt x="2493815" y="0"/>
                </a:lnTo>
                <a:cubicBezTo>
                  <a:pt x="2535900" y="0"/>
                  <a:pt x="2570018" y="34117"/>
                  <a:pt x="2570018" y="76203"/>
                </a:cubicBezTo>
                <a:lnTo>
                  <a:pt x="2570018" y="1236515"/>
                </a:lnTo>
                <a:cubicBezTo>
                  <a:pt x="2570018" y="1278600"/>
                  <a:pt x="2535900" y="1312718"/>
                  <a:pt x="2493815" y="1312718"/>
                </a:cubicBezTo>
                <a:lnTo>
                  <a:pt x="76203" y="1312718"/>
                </a:lnTo>
                <a:cubicBezTo>
                  <a:pt x="34117" y="1312718"/>
                  <a:pt x="0" y="1278600"/>
                  <a:pt x="0" y="1236515"/>
                </a:cubicBezTo>
                <a:lnTo>
                  <a:pt x="0" y="76203"/>
                </a:lnTo>
                <a:cubicBezTo>
                  <a:pt x="0" y="34146"/>
                  <a:pt x="34146" y="0"/>
                  <a:pt x="76203" y="0"/>
                </a:cubicBezTo>
                <a:close/>
              </a:path>
            </a:pathLst>
          </a:custGeom>
          <a:solidFill>
            <a:srgbClr val="FFFFFF">
              <a:alpha val="100000"/>
            </a:srgbClr>
          </a:solidFill>
          <a:ln w="12700">
            <a:solidFill>
              <a:srgbClr val="1E90FF">
                <a:alpha val="100000"/>
              </a:srgbClr>
            </a:solidFill>
            <a:prstDash val="solid"/>
          </a:ln>
        </p:spPr>
        <p:txBody>
          <a:bodyPr wrap="square" lIns="91440" tIns="45720" rIns="91440" bIns="45720" rtlCol="0" anchor="t">
            <a:noAutofit/>
          </a:bodyPr>
          <a:lstStyle/>
          <a:p>
            <a:pPr algn="ctr">
              <a:defRPr/>
            </a:pPr>
          </a:p>
        </p:txBody>
      </p:sp>
      <p:sp>
        <p:nvSpPr>
          <p:cNvPr id="8" name="AutoShape 8"/>
          <p:cNvSpPr/>
          <p:nvPr/>
        </p:nvSpPr>
        <p:spPr>
          <a:xfrm>
            <a:off x="2487360" y="2569852"/>
            <a:ext cx="2324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Poem A:</a:t>
            </a:r>
            <a:endParaRPr lang="en-US" sz="1100"/>
          </a:p>
        </p:txBody>
      </p:sp>
      <p:sp>
        <p:nvSpPr>
          <p:cNvPr id="9" name="AutoShape 9"/>
          <p:cNvSpPr/>
          <p:nvPr/>
        </p:nvSpPr>
        <p:spPr>
          <a:xfrm>
            <a:off x="2487360" y="2874652"/>
            <a:ext cx="2314575" cy="3810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"The spring breeze brushes my face, willow branches sway,</a:t>
            </a:r>
            <a:endParaRPr lang="en-US" sz="1100"/>
          </a:p>
          <a:p>
            <a:pPr indent="0" algn="l">
              <a:lnSpc>
                <a:spcPct val="117000"/>
              </a:lnSpc>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Peach blossoms in the sun fill the garden with fragrance."</a:t>
            </a:r>
            <a:endPar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0" name="Freeform 10"/>
          <p:cNvSpPr/>
          <p:nvPr/>
        </p:nvSpPr>
        <p:spPr>
          <a:xfrm>
            <a:off x="2500249" y="3379143"/>
            <a:ext cx="164722" cy="156895"/>
          </a:xfrm>
          <a:custGeom>
            <a:avLst/>
            <a:gdLst/>
            <a:ahLst/>
            <a:cxnLst/>
            <a:rect l="l" t="t" r="r" b="b"/>
            <a:pathLst>
              <a:path w="164722" h="156895">
                <a:moveTo>
                  <a:pt x="88761" y="3899"/>
                </a:moveTo>
                <a:cubicBezTo>
                  <a:pt x="87540" y="1518"/>
                  <a:pt x="85070" y="0"/>
                  <a:pt x="82391" y="0"/>
                </a:cubicBezTo>
                <a:cubicBezTo>
                  <a:pt x="79712" y="0"/>
                  <a:pt x="77242" y="1518"/>
                  <a:pt x="76021" y="3899"/>
                </a:cubicBezTo>
                <a:lnTo>
                  <a:pt x="54112" y="46821"/>
                </a:lnTo>
                <a:lnTo>
                  <a:pt x="6518" y="54381"/>
                </a:lnTo>
                <a:cubicBezTo>
                  <a:pt x="3869" y="54799"/>
                  <a:pt x="1666" y="56674"/>
                  <a:pt x="833" y="59234"/>
                </a:cubicBezTo>
                <a:cubicBezTo>
                  <a:pt x="0" y="61793"/>
                  <a:pt x="683" y="64591"/>
                  <a:pt x="2559" y="66496"/>
                </a:cubicBezTo>
                <a:lnTo>
                  <a:pt x="36611" y="100578"/>
                </a:lnTo>
                <a:lnTo>
                  <a:pt x="29110" y="148173"/>
                </a:lnTo>
                <a:cubicBezTo>
                  <a:pt x="28695" y="150821"/>
                  <a:pt x="29794" y="153501"/>
                  <a:pt x="31967" y="155078"/>
                </a:cubicBezTo>
                <a:cubicBezTo>
                  <a:pt x="34140" y="156656"/>
                  <a:pt x="36998" y="156895"/>
                  <a:pt x="39410" y="155674"/>
                </a:cubicBezTo>
                <a:lnTo>
                  <a:pt x="82391" y="133826"/>
                </a:lnTo>
                <a:lnTo>
                  <a:pt x="125343" y="155674"/>
                </a:lnTo>
                <a:cubicBezTo>
                  <a:pt x="127724" y="156895"/>
                  <a:pt x="130611" y="156656"/>
                  <a:pt x="132784" y="155078"/>
                </a:cubicBezTo>
                <a:cubicBezTo>
                  <a:pt x="134957" y="153501"/>
                  <a:pt x="136058" y="150852"/>
                  <a:pt x="135641" y="148173"/>
                </a:cubicBezTo>
                <a:lnTo>
                  <a:pt x="128111" y="100578"/>
                </a:lnTo>
                <a:lnTo>
                  <a:pt x="162163" y="66496"/>
                </a:lnTo>
                <a:cubicBezTo>
                  <a:pt x="164068" y="64591"/>
                  <a:pt x="164722" y="61793"/>
                  <a:pt x="163889" y="59234"/>
                </a:cubicBezTo>
                <a:cubicBezTo>
                  <a:pt x="163056" y="56674"/>
                  <a:pt x="160883" y="54799"/>
                  <a:pt x="158204" y="54381"/>
                </a:cubicBezTo>
                <a:lnTo>
                  <a:pt x="110638" y="46821"/>
                </a:lnTo>
                <a:lnTo>
                  <a:pt x="88761" y="3899"/>
                </a:ln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2766877" y="3379143"/>
            <a:ext cx="164722" cy="156895"/>
          </a:xfrm>
          <a:custGeom>
            <a:avLst/>
            <a:gdLst/>
            <a:ahLst/>
            <a:cxnLst/>
            <a:rect l="l" t="t" r="r" b="b"/>
            <a:pathLst>
              <a:path w="164722" h="156895">
                <a:moveTo>
                  <a:pt x="88761" y="3899"/>
                </a:moveTo>
                <a:cubicBezTo>
                  <a:pt x="87540" y="1518"/>
                  <a:pt x="85070" y="0"/>
                  <a:pt x="82391" y="0"/>
                </a:cubicBezTo>
                <a:cubicBezTo>
                  <a:pt x="79712" y="0"/>
                  <a:pt x="77242" y="1518"/>
                  <a:pt x="76021" y="3899"/>
                </a:cubicBezTo>
                <a:lnTo>
                  <a:pt x="54112" y="46821"/>
                </a:lnTo>
                <a:lnTo>
                  <a:pt x="6518" y="54381"/>
                </a:lnTo>
                <a:cubicBezTo>
                  <a:pt x="3869" y="54799"/>
                  <a:pt x="1666" y="56674"/>
                  <a:pt x="833" y="59234"/>
                </a:cubicBezTo>
                <a:cubicBezTo>
                  <a:pt x="0" y="61793"/>
                  <a:pt x="683" y="64591"/>
                  <a:pt x="2559" y="66496"/>
                </a:cubicBezTo>
                <a:lnTo>
                  <a:pt x="36611" y="100578"/>
                </a:lnTo>
                <a:lnTo>
                  <a:pt x="29110" y="148173"/>
                </a:lnTo>
                <a:cubicBezTo>
                  <a:pt x="28695" y="150821"/>
                  <a:pt x="29794" y="153501"/>
                  <a:pt x="31967" y="155078"/>
                </a:cubicBezTo>
                <a:cubicBezTo>
                  <a:pt x="34140" y="156656"/>
                  <a:pt x="36998" y="156895"/>
                  <a:pt x="39410" y="155674"/>
                </a:cubicBezTo>
                <a:lnTo>
                  <a:pt x="82391" y="133826"/>
                </a:lnTo>
                <a:lnTo>
                  <a:pt x="125343" y="155674"/>
                </a:lnTo>
                <a:cubicBezTo>
                  <a:pt x="127724" y="156895"/>
                  <a:pt x="130611" y="156656"/>
                  <a:pt x="132784" y="155078"/>
                </a:cubicBezTo>
                <a:cubicBezTo>
                  <a:pt x="134957" y="153501"/>
                  <a:pt x="136058" y="150852"/>
                  <a:pt x="135641" y="148173"/>
                </a:cubicBezTo>
                <a:lnTo>
                  <a:pt x="128111" y="100578"/>
                </a:lnTo>
                <a:lnTo>
                  <a:pt x="162163" y="66496"/>
                </a:lnTo>
                <a:cubicBezTo>
                  <a:pt x="164068" y="64591"/>
                  <a:pt x="164722" y="61793"/>
                  <a:pt x="163889" y="59234"/>
                </a:cubicBezTo>
                <a:cubicBezTo>
                  <a:pt x="163056" y="56674"/>
                  <a:pt x="160883" y="54799"/>
                  <a:pt x="158204" y="54381"/>
                </a:cubicBezTo>
                <a:lnTo>
                  <a:pt x="110638" y="46821"/>
                </a:lnTo>
                <a:lnTo>
                  <a:pt x="88761" y="3899"/>
                </a:ln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3033505" y="3379143"/>
            <a:ext cx="164722" cy="156895"/>
          </a:xfrm>
          <a:custGeom>
            <a:avLst/>
            <a:gdLst/>
            <a:ahLst/>
            <a:cxnLst/>
            <a:rect l="l" t="t" r="r" b="b"/>
            <a:pathLst>
              <a:path w="164722" h="156895">
                <a:moveTo>
                  <a:pt x="88761" y="3899"/>
                </a:moveTo>
                <a:cubicBezTo>
                  <a:pt x="87540" y="1518"/>
                  <a:pt x="85070" y="0"/>
                  <a:pt x="82391" y="0"/>
                </a:cubicBezTo>
                <a:cubicBezTo>
                  <a:pt x="79712" y="0"/>
                  <a:pt x="77242" y="1518"/>
                  <a:pt x="76021" y="3899"/>
                </a:cubicBezTo>
                <a:lnTo>
                  <a:pt x="54112" y="46821"/>
                </a:lnTo>
                <a:lnTo>
                  <a:pt x="6518" y="54381"/>
                </a:lnTo>
                <a:cubicBezTo>
                  <a:pt x="3869" y="54799"/>
                  <a:pt x="1666" y="56674"/>
                  <a:pt x="833" y="59234"/>
                </a:cubicBezTo>
                <a:cubicBezTo>
                  <a:pt x="0" y="61793"/>
                  <a:pt x="683" y="64591"/>
                  <a:pt x="2559" y="66496"/>
                </a:cubicBezTo>
                <a:lnTo>
                  <a:pt x="36611" y="100578"/>
                </a:lnTo>
                <a:lnTo>
                  <a:pt x="29110" y="148173"/>
                </a:lnTo>
                <a:cubicBezTo>
                  <a:pt x="28695" y="150821"/>
                  <a:pt x="29794" y="153501"/>
                  <a:pt x="31967" y="155078"/>
                </a:cubicBezTo>
                <a:cubicBezTo>
                  <a:pt x="34140" y="156656"/>
                  <a:pt x="36998" y="156895"/>
                  <a:pt x="39410" y="155674"/>
                </a:cubicBezTo>
                <a:lnTo>
                  <a:pt x="82391" y="133826"/>
                </a:lnTo>
                <a:lnTo>
                  <a:pt x="125343" y="155674"/>
                </a:lnTo>
                <a:cubicBezTo>
                  <a:pt x="127724" y="156895"/>
                  <a:pt x="130611" y="156656"/>
                  <a:pt x="132784" y="155078"/>
                </a:cubicBezTo>
                <a:cubicBezTo>
                  <a:pt x="134957" y="153501"/>
                  <a:pt x="136058" y="150852"/>
                  <a:pt x="135641" y="148173"/>
                </a:cubicBezTo>
                <a:lnTo>
                  <a:pt x="128111" y="100578"/>
                </a:lnTo>
                <a:lnTo>
                  <a:pt x="162163" y="66496"/>
                </a:lnTo>
                <a:cubicBezTo>
                  <a:pt x="164068" y="64591"/>
                  <a:pt x="164722" y="61793"/>
                  <a:pt x="163889" y="59234"/>
                </a:cubicBezTo>
                <a:cubicBezTo>
                  <a:pt x="163056" y="56674"/>
                  <a:pt x="160883" y="54799"/>
                  <a:pt x="158204" y="54381"/>
                </a:cubicBezTo>
                <a:lnTo>
                  <a:pt x="110638" y="46821"/>
                </a:lnTo>
                <a:lnTo>
                  <a:pt x="88761" y="3899"/>
                </a:ln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3300132" y="3379143"/>
            <a:ext cx="164722" cy="156895"/>
          </a:xfrm>
          <a:custGeom>
            <a:avLst/>
            <a:gdLst/>
            <a:ahLst/>
            <a:cxnLst/>
            <a:rect l="l" t="t" r="r" b="b"/>
            <a:pathLst>
              <a:path w="164722" h="156895">
                <a:moveTo>
                  <a:pt x="88761" y="3899"/>
                </a:moveTo>
                <a:cubicBezTo>
                  <a:pt x="87540" y="1518"/>
                  <a:pt x="85070" y="0"/>
                  <a:pt x="82391" y="0"/>
                </a:cubicBezTo>
                <a:cubicBezTo>
                  <a:pt x="79712" y="0"/>
                  <a:pt x="77242" y="1518"/>
                  <a:pt x="76021" y="3899"/>
                </a:cubicBezTo>
                <a:lnTo>
                  <a:pt x="54112" y="46821"/>
                </a:lnTo>
                <a:lnTo>
                  <a:pt x="6518" y="54381"/>
                </a:lnTo>
                <a:cubicBezTo>
                  <a:pt x="3869" y="54799"/>
                  <a:pt x="1666" y="56674"/>
                  <a:pt x="833" y="59234"/>
                </a:cubicBezTo>
                <a:cubicBezTo>
                  <a:pt x="0" y="61793"/>
                  <a:pt x="683" y="64591"/>
                  <a:pt x="2559" y="66496"/>
                </a:cubicBezTo>
                <a:lnTo>
                  <a:pt x="36611" y="100578"/>
                </a:lnTo>
                <a:lnTo>
                  <a:pt x="29110" y="148173"/>
                </a:lnTo>
                <a:cubicBezTo>
                  <a:pt x="28695" y="150821"/>
                  <a:pt x="29794" y="153501"/>
                  <a:pt x="31967" y="155078"/>
                </a:cubicBezTo>
                <a:cubicBezTo>
                  <a:pt x="34140" y="156656"/>
                  <a:pt x="36998" y="156895"/>
                  <a:pt x="39410" y="155674"/>
                </a:cubicBezTo>
                <a:lnTo>
                  <a:pt x="82391" y="133826"/>
                </a:lnTo>
                <a:lnTo>
                  <a:pt x="125343" y="155674"/>
                </a:lnTo>
                <a:cubicBezTo>
                  <a:pt x="127724" y="156895"/>
                  <a:pt x="130611" y="156656"/>
                  <a:pt x="132784" y="155078"/>
                </a:cubicBezTo>
                <a:cubicBezTo>
                  <a:pt x="134957" y="153501"/>
                  <a:pt x="136058" y="150852"/>
                  <a:pt x="135641" y="148173"/>
                </a:cubicBezTo>
                <a:lnTo>
                  <a:pt x="128111" y="100578"/>
                </a:lnTo>
                <a:lnTo>
                  <a:pt x="162163" y="66496"/>
                </a:lnTo>
                <a:cubicBezTo>
                  <a:pt x="164068" y="64591"/>
                  <a:pt x="164722" y="61793"/>
                  <a:pt x="163889" y="59234"/>
                </a:cubicBezTo>
                <a:cubicBezTo>
                  <a:pt x="163056" y="56674"/>
                  <a:pt x="160883" y="54799"/>
                  <a:pt x="158204" y="54381"/>
                </a:cubicBezTo>
                <a:lnTo>
                  <a:pt x="110638" y="46821"/>
                </a:lnTo>
                <a:lnTo>
                  <a:pt x="88761" y="3899"/>
                </a:ln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3566760" y="3379143"/>
            <a:ext cx="164722" cy="156895"/>
          </a:xfrm>
          <a:custGeom>
            <a:avLst/>
            <a:gdLst/>
            <a:ahLst/>
            <a:cxnLst/>
            <a:rect l="l" t="t" r="r" b="b"/>
            <a:pathLst>
              <a:path w="164722" h="156895">
                <a:moveTo>
                  <a:pt x="88761" y="3899"/>
                </a:moveTo>
                <a:cubicBezTo>
                  <a:pt x="87540" y="1518"/>
                  <a:pt x="85070" y="0"/>
                  <a:pt x="82391" y="0"/>
                </a:cubicBezTo>
                <a:cubicBezTo>
                  <a:pt x="79712" y="0"/>
                  <a:pt x="77242" y="1518"/>
                  <a:pt x="76021" y="3899"/>
                </a:cubicBezTo>
                <a:lnTo>
                  <a:pt x="54112" y="46821"/>
                </a:lnTo>
                <a:lnTo>
                  <a:pt x="6518" y="54381"/>
                </a:lnTo>
                <a:cubicBezTo>
                  <a:pt x="3869" y="54799"/>
                  <a:pt x="1666" y="56674"/>
                  <a:pt x="833" y="59234"/>
                </a:cubicBezTo>
                <a:cubicBezTo>
                  <a:pt x="0" y="61793"/>
                  <a:pt x="683" y="64591"/>
                  <a:pt x="2559" y="66496"/>
                </a:cubicBezTo>
                <a:lnTo>
                  <a:pt x="36611" y="100578"/>
                </a:lnTo>
                <a:lnTo>
                  <a:pt x="29110" y="148173"/>
                </a:lnTo>
                <a:cubicBezTo>
                  <a:pt x="28695" y="150821"/>
                  <a:pt x="29794" y="153501"/>
                  <a:pt x="31967" y="155078"/>
                </a:cubicBezTo>
                <a:cubicBezTo>
                  <a:pt x="34140" y="156656"/>
                  <a:pt x="36998" y="156895"/>
                  <a:pt x="39410" y="155674"/>
                </a:cubicBezTo>
                <a:lnTo>
                  <a:pt x="82391" y="133826"/>
                </a:lnTo>
                <a:lnTo>
                  <a:pt x="125343" y="155674"/>
                </a:lnTo>
                <a:cubicBezTo>
                  <a:pt x="127724" y="156895"/>
                  <a:pt x="130611" y="156656"/>
                  <a:pt x="132784" y="155078"/>
                </a:cubicBezTo>
                <a:cubicBezTo>
                  <a:pt x="134957" y="153501"/>
                  <a:pt x="136058" y="150852"/>
                  <a:pt x="135641" y="148173"/>
                </a:cubicBezTo>
                <a:lnTo>
                  <a:pt x="128111" y="100578"/>
                </a:lnTo>
                <a:lnTo>
                  <a:pt x="162163" y="66496"/>
                </a:lnTo>
                <a:cubicBezTo>
                  <a:pt x="164068" y="64591"/>
                  <a:pt x="164722" y="61793"/>
                  <a:pt x="163889" y="59234"/>
                </a:cubicBezTo>
                <a:cubicBezTo>
                  <a:pt x="163056" y="56674"/>
                  <a:pt x="160883" y="54799"/>
                  <a:pt x="158204" y="54381"/>
                </a:cubicBezTo>
                <a:lnTo>
                  <a:pt x="110638" y="46821"/>
                </a:lnTo>
                <a:lnTo>
                  <a:pt x="88761" y="3899"/>
                </a:ln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3896627" y="3369729"/>
            <a:ext cx="3333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High score</a:t>
            </a:r>
            <a:endParaRPr lang="en-US" sz="1100"/>
          </a:p>
        </p:txBody>
      </p:sp>
      <p:sp>
        <p:nvSpPr>
          <p:cNvPr id="16" name="Freeform 16"/>
          <p:cNvSpPr/>
          <p:nvPr/>
        </p:nvSpPr>
        <p:spPr>
          <a:xfrm>
            <a:off x="2320582" y="3846968"/>
            <a:ext cx="2587048" cy="1301173"/>
          </a:xfrm>
          <a:custGeom>
            <a:avLst/>
            <a:gdLst/>
            <a:ahLst/>
            <a:cxnLst/>
            <a:rect l="l" t="t" r="r" b="b"/>
            <a:pathLst>
              <a:path w="2587048" h="1301173">
                <a:moveTo>
                  <a:pt x="76197" y="0"/>
                </a:moveTo>
                <a:lnTo>
                  <a:pt x="2510851" y="0"/>
                </a:lnTo>
                <a:cubicBezTo>
                  <a:pt x="2552932" y="0"/>
                  <a:pt x="2587048" y="34113"/>
                  <a:pt x="2587048" y="76197"/>
                </a:cubicBezTo>
                <a:lnTo>
                  <a:pt x="2587048" y="1224976"/>
                </a:lnTo>
                <a:cubicBezTo>
                  <a:pt x="2587048" y="1267057"/>
                  <a:pt x="2552932" y="1301173"/>
                  <a:pt x="2510851" y="1301173"/>
                </a:cubicBezTo>
                <a:lnTo>
                  <a:pt x="76197" y="1301173"/>
                </a:lnTo>
                <a:cubicBezTo>
                  <a:pt x="34113" y="1301173"/>
                  <a:pt x="0" y="1267057"/>
                  <a:pt x="0" y="1224976"/>
                </a:cubicBezTo>
                <a:lnTo>
                  <a:pt x="0" y="76197"/>
                </a:lnTo>
                <a:cubicBezTo>
                  <a:pt x="0" y="34143"/>
                  <a:pt x="34143" y="0"/>
                  <a:pt x="76197" y="0"/>
                </a:cubicBezTo>
                <a:close/>
              </a:path>
            </a:pathLst>
          </a:custGeom>
          <a:solidFill>
            <a:srgbClr val="FFFFFF">
              <a:alpha val="100000"/>
            </a:srgbClr>
          </a:solidFill>
          <a:ln w="12700">
            <a:solidFill>
              <a:srgbClr val="CCCCCC">
                <a:alpha val="100000"/>
              </a:srgbClr>
            </a:solidFill>
            <a:prstDash val="solid"/>
          </a:ln>
        </p:spPr>
        <p:txBody>
          <a:bodyPr wrap="square" lIns="91440" tIns="45720" rIns="91440" bIns="45720" rtlCol="0" anchor="t">
            <a:noAutofit/>
          </a:bodyPr>
          <a:lstStyle/>
          <a:p>
            <a:pPr algn="ctr">
              <a:defRPr/>
            </a:pPr>
          </a:p>
        </p:txBody>
      </p:sp>
      <p:sp>
        <p:nvSpPr>
          <p:cNvPr id="17" name="AutoShape 17"/>
          <p:cNvSpPr/>
          <p:nvPr/>
        </p:nvSpPr>
        <p:spPr>
          <a:xfrm>
            <a:off x="2475814" y="4002212"/>
            <a:ext cx="235267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Poem B:</a:t>
            </a:r>
            <a:endParaRPr lang="en-US" sz="1100"/>
          </a:p>
        </p:txBody>
      </p:sp>
      <p:sp>
        <p:nvSpPr>
          <p:cNvPr id="18" name="AutoShape 18"/>
          <p:cNvSpPr/>
          <p:nvPr/>
        </p:nvSpPr>
        <p:spPr>
          <a:xfrm>
            <a:off x="2475814" y="4307012"/>
            <a:ext cx="2343150" cy="3810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3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"Spring is here,</a:t>
            </a:r>
            <a:endParaRPr lang="en-US" sz="1100"/>
          </a:p>
          <a:p>
            <a:pPr indent="0" algn="l">
              <a:lnSpc>
                <a:spcPct val="117000"/>
              </a:lnSpc>
            </a:pPr>
            <a:r>
              <a:rPr lang="en-US" sz="73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flowers have bloomed."</a:t>
            </a:r>
            <a:endPar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9" name="Freeform 19"/>
          <p:cNvSpPr/>
          <p:nvPr/>
        </p:nvSpPr>
        <p:spPr>
          <a:xfrm>
            <a:off x="2488703" y="4811502"/>
            <a:ext cx="164722" cy="156895"/>
          </a:xfrm>
          <a:custGeom>
            <a:avLst/>
            <a:gdLst/>
            <a:ahLst/>
            <a:cxnLst/>
            <a:rect l="l" t="t" r="r" b="b"/>
            <a:pathLst>
              <a:path w="164722" h="156895">
                <a:moveTo>
                  <a:pt x="88761" y="3899"/>
                </a:moveTo>
                <a:cubicBezTo>
                  <a:pt x="87540" y="1518"/>
                  <a:pt x="85070" y="0"/>
                  <a:pt x="82391" y="0"/>
                </a:cubicBezTo>
                <a:cubicBezTo>
                  <a:pt x="79712" y="0"/>
                  <a:pt x="77242" y="1518"/>
                  <a:pt x="76021" y="3899"/>
                </a:cubicBezTo>
                <a:lnTo>
                  <a:pt x="54112" y="46821"/>
                </a:lnTo>
                <a:lnTo>
                  <a:pt x="6518" y="54381"/>
                </a:lnTo>
                <a:cubicBezTo>
                  <a:pt x="3869" y="54799"/>
                  <a:pt x="1666" y="56674"/>
                  <a:pt x="833" y="59234"/>
                </a:cubicBezTo>
                <a:cubicBezTo>
                  <a:pt x="0" y="61793"/>
                  <a:pt x="683" y="64591"/>
                  <a:pt x="2559" y="66496"/>
                </a:cubicBezTo>
                <a:lnTo>
                  <a:pt x="36611" y="100578"/>
                </a:lnTo>
                <a:lnTo>
                  <a:pt x="29110" y="148173"/>
                </a:lnTo>
                <a:cubicBezTo>
                  <a:pt x="28695" y="150821"/>
                  <a:pt x="29794" y="153501"/>
                  <a:pt x="31967" y="155078"/>
                </a:cubicBezTo>
                <a:cubicBezTo>
                  <a:pt x="34140" y="156656"/>
                  <a:pt x="36998" y="156895"/>
                  <a:pt x="39410" y="155674"/>
                </a:cubicBezTo>
                <a:lnTo>
                  <a:pt x="82391" y="133826"/>
                </a:lnTo>
                <a:lnTo>
                  <a:pt x="125343" y="155674"/>
                </a:lnTo>
                <a:cubicBezTo>
                  <a:pt x="127724" y="156895"/>
                  <a:pt x="130611" y="156656"/>
                  <a:pt x="132784" y="155078"/>
                </a:cubicBezTo>
                <a:cubicBezTo>
                  <a:pt x="134957" y="153501"/>
                  <a:pt x="136058" y="150852"/>
                  <a:pt x="135641" y="148173"/>
                </a:cubicBezTo>
                <a:lnTo>
                  <a:pt x="128111" y="100578"/>
                </a:lnTo>
                <a:lnTo>
                  <a:pt x="162163" y="66496"/>
                </a:lnTo>
                <a:cubicBezTo>
                  <a:pt x="164068" y="64591"/>
                  <a:pt x="164722" y="61793"/>
                  <a:pt x="163889" y="59234"/>
                </a:cubicBezTo>
                <a:cubicBezTo>
                  <a:pt x="163056" y="56674"/>
                  <a:pt x="160883" y="54799"/>
                  <a:pt x="158204" y="54381"/>
                </a:cubicBezTo>
                <a:lnTo>
                  <a:pt x="110638" y="46821"/>
                </a:lnTo>
                <a:lnTo>
                  <a:pt x="88761" y="3899"/>
                </a:lnTo>
                <a:close/>
              </a:path>
            </a:pathLst>
          </a:custGeom>
          <a:solidFill>
            <a:srgbClr val="CCCCCC">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2755331" y="4811502"/>
            <a:ext cx="164722" cy="156895"/>
          </a:xfrm>
          <a:custGeom>
            <a:avLst/>
            <a:gdLst/>
            <a:ahLst/>
            <a:cxnLst/>
            <a:rect l="l" t="t" r="r" b="b"/>
            <a:pathLst>
              <a:path w="164722" h="156895">
                <a:moveTo>
                  <a:pt x="88761" y="3899"/>
                </a:moveTo>
                <a:cubicBezTo>
                  <a:pt x="87540" y="1518"/>
                  <a:pt x="85070" y="0"/>
                  <a:pt x="82391" y="0"/>
                </a:cubicBezTo>
                <a:cubicBezTo>
                  <a:pt x="79712" y="0"/>
                  <a:pt x="77242" y="1518"/>
                  <a:pt x="76021" y="3899"/>
                </a:cubicBezTo>
                <a:lnTo>
                  <a:pt x="54112" y="46821"/>
                </a:lnTo>
                <a:lnTo>
                  <a:pt x="6518" y="54381"/>
                </a:lnTo>
                <a:cubicBezTo>
                  <a:pt x="3869" y="54799"/>
                  <a:pt x="1666" y="56674"/>
                  <a:pt x="833" y="59234"/>
                </a:cubicBezTo>
                <a:cubicBezTo>
                  <a:pt x="0" y="61793"/>
                  <a:pt x="683" y="64591"/>
                  <a:pt x="2559" y="66496"/>
                </a:cubicBezTo>
                <a:lnTo>
                  <a:pt x="36611" y="100578"/>
                </a:lnTo>
                <a:lnTo>
                  <a:pt x="29110" y="148173"/>
                </a:lnTo>
                <a:cubicBezTo>
                  <a:pt x="28695" y="150821"/>
                  <a:pt x="29794" y="153501"/>
                  <a:pt x="31967" y="155078"/>
                </a:cubicBezTo>
                <a:cubicBezTo>
                  <a:pt x="34140" y="156656"/>
                  <a:pt x="36998" y="156895"/>
                  <a:pt x="39410" y="155674"/>
                </a:cubicBezTo>
                <a:lnTo>
                  <a:pt x="82391" y="133826"/>
                </a:lnTo>
                <a:lnTo>
                  <a:pt x="125343" y="155674"/>
                </a:lnTo>
                <a:cubicBezTo>
                  <a:pt x="127724" y="156895"/>
                  <a:pt x="130611" y="156656"/>
                  <a:pt x="132784" y="155078"/>
                </a:cubicBezTo>
                <a:cubicBezTo>
                  <a:pt x="134957" y="153501"/>
                  <a:pt x="136058" y="150852"/>
                  <a:pt x="135641" y="148173"/>
                </a:cubicBezTo>
                <a:lnTo>
                  <a:pt x="128111" y="100578"/>
                </a:lnTo>
                <a:lnTo>
                  <a:pt x="162163" y="66496"/>
                </a:lnTo>
                <a:cubicBezTo>
                  <a:pt x="164068" y="64591"/>
                  <a:pt x="164722" y="61793"/>
                  <a:pt x="163889" y="59234"/>
                </a:cubicBezTo>
                <a:cubicBezTo>
                  <a:pt x="163056" y="56674"/>
                  <a:pt x="160883" y="54799"/>
                  <a:pt x="158204" y="54381"/>
                </a:cubicBezTo>
                <a:lnTo>
                  <a:pt x="110638" y="46821"/>
                </a:lnTo>
                <a:lnTo>
                  <a:pt x="88761" y="3899"/>
                </a:lnTo>
                <a:close/>
              </a:path>
            </a:pathLst>
          </a:custGeom>
          <a:solidFill>
            <a:srgbClr val="CCCCCC">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3021959" y="4811502"/>
            <a:ext cx="164722" cy="156895"/>
          </a:xfrm>
          <a:custGeom>
            <a:avLst/>
            <a:gdLst/>
            <a:ahLst/>
            <a:cxnLst/>
            <a:rect l="l" t="t" r="r" b="b"/>
            <a:pathLst>
              <a:path w="164722" h="156895">
                <a:moveTo>
                  <a:pt x="88761" y="3899"/>
                </a:moveTo>
                <a:cubicBezTo>
                  <a:pt x="87540" y="1518"/>
                  <a:pt x="85070" y="0"/>
                  <a:pt x="82391" y="0"/>
                </a:cubicBezTo>
                <a:cubicBezTo>
                  <a:pt x="79712" y="0"/>
                  <a:pt x="77242" y="1518"/>
                  <a:pt x="76021" y="3899"/>
                </a:cubicBezTo>
                <a:lnTo>
                  <a:pt x="54112" y="46821"/>
                </a:lnTo>
                <a:lnTo>
                  <a:pt x="6518" y="54381"/>
                </a:lnTo>
                <a:cubicBezTo>
                  <a:pt x="3869" y="54799"/>
                  <a:pt x="1666" y="56674"/>
                  <a:pt x="833" y="59234"/>
                </a:cubicBezTo>
                <a:cubicBezTo>
                  <a:pt x="0" y="61793"/>
                  <a:pt x="683" y="64591"/>
                  <a:pt x="2559" y="66496"/>
                </a:cubicBezTo>
                <a:lnTo>
                  <a:pt x="36611" y="100578"/>
                </a:lnTo>
                <a:lnTo>
                  <a:pt x="29110" y="148173"/>
                </a:lnTo>
                <a:cubicBezTo>
                  <a:pt x="28695" y="150821"/>
                  <a:pt x="29794" y="153501"/>
                  <a:pt x="31967" y="155078"/>
                </a:cubicBezTo>
                <a:cubicBezTo>
                  <a:pt x="34140" y="156656"/>
                  <a:pt x="36998" y="156895"/>
                  <a:pt x="39410" y="155674"/>
                </a:cubicBezTo>
                <a:lnTo>
                  <a:pt x="82391" y="133826"/>
                </a:lnTo>
                <a:lnTo>
                  <a:pt x="125343" y="155674"/>
                </a:lnTo>
                <a:cubicBezTo>
                  <a:pt x="127724" y="156895"/>
                  <a:pt x="130611" y="156656"/>
                  <a:pt x="132784" y="155078"/>
                </a:cubicBezTo>
                <a:cubicBezTo>
                  <a:pt x="134957" y="153501"/>
                  <a:pt x="136058" y="150852"/>
                  <a:pt x="135641" y="148173"/>
                </a:cubicBezTo>
                <a:lnTo>
                  <a:pt x="128111" y="100578"/>
                </a:lnTo>
                <a:lnTo>
                  <a:pt x="162163" y="66496"/>
                </a:lnTo>
                <a:cubicBezTo>
                  <a:pt x="164068" y="64591"/>
                  <a:pt x="164722" y="61793"/>
                  <a:pt x="163889" y="59234"/>
                </a:cubicBezTo>
                <a:cubicBezTo>
                  <a:pt x="163056" y="56674"/>
                  <a:pt x="160883" y="54799"/>
                  <a:pt x="158204" y="54381"/>
                </a:cubicBezTo>
                <a:lnTo>
                  <a:pt x="110638" y="46821"/>
                </a:lnTo>
                <a:lnTo>
                  <a:pt x="88761" y="3899"/>
                </a:lnTo>
                <a:close/>
              </a:path>
            </a:pathLst>
          </a:custGeom>
          <a:solidFill>
            <a:srgbClr val="CCCCCC">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3351826" y="4802088"/>
            <a:ext cx="3333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Low score</a:t>
            </a:r>
            <a:endParaRPr lang="en-US" sz="1100"/>
          </a:p>
        </p:txBody>
      </p:sp>
      <p:sp>
        <p:nvSpPr>
          <p:cNvPr id="23" name="Freeform 23"/>
          <p:cNvSpPr/>
          <p:nvPr/>
        </p:nvSpPr>
        <p:spPr>
          <a:xfrm>
            <a:off x="5803845" y="2400978"/>
            <a:ext cx="459969" cy="348615"/>
          </a:xfrm>
          <a:custGeom>
            <a:avLst/>
            <a:gdLst/>
            <a:ahLst/>
            <a:cxnLst/>
            <a:rect l="l" t="t" r="r" b="b"/>
            <a:pathLst>
              <a:path w="459969" h="348615">
                <a:moveTo>
                  <a:pt x="448807" y="194489"/>
                </a:moveTo>
                <a:cubicBezTo>
                  <a:pt x="459969" y="183327"/>
                  <a:pt x="459969" y="165199"/>
                  <a:pt x="448807" y="154037"/>
                </a:cubicBezTo>
                <a:lnTo>
                  <a:pt x="305932" y="11162"/>
                </a:lnTo>
                <a:cubicBezTo>
                  <a:pt x="294770" y="0"/>
                  <a:pt x="276642" y="0"/>
                  <a:pt x="265480" y="11162"/>
                </a:cubicBezTo>
                <a:cubicBezTo>
                  <a:pt x="254317" y="22324"/>
                  <a:pt x="254317" y="40452"/>
                  <a:pt x="265480" y="51614"/>
                </a:cubicBezTo>
                <a:lnTo>
                  <a:pt x="359599" y="145732"/>
                </a:lnTo>
                <a:lnTo>
                  <a:pt x="28575" y="145732"/>
                </a:lnTo>
                <a:cubicBezTo>
                  <a:pt x="12769" y="145732"/>
                  <a:pt x="0" y="158501"/>
                  <a:pt x="0" y="174307"/>
                </a:cubicBezTo>
                <a:cubicBezTo>
                  <a:pt x="0" y="190113"/>
                  <a:pt x="12769" y="202882"/>
                  <a:pt x="28575" y="202882"/>
                </a:cubicBezTo>
                <a:lnTo>
                  <a:pt x="359599" y="202882"/>
                </a:lnTo>
                <a:lnTo>
                  <a:pt x="265480" y="297000"/>
                </a:lnTo>
                <a:cubicBezTo>
                  <a:pt x="254317" y="308162"/>
                  <a:pt x="254317" y="326290"/>
                  <a:pt x="265480" y="337452"/>
                </a:cubicBezTo>
                <a:cubicBezTo>
                  <a:pt x="276642" y="348614"/>
                  <a:pt x="294770" y="348614"/>
                  <a:pt x="305932" y="337452"/>
                </a:cubicBezTo>
                <a:lnTo>
                  <a:pt x="448807" y="194577"/>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4" name="Freeform 24"/>
          <p:cNvSpPr/>
          <p:nvPr/>
        </p:nvSpPr>
        <p:spPr>
          <a:xfrm>
            <a:off x="5441913" y="2956247"/>
            <a:ext cx="1181100" cy="1371600"/>
          </a:xfrm>
          <a:custGeom>
            <a:avLst/>
            <a:gdLst/>
            <a:ahLst/>
            <a:cxnLst/>
            <a:rect l="l" t="t" r="r" b="b"/>
            <a:pathLst>
              <a:path w="1181100" h="1371600">
                <a:moveTo>
                  <a:pt x="114295" y="0"/>
                </a:moveTo>
                <a:lnTo>
                  <a:pt x="1066805" y="0"/>
                </a:lnTo>
                <a:cubicBezTo>
                  <a:pt x="1129928" y="0"/>
                  <a:pt x="1181100" y="51172"/>
                  <a:pt x="1181100" y="114295"/>
                </a:cubicBezTo>
                <a:lnTo>
                  <a:pt x="1181100" y="1257305"/>
                </a:lnTo>
                <a:cubicBezTo>
                  <a:pt x="1181100" y="1320428"/>
                  <a:pt x="1129928" y="1371600"/>
                  <a:pt x="1066805" y="1371600"/>
                </a:cubicBezTo>
                <a:lnTo>
                  <a:pt x="114295" y="1371600"/>
                </a:lnTo>
                <a:cubicBezTo>
                  <a:pt x="51172" y="1371600"/>
                  <a:pt x="0" y="1320428"/>
                  <a:pt x="0" y="1257305"/>
                </a:cubicBezTo>
                <a:lnTo>
                  <a:pt x="0" y="114295"/>
                </a:lnTo>
                <a:cubicBezTo>
                  <a:pt x="0" y="51214"/>
                  <a:pt x="51214" y="0"/>
                  <a:pt x="114295"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5" name="Freeform 25"/>
          <p:cNvSpPr/>
          <p:nvPr/>
        </p:nvSpPr>
        <p:spPr>
          <a:xfrm>
            <a:off x="5866353" y="3146747"/>
            <a:ext cx="332184" cy="342900"/>
          </a:xfrm>
          <a:custGeom>
            <a:avLst/>
            <a:gdLst/>
            <a:ahLst/>
            <a:cxnLst/>
            <a:rect l="l" t="t" r="r" b="b"/>
            <a:pathLst>
              <a:path w="332184" h="342900">
                <a:moveTo>
                  <a:pt x="75009" y="37504"/>
                </a:moveTo>
                <a:cubicBezTo>
                  <a:pt x="75009" y="16810"/>
                  <a:pt x="91819" y="0"/>
                  <a:pt x="112515" y="0"/>
                </a:cubicBezTo>
                <a:lnTo>
                  <a:pt x="128588" y="0"/>
                </a:lnTo>
                <a:cubicBezTo>
                  <a:pt x="140441" y="0"/>
                  <a:pt x="150019" y="9577"/>
                  <a:pt x="150019" y="21431"/>
                </a:cubicBezTo>
                <a:lnTo>
                  <a:pt x="150019" y="321469"/>
                </a:lnTo>
                <a:cubicBezTo>
                  <a:pt x="150019" y="333323"/>
                  <a:pt x="140441" y="342900"/>
                  <a:pt x="128588" y="342900"/>
                </a:cubicBezTo>
                <a:lnTo>
                  <a:pt x="107156" y="342900"/>
                </a:lnTo>
                <a:cubicBezTo>
                  <a:pt x="87198" y="342900"/>
                  <a:pt x="70389" y="329239"/>
                  <a:pt x="65632" y="310752"/>
                </a:cubicBezTo>
                <a:cubicBezTo>
                  <a:pt x="65164" y="310752"/>
                  <a:pt x="64763" y="310752"/>
                  <a:pt x="64294" y="310752"/>
                </a:cubicBezTo>
                <a:cubicBezTo>
                  <a:pt x="34691" y="310752"/>
                  <a:pt x="10715" y="286777"/>
                  <a:pt x="10715" y="257175"/>
                </a:cubicBezTo>
                <a:cubicBezTo>
                  <a:pt x="10715" y="245120"/>
                  <a:pt x="14733" y="234003"/>
                  <a:pt x="21431" y="225027"/>
                </a:cubicBezTo>
                <a:cubicBezTo>
                  <a:pt x="8438" y="215250"/>
                  <a:pt x="0" y="199713"/>
                  <a:pt x="0" y="182166"/>
                </a:cubicBezTo>
                <a:cubicBezTo>
                  <a:pt x="0" y="161472"/>
                  <a:pt x="11787" y="143455"/>
                  <a:pt x="28932" y="134548"/>
                </a:cubicBezTo>
                <a:cubicBezTo>
                  <a:pt x="24177" y="126511"/>
                  <a:pt x="21431" y="117135"/>
                  <a:pt x="21431" y="107156"/>
                </a:cubicBezTo>
                <a:cubicBezTo>
                  <a:pt x="21431" y="77554"/>
                  <a:pt x="45406" y="53577"/>
                  <a:pt x="75009" y="53577"/>
                </a:cubicBezTo>
                <a:lnTo>
                  <a:pt x="75009" y="37504"/>
                </a:lnTo>
                <a:close/>
                <a:moveTo>
                  <a:pt x="257175" y="37504"/>
                </a:moveTo>
                <a:lnTo>
                  <a:pt x="257175" y="53577"/>
                </a:lnTo>
                <a:cubicBezTo>
                  <a:pt x="286778" y="53577"/>
                  <a:pt x="310753" y="77554"/>
                  <a:pt x="310753" y="107156"/>
                </a:cubicBezTo>
                <a:cubicBezTo>
                  <a:pt x="310753" y="117202"/>
                  <a:pt x="308007" y="126578"/>
                  <a:pt x="303252" y="134548"/>
                </a:cubicBezTo>
                <a:cubicBezTo>
                  <a:pt x="320464" y="143455"/>
                  <a:pt x="332184" y="161404"/>
                  <a:pt x="332184" y="182166"/>
                </a:cubicBezTo>
                <a:cubicBezTo>
                  <a:pt x="332184" y="199713"/>
                  <a:pt x="323746" y="215250"/>
                  <a:pt x="310753" y="225027"/>
                </a:cubicBezTo>
                <a:cubicBezTo>
                  <a:pt x="317451" y="234003"/>
                  <a:pt x="321469" y="245120"/>
                  <a:pt x="321469" y="257175"/>
                </a:cubicBezTo>
                <a:cubicBezTo>
                  <a:pt x="321469" y="286777"/>
                  <a:pt x="297493" y="310752"/>
                  <a:pt x="267890" y="310752"/>
                </a:cubicBezTo>
                <a:cubicBezTo>
                  <a:pt x="267421" y="310752"/>
                  <a:pt x="267020" y="310752"/>
                  <a:pt x="266552" y="310752"/>
                </a:cubicBezTo>
                <a:cubicBezTo>
                  <a:pt x="261795" y="329239"/>
                  <a:pt x="244986" y="342900"/>
                  <a:pt x="225028" y="342900"/>
                </a:cubicBezTo>
                <a:lnTo>
                  <a:pt x="203596" y="342900"/>
                </a:lnTo>
                <a:cubicBezTo>
                  <a:pt x="191743" y="342900"/>
                  <a:pt x="182165" y="333323"/>
                  <a:pt x="182165" y="321469"/>
                </a:cubicBezTo>
                <a:lnTo>
                  <a:pt x="182165" y="21431"/>
                </a:lnTo>
                <a:cubicBezTo>
                  <a:pt x="182165" y="9577"/>
                  <a:pt x="191743" y="0"/>
                  <a:pt x="203596" y="0"/>
                </a:cubicBezTo>
                <a:lnTo>
                  <a:pt x="219669" y="0"/>
                </a:lnTo>
                <a:cubicBezTo>
                  <a:pt x="240365" y="0"/>
                  <a:pt x="257175" y="16810"/>
                  <a:pt x="257175" y="37504"/>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5589551" y="3603985"/>
            <a:ext cx="8858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7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Reward Model</a:t>
            </a:r>
            <a:endParaRPr lang="en-US" sz="1100"/>
          </a:p>
        </p:txBody>
      </p:sp>
      <p:sp>
        <p:nvSpPr>
          <p:cNvPr id="27" name="AutoShape 27"/>
          <p:cNvSpPr/>
          <p:nvPr/>
        </p:nvSpPr>
        <p:spPr>
          <a:xfrm>
            <a:off x="5599076" y="3946847"/>
            <a:ext cx="8667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7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Learn human preferences</a:t>
            </a:r>
            <a:endParaRPr lang="en-US" sz="1100"/>
          </a:p>
        </p:txBody>
      </p:sp>
      <p:sp>
        <p:nvSpPr>
          <p:cNvPr id="28" name="Freeform 28"/>
          <p:cNvSpPr/>
          <p:nvPr/>
        </p:nvSpPr>
        <p:spPr>
          <a:xfrm>
            <a:off x="6945168" y="1853411"/>
            <a:ext cx="2711160" cy="2968335"/>
          </a:xfrm>
          <a:custGeom>
            <a:avLst/>
            <a:gdLst/>
            <a:ahLst/>
            <a:cxnLst/>
            <a:rect l="l" t="t" r="r" b="b"/>
            <a:pathLst>
              <a:path w="2711160" h="2968335">
                <a:moveTo>
                  <a:pt x="152394" y="0"/>
                </a:moveTo>
                <a:lnTo>
                  <a:pt x="2558767" y="0"/>
                </a:lnTo>
                <a:cubicBezTo>
                  <a:pt x="2642932" y="0"/>
                  <a:pt x="2711160" y="68229"/>
                  <a:pt x="2711160" y="152394"/>
                </a:cubicBezTo>
                <a:lnTo>
                  <a:pt x="2711160" y="2815942"/>
                </a:lnTo>
                <a:cubicBezTo>
                  <a:pt x="2711160" y="2900107"/>
                  <a:pt x="2642932" y="2968335"/>
                  <a:pt x="2558767" y="2968335"/>
                </a:cubicBezTo>
                <a:lnTo>
                  <a:pt x="152394" y="2968335"/>
                </a:lnTo>
                <a:cubicBezTo>
                  <a:pt x="68229" y="2968335"/>
                  <a:pt x="0" y="2900107"/>
                  <a:pt x="0" y="2815942"/>
                </a:cubicBezTo>
                <a:lnTo>
                  <a:pt x="0" y="152394"/>
                </a:lnTo>
                <a:cubicBezTo>
                  <a:pt x="0" y="68287"/>
                  <a:pt x="68287" y="0"/>
                  <a:pt x="152394" y="0"/>
                </a:cubicBezTo>
                <a:close/>
              </a:path>
            </a:pathLst>
          </a:custGeom>
          <a:noFill/>
          <a:ln w="38100">
            <a:solidFill>
              <a:srgbClr val="00CED1">
                <a:alpha val="100000"/>
              </a:srgbClr>
            </a:solidFill>
            <a:prstDash val="solid"/>
          </a:ln>
        </p:spPr>
        <p:txBody>
          <a:bodyPr wrap="square" lIns="91440" tIns="45720" rIns="91440" bIns="45720" rtlCol="0" anchor="t">
            <a:noAutofit/>
          </a:bodyPr>
          <a:lstStyle/>
          <a:p>
            <a:pPr algn="ctr">
              <a:defRPr/>
            </a:pPr>
          </a:p>
        </p:txBody>
      </p:sp>
      <p:sp>
        <p:nvSpPr>
          <p:cNvPr id="29" name="Freeform 29"/>
          <p:cNvSpPr/>
          <p:nvPr/>
        </p:nvSpPr>
        <p:spPr>
          <a:xfrm>
            <a:off x="8070188" y="2099206"/>
            <a:ext cx="459075" cy="457289"/>
          </a:xfrm>
          <a:custGeom>
            <a:avLst/>
            <a:gdLst/>
            <a:ahLst/>
            <a:cxnLst/>
            <a:rect l="l" t="t" r="r" b="b"/>
            <a:pathLst>
              <a:path w="459075" h="457289">
                <a:moveTo>
                  <a:pt x="129480" y="89"/>
                </a:moveTo>
                <a:lnTo>
                  <a:pt x="329505" y="89"/>
                </a:lnTo>
                <a:cubicBezTo>
                  <a:pt x="353169" y="89"/>
                  <a:pt x="372457" y="19556"/>
                  <a:pt x="371564" y="43131"/>
                </a:cubicBezTo>
                <a:cubicBezTo>
                  <a:pt x="371386" y="47863"/>
                  <a:pt x="371207" y="52596"/>
                  <a:pt x="370939" y="57239"/>
                </a:cubicBezTo>
                <a:lnTo>
                  <a:pt x="415230" y="57239"/>
                </a:lnTo>
                <a:cubicBezTo>
                  <a:pt x="438538" y="57239"/>
                  <a:pt x="459075" y="76526"/>
                  <a:pt x="457289" y="101709"/>
                </a:cubicBezTo>
                <a:cubicBezTo>
                  <a:pt x="450592" y="194310"/>
                  <a:pt x="403265" y="245209"/>
                  <a:pt x="351918" y="271819"/>
                </a:cubicBezTo>
                <a:cubicBezTo>
                  <a:pt x="337810" y="279142"/>
                  <a:pt x="323434" y="284589"/>
                  <a:pt x="309771" y="288608"/>
                </a:cubicBezTo>
                <a:cubicBezTo>
                  <a:pt x="291733" y="314146"/>
                  <a:pt x="272980" y="327630"/>
                  <a:pt x="258068" y="334864"/>
                </a:cubicBezTo>
                <a:lnTo>
                  <a:pt x="258068" y="400139"/>
                </a:lnTo>
                <a:lnTo>
                  <a:pt x="315218" y="400139"/>
                </a:lnTo>
                <a:cubicBezTo>
                  <a:pt x="331023" y="400139"/>
                  <a:pt x="343793" y="412908"/>
                  <a:pt x="343793" y="428714"/>
                </a:cubicBezTo>
                <a:cubicBezTo>
                  <a:pt x="343793" y="444520"/>
                  <a:pt x="331023" y="457289"/>
                  <a:pt x="315218" y="457289"/>
                </a:cubicBezTo>
                <a:lnTo>
                  <a:pt x="143768" y="457289"/>
                </a:lnTo>
                <a:cubicBezTo>
                  <a:pt x="127962" y="457289"/>
                  <a:pt x="115193" y="444520"/>
                  <a:pt x="115193" y="428714"/>
                </a:cubicBezTo>
                <a:cubicBezTo>
                  <a:pt x="115193" y="412908"/>
                  <a:pt x="127962" y="400139"/>
                  <a:pt x="143768" y="400139"/>
                </a:cubicBezTo>
                <a:lnTo>
                  <a:pt x="200918" y="400139"/>
                </a:lnTo>
                <a:lnTo>
                  <a:pt x="200918" y="334864"/>
                </a:lnTo>
                <a:cubicBezTo>
                  <a:pt x="186630" y="327986"/>
                  <a:pt x="168861" y="315218"/>
                  <a:pt x="151537" y="291733"/>
                </a:cubicBezTo>
                <a:cubicBezTo>
                  <a:pt x="135107" y="287446"/>
                  <a:pt x="117247" y="280928"/>
                  <a:pt x="99834" y="271104"/>
                </a:cubicBezTo>
                <a:cubicBezTo>
                  <a:pt x="51524" y="244048"/>
                  <a:pt x="7947" y="193060"/>
                  <a:pt x="1697" y="101530"/>
                </a:cubicBezTo>
                <a:cubicBezTo>
                  <a:pt x="0" y="76438"/>
                  <a:pt x="20448" y="57150"/>
                  <a:pt x="43755" y="57150"/>
                </a:cubicBezTo>
                <a:lnTo>
                  <a:pt x="88047" y="57150"/>
                </a:lnTo>
                <a:cubicBezTo>
                  <a:pt x="87779" y="52506"/>
                  <a:pt x="87600" y="47863"/>
                  <a:pt x="87422" y="43040"/>
                </a:cubicBezTo>
                <a:cubicBezTo>
                  <a:pt x="86529" y="19376"/>
                  <a:pt x="105817" y="0"/>
                  <a:pt x="129480" y="0"/>
                </a:cubicBezTo>
                <a:close/>
                <a:moveTo>
                  <a:pt x="91261" y="100102"/>
                </a:moveTo>
                <a:lnTo>
                  <a:pt x="44470" y="100102"/>
                </a:lnTo>
                <a:cubicBezTo>
                  <a:pt x="50006" y="175736"/>
                  <a:pt x="84743" y="213598"/>
                  <a:pt x="120551" y="233690"/>
                </a:cubicBezTo>
                <a:cubicBezTo>
                  <a:pt x="107692" y="200382"/>
                  <a:pt x="97066" y="156895"/>
                  <a:pt x="91261" y="100102"/>
                </a:cubicBezTo>
                <a:close/>
                <a:moveTo>
                  <a:pt x="339952" y="229403"/>
                </a:moveTo>
                <a:cubicBezTo>
                  <a:pt x="376118" y="208151"/>
                  <a:pt x="408800" y="170378"/>
                  <a:pt x="414336" y="100102"/>
                </a:cubicBezTo>
                <a:lnTo>
                  <a:pt x="367635" y="100102"/>
                </a:lnTo>
                <a:cubicBezTo>
                  <a:pt x="362099" y="154483"/>
                  <a:pt x="352098" y="196721"/>
                  <a:pt x="339952" y="229403"/>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0" name="AutoShape 30"/>
          <p:cNvSpPr/>
          <p:nvPr/>
        </p:nvSpPr>
        <p:spPr>
          <a:xfrm>
            <a:off x="7114850" y="2708858"/>
            <a:ext cx="2371725" cy="4572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615"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Optimization Objective</a:t>
            </a:r>
            <a:endParaRPr lang="en-US" sz="1100"/>
          </a:p>
        </p:txBody>
      </p:sp>
      <p:sp>
        <p:nvSpPr>
          <p:cNvPr id="31" name="AutoShape 31"/>
          <p:cNvSpPr/>
          <p:nvPr/>
        </p:nvSpPr>
        <p:spPr>
          <a:xfrm>
            <a:off x="7152950" y="3242109"/>
            <a:ext cx="2295525" cy="4572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92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Generate more</a:t>
            </a:r>
            <a:endParaRPr lang="en-US" sz="1100"/>
          </a:p>
          <a:p>
            <a:pPr indent="0" algn="ctr">
              <a:lnSpc>
                <a:spcPct val="133000"/>
              </a:lnSpc>
            </a:pPr>
            <a:r>
              <a:rPr lang="en-US" sz="92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human-preferred responses</a:t>
            </a:r>
            <a:endPar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2" name="Freeform 32"/>
          <p:cNvSpPr/>
          <p:nvPr/>
        </p:nvSpPr>
        <p:spPr>
          <a:xfrm>
            <a:off x="7218702" y="3888426"/>
            <a:ext cx="135553" cy="125343"/>
          </a:xfrm>
          <a:custGeom>
            <a:avLst/>
            <a:gdLst/>
            <a:ahLst/>
            <a:cxnLst/>
            <a:rect l="l" t="t" r="r" b="b"/>
            <a:pathLst>
              <a:path w="135553" h="125343">
                <a:moveTo>
                  <a:pt x="130344" y="3125"/>
                </a:moveTo>
                <a:cubicBezTo>
                  <a:pt x="134599" y="6220"/>
                  <a:pt x="135553" y="12173"/>
                  <a:pt x="132457" y="16430"/>
                </a:cubicBezTo>
                <a:lnTo>
                  <a:pt x="56257" y="121205"/>
                </a:lnTo>
                <a:cubicBezTo>
                  <a:pt x="54620" y="123466"/>
                  <a:pt x="52090" y="124866"/>
                  <a:pt x="49292" y="125104"/>
                </a:cubicBezTo>
                <a:cubicBezTo>
                  <a:pt x="46494" y="125342"/>
                  <a:pt x="43785" y="124301"/>
                  <a:pt x="41821" y="122336"/>
                </a:cubicBezTo>
                <a:lnTo>
                  <a:pt x="3721" y="84236"/>
                </a:lnTo>
                <a:cubicBezTo>
                  <a:pt x="0" y="80515"/>
                  <a:pt x="0" y="74472"/>
                  <a:pt x="3721" y="70753"/>
                </a:cubicBezTo>
                <a:cubicBezTo>
                  <a:pt x="7442" y="67032"/>
                  <a:pt x="13485" y="67032"/>
                  <a:pt x="17204" y="70753"/>
                </a:cubicBezTo>
                <a:lnTo>
                  <a:pt x="47416" y="100965"/>
                </a:lnTo>
                <a:lnTo>
                  <a:pt x="117068" y="5208"/>
                </a:lnTo>
                <a:cubicBezTo>
                  <a:pt x="120165" y="952"/>
                  <a:pt x="126117" y="0"/>
                  <a:pt x="130374" y="3095"/>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3" name="AutoShape 33"/>
          <p:cNvSpPr/>
          <p:nvPr/>
        </p:nvSpPr>
        <p:spPr>
          <a:xfrm>
            <a:off x="7457678" y="3851746"/>
            <a:ext cx="103822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Helpful</a:t>
            </a:r>
            <a:endParaRPr lang="en-US" sz="1100"/>
          </a:p>
        </p:txBody>
      </p:sp>
      <p:sp>
        <p:nvSpPr>
          <p:cNvPr id="34" name="Freeform 34"/>
          <p:cNvSpPr/>
          <p:nvPr/>
        </p:nvSpPr>
        <p:spPr>
          <a:xfrm>
            <a:off x="7218702" y="4154977"/>
            <a:ext cx="135553" cy="125343"/>
          </a:xfrm>
          <a:custGeom>
            <a:avLst/>
            <a:gdLst/>
            <a:ahLst/>
            <a:cxnLst/>
            <a:rect l="l" t="t" r="r" b="b"/>
            <a:pathLst>
              <a:path w="135553" h="125343">
                <a:moveTo>
                  <a:pt x="130344" y="3125"/>
                </a:moveTo>
                <a:cubicBezTo>
                  <a:pt x="134599" y="6220"/>
                  <a:pt x="135553" y="12173"/>
                  <a:pt x="132457" y="16430"/>
                </a:cubicBezTo>
                <a:lnTo>
                  <a:pt x="56257" y="121205"/>
                </a:lnTo>
                <a:cubicBezTo>
                  <a:pt x="54620" y="123466"/>
                  <a:pt x="52090" y="124866"/>
                  <a:pt x="49292" y="125104"/>
                </a:cubicBezTo>
                <a:cubicBezTo>
                  <a:pt x="46494" y="125342"/>
                  <a:pt x="43785" y="124301"/>
                  <a:pt x="41821" y="122336"/>
                </a:cubicBezTo>
                <a:lnTo>
                  <a:pt x="3721" y="84236"/>
                </a:lnTo>
                <a:cubicBezTo>
                  <a:pt x="0" y="80515"/>
                  <a:pt x="0" y="74472"/>
                  <a:pt x="3721" y="70753"/>
                </a:cubicBezTo>
                <a:cubicBezTo>
                  <a:pt x="7442" y="67031"/>
                  <a:pt x="13485" y="67031"/>
                  <a:pt x="17204" y="70753"/>
                </a:cubicBezTo>
                <a:lnTo>
                  <a:pt x="47416" y="100965"/>
                </a:lnTo>
                <a:lnTo>
                  <a:pt x="117068" y="5208"/>
                </a:lnTo>
                <a:cubicBezTo>
                  <a:pt x="120165" y="952"/>
                  <a:pt x="126117" y="0"/>
                  <a:pt x="130374" y="3095"/>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5" name="AutoShape 35"/>
          <p:cNvSpPr/>
          <p:nvPr/>
        </p:nvSpPr>
        <p:spPr>
          <a:xfrm>
            <a:off x="7457678" y="4118297"/>
            <a:ext cx="102870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Honest</a:t>
            </a:r>
            <a:endParaRPr lang="en-US" sz="1100"/>
          </a:p>
        </p:txBody>
      </p:sp>
      <p:sp>
        <p:nvSpPr>
          <p:cNvPr id="36" name="Freeform 36"/>
          <p:cNvSpPr/>
          <p:nvPr/>
        </p:nvSpPr>
        <p:spPr>
          <a:xfrm>
            <a:off x="7218702" y="4421528"/>
            <a:ext cx="135553" cy="125343"/>
          </a:xfrm>
          <a:custGeom>
            <a:avLst/>
            <a:gdLst/>
            <a:ahLst/>
            <a:cxnLst/>
            <a:rect l="l" t="t" r="r" b="b"/>
            <a:pathLst>
              <a:path w="135553" h="125343">
                <a:moveTo>
                  <a:pt x="130344" y="3125"/>
                </a:moveTo>
                <a:cubicBezTo>
                  <a:pt x="134599" y="6220"/>
                  <a:pt x="135553" y="12173"/>
                  <a:pt x="132457" y="16430"/>
                </a:cubicBezTo>
                <a:lnTo>
                  <a:pt x="56257" y="121205"/>
                </a:lnTo>
                <a:cubicBezTo>
                  <a:pt x="54620" y="123466"/>
                  <a:pt x="52090" y="124866"/>
                  <a:pt x="49292" y="125104"/>
                </a:cubicBezTo>
                <a:cubicBezTo>
                  <a:pt x="46494" y="125342"/>
                  <a:pt x="43785" y="124301"/>
                  <a:pt x="41821" y="122336"/>
                </a:cubicBezTo>
                <a:lnTo>
                  <a:pt x="3721" y="84236"/>
                </a:lnTo>
                <a:cubicBezTo>
                  <a:pt x="0" y="80515"/>
                  <a:pt x="0" y="74472"/>
                  <a:pt x="3721" y="70753"/>
                </a:cubicBezTo>
                <a:cubicBezTo>
                  <a:pt x="7442" y="67032"/>
                  <a:pt x="13485" y="67032"/>
                  <a:pt x="17204" y="70753"/>
                </a:cubicBezTo>
                <a:lnTo>
                  <a:pt x="47416" y="100965"/>
                </a:lnTo>
                <a:lnTo>
                  <a:pt x="117068" y="5208"/>
                </a:lnTo>
                <a:cubicBezTo>
                  <a:pt x="120165" y="952"/>
                  <a:pt x="126117" y="0"/>
                  <a:pt x="130374" y="3095"/>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7" name="AutoShape 37"/>
          <p:cNvSpPr/>
          <p:nvPr/>
        </p:nvSpPr>
        <p:spPr>
          <a:xfrm>
            <a:off x="7457678" y="4384849"/>
            <a:ext cx="116205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Harmless</a:t>
            </a:r>
            <a:endParaRPr lang="en-US" sz="1100"/>
          </a:p>
        </p:txBody>
      </p:sp>
    </p:spTree>
  </p:cSld>
  <p:clrMapOvr>
    <a:masterClrMapping/>
  </p:clrMapOvr>
  <p:transition spd="slow">
    <p:fade/>
  </p:transition>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69735" y="369735"/>
            <a:ext cx="11649723" cy="59157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525" b="0" i="0" u="none" strike="noStrike">
                <a:solidFill>
                  <a:srgbClr val="5B92E5"/>
                </a:solidFill>
                <a:latin typeface="Alimama ShuHeiTi"/>
                <a:ea typeface="Alimama ShuHeiTi"/>
                <a:cs typeface="Alimama ShuHeiTi"/>
                <a:sym typeface="Alimama ShuHeiTi"/>
              </a:rPr>
              <a:t>Chain-of-Thought Capability Development</a:t>
            </a:r>
            <a:endParaRPr lang="en-US" sz="1100"/>
          </a:p>
        </p:txBody>
      </p:sp>
      <p:sp>
        <p:nvSpPr>
          <p:cNvPr id="3" name="Freeform 3"/>
          <p:cNvSpPr/>
          <p:nvPr/>
        </p:nvSpPr>
        <p:spPr>
          <a:xfrm>
            <a:off x="369735" y="1257044"/>
            <a:ext cx="11452531" cy="3586425"/>
          </a:xfrm>
          <a:custGeom>
            <a:avLst/>
            <a:gdLst/>
            <a:ahLst/>
            <a:cxnLst/>
            <a:rect l="l" t="t" r="r" b="b"/>
            <a:pathLst>
              <a:path w="11452531" h="3586425">
                <a:moveTo>
                  <a:pt x="147904" y="0"/>
                </a:moveTo>
                <a:lnTo>
                  <a:pt x="11304626" y="0"/>
                </a:lnTo>
                <a:cubicBezTo>
                  <a:pt x="11386312" y="0"/>
                  <a:pt x="11452531" y="66219"/>
                  <a:pt x="11452531" y="147904"/>
                </a:cubicBezTo>
                <a:lnTo>
                  <a:pt x="11452531" y="3438522"/>
                </a:lnTo>
                <a:cubicBezTo>
                  <a:pt x="11452531" y="3520208"/>
                  <a:pt x="11386312" y="3586425"/>
                  <a:pt x="11304626" y="3586425"/>
                </a:cubicBezTo>
                <a:lnTo>
                  <a:pt x="147904" y="3586425"/>
                </a:lnTo>
                <a:cubicBezTo>
                  <a:pt x="66219" y="3586425"/>
                  <a:pt x="0" y="3520208"/>
                  <a:pt x="0" y="3438522"/>
                </a:cubicBezTo>
                <a:lnTo>
                  <a:pt x="0" y="147904"/>
                </a:lnTo>
                <a:cubicBezTo>
                  <a:pt x="0" y="66274"/>
                  <a:pt x="66274" y="0"/>
                  <a:pt x="147904"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23822" y="1552723"/>
            <a:ext cx="10944146" cy="258814"/>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45"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Training models to learn step-by-step reasoning</a:t>
            </a:r>
            <a:endParaRPr lang="en-US" sz="1100"/>
          </a:p>
        </p:txBody>
      </p:sp>
      <p:sp>
        <p:nvSpPr>
          <p:cNvPr id="5" name="Freeform 5"/>
          <p:cNvSpPr/>
          <p:nvPr>
            <p:custDataLst>
              <p:tags r:id="rId1"/>
            </p:custDataLst>
          </p:nvPr>
        </p:nvSpPr>
        <p:spPr>
          <a:xfrm>
            <a:off x="665417" y="2033143"/>
            <a:ext cx="369735" cy="369735"/>
          </a:xfrm>
          <a:custGeom>
            <a:avLst/>
            <a:gdLst/>
            <a:ahLst/>
            <a:cxnLst/>
            <a:rect l="l" t="t" r="r" b="b"/>
            <a:pathLst>
              <a:path w="369735" h="369735">
                <a:moveTo>
                  <a:pt x="184868" y="0"/>
                </a:moveTo>
                <a:lnTo>
                  <a:pt x="184868" y="0"/>
                </a:lnTo>
                <a:cubicBezTo>
                  <a:pt x="286898" y="0"/>
                  <a:pt x="369735" y="82836"/>
                  <a:pt x="369735" y="184868"/>
                </a:cubicBezTo>
                <a:lnTo>
                  <a:pt x="369735" y="184868"/>
                </a:lnTo>
                <a:cubicBezTo>
                  <a:pt x="369735" y="286898"/>
                  <a:pt x="286898" y="369735"/>
                  <a:pt x="184868" y="369735"/>
                </a:cubicBezTo>
                <a:lnTo>
                  <a:pt x="184868" y="369735"/>
                </a:lnTo>
                <a:cubicBezTo>
                  <a:pt x="82836" y="369735"/>
                  <a:pt x="0" y="286898"/>
                  <a:pt x="0" y="184868"/>
                </a:cubicBezTo>
                <a:lnTo>
                  <a:pt x="0" y="184868"/>
                </a:lnTo>
                <a:cubicBezTo>
                  <a:pt x="0" y="82836"/>
                  <a:pt x="82836" y="0"/>
                  <a:pt x="184868"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custDataLst>
              <p:tags r:id="rId2"/>
            </p:custDataLst>
          </p:nvPr>
        </p:nvSpPr>
        <p:spPr>
          <a:xfrm>
            <a:off x="817460" y="2088694"/>
            <a:ext cx="147894" cy="258814"/>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1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100"/>
          </a:p>
        </p:txBody>
      </p:sp>
      <p:sp>
        <p:nvSpPr>
          <p:cNvPr id="7" name="Freeform 7"/>
          <p:cNvSpPr/>
          <p:nvPr/>
        </p:nvSpPr>
        <p:spPr>
          <a:xfrm>
            <a:off x="1182993" y="2033143"/>
            <a:ext cx="10343327" cy="517629"/>
          </a:xfrm>
          <a:custGeom>
            <a:avLst/>
            <a:gdLst/>
            <a:ahLst/>
            <a:cxnLst/>
            <a:rect l="l" t="t" r="r" b="b"/>
            <a:pathLst>
              <a:path w="10343327" h="517629">
                <a:moveTo>
                  <a:pt x="73948" y="0"/>
                </a:moveTo>
                <a:lnTo>
                  <a:pt x="10269377" y="0"/>
                </a:lnTo>
                <a:cubicBezTo>
                  <a:pt x="10310219" y="0"/>
                  <a:pt x="10343327" y="33108"/>
                  <a:pt x="10343327" y="73948"/>
                </a:cubicBezTo>
                <a:lnTo>
                  <a:pt x="10343327" y="443680"/>
                </a:lnTo>
                <a:cubicBezTo>
                  <a:pt x="10343327" y="484522"/>
                  <a:pt x="10310219" y="517629"/>
                  <a:pt x="10269377" y="517629"/>
                </a:cubicBezTo>
                <a:lnTo>
                  <a:pt x="73948" y="517629"/>
                </a:lnTo>
                <a:cubicBezTo>
                  <a:pt x="33108" y="517629"/>
                  <a:pt x="0" y="484522"/>
                  <a:pt x="0" y="443680"/>
                </a:cubicBezTo>
                <a:lnTo>
                  <a:pt x="0" y="73948"/>
                </a:lnTo>
                <a:cubicBezTo>
                  <a:pt x="0" y="33136"/>
                  <a:pt x="33136" y="0"/>
                  <a:pt x="73948"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custDataLst>
              <p:tags r:id="rId3"/>
            </p:custDataLst>
          </p:nvPr>
        </p:nvSpPr>
        <p:spPr>
          <a:xfrm>
            <a:off x="1330835" y="2180983"/>
            <a:ext cx="10121486" cy="22184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Understand the Problem: Clarify requirements and given conditions</a:t>
            </a:r>
            <a:endParaRPr lang="en-US" sz="1100"/>
          </a:p>
        </p:txBody>
      </p:sp>
      <p:sp>
        <p:nvSpPr>
          <p:cNvPr id="9" name="Freeform 9"/>
          <p:cNvSpPr/>
          <p:nvPr>
            <p:custDataLst>
              <p:tags r:id="rId4"/>
            </p:custDataLst>
          </p:nvPr>
        </p:nvSpPr>
        <p:spPr>
          <a:xfrm>
            <a:off x="665417" y="2698431"/>
            <a:ext cx="369735" cy="369735"/>
          </a:xfrm>
          <a:custGeom>
            <a:avLst/>
            <a:gdLst/>
            <a:ahLst/>
            <a:cxnLst/>
            <a:rect l="l" t="t" r="r" b="b"/>
            <a:pathLst>
              <a:path w="369735" h="369735">
                <a:moveTo>
                  <a:pt x="184868" y="0"/>
                </a:moveTo>
                <a:lnTo>
                  <a:pt x="184868" y="0"/>
                </a:lnTo>
                <a:cubicBezTo>
                  <a:pt x="286898" y="0"/>
                  <a:pt x="369735" y="82836"/>
                  <a:pt x="369735" y="184868"/>
                </a:cubicBezTo>
                <a:lnTo>
                  <a:pt x="369735" y="184868"/>
                </a:lnTo>
                <a:cubicBezTo>
                  <a:pt x="369735" y="286898"/>
                  <a:pt x="286898" y="369735"/>
                  <a:pt x="184868" y="369735"/>
                </a:cubicBezTo>
                <a:lnTo>
                  <a:pt x="184868" y="369735"/>
                </a:lnTo>
                <a:cubicBezTo>
                  <a:pt x="82836" y="369735"/>
                  <a:pt x="0" y="286898"/>
                  <a:pt x="0" y="184868"/>
                </a:cubicBezTo>
                <a:lnTo>
                  <a:pt x="0" y="184868"/>
                </a:lnTo>
                <a:cubicBezTo>
                  <a:pt x="0" y="82836"/>
                  <a:pt x="82836" y="0"/>
                  <a:pt x="184868"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custDataLst>
              <p:tags r:id="rId5"/>
            </p:custDataLst>
          </p:nvPr>
        </p:nvSpPr>
        <p:spPr>
          <a:xfrm>
            <a:off x="803411" y="2753982"/>
            <a:ext cx="175624" cy="258814"/>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45"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100"/>
          </a:p>
        </p:txBody>
      </p:sp>
      <p:sp>
        <p:nvSpPr>
          <p:cNvPr id="11" name="Freeform 11"/>
          <p:cNvSpPr/>
          <p:nvPr/>
        </p:nvSpPr>
        <p:spPr>
          <a:xfrm>
            <a:off x="1182993" y="2698431"/>
            <a:ext cx="10343327" cy="517629"/>
          </a:xfrm>
          <a:custGeom>
            <a:avLst/>
            <a:gdLst/>
            <a:ahLst/>
            <a:cxnLst/>
            <a:rect l="l" t="t" r="r" b="b"/>
            <a:pathLst>
              <a:path w="10343327" h="517629">
                <a:moveTo>
                  <a:pt x="73948" y="0"/>
                </a:moveTo>
                <a:lnTo>
                  <a:pt x="10269377" y="0"/>
                </a:lnTo>
                <a:cubicBezTo>
                  <a:pt x="10310219" y="0"/>
                  <a:pt x="10343327" y="33108"/>
                  <a:pt x="10343327" y="73948"/>
                </a:cubicBezTo>
                <a:lnTo>
                  <a:pt x="10343327" y="443680"/>
                </a:lnTo>
                <a:cubicBezTo>
                  <a:pt x="10343327" y="484522"/>
                  <a:pt x="10310219" y="517629"/>
                  <a:pt x="10269377" y="517629"/>
                </a:cubicBezTo>
                <a:lnTo>
                  <a:pt x="73948" y="517629"/>
                </a:lnTo>
                <a:cubicBezTo>
                  <a:pt x="33108" y="517629"/>
                  <a:pt x="0" y="484522"/>
                  <a:pt x="0" y="443680"/>
                </a:cubicBezTo>
                <a:lnTo>
                  <a:pt x="0" y="73948"/>
                </a:lnTo>
                <a:cubicBezTo>
                  <a:pt x="0" y="33136"/>
                  <a:pt x="33136" y="0"/>
                  <a:pt x="73948"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custDataLst>
              <p:tags r:id="rId6"/>
            </p:custDataLst>
          </p:nvPr>
        </p:nvSpPr>
        <p:spPr>
          <a:xfrm>
            <a:off x="1330835" y="2846271"/>
            <a:ext cx="10121486" cy="22184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Analyze Steps: Break down the problem into sub-problems</a:t>
            </a:r>
            <a:endParaRPr lang="en-US" sz="1100"/>
          </a:p>
        </p:txBody>
      </p:sp>
      <p:sp>
        <p:nvSpPr>
          <p:cNvPr id="13" name="Freeform 13"/>
          <p:cNvSpPr/>
          <p:nvPr>
            <p:custDataLst>
              <p:tags r:id="rId7"/>
            </p:custDataLst>
          </p:nvPr>
        </p:nvSpPr>
        <p:spPr>
          <a:xfrm>
            <a:off x="665417" y="3363719"/>
            <a:ext cx="369735" cy="369735"/>
          </a:xfrm>
          <a:custGeom>
            <a:avLst/>
            <a:gdLst/>
            <a:ahLst/>
            <a:cxnLst/>
            <a:rect l="l" t="t" r="r" b="b"/>
            <a:pathLst>
              <a:path w="369735" h="369735">
                <a:moveTo>
                  <a:pt x="184868" y="0"/>
                </a:moveTo>
                <a:lnTo>
                  <a:pt x="184868" y="0"/>
                </a:lnTo>
                <a:cubicBezTo>
                  <a:pt x="286898" y="0"/>
                  <a:pt x="369735" y="82836"/>
                  <a:pt x="369735" y="184868"/>
                </a:cubicBezTo>
                <a:lnTo>
                  <a:pt x="369735" y="184868"/>
                </a:lnTo>
                <a:cubicBezTo>
                  <a:pt x="369735" y="286898"/>
                  <a:pt x="286898" y="369735"/>
                  <a:pt x="184868" y="369735"/>
                </a:cubicBezTo>
                <a:lnTo>
                  <a:pt x="184868" y="369735"/>
                </a:lnTo>
                <a:cubicBezTo>
                  <a:pt x="82836" y="369735"/>
                  <a:pt x="0" y="286898"/>
                  <a:pt x="0" y="184868"/>
                </a:cubicBezTo>
                <a:lnTo>
                  <a:pt x="0" y="184868"/>
                </a:lnTo>
                <a:cubicBezTo>
                  <a:pt x="0" y="82836"/>
                  <a:pt x="82836" y="0"/>
                  <a:pt x="184868"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custDataLst>
              <p:tags r:id="rId8"/>
            </p:custDataLst>
          </p:nvPr>
        </p:nvSpPr>
        <p:spPr>
          <a:xfrm>
            <a:off x="801311" y="3419251"/>
            <a:ext cx="184867" cy="258814"/>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45"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3</a:t>
            </a:r>
            <a:endParaRPr lang="en-US" sz="1100"/>
          </a:p>
        </p:txBody>
      </p:sp>
      <p:sp>
        <p:nvSpPr>
          <p:cNvPr id="15" name="Freeform 15"/>
          <p:cNvSpPr/>
          <p:nvPr/>
        </p:nvSpPr>
        <p:spPr>
          <a:xfrm>
            <a:off x="1182993" y="3363719"/>
            <a:ext cx="10343327" cy="517629"/>
          </a:xfrm>
          <a:custGeom>
            <a:avLst/>
            <a:gdLst/>
            <a:ahLst/>
            <a:cxnLst/>
            <a:rect l="l" t="t" r="r" b="b"/>
            <a:pathLst>
              <a:path w="10343327" h="517629">
                <a:moveTo>
                  <a:pt x="73948" y="0"/>
                </a:moveTo>
                <a:lnTo>
                  <a:pt x="10269377" y="0"/>
                </a:lnTo>
                <a:cubicBezTo>
                  <a:pt x="10310219" y="0"/>
                  <a:pt x="10343327" y="33108"/>
                  <a:pt x="10343327" y="73948"/>
                </a:cubicBezTo>
                <a:lnTo>
                  <a:pt x="10343327" y="443680"/>
                </a:lnTo>
                <a:cubicBezTo>
                  <a:pt x="10343327" y="484522"/>
                  <a:pt x="10310219" y="517629"/>
                  <a:pt x="10269377" y="517629"/>
                </a:cubicBezTo>
                <a:lnTo>
                  <a:pt x="73948" y="517629"/>
                </a:lnTo>
                <a:cubicBezTo>
                  <a:pt x="33108" y="517629"/>
                  <a:pt x="0" y="484522"/>
                  <a:pt x="0" y="443680"/>
                </a:cubicBezTo>
                <a:lnTo>
                  <a:pt x="0" y="73948"/>
                </a:lnTo>
                <a:cubicBezTo>
                  <a:pt x="0" y="33136"/>
                  <a:pt x="33136" y="0"/>
                  <a:pt x="73948"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custDataLst>
              <p:tags r:id="rId9"/>
            </p:custDataLst>
          </p:nvPr>
        </p:nvSpPr>
        <p:spPr>
          <a:xfrm>
            <a:off x="1330835" y="3511558"/>
            <a:ext cx="10121486" cy="22184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Solve Step-by-Step: Address each sub-problem sequentially</a:t>
            </a:r>
            <a:endParaRPr lang="en-US" sz="1100"/>
          </a:p>
        </p:txBody>
      </p:sp>
      <p:sp>
        <p:nvSpPr>
          <p:cNvPr id="17" name="Freeform 17"/>
          <p:cNvSpPr/>
          <p:nvPr>
            <p:custDataLst>
              <p:tags r:id="rId10"/>
            </p:custDataLst>
          </p:nvPr>
        </p:nvSpPr>
        <p:spPr>
          <a:xfrm>
            <a:off x="665417" y="4029006"/>
            <a:ext cx="369735" cy="369735"/>
          </a:xfrm>
          <a:custGeom>
            <a:avLst/>
            <a:gdLst/>
            <a:ahLst/>
            <a:cxnLst/>
            <a:rect l="l" t="t" r="r" b="b"/>
            <a:pathLst>
              <a:path w="369735" h="369735">
                <a:moveTo>
                  <a:pt x="184868" y="0"/>
                </a:moveTo>
                <a:lnTo>
                  <a:pt x="184868" y="0"/>
                </a:lnTo>
                <a:cubicBezTo>
                  <a:pt x="286898" y="0"/>
                  <a:pt x="369735" y="82836"/>
                  <a:pt x="369735" y="184868"/>
                </a:cubicBezTo>
                <a:lnTo>
                  <a:pt x="369735" y="184868"/>
                </a:lnTo>
                <a:cubicBezTo>
                  <a:pt x="369735" y="286898"/>
                  <a:pt x="286898" y="369735"/>
                  <a:pt x="184868" y="369735"/>
                </a:cubicBezTo>
                <a:lnTo>
                  <a:pt x="184868" y="369735"/>
                </a:lnTo>
                <a:cubicBezTo>
                  <a:pt x="82836" y="369735"/>
                  <a:pt x="0" y="286898"/>
                  <a:pt x="0" y="184868"/>
                </a:cubicBezTo>
                <a:lnTo>
                  <a:pt x="0" y="184868"/>
                </a:lnTo>
                <a:cubicBezTo>
                  <a:pt x="0" y="82836"/>
                  <a:pt x="82836" y="0"/>
                  <a:pt x="184868"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custDataLst>
              <p:tags r:id="rId11"/>
            </p:custDataLst>
          </p:nvPr>
        </p:nvSpPr>
        <p:spPr>
          <a:xfrm>
            <a:off x="801442" y="4084539"/>
            <a:ext cx="184867" cy="258814"/>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45"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4</a:t>
            </a:r>
            <a:endParaRPr lang="en-US" sz="1100"/>
          </a:p>
        </p:txBody>
      </p:sp>
      <p:sp>
        <p:nvSpPr>
          <p:cNvPr id="19" name="Freeform 19"/>
          <p:cNvSpPr/>
          <p:nvPr/>
        </p:nvSpPr>
        <p:spPr>
          <a:xfrm>
            <a:off x="1182993" y="4029006"/>
            <a:ext cx="10343327" cy="517629"/>
          </a:xfrm>
          <a:custGeom>
            <a:avLst/>
            <a:gdLst/>
            <a:ahLst/>
            <a:cxnLst/>
            <a:rect l="l" t="t" r="r" b="b"/>
            <a:pathLst>
              <a:path w="10343327" h="517629">
                <a:moveTo>
                  <a:pt x="73948" y="0"/>
                </a:moveTo>
                <a:lnTo>
                  <a:pt x="10269377" y="0"/>
                </a:lnTo>
                <a:cubicBezTo>
                  <a:pt x="10310219" y="0"/>
                  <a:pt x="10343327" y="33108"/>
                  <a:pt x="10343327" y="73948"/>
                </a:cubicBezTo>
                <a:lnTo>
                  <a:pt x="10343327" y="443680"/>
                </a:lnTo>
                <a:cubicBezTo>
                  <a:pt x="10343327" y="484522"/>
                  <a:pt x="10310219" y="517629"/>
                  <a:pt x="10269377" y="517629"/>
                </a:cubicBezTo>
                <a:lnTo>
                  <a:pt x="73948" y="517629"/>
                </a:lnTo>
                <a:cubicBezTo>
                  <a:pt x="33108" y="517629"/>
                  <a:pt x="0" y="484522"/>
                  <a:pt x="0" y="443680"/>
                </a:cubicBezTo>
                <a:lnTo>
                  <a:pt x="0" y="73948"/>
                </a:lnTo>
                <a:cubicBezTo>
                  <a:pt x="0" y="33136"/>
                  <a:pt x="33136" y="0"/>
                  <a:pt x="73948"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custDataLst>
              <p:tags r:id="rId12"/>
            </p:custDataLst>
          </p:nvPr>
        </p:nvSpPr>
        <p:spPr>
          <a:xfrm>
            <a:off x="1330835" y="4176846"/>
            <a:ext cx="10121486" cy="22184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Verify the Answer: Check the correctness of the result</a:t>
            </a:r>
            <a:endParaRPr lang="en-US" sz="1100"/>
          </a:p>
        </p:txBody>
      </p:sp>
      <p:sp>
        <p:nvSpPr>
          <p:cNvPr id="21" name="Freeform 21"/>
          <p:cNvSpPr/>
          <p:nvPr/>
        </p:nvSpPr>
        <p:spPr>
          <a:xfrm>
            <a:off x="369735" y="5063902"/>
            <a:ext cx="5619967" cy="1312558"/>
          </a:xfrm>
          <a:custGeom>
            <a:avLst/>
            <a:gdLst/>
            <a:ahLst/>
            <a:cxnLst/>
            <a:rect l="l" t="t" r="r" b="b"/>
            <a:pathLst>
              <a:path w="5619967" h="1312558">
                <a:moveTo>
                  <a:pt x="110924" y="0"/>
                </a:moveTo>
                <a:lnTo>
                  <a:pt x="5509042" y="0"/>
                </a:lnTo>
                <a:cubicBezTo>
                  <a:pt x="5570304" y="0"/>
                  <a:pt x="5619967" y="49662"/>
                  <a:pt x="5619967" y="110924"/>
                </a:cubicBezTo>
                <a:lnTo>
                  <a:pt x="5619967" y="1201635"/>
                </a:lnTo>
                <a:cubicBezTo>
                  <a:pt x="5619967" y="1262896"/>
                  <a:pt x="5570304" y="1312558"/>
                  <a:pt x="5509042" y="1312558"/>
                </a:cubicBezTo>
                <a:lnTo>
                  <a:pt x="110924" y="1312558"/>
                </a:lnTo>
                <a:cubicBezTo>
                  <a:pt x="49662" y="1312558"/>
                  <a:pt x="0" y="1262896"/>
                  <a:pt x="0" y="1201635"/>
                </a:cubicBezTo>
                <a:lnTo>
                  <a:pt x="0" y="110924"/>
                </a:lnTo>
                <a:cubicBezTo>
                  <a:pt x="0" y="49704"/>
                  <a:pt x="49704" y="0"/>
                  <a:pt x="110924"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algn="ctr">
              <a:defRPr/>
            </a:pPr>
          </a:p>
        </p:txBody>
      </p:sp>
      <p:sp>
        <p:nvSpPr>
          <p:cNvPr id="22" name="Freeform 22"/>
          <p:cNvSpPr/>
          <p:nvPr/>
        </p:nvSpPr>
        <p:spPr>
          <a:xfrm>
            <a:off x="3058661" y="5248770"/>
            <a:ext cx="242639" cy="277301"/>
          </a:xfrm>
          <a:custGeom>
            <a:avLst/>
            <a:gdLst/>
            <a:ahLst/>
            <a:cxnLst/>
            <a:rect l="l" t="t" r="r" b="b"/>
            <a:pathLst>
              <a:path w="242639" h="277301">
                <a:moveTo>
                  <a:pt x="242639" y="111462"/>
                </a:moveTo>
                <a:cubicBezTo>
                  <a:pt x="234624" y="116770"/>
                  <a:pt x="225415" y="121048"/>
                  <a:pt x="215829" y="124460"/>
                </a:cubicBezTo>
                <a:cubicBezTo>
                  <a:pt x="190374" y="133560"/>
                  <a:pt x="156957" y="138650"/>
                  <a:pt x="121319" y="138650"/>
                </a:cubicBezTo>
                <a:cubicBezTo>
                  <a:pt x="85682" y="138650"/>
                  <a:pt x="52211" y="133505"/>
                  <a:pt x="26808" y="124460"/>
                </a:cubicBezTo>
                <a:cubicBezTo>
                  <a:pt x="17277" y="121048"/>
                  <a:pt x="8016" y="116770"/>
                  <a:pt x="0" y="111462"/>
                </a:cubicBezTo>
                <a:lnTo>
                  <a:pt x="0" y="155981"/>
                </a:lnTo>
                <a:cubicBezTo>
                  <a:pt x="0" y="179921"/>
                  <a:pt x="54323" y="199310"/>
                  <a:pt x="121319" y="199310"/>
                </a:cubicBezTo>
                <a:cubicBezTo>
                  <a:pt x="188316" y="199310"/>
                  <a:pt x="242639" y="179921"/>
                  <a:pt x="242639" y="155981"/>
                </a:cubicBezTo>
                <a:lnTo>
                  <a:pt x="242639" y="111462"/>
                </a:lnTo>
                <a:close/>
                <a:moveTo>
                  <a:pt x="242639" y="69325"/>
                </a:moveTo>
                <a:lnTo>
                  <a:pt x="242639" y="43329"/>
                </a:lnTo>
                <a:cubicBezTo>
                  <a:pt x="242639" y="19389"/>
                  <a:pt x="188316" y="0"/>
                  <a:pt x="121319" y="0"/>
                </a:cubicBezTo>
                <a:cubicBezTo>
                  <a:pt x="54323" y="0"/>
                  <a:pt x="0" y="19389"/>
                  <a:pt x="0" y="43329"/>
                </a:cubicBezTo>
                <a:lnTo>
                  <a:pt x="0" y="69325"/>
                </a:lnTo>
                <a:cubicBezTo>
                  <a:pt x="0" y="93264"/>
                  <a:pt x="54323" y="112654"/>
                  <a:pt x="121319" y="112654"/>
                </a:cubicBezTo>
                <a:cubicBezTo>
                  <a:pt x="188316" y="112654"/>
                  <a:pt x="242639" y="93264"/>
                  <a:pt x="242639" y="69325"/>
                </a:cubicBezTo>
                <a:close/>
                <a:moveTo>
                  <a:pt x="215829" y="211117"/>
                </a:moveTo>
                <a:cubicBezTo>
                  <a:pt x="190428" y="220162"/>
                  <a:pt x="157011" y="225307"/>
                  <a:pt x="121319" y="225307"/>
                </a:cubicBezTo>
                <a:cubicBezTo>
                  <a:pt x="85628" y="225307"/>
                  <a:pt x="52211" y="220162"/>
                  <a:pt x="26808" y="211117"/>
                </a:cubicBezTo>
                <a:cubicBezTo>
                  <a:pt x="17277" y="207705"/>
                  <a:pt x="8016" y="203426"/>
                  <a:pt x="0" y="198119"/>
                </a:cubicBezTo>
                <a:lnTo>
                  <a:pt x="0" y="233973"/>
                </a:lnTo>
                <a:cubicBezTo>
                  <a:pt x="0" y="257912"/>
                  <a:pt x="54323" y="277301"/>
                  <a:pt x="121319" y="277301"/>
                </a:cubicBezTo>
                <a:cubicBezTo>
                  <a:pt x="188316" y="277301"/>
                  <a:pt x="242639" y="257912"/>
                  <a:pt x="242639" y="233973"/>
                </a:cubicBezTo>
                <a:lnTo>
                  <a:pt x="242639" y="198119"/>
                </a:lnTo>
                <a:cubicBezTo>
                  <a:pt x="234624" y="203426"/>
                  <a:pt x="225415" y="207705"/>
                  <a:pt x="215829" y="211117"/>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513007" y="5636883"/>
            <a:ext cx="5333422" cy="258814"/>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45"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Pre-training Stage</a:t>
            </a:r>
            <a:endParaRPr lang="en-US" sz="1100"/>
          </a:p>
        </p:txBody>
      </p:sp>
      <p:sp>
        <p:nvSpPr>
          <p:cNvPr id="24" name="AutoShape 24"/>
          <p:cNvSpPr/>
          <p:nvPr/>
        </p:nvSpPr>
        <p:spPr>
          <a:xfrm>
            <a:off x="517628" y="5969463"/>
            <a:ext cx="5324179" cy="221841"/>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Large-scale reasoning text data</a:t>
            </a:r>
            <a:endParaRPr lang="en-US" sz="1100"/>
          </a:p>
        </p:txBody>
      </p:sp>
      <p:sp>
        <p:nvSpPr>
          <p:cNvPr id="25" name="Freeform 25"/>
          <p:cNvSpPr/>
          <p:nvPr/>
        </p:nvSpPr>
        <p:spPr>
          <a:xfrm>
            <a:off x="6207367" y="5063902"/>
            <a:ext cx="5619967" cy="1312558"/>
          </a:xfrm>
          <a:custGeom>
            <a:avLst/>
            <a:gdLst/>
            <a:ahLst/>
            <a:cxnLst/>
            <a:rect l="l" t="t" r="r" b="b"/>
            <a:pathLst>
              <a:path w="5619967" h="1312558">
                <a:moveTo>
                  <a:pt x="110924" y="0"/>
                </a:moveTo>
                <a:lnTo>
                  <a:pt x="5509042" y="0"/>
                </a:lnTo>
                <a:cubicBezTo>
                  <a:pt x="5570304" y="0"/>
                  <a:pt x="5619967" y="49662"/>
                  <a:pt x="5619967" y="110924"/>
                </a:cubicBezTo>
                <a:lnTo>
                  <a:pt x="5619967" y="1201635"/>
                </a:lnTo>
                <a:cubicBezTo>
                  <a:pt x="5619967" y="1262896"/>
                  <a:pt x="5570304" y="1312558"/>
                  <a:pt x="5509042" y="1312558"/>
                </a:cubicBezTo>
                <a:lnTo>
                  <a:pt x="110924" y="1312558"/>
                </a:lnTo>
                <a:cubicBezTo>
                  <a:pt x="49662" y="1312558"/>
                  <a:pt x="0" y="1262896"/>
                  <a:pt x="0" y="1201635"/>
                </a:cubicBezTo>
                <a:lnTo>
                  <a:pt x="0" y="110924"/>
                </a:lnTo>
                <a:cubicBezTo>
                  <a:pt x="0" y="49704"/>
                  <a:pt x="49704" y="0"/>
                  <a:pt x="110924"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algn="ctr">
              <a:defRPr/>
            </a:pPr>
          </a:p>
        </p:txBody>
      </p:sp>
      <p:sp>
        <p:nvSpPr>
          <p:cNvPr id="26" name="Freeform 26"/>
          <p:cNvSpPr/>
          <p:nvPr/>
        </p:nvSpPr>
        <p:spPr>
          <a:xfrm>
            <a:off x="8896293" y="5240483"/>
            <a:ext cx="242639" cy="285587"/>
          </a:xfrm>
          <a:custGeom>
            <a:avLst/>
            <a:gdLst/>
            <a:ahLst/>
            <a:cxnLst/>
            <a:rect l="l" t="t" r="r" b="b"/>
            <a:pathLst>
              <a:path w="242639" h="285587">
                <a:moveTo>
                  <a:pt x="130689" y="1246"/>
                </a:moveTo>
                <a:cubicBezTo>
                  <a:pt x="124515" y="0"/>
                  <a:pt x="118179" y="0"/>
                  <a:pt x="112004" y="1246"/>
                </a:cubicBezTo>
                <a:lnTo>
                  <a:pt x="10453" y="21556"/>
                </a:lnTo>
                <a:cubicBezTo>
                  <a:pt x="4387" y="22748"/>
                  <a:pt x="0" y="28110"/>
                  <a:pt x="0" y="34284"/>
                </a:cubicBezTo>
                <a:cubicBezTo>
                  <a:pt x="0" y="39862"/>
                  <a:pt x="3520" y="44737"/>
                  <a:pt x="8666" y="46524"/>
                </a:cubicBezTo>
                <a:lnTo>
                  <a:pt x="8666" y="86278"/>
                </a:lnTo>
                <a:lnTo>
                  <a:pt x="163" y="128848"/>
                </a:lnTo>
                <a:cubicBezTo>
                  <a:pt x="55" y="129335"/>
                  <a:pt x="0" y="129877"/>
                  <a:pt x="0" y="130419"/>
                </a:cubicBezTo>
                <a:cubicBezTo>
                  <a:pt x="0" y="134751"/>
                  <a:pt x="3520" y="138326"/>
                  <a:pt x="7907" y="138326"/>
                </a:cubicBezTo>
                <a:lnTo>
                  <a:pt x="26808" y="138326"/>
                </a:lnTo>
                <a:cubicBezTo>
                  <a:pt x="31142" y="138326"/>
                  <a:pt x="34717" y="134806"/>
                  <a:pt x="34717" y="130419"/>
                </a:cubicBezTo>
                <a:cubicBezTo>
                  <a:pt x="34717" y="129877"/>
                  <a:pt x="34663" y="129390"/>
                  <a:pt x="34554" y="128848"/>
                </a:cubicBezTo>
                <a:lnTo>
                  <a:pt x="25997" y="86278"/>
                </a:lnTo>
                <a:lnTo>
                  <a:pt x="25997" y="50153"/>
                </a:lnTo>
                <a:lnTo>
                  <a:pt x="51994" y="55352"/>
                </a:lnTo>
                <a:lnTo>
                  <a:pt x="51994" y="86278"/>
                </a:lnTo>
                <a:cubicBezTo>
                  <a:pt x="51994" y="124569"/>
                  <a:pt x="83028" y="155603"/>
                  <a:pt x="121319" y="155603"/>
                </a:cubicBezTo>
                <a:cubicBezTo>
                  <a:pt x="159611" y="155603"/>
                  <a:pt x="190644" y="124569"/>
                  <a:pt x="190644" y="86278"/>
                </a:cubicBezTo>
                <a:lnTo>
                  <a:pt x="190644" y="55352"/>
                </a:lnTo>
                <a:lnTo>
                  <a:pt x="232185" y="47066"/>
                </a:lnTo>
                <a:cubicBezTo>
                  <a:pt x="238251" y="45821"/>
                  <a:pt x="242639" y="40457"/>
                  <a:pt x="242639" y="34284"/>
                </a:cubicBezTo>
                <a:cubicBezTo>
                  <a:pt x="242639" y="28110"/>
                  <a:pt x="238251" y="22748"/>
                  <a:pt x="232185" y="21556"/>
                </a:cubicBezTo>
                <a:lnTo>
                  <a:pt x="130689" y="1246"/>
                </a:lnTo>
                <a:close/>
                <a:moveTo>
                  <a:pt x="121319" y="129606"/>
                </a:moveTo>
                <a:cubicBezTo>
                  <a:pt x="97380" y="129606"/>
                  <a:pt x="77991" y="110217"/>
                  <a:pt x="77991" y="86278"/>
                </a:cubicBezTo>
                <a:lnTo>
                  <a:pt x="164647" y="86278"/>
                </a:lnTo>
                <a:cubicBezTo>
                  <a:pt x="164647" y="110217"/>
                  <a:pt x="145258" y="129606"/>
                  <a:pt x="121319" y="129606"/>
                </a:cubicBezTo>
                <a:close/>
                <a:moveTo>
                  <a:pt x="65047" y="181653"/>
                </a:moveTo>
                <a:cubicBezTo>
                  <a:pt x="31792" y="196926"/>
                  <a:pt x="8666" y="230507"/>
                  <a:pt x="8666" y="269502"/>
                </a:cubicBezTo>
                <a:cubicBezTo>
                  <a:pt x="8666" y="278386"/>
                  <a:pt x="15869" y="285588"/>
                  <a:pt x="24751" y="285588"/>
                </a:cubicBezTo>
                <a:lnTo>
                  <a:pt x="108321" y="285588"/>
                </a:lnTo>
                <a:lnTo>
                  <a:pt x="108321" y="206514"/>
                </a:lnTo>
                <a:lnTo>
                  <a:pt x="77233" y="183224"/>
                </a:lnTo>
                <a:cubicBezTo>
                  <a:pt x="73712" y="180571"/>
                  <a:pt x="69000" y="179867"/>
                  <a:pt x="64992" y="181708"/>
                </a:cubicBezTo>
                <a:close/>
                <a:moveTo>
                  <a:pt x="134318" y="285588"/>
                </a:moveTo>
                <a:lnTo>
                  <a:pt x="217888" y="285588"/>
                </a:lnTo>
                <a:cubicBezTo>
                  <a:pt x="226769" y="285588"/>
                  <a:pt x="233973" y="278386"/>
                  <a:pt x="233973" y="269502"/>
                </a:cubicBezTo>
                <a:cubicBezTo>
                  <a:pt x="233973" y="230507"/>
                  <a:pt x="210845" y="196926"/>
                  <a:pt x="177592" y="181708"/>
                </a:cubicBezTo>
                <a:cubicBezTo>
                  <a:pt x="173584" y="179867"/>
                  <a:pt x="168872" y="180571"/>
                  <a:pt x="165351" y="183224"/>
                </a:cubicBezTo>
                <a:lnTo>
                  <a:pt x="134264" y="206514"/>
                </a:lnTo>
                <a:lnTo>
                  <a:pt x="134264" y="285588"/>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6350639" y="5636883"/>
            <a:ext cx="5333422" cy="258814"/>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45"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Fine-tuning Stage</a:t>
            </a:r>
            <a:endParaRPr lang="en-US" sz="1100"/>
          </a:p>
        </p:txBody>
      </p:sp>
      <p:sp>
        <p:nvSpPr>
          <p:cNvPr id="28" name="AutoShape 28"/>
          <p:cNvSpPr/>
          <p:nvPr/>
        </p:nvSpPr>
        <p:spPr>
          <a:xfrm>
            <a:off x="6355261" y="5969463"/>
            <a:ext cx="5324179" cy="221841"/>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Step-by-step annotated data</a:t>
            </a:r>
            <a:endParaRPr lang="en-US" sz="1100"/>
          </a:p>
        </p:txBody>
      </p:sp>
      <p:sp>
        <p:nvSpPr>
          <p:cNvPr id="29" name="Freeform 29"/>
          <p:cNvSpPr/>
          <p:nvPr/>
        </p:nvSpPr>
        <p:spPr>
          <a:xfrm>
            <a:off x="369735" y="6597850"/>
            <a:ext cx="11452531" cy="258815"/>
          </a:xfrm>
          <a:custGeom>
            <a:avLst/>
            <a:gdLst/>
            <a:ahLst/>
            <a:cxnLst/>
            <a:rect l="l" t="t" r="r" b="b"/>
            <a:pathLst>
              <a:path w="11452531" h="258815">
                <a:moveTo>
                  <a:pt x="73946" y="0"/>
                </a:moveTo>
                <a:lnTo>
                  <a:pt x="11378585" y="0"/>
                </a:lnTo>
                <a:cubicBezTo>
                  <a:pt x="11419423" y="0"/>
                  <a:pt x="11452531" y="33108"/>
                  <a:pt x="11452531" y="73946"/>
                </a:cubicBezTo>
                <a:lnTo>
                  <a:pt x="11452531" y="184868"/>
                </a:lnTo>
                <a:cubicBezTo>
                  <a:pt x="11452531" y="225708"/>
                  <a:pt x="11419423" y="258815"/>
                  <a:pt x="11378585" y="258815"/>
                </a:cubicBezTo>
                <a:lnTo>
                  <a:pt x="73946" y="258815"/>
                </a:lnTo>
                <a:cubicBezTo>
                  <a:pt x="33134" y="258815"/>
                  <a:pt x="0" y="225680"/>
                  <a:pt x="0" y="184868"/>
                </a:cubicBezTo>
                <a:lnTo>
                  <a:pt x="0" y="73946"/>
                </a:lnTo>
                <a:cubicBezTo>
                  <a:pt x="0" y="33134"/>
                  <a:pt x="33134" y="0"/>
                  <a:pt x="73946"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0" name="AutoShape 30"/>
          <p:cNvSpPr/>
          <p:nvPr/>
        </p:nvSpPr>
        <p:spPr>
          <a:xfrm>
            <a:off x="591497" y="6597850"/>
            <a:ext cx="7638102" cy="258814"/>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4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74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CoT Training Mechanism</a:t>
            </a:r>
            <a:r>
              <a:rPr lang="en-US" sz="74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Through reasoning text in pre-training and step-by-step data in fine-tuning, jointly develop the model step-by-step reasoning capability</a:t>
            </a:r>
            <a:endParaRPr lang="en-US" sz="1100"/>
          </a:p>
        </p:txBody>
      </p:sp>
    </p:spTree>
  </p:cSld>
  <p:clrMapOvr>
    <a:masterClrMapping/>
  </p:clrMapOvr>
  <p:transition spd="slow">
    <p:fade/>
  </p:transition>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2784601" y="889732"/>
            <a:ext cx="6619875" cy="6858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3000" b="0" i="0" u="none" strike="noStrike">
                <a:solidFill>
                  <a:srgbClr val="5B92E5"/>
                </a:solidFill>
                <a:latin typeface="Alimama ShuHeiTi"/>
                <a:ea typeface="Alimama ShuHeiTi"/>
                <a:cs typeface="Alimama ShuHeiTi"/>
                <a:sym typeface="Alimama ShuHeiTi"/>
              </a:rPr>
              <a:t>Course Summary</a:t>
            </a:r>
            <a:endParaRPr lang="en-US" sz="1100"/>
          </a:p>
        </p:txBody>
      </p:sp>
      <p:sp>
        <p:nvSpPr>
          <p:cNvPr id="3" name="Freeform 3"/>
          <p:cNvSpPr/>
          <p:nvPr/>
        </p:nvSpPr>
        <p:spPr>
          <a:xfrm>
            <a:off x="2898901" y="1991060"/>
            <a:ext cx="952500" cy="933450"/>
          </a:xfrm>
          <a:custGeom>
            <a:avLst/>
            <a:gdLst/>
            <a:ahLst/>
            <a:cxnLst/>
            <a:rect l="l" t="t" r="r" b="b"/>
            <a:pathLst>
              <a:path w="952500" h="933450">
                <a:moveTo>
                  <a:pt x="114301" y="0"/>
                </a:moveTo>
                <a:lnTo>
                  <a:pt x="838199" y="0"/>
                </a:lnTo>
                <a:cubicBezTo>
                  <a:pt x="901327" y="0"/>
                  <a:pt x="952500" y="51173"/>
                  <a:pt x="952500" y="114301"/>
                </a:cubicBezTo>
                <a:lnTo>
                  <a:pt x="952500" y="819149"/>
                </a:lnTo>
                <a:cubicBezTo>
                  <a:pt x="952500" y="882277"/>
                  <a:pt x="901327" y="933450"/>
                  <a:pt x="838199" y="933450"/>
                </a:cubicBezTo>
                <a:lnTo>
                  <a:pt x="114301" y="933450"/>
                </a:lnTo>
                <a:cubicBezTo>
                  <a:pt x="51173" y="933450"/>
                  <a:pt x="0" y="882277"/>
                  <a:pt x="0" y="819149"/>
                </a:cubicBezTo>
                <a:lnTo>
                  <a:pt x="0" y="114301"/>
                </a:lnTo>
                <a:cubicBezTo>
                  <a:pt x="0" y="51217"/>
                  <a:pt x="51217" y="0"/>
                  <a:pt x="114301"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215976" y="2125526"/>
            <a:ext cx="323869" cy="322696"/>
          </a:xfrm>
          <a:custGeom>
            <a:avLst/>
            <a:gdLst/>
            <a:ahLst/>
            <a:cxnLst/>
            <a:rect l="l" t="t" r="r" b="b"/>
            <a:pathLst>
              <a:path w="323869" h="322696">
                <a:moveTo>
                  <a:pt x="215541" y="98226"/>
                </a:moveTo>
                <a:cubicBezTo>
                  <a:pt x="215541" y="152474"/>
                  <a:pt x="167543" y="196453"/>
                  <a:pt x="108384" y="196453"/>
                </a:cubicBezTo>
                <a:cubicBezTo>
                  <a:pt x="93483" y="196453"/>
                  <a:pt x="79308" y="193663"/>
                  <a:pt x="66415" y="188638"/>
                </a:cubicBezTo>
                <a:lnTo>
                  <a:pt x="20874" y="212749"/>
                </a:lnTo>
                <a:cubicBezTo>
                  <a:pt x="15683" y="215484"/>
                  <a:pt x="9320" y="214535"/>
                  <a:pt x="5135" y="210405"/>
                </a:cubicBezTo>
                <a:cubicBezTo>
                  <a:pt x="949" y="206275"/>
                  <a:pt x="0" y="199858"/>
                  <a:pt x="2791" y="194667"/>
                </a:cubicBezTo>
                <a:lnTo>
                  <a:pt x="22659" y="157161"/>
                </a:lnTo>
                <a:cubicBezTo>
                  <a:pt x="9209" y="140754"/>
                  <a:pt x="1228" y="120326"/>
                  <a:pt x="1228" y="98226"/>
                </a:cubicBezTo>
                <a:cubicBezTo>
                  <a:pt x="1228" y="43978"/>
                  <a:pt x="49225" y="0"/>
                  <a:pt x="108384" y="0"/>
                </a:cubicBezTo>
                <a:cubicBezTo>
                  <a:pt x="167543" y="0"/>
                  <a:pt x="215541" y="43978"/>
                  <a:pt x="215541" y="98226"/>
                </a:cubicBezTo>
                <a:close/>
                <a:moveTo>
                  <a:pt x="215541" y="303609"/>
                </a:moveTo>
                <a:cubicBezTo>
                  <a:pt x="163023" y="303609"/>
                  <a:pt x="119323" y="268951"/>
                  <a:pt x="110170" y="223242"/>
                </a:cubicBezTo>
                <a:cubicBezTo>
                  <a:pt x="177143" y="222405"/>
                  <a:pt x="235352" y="174742"/>
                  <a:pt x="241771" y="110114"/>
                </a:cubicBezTo>
                <a:cubicBezTo>
                  <a:pt x="288262" y="120829"/>
                  <a:pt x="322697" y="159395"/>
                  <a:pt x="322697" y="205382"/>
                </a:cubicBezTo>
                <a:cubicBezTo>
                  <a:pt x="322697" y="227483"/>
                  <a:pt x="314716" y="247911"/>
                  <a:pt x="301266" y="264318"/>
                </a:cubicBezTo>
                <a:lnTo>
                  <a:pt x="321133" y="301823"/>
                </a:lnTo>
                <a:cubicBezTo>
                  <a:pt x="323869" y="307013"/>
                  <a:pt x="322920" y="313377"/>
                  <a:pt x="318790" y="317562"/>
                </a:cubicBezTo>
                <a:cubicBezTo>
                  <a:pt x="314660" y="321747"/>
                  <a:pt x="308242" y="322696"/>
                  <a:pt x="303051" y="319906"/>
                </a:cubicBezTo>
                <a:lnTo>
                  <a:pt x="257510" y="295796"/>
                </a:lnTo>
                <a:cubicBezTo>
                  <a:pt x="244618" y="300818"/>
                  <a:pt x="230441" y="303609"/>
                  <a:pt x="215541" y="303609"/>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3084557" y="2505335"/>
            <a:ext cx="5810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AI Applications</a:t>
            </a:r>
            <a:endParaRPr lang="en-US" sz="1100"/>
          </a:p>
        </p:txBody>
      </p:sp>
      <p:sp>
        <p:nvSpPr>
          <p:cNvPr id="6" name="Freeform 6"/>
          <p:cNvSpPr/>
          <p:nvPr/>
        </p:nvSpPr>
        <p:spPr>
          <a:xfrm>
            <a:off x="4033269" y="2370370"/>
            <a:ext cx="229984" cy="174308"/>
          </a:xfrm>
          <a:custGeom>
            <a:avLst/>
            <a:gdLst/>
            <a:ahLst/>
            <a:cxnLst/>
            <a:rect l="l" t="t" r="r" b="b"/>
            <a:pathLst>
              <a:path w="229984" h="174308">
                <a:moveTo>
                  <a:pt x="224403" y="97245"/>
                </a:moveTo>
                <a:cubicBezTo>
                  <a:pt x="229984" y="91662"/>
                  <a:pt x="229984" y="82600"/>
                  <a:pt x="224403" y="77019"/>
                </a:cubicBezTo>
                <a:lnTo>
                  <a:pt x="152966" y="5581"/>
                </a:lnTo>
                <a:cubicBezTo>
                  <a:pt x="147384" y="0"/>
                  <a:pt x="138321" y="0"/>
                  <a:pt x="132740" y="5581"/>
                </a:cubicBezTo>
                <a:cubicBezTo>
                  <a:pt x="127159" y="11162"/>
                  <a:pt x="127159" y="20226"/>
                  <a:pt x="132740" y="25807"/>
                </a:cubicBezTo>
                <a:lnTo>
                  <a:pt x="179799" y="72866"/>
                </a:lnTo>
                <a:lnTo>
                  <a:pt x="14287" y="72866"/>
                </a:lnTo>
                <a:cubicBezTo>
                  <a:pt x="6386" y="72866"/>
                  <a:pt x="0" y="79251"/>
                  <a:pt x="0" y="87154"/>
                </a:cubicBezTo>
                <a:cubicBezTo>
                  <a:pt x="0" y="95057"/>
                  <a:pt x="6386" y="101442"/>
                  <a:pt x="14287" y="101442"/>
                </a:cubicBezTo>
                <a:lnTo>
                  <a:pt x="179799" y="101442"/>
                </a:lnTo>
                <a:lnTo>
                  <a:pt x="132740" y="148501"/>
                </a:lnTo>
                <a:cubicBezTo>
                  <a:pt x="127159" y="154082"/>
                  <a:pt x="127159" y="163146"/>
                  <a:pt x="132740" y="168727"/>
                </a:cubicBezTo>
                <a:cubicBezTo>
                  <a:pt x="138321" y="174308"/>
                  <a:pt x="147384" y="174308"/>
                  <a:pt x="152966" y="168727"/>
                </a:cubicBezTo>
                <a:lnTo>
                  <a:pt x="224403" y="9728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4442790" y="1991060"/>
            <a:ext cx="1314450" cy="933450"/>
          </a:xfrm>
          <a:custGeom>
            <a:avLst/>
            <a:gdLst/>
            <a:ahLst/>
            <a:cxnLst/>
            <a:rect l="l" t="t" r="r" b="b"/>
            <a:pathLst>
              <a:path w="1314450" h="933450">
                <a:moveTo>
                  <a:pt x="114301" y="0"/>
                </a:moveTo>
                <a:lnTo>
                  <a:pt x="1200149" y="0"/>
                </a:lnTo>
                <a:cubicBezTo>
                  <a:pt x="1263277" y="0"/>
                  <a:pt x="1314450" y="51173"/>
                  <a:pt x="1314450" y="114301"/>
                </a:cubicBezTo>
                <a:lnTo>
                  <a:pt x="1314450" y="819149"/>
                </a:lnTo>
                <a:cubicBezTo>
                  <a:pt x="1314450" y="882277"/>
                  <a:pt x="1263277" y="933450"/>
                  <a:pt x="1200149" y="933450"/>
                </a:cubicBezTo>
                <a:lnTo>
                  <a:pt x="114301" y="933450"/>
                </a:lnTo>
                <a:cubicBezTo>
                  <a:pt x="51173" y="933450"/>
                  <a:pt x="0" y="882277"/>
                  <a:pt x="0" y="819149"/>
                </a:cubicBezTo>
                <a:lnTo>
                  <a:pt x="0" y="114301"/>
                </a:lnTo>
                <a:cubicBezTo>
                  <a:pt x="0" y="51217"/>
                  <a:pt x="51217" y="0"/>
                  <a:pt x="114301"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4963905" y="2143385"/>
            <a:ext cx="276819" cy="285750"/>
          </a:xfrm>
          <a:custGeom>
            <a:avLst/>
            <a:gdLst/>
            <a:ahLst/>
            <a:cxnLst/>
            <a:rect l="l" t="t" r="r" b="b"/>
            <a:pathLst>
              <a:path w="276819" h="285750">
                <a:moveTo>
                  <a:pt x="62508" y="31253"/>
                </a:moveTo>
                <a:cubicBezTo>
                  <a:pt x="62508" y="14008"/>
                  <a:pt x="76517" y="0"/>
                  <a:pt x="93762" y="0"/>
                </a:cubicBezTo>
                <a:lnTo>
                  <a:pt x="107157" y="0"/>
                </a:lnTo>
                <a:cubicBezTo>
                  <a:pt x="117035" y="0"/>
                  <a:pt x="125015" y="7981"/>
                  <a:pt x="125015" y="17859"/>
                </a:cubicBezTo>
                <a:lnTo>
                  <a:pt x="125015" y="267891"/>
                </a:lnTo>
                <a:cubicBezTo>
                  <a:pt x="125015" y="277769"/>
                  <a:pt x="117035" y="285750"/>
                  <a:pt x="107157" y="285750"/>
                </a:cubicBezTo>
                <a:lnTo>
                  <a:pt x="89297" y="285750"/>
                </a:lnTo>
                <a:cubicBezTo>
                  <a:pt x="72665" y="285750"/>
                  <a:pt x="58657" y="274364"/>
                  <a:pt x="54694" y="258961"/>
                </a:cubicBezTo>
                <a:cubicBezTo>
                  <a:pt x="54304" y="258961"/>
                  <a:pt x="53969" y="258961"/>
                  <a:pt x="53578" y="258961"/>
                </a:cubicBezTo>
                <a:cubicBezTo>
                  <a:pt x="28911" y="258961"/>
                  <a:pt x="8930" y="238981"/>
                  <a:pt x="8930" y="214313"/>
                </a:cubicBezTo>
                <a:cubicBezTo>
                  <a:pt x="8930" y="204267"/>
                  <a:pt x="12277" y="195002"/>
                  <a:pt x="17859" y="187523"/>
                </a:cubicBezTo>
                <a:cubicBezTo>
                  <a:pt x="7032" y="179375"/>
                  <a:pt x="0" y="166427"/>
                  <a:pt x="0" y="151804"/>
                </a:cubicBezTo>
                <a:cubicBezTo>
                  <a:pt x="0" y="134559"/>
                  <a:pt x="9823" y="119546"/>
                  <a:pt x="24110" y="112123"/>
                </a:cubicBezTo>
                <a:cubicBezTo>
                  <a:pt x="20148" y="105427"/>
                  <a:pt x="17859" y="97613"/>
                  <a:pt x="17859" y="89298"/>
                </a:cubicBezTo>
                <a:cubicBezTo>
                  <a:pt x="17859" y="64629"/>
                  <a:pt x="37839" y="44648"/>
                  <a:pt x="62508" y="44648"/>
                </a:cubicBezTo>
                <a:lnTo>
                  <a:pt x="62508" y="31253"/>
                </a:lnTo>
                <a:close/>
                <a:moveTo>
                  <a:pt x="214312" y="31253"/>
                </a:moveTo>
                <a:lnTo>
                  <a:pt x="214312" y="44648"/>
                </a:lnTo>
                <a:cubicBezTo>
                  <a:pt x="238981" y="44648"/>
                  <a:pt x="258961" y="64629"/>
                  <a:pt x="258961" y="89298"/>
                </a:cubicBezTo>
                <a:cubicBezTo>
                  <a:pt x="258961" y="97668"/>
                  <a:pt x="256672" y="105482"/>
                  <a:pt x="252710" y="112123"/>
                </a:cubicBezTo>
                <a:cubicBezTo>
                  <a:pt x="267053" y="119546"/>
                  <a:pt x="276820" y="134503"/>
                  <a:pt x="276820" y="151804"/>
                </a:cubicBezTo>
                <a:cubicBezTo>
                  <a:pt x="276820" y="166427"/>
                  <a:pt x="269788" y="179375"/>
                  <a:pt x="258961" y="187523"/>
                </a:cubicBezTo>
                <a:cubicBezTo>
                  <a:pt x="264543" y="195002"/>
                  <a:pt x="267890" y="204267"/>
                  <a:pt x="267890" y="214313"/>
                </a:cubicBezTo>
                <a:cubicBezTo>
                  <a:pt x="267890" y="238981"/>
                  <a:pt x="247909" y="258961"/>
                  <a:pt x="223242" y="258961"/>
                </a:cubicBezTo>
                <a:cubicBezTo>
                  <a:pt x="222851" y="258961"/>
                  <a:pt x="222516" y="258961"/>
                  <a:pt x="222126" y="258961"/>
                </a:cubicBezTo>
                <a:cubicBezTo>
                  <a:pt x="218163" y="274364"/>
                  <a:pt x="204155" y="285750"/>
                  <a:pt x="187523" y="285750"/>
                </a:cubicBezTo>
                <a:lnTo>
                  <a:pt x="169663" y="285750"/>
                </a:lnTo>
                <a:cubicBezTo>
                  <a:pt x="159785" y="285750"/>
                  <a:pt x="151805" y="277769"/>
                  <a:pt x="151805" y="267891"/>
                </a:cubicBezTo>
                <a:lnTo>
                  <a:pt x="151805" y="17859"/>
                </a:lnTo>
                <a:cubicBezTo>
                  <a:pt x="151805" y="7981"/>
                  <a:pt x="159785" y="0"/>
                  <a:pt x="169663" y="0"/>
                </a:cubicBezTo>
                <a:lnTo>
                  <a:pt x="183058" y="0"/>
                </a:lnTo>
                <a:cubicBezTo>
                  <a:pt x="200303" y="0"/>
                  <a:pt x="214312" y="14008"/>
                  <a:pt x="214312" y="31253"/>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4628446" y="2505335"/>
            <a:ext cx="94297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Large Model Capabilities</a:t>
            </a:r>
            <a:endParaRPr lang="en-US" sz="1100"/>
          </a:p>
        </p:txBody>
      </p:sp>
      <p:sp>
        <p:nvSpPr>
          <p:cNvPr id="10" name="Freeform 10"/>
          <p:cNvSpPr/>
          <p:nvPr/>
        </p:nvSpPr>
        <p:spPr>
          <a:xfrm>
            <a:off x="5937999" y="2370370"/>
            <a:ext cx="229984" cy="174308"/>
          </a:xfrm>
          <a:custGeom>
            <a:avLst/>
            <a:gdLst/>
            <a:ahLst/>
            <a:cxnLst/>
            <a:rect l="l" t="t" r="r" b="b"/>
            <a:pathLst>
              <a:path w="229984" h="174308">
                <a:moveTo>
                  <a:pt x="224403" y="97245"/>
                </a:moveTo>
                <a:cubicBezTo>
                  <a:pt x="229984" y="91662"/>
                  <a:pt x="229984" y="82600"/>
                  <a:pt x="224403" y="77019"/>
                </a:cubicBezTo>
                <a:lnTo>
                  <a:pt x="152966" y="5581"/>
                </a:lnTo>
                <a:cubicBezTo>
                  <a:pt x="147383" y="0"/>
                  <a:pt x="138321" y="0"/>
                  <a:pt x="132740" y="5581"/>
                </a:cubicBezTo>
                <a:cubicBezTo>
                  <a:pt x="127159" y="11162"/>
                  <a:pt x="127159" y="20226"/>
                  <a:pt x="132740" y="25807"/>
                </a:cubicBezTo>
                <a:lnTo>
                  <a:pt x="179799" y="72866"/>
                </a:lnTo>
                <a:lnTo>
                  <a:pt x="14287" y="72866"/>
                </a:lnTo>
                <a:cubicBezTo>
                  <a:pt x="6386" y="72866"/>
                  <a:pt x="0" y="79251"/>
                  <a:pt x="0" y="87154"/>
                </a:cubicBezTo>
                <a:cubicBezTo>
                  <a:pt x="0" y="95057"/>
                  <a:pt x="6386" y="101442"/>
                  <a:pt x="14287" y="101442"/>
                </a:cubicBezTo>
                <a:lnTo>
                  <a:pt x="179799" y="101442"/>
                </a:lnTo>
                <a:lnTo>
                  <a:pt x="132740" y="148501"/>
                </a:lnTo>
                <a:cubicBezTo>
                  <a:pt x="127159" y="154082"/>
                  <a:pt x="127159" y="163146"/>
                  <a:pt x="132740" y="168727"/>
                </a:cubicBezTo>
                <a:cubicBezTo>
                  <a:pt x="138321" y="174308"/>
                  <a:pt x="147383" y="174308"/>
                  <a:pt x="152966" y="168727"/>
                </a:cubicBezTo>
                <a:lnTo>
                  <a:pt x="224403" y="9728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6347520" y="1991060"/>
            <a:ext cx="1143000" cy="933450"/>
          </a:xfrm>
          <a:custGeom>
            <a:avLst/>
            <a:gdLst/>
            <a:ahLst/>
            <a:cxnLst/>
            <a:rect l="l" t="t" r="r" b="b"/>
            <a:pathLst>
              <a:path w="1143000" h="933450">
                <a:moveTo>
                  <a:pt x="114301" y="0"/>
                </a:moveTo>
                <a:lnTo>
                  <a:pt x="1028699" y="0"/>
                </a:lnTo>
                <a:cubicBezTo>
                  <a:pt x="1091827" y="0"/>
                  <a:pt x="1143000" y="51173"/>
                  <a:pt x="1143000" y="114301"/>
                </a:cubicBezTo>
                <a:lnTo>
                  <a:pt x="1143000" y="819149"/>
                </a:lnTo>
                <a:cubicBezTo>
                  <a:pt x="1143000" y="882277"/>
                  <a:pt x="1091827" y="933450"/>
                  <a:pt x="1028699" y="933450"/>
                </a:cubicBezTo>
                <a:lnTo>
                  <a:pt x="114301" y="933450"/>
                </a:lnTo>
                <a:cubicBezTo>
                  <a:pt x="51173" y="933450"/>
                  <a:pt x="0" y="882277"/>
                  <a:pt x="0" y="819149"/>
                </a:cubicBezTo>
                <a:lnTo>
                  <a:pt x="0" y="114301"/>
                </a:lnTo>
                <a:cubicBezTo>
                  <a:pt x="0" y="51217"/>
                  <a:pt x="51217" y="0"/>
                  <a:pt x="114301"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6751434" y="2116204"/>
            <a:ext cx="340166" cy="340167"/>
          </a:xfrm>
          <a:custGeom>
            <a:avLst/>
            <a:gdLst/>
            <a:ahLst/>
            <a:cxnLst/>
            <a:rect l="l" t="t" r="r" b="b"/>
            <a:pathLst>
              <a:path w="340166" h="340167">
                <a:moveTo>
                  <a:pt x="223355" y="144662"/>
                </a:moveTo>
                <a:cubicBezTo>
                  <a:pt x="230163" y="142820"/>
                  <a:pt x="237307" y="146057"/>
                  <a:pt x="240376" y="152364"/>
                </a:cubicBezTo>
                <a:lnTo>
                  <a:pt x="250757" y="173349"/>
                </a:lnTo>
                <a:cubicBezTo>
                  <a:pt x="256505" y="174130"/>
                  <a:pt x="262142" y="175694"/>
                  <a:pt x="267444" y="177869"/>
                </a:cubicBezTo>
                <a:lnTo>
                  <a:pt x="286978" y="164866"/>
                </a:lnTo>
                <a:cubicBezTo>
                  <a:pt x="292838" y="160959"/>
                  <a:pt x="300596" y="161740"/>
                  <a:pt x="305563" y="166707"/>
                </a:cubicBezTo>
                <a:lnTo>
                  <a:pt x="316279" y="177423"/>
                </a:lnTo>
                <a:cubicBezTo>
                  <a:pt x="321246" y="182390"/>
                  <a:pt x="322027" y="190205"/>
                  <a:pt x="318119" y="196008"/>
                </a:cubicBezTo>
                <a:lnTo>
                  <a:pt x="305117" y="215486"/>
                </a:lnTo>
                <a:cubicBezTo>
                  <a:pt x="306176" y="218109"/>
                  <a:pt x="307126" y="220845"/>
                  <a:pt x="307907" y="223689"/>
                </a:cubicBezTo>
                <a:cubicBezTo>
                  <a:pt x="308688" y="226535"/>
                  <a:pt x="309191" y="229327"/>
                  <a:pt x="309581" y="232173"/>
                </a:cubicBezTo>
                <a:lnTo>
                  <a:pt x="330621" y="242554"/>
                </a:lnTo>
                <a:cubicBezTo>
                  <a:pt x="336929" y="245679"/>
                  <a:pt x="340165" y="252823"/>
                  <a:pt x="338324" y="259576"/>
                </a:cubicBezTo>
                <a:lnTo>
                  <a:pt x="334417" y="274199"/>
                </a:lnTo>
                <a:cubicBezTo>
                  <a:pt x="332575" y="280952"/>
                  <a:pt x="326269" y="285528"/>
                  <a:pt x="319237" y="285082"/>
                </a:cubicBezTo>
                <a:lnTo>
                  <a:pt x="295795" y="283575"/>
                </a:lnTo>
                <a:cubicBezTo>
                  <a:pt x="292280" y="288095"/>
                  <a:pt x="288206" y="292281"/>
                  <a:pt x="283574" y="295853"/>
                </a:cubicBezTo>
                <a:lnTo>
                  <a:pt x="285080" y="319238"/>
                </a:lnTo>
                <a:cubicBezTo>
                  <a:pt x="285527" y="326270"/>
                  <a:pt x="280950" y="332633"/>
                  <a:pt x="274197" y="334418"/>
                </a:cubicBezTo>
                <a:lnTo>
                  <a:pt x="259575" y="338325"/>
                </a:lnTo>
                <a:cubicBezTo>
                  <a:pt x="252767" y="340167"/>
                  <a:pt x="245677" y="336930"/>
                  <a:pt x="242553" y="330623"/>
                </a:cubicBezTo>
                <a:lnTo>
                  <a:pt x="232172" y="309638"/>
                </a:lnTo>
                <a:cubicBezTo>
                  <a:pt x="226424" y="308857"/>
                  <a:pt x="220787" y="307293"/>
                  <a:pt x="215484" y="305118"/>
                </a:cubicBezTo>
                <a:lnTo>
                  <a:pt x="195951" y="318121"/>
                </a:lnTo>
                <a:cubicBezTo>
                  <a:pt x="190091" y="322028"/>
                  <a:pt x="182334" y="321247"/>
                  <a:pt x="177365" y="316280"/>
                </a:cubicBezTo>
                <a:lnTo>
                  <a:pt x="166650" y="305564"/>
                </a:lnTo>
                <a:cubicBezTo>
                  <a:pt x="161683" y="300597"/>
                  <a:pt x="160902" y="292840"/>
                  <a:pt x="164809" y="286979"/>
                </a:cubicBezTo>
                <a:lnTo>
                  <a:pt x="177812" y="267445"/>
                </a:lnTo>
                <a:cubicBezTo>
                  <a:pt x="176752" y="264822"/>
                  <a:pt x="175803" y="262088"/>
                  <a:pt x="175022" y="259240"/>
                </a:cubicBezTo>
                <a:cubicBezTo>
                  <a:pt x="174241" y="256394"/>
                  <a:pt x="173738" y="253550"/>
                  <a:pt x="173348" y="250758"/>
                </a:cubicBezTo>
                <a:lnTo>
                  <a:pt x="152307" y="240377"/>
                </a:lnTo>
                <a:cubicBezTo>
                  <a:pt x="146001" y="237252"/>
                  <a:pt x="142819" y="230108"/>
                  <a:pt x="144604" y="223355"/>
                </a:cubicBezTo>
                <a:lnTo>
                  <a:pt x="148512" y="208733"/>
                </a:lnTo>
                <a:cubicBezTo>
                  <a:pt x="150354" y="201980"/>
                  <a:pt x="156661" y="197403"/>
                  <a:pt x="163693" y="197850"/>
                </a:cubicBezTo>
                <a:lnTo>
                  <a:pt x="187077" y="199357"/>
                </a:lnTo>
                <a:cubicBezTo>
                  <a:pt x="190592" y="194836"/>
                  <a:pt x="194667" y="190650"/>
                  <a:pt x="199300" y="187078"/>
                </a:cubicBezTo>
                <a:lnTo>
                  <a:pt x="197793" y="163749"/>
                </a:lnTo>
                <a:cubicBezTo>
                  <a:pt x="197346" y="156717"/>
                  <a:pt x="201923" y="150354"/>
                  <a:pt x="208676" y="148569"/>
                </a:cubicBezTo>
                <a:lnTo>
                  <a:pt x="223297" y="144662"/>
                </a:lnTo>
                <a:close/>
                <a:moveTo>
                  <a:pt x="241492" y="216937"/>
                </a:moveTo>
                <a:cubicBezTo>
                  <a:pt x="227939" y="216952"/>
                  <a:pt x="216947" y="227968"/>
                  <a:pt x="216964" y="241521"/>
                </a:cubicBezTo>
                <a:cubicBezTo>
                  <a:pt x="216979" y="255075"/>
                  <a:pt x="227995" y="266065"/>
                  <a:pt x="241547" y="266050"/>
                </a:cubicBezTo>
                <a:cubicBezTo>
                  <a:pt x="255101" y="266035"/>
                  <a:pt x="266091" y="255019"/>
                  <a:pt x="266077" y="241466"/>
                </a:cubicBezTo>
                <a:cubicBezTo>
                  <a:pt x="266062" y="227912"/>
                  <a:pt x="255046" y="216922"/>
                  <a:pt x="241492" y="216937"/>
                </a:cubicBezTo>
                <a:close/>
                <a:moveTo>
                  <a:pt x="116756" y="1787"/>
                </a:moveTo>
                <a:lnTo>
                  <a:pt x="131377" y="5694"/>
                </a:lnTo>
                <a:cubicBezTo>
                  <a:pt x="138131" y="7535"/>
                  <a:pt x="142708" y="13898"/>
                  <a:pt x="142261" y="20874"/>
                </a:cubicBezTo>
                <a:lnTo>
                  <a:pt x="140754" y="44203"/>
                </a:lnTo>
                <a:cubicBezTo>
                  <a:pt x="145387" y="47775"/>
                  <a:pt x="149461" y="51905"/>
                  <a:pt x="152978" y="56482"/>
                </a:cubicBezTo>
                <a:lnTo>
                  <a:pt x="176417" y="54975"/>
                </a:lnTo>
                <a:cubicBezTo>
                  <a:pt x="183394" y="54528"/>
                  <a:pt x="189756" y="59105"/>
                  <a:pt x="191598" y="65858"/>
                </a:cubicBezTo>
                <a:lnTo>
                  <a:pt x="195505" y="80480"/>
                </a:lnTo>
                <a:cubicBezTo>
                  <a:pt x="197290" y="87233"/>
                  <a:pt x="194109" y="94377"/>
                  <a:pt x="187804" y="97502"/>
                </a:cubicBezTo>
                <a:lnTo>
                  <a:pt x="166762" y="107883"/>
                </a:lnTo>
                <a:cubicBezTo>
                  <a:pt x="166371" y="110729"/>
                  <a:pt x="165813" y="113577"/>
                  <a:pt x="165088" y="116365"/>
                </a:cubicBezTo>
                <a:cubicBezTo>
                  <a:pt x="164362" y="119157"/>
                  <a:pt x="163359" y="121947"/>
                  <a:pt x="162297" y="124570"/>
                </a:cubicBezTo>
                <a:lnTo>
                  <a:pt x="175300" y="144104"/>
                </a:lnTo>
                <a:cubicBezTo>
                  <a:pt x="179208" y="149965"/>
                  <a:pt x="178427" y="157722"/>
                  <a:pt x="173459" y="162689"/>
                </a:cubicBezTo>
                <a:lnTo>
                  <a:pt x="162744" y="173405"/>
                </a:lnTo>
                <a:cubicBezTo>
                  <a:pt x="157777" y="178372"/>
                  <a:pt x="150018" y="179153"/>
                  <a:pt x="144159" y="175246"/>
                </a:cubicBezTo>
                <a:lnTo>
                  <a:pt x="124625" y="162243"/>
                </a:lnTo>
                <a:cubicBezTo>
                  <a:pt x="119323" y="164418"/>
                  <a:pt x="113686" y="165982"/>
                  <a:pt x="107938" y="166763"/>
                </a:cubicBezTo>
                <a:lnTo>
                  <a:pt x="97557" y="187748"/>
                </a:lnTo>
                <a:cubicBezTo>
                  <a:pt x="94432" y="194055"/>
                  <a:pt x="87288" y="197237"/>
                  <a:pt x="80536" y="195450"/>
                </a:cubicBezTo>
                <a:lnTo>
                  <a:pt x="65913" y="191543"/>
                </a:lnTo>
                <a:cubicBezTo>
                  <a:pt x="59104" y="189702"/>
                  <a:pt x="54583" y="183339"/>
                  <a:pt x="55029" y="176363"/>
                </a:cubicBezTo>
                <a:lnTo>
                  <a:pt x="56536" y="152978"/>
                </a:lnTo>
                <a:cubicBezTo>
                  <a:pt x="51905" y="149406"/>
                  <a:pt x="47830" y="145276"/>
                  <a:pt x="44314" y="140700"/>
                </a:cubicBezTo>
                <a:lnTo>
                  <a:pt x="20873" y="142207"/>
                </a:lnTo>
                <a:cubicBezTo>
                  <a:pt x="13897" y="142653"/>
                  <a:pt x="7535" y="138077"/>
                  <a:pt x="5693" y="131324"/>
                </a:cubicBezTo>
                <a:lnTo>
                  <a:pt x="1787" y="116701"/>
                </a:lnTo>
                <a:cubicBezTo>
                  <a:pt x="0" y="109948"/>
                  <a:pt x="3181" y="102804"/>
                  <a:pt x="9488" y="99679"/>
                </a:cubicBezTo>
                <a:lnTo>
                  <a:pt x="30529" y="89298"/>
                </a:lnTo>
                <a:cubicBezTo>
                  <a:pt x="30919" y="86452"/>
                  <a:pt x="31477" y="83660"/>
                  <a:pt x="32203" y="80814"/>
                </a:cubicBezTo>
                <a:cubicBezTo>
                  <a:pt x="32984" y="77970"/>
                  <a:pt x="33877" y="75234"/>
                  <a:pt x="34993" y="72611"/>
                </a:cubicBezTo>
                <a:lnTo>
                  <a:pt x="21990" y="53133"/>
                </a:lnTo>
                <a:cubicBezTo>
                  <a:pt x="18083" y="47272"/>
                  <a:pt x="18864" y="39515"/>
                  <a:pt x="23831" y="34548"/>
                </a:cubicBezTo>
                <a:lnTo>
                  <a:pt x="34548" y="23832"/>
                </a:lnTo>
                <a:cubicBezTo>
                  <a:pt x="39515" y="18865"/>
                  <a:pt x="47272" y="18084"/>
                  <a:pt x="53131" y="21991"/>
                </a:cubicBezTo>
                <a:lnTo>
                  <a:pt x="72667" y="34994"/>
                </a:lnTo>
                <a:cubicBezTo>
                  <a:pt x="77968" y="32819"/>
                  <a:pt x="83604" y="31255"/>
                  <a:pt x="89353" y="30474"/>
                </a:cubicBezTo>
                <a:lnTo>
                  <a:pt x="99734" y="9489"/>
                </a:lnTo>
                <a:cubicBezTo>
                  <a:pt x="102860" y="3182"/>
                  <a:pt x="109947" y="0"/>
                  <a:pt x="116756" y="1787"/>
                </a:cubicBezTo>
                <a:close/>
                <a:moveTo>
                  <a:pt x="98617" y="74062"/>
                </a:moveTo>
                <a:cubicBezTo>
                  <a:pt x="85064" y="74062"/>
                  <a:pt x="74061" y="85065"/>
                  <a:pt x="74061" y="98618"/>
                </a:cubicBezTo>
                <a:cubicBezTo>
                  <a:pt x="74061" y="112172"/>
                  <a:pt x="85064" y="123175"/>
                  <a:pt x="98617" y="123175"/>
                </a:cubicBezTo>
                <a:cubicBezTo>
                  <a:pt x="112171" y="123175"/>
                  <a:pt x="123174" y="112172"/>
                  <a:pt x="123174" y="98618"/>
                </a:cubicBezTo>
                <a:cubicBezTo>
                  <a:pt x="123174" y="85065"/>
                  <a:pt x="112171" y="74062"/>
                  <a:pt x="98617" y="74062"/>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6533176" y="2505335"/>
            <a:ext cx="771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5"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Inference Process</a:t>
            </a:r>
            <a:endParaRPr lang="en-US" sz="1100"/>
          </a:p>
        </p:txBody>
      </p:sp>
      <p:sp>
        <p:nvSpPr>
          <p:cNvPr id="14" name="Freeform 14"/>
          <p:cNvSpPr/>
          <p:nvPr/>
        </p:nvSpPr>
        <p:spPr>
          <a:xfrm>
            <a:off x="7671305" y="2370370"/>
            <a:ext cx="229984" cy="174308"/>
          </a:xfrm>
          <a:custGeom>
            <a:avLst/>
            <a:gdLst/>
            <a:ahLst/>
            <a:cxnLst/>
            <a:rect l="l" t="t" r="r" b="b"/>
            <a:pathLst>
              <a:path w="229984" h="174308">
                <a:moveTo>
                  <a:pt x="224403" y="97245"/>
                </a:moveTo>
                <a:cubicBezTo>
                  <a:pt x="229984" y="91662"/>
                  <a:pt x="229984" y="82600"/>
                  <a:pt x="224403" y="77019"/>
                </a:cubicBezTo>
                <a:lnTo>
                  <a:pt x="152966" y="5581"/>
                </a:lnTo>
                <a:cubicBezTo>
                  <a:pt x="147383" y="0"/>
                  <a:pt x="138321" y="0"/>
                  <a:pt x="132740" y="5581"/>
                </a:cubicBezTo>
                <a:cubicBezTo>
                  <a:pt x="127159" y="11162"/>
                  <a:pt x="127159" y="20226"/>
                  <a:pt x="132740" y="25807"/>
                </a:cubicBezTo>
                <a:lnTo>
                  <a:pt x="179799" y="72866"/>
                </a:lnTo>
                <a:lnTo>
                  <a:pt x="14287" y="72866"/>
                </a:lnTo>
                <a:cubicBezTo>
                  <a:pt x="6386" y="72866"/>
                  <a:pt x="0" y="79251"/>
                  <a:pt x="0" y="87154"/>
                </a:cubicBezTo>
                <a:cubicBezTo>
                  <a:pt x="0" y="95057"/>
                  <a:pt x="6386" y="101442"/>
                  <a:pt x="14287" y="101442"/>
                </a:cubicBezTo>
                <a:lnTo>
                  <a:pt x="179799" y="101442"/>
                </a:lnTo>
                <a:lnTo>
                  <a:pt x="132740" y="148501"/>
                </a:lnTo>
                <a:cubicBezTo>
                  <a:pt x="127159" y="154082"/>
                  <a:pt x="127159" y="163146"/>
                  <a:pt x="132740" y="168727"/>
                </a:cubicBezTo>
                <a:cubicBezTo>
                  <a:pt x="138321" y="174308"/>
                  <a:pt x="147383" y="174308"/>
                  <a:pt x="152966" y="168727"/>
                </a:cubicBezTo>
                <a:lnTo>
                  <a:pt x="224403" y="9728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8098144" y="1973738"/>
            <a:ext cx="1177635" cy="968085"/>
          </a:xfrm>
          <a:custGeom>
            <a:avLst/>
            <a:gdLst/>
            <a:ahLst/>
            <a:cxnLst/>
            <a:rect l="l" t="t" r="r" b="b"/>
            <a:pathLst>
              <a:path w="1177635" h="968085">
                <a:moveTo>
                  <a:pt x="114303" y="0"/>
                </a:moveTo>
                <a:lnTo>
                  <a:pt x="1063334" y="0"/>
                </a:lnTo>
                <a:cubicBezTo>
                  <a:pt x="1126462" y="0"/>
                  <a:pt x="1177635" y="51175"/>
                  <a:pt x="1177635" y="114303"/>
                </a:cubicBezTo>
                <a:lnTo>
                  <a:pt x="1177635" y="853784"/>
                </a:lnTo>
                <a:cubicBezTo>
                  <a:pt x="1177635" y="916912"/>
                  <a:pt x="1126462" y="968085"/>
                  <a:pt x="1063334" y="968085"/>
                </a:cubicBezTo>
                <a:lnTo>
                  <a:pt x="114303" y="968085"/>
                </a:lnTo>
                <a:cubicBezTo>
                  <a:pt x="51175" y="968085"/>
                  <a:pt x="0" y="916912"/>
                  <a:pt x="0" y="853784"/>
                </a:cubicBezTo>
                <a:lnTo>
                  <a:pt x="0" y="114303"/>
                </a:lnTo>
                <a:cubicBezTo>
                  <a:pt x="0" y="51175"/>
                  <a:pt x="51175" y="0"/>
                  <a:pt x="114303" y="0"/>
                </a:cubicBezTo>
                <a:close/>
              </a:path>
            </a:pathLst>
          </a:custGeom>
          <a:solidFill>
            <a:srgbClr val="1E90FF">
              <a:alpha val="100000"/>
            </a:srgbClr>
          </a:solidFill>
          <a:ln w="38100">
            <a:solidFill>
              <a:srgbClr val="1E90FF">
                <a:alpha val="100000"/>
              </a:srgbClr>
            </a:solidFill>
            <a:prstDash val="solid"/>
          </a:ln>
        </p:spPr>
        <p:txBody>
          <a:bodyPr wrap="square" lIns="91440" tIns="45720" rIns="91440" bIns="45720" rtlCol="0" anchor="t">
            <a:noAutofit/>
          </a:bodyPr>
          <a:lstStyle/>
          <a:p>
            <a:pPr algn="ctr">
              <a:defRPr/>
            </a:pPr>
          </a:p>
        </p:txBody>
      </p:sp>
      <p:sp>
        <p:nvSpPr>
          <p:cNvPr id="16" name="Freeform 16"/>
          <p:cNvSpPr/>
          <p:nvPr/>
        </p:nvSpPr>
        <p:spPr>
          <a:xfrm>
            <a:off x="8528474" y="2161244"/>
            <a:ext cx="321469" cy="250033"/>
          </a:xfrm>
          <a:custGeom>
            <a:avLst/>
            <a:gdLst/>
            <a:ahLst/>
            <a:cxnLst/>
            <a:rect l="l" t="t" r="r" b="b"/>
            <a:pathLst>
              <a:path w="321469" h="250033">
                <a:moveTo>
                  <a:pt x="26789" y="91418"/>
                </a:moveTo>
                <a:lnTo>
                  <a:pt x="143546" y="139471"/>
                </a:lnTo>
                <a:cubicBezTo>
                  <a:pt x="149014" y="141703"/>
                  <a:pt x="154818" y="142875"/>
                  <a:pt x="160734" y="142875"/>
                </a:cubicBezTo>
                <a:cubicBezTo>
                  <a:pt x="166649" y="142875"/>
                  <a:pt x="172455" y="141703"/>
                  <a:pt x="177924" y="139471"/>
                </a:cubicBezTo>
                <a:lnTo>
                  <a:pt x="313209" y="83771"/>
                </a:lnTo>
                <a:cubicBezTo>
                  <a:pt x="318232" y="81706"/>
                  <a:pt x="321469" y="76851"/>
                  <a:pt x="321469" y="71439"/>
                </a:cubicBezTo>
                <a:cubicBezTo>
                  <a:pt x="321469" y="66024"/>
                  <a:pt x="318232" y="61169"/>
                  <a:pt x="313209" y="59104"/>
                </a:cubicBezTo>
                <a:lnTo>
                  <a:pt x="177924" y="3405"/>
                </a:lnTo>
                <a:cubicBezTo>
                  <a:pt x="172455" y="1172"/>
                  <a:pt x="166649" y="0"/>
                  <a:pt x="160734" y="0"/>
                </a:cubicBezTo>
                <a:cubicBezTo>
                  <a:pt x="154818" y="0"/>
                  <a:pt x="149014" y="1172"/>
                  <a:pt x="143546" y="3405"/>
                </a:cubicBezTo>
                <a:lnTo>
                  <a:pt x="8260" y="59104"/>
                </a:lnTo>
                <a:cubicBezTo>
                  <a:pt x="3237" y="61169"/>
                  <a:pt x="0" y="66024"/>
                  <a:pt x="0" y="71439"/>
                </a:cubicBezTo>
                <a:lnTo>
                  <a:pt x="0" y="236638"/>
                </a:lnTo>
                <a:cubicBezTo>
                  <a:pt x="0" y="244059"/>
                  <a:pt x="5972" y="250032"/>
                  <a:pt x="13395" y="250032"/>
                </a:cubicBezTo>
                <a:cubicBezTo>
                  <a:pt x="20817" y="250032"/>
                  <a:pt x="26789" y="244059"/>
                  <a:pt x="26789" y="236638"/>
                </a:cubicBezTo>
                <a:lnTo>
                  <a:pt x="26789" y="91418"/>
                </a:lnTo>
                <a:close/>
                <a:moveTo>
                  <a:pt x="53577" y="131435"/>
                </a:moveTo>
                <a:lnTo>
                  <a:pt x="53577" y="196454"/>
                </a:lnTo>
                <a:cubicBezTo>
                  <a:pt x="53577" y="226033"/>
                  <a:pt x="101575" y="250032"/>
                  <a:pt x="160734" y="250032"/>
                </a:cubicBezTo>
                <a:cubicBezTo>
                  <a:pt x="219894" y="250032"/>
                  <a:pt x="267891" y="226033"/>
                  <a:pt x="267891" y="196454"/>
                </a:cubicBezTo>
                <a:lnTo>
                  <a:pt x="267891" y="131377"/>
                </a:lnTo>
                <a:lnTo>
                  <a:pt x="188137" y="164251"/>
                </a:lnTo>
                <a:cubicBezTo>
                  <a:pt x="179431" y="167823"/>
                  <a:pt x="170166" y="169664"/>
                  <a:pt x="160734" y="169664"/>
                </a:cubicBezTo>
                <a:cubicBezTo>
                  <a:pt x="151301" y="169664"/>
                  <a:pt x="142038" y="167823"/>
                  <a:pt x="133331" y="164251"/>
                </a:cubicBezTo>
                <a:lnTo>
                  <a:pt x="53577" y="131377"/>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8301118" y="2505335"/>
            <a:ext cx="771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2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Training Process</a:t>
            </a:r>
            <a:endParaRPr lang="en-US" sz="1100"/>
          </a:p>
        </p:txBody>
      </p:sp>
      <p:sp>
        <p:nvSpPr>
          <p:cNvPr id="18" name="Freeform 18"/>
          <p:cNvSpPr/>
          <p:nvPr/>
        </p:nvSpPr>
        <p:spPr>
          <a:xfrm>
            <a:off x="2898901" y="3339852"/>
            <a:ext cx="6391275" cy="1905000"/>
          </a:xfrm>
          <a:custGeom>
            <a:avLst/>
            <a:gdLst/>
            <a:ahLst/>
            <a:cxnLst/>
            <a:rect l="l" t="t" r="r" b="b"/>
            <a:pathLst>
              <a:path w="6391275" h="1905000">
                <a:moveTo>
                  <a:pt x="152400" y="0"/>
                </a:moveTo>
                <a:lnTo>
                  <a:pt x="6238875" y="0"/>
                </a:lnTo>
                <a:cubicBezTo>
                  <a:pt x="6322987" y="0"/>
                  <a:pt x="6391275" y="68288"/>
                  <a:pt x="6391275" y="152400"/>
                </a:cubicBezTo>
                <a:lnTo>
                  <a:pt x="6391275" y="1752600"/>
                </a:lnTo>
                <a:cubicBezTo>
                  <a:pt x="6391275" y="1836712"/>
                  <a:pt x="6322987" y="1905000"/>
                  <a:pt x="6238875" y="1905000"/>
                </a:cubicBezTo>
                <a:lnTo>
                  <a:pt x="152400" y="1905000"/>
                </a:lnTo>
                <a:cubicBezTo>
                  <a:pt x="68288" y="1905000"/>
                  <a:pt x="0" y="1836712"/>
                  <a:pt x="0" y="1752600"/>
                </a:cubicBezTo>
                <a:lnTo>
                  <a:pt x="0" y="152400"/>
                </a:lnTo>
                <a:cubicBezTo>
                  <a:pt x="0" y="68288"/>
                  <a:pt x="68288" y="0"/>
                  <a:pt x="1524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4360192" y="3608821"/>
            <a:ext cx="576298" cy="642938"/>
          </a:xfrm>
          <a:custGeom>
            <a:avLst/>
            <a:gdLst/>
            <a:ahLst/>
            <a:cxnLst/>
            <a:rect l="l" t="t" r="r" b="b"/>
            <a:pathLst>
              <a:path w="576298" h="642938">
                <a:moveTo>
                  <a:pt x="323923" y="35719"/>
                </a:moveTo>
                <a:cubicBezTo>
                  <a:pt x="323923" y="15962"/>
                  <a:pt x="307961" y="0"/>
                  <a:pt x="288205" y="0"/>
                </a:cubicBezTo>
                <a:cubicBezTo>
                  <a:pt x="268447" y="0"/>
                  <a:pt x="252484" y="15962"/>
                  <a:pt x="252484" y="35719"/>
                </a:cubicBezTo>
                <a:lnTo>
                  <a:pt x="252484" y="105036"/>
                </a:lnTo>
                <a:lnTo>
                  <a:pt x="235742" y="88293"/>
                </a:lnTo>
                <a:cubicBezTo>
                  <a:pt x="225251" y="77800"/>
                  <a:pt x="208283" y="77800"/>
                  <a:pt x="197902" y="88293"/>
                </a:cubicBezTo>
                <a:cubicBezTo>
                  <a:pt x="187521" y="98785"/>
                  <a:pt x="187410" y="115751"/>
                  <a:pt x="197902" y="126132"/>
                </a:cubicBezTo>
                <a:lnTo>
                  <a:pt x="252598" y="180825"/>
                </a:lnTo>
                <a:lnTo>
                  <a:pt x="252598" y="259631"/>
                </a:lnTo>
                <a:lnTo>
                  <a:pt x="184286" y="220228"/>
                </a:lnTo>
                <a:lnTo>
                  <a:pt x="164305" y="145554"/>
                </a:lnTo>
                <a:cubicBezTo>
                  <a:pt x="160510" y="131267"/>
                  <a:pt x="145777" y="122783"/>
                  <a:pt x="131488" y="126579"/>
                </a:cubicBezTo>
                <a:cubicBezTo>
                  <a:pt x="117202" y="130373"/>
                  <a:pt x="108606" y="145108"/>
                  <a:pt x="112401" y="159395"/>
                </a:cubicBezTo>
                <a:lnTo>
                  <a:pt x="118540" y="182277"/>
                </a:lnTo>
                <a:lnTo>
                  <a:pt x="58600" y="147675"/>
                </a:lnTo>
                <a:cubicBezTo>
                  <a:pt x="41522" y="137852"/>
                  <a:pt x="19644" y="143658"/>
                  <a:pt x="9821" y="160735"/>
                </a:cubicBezTo>
                <a:cubicBezTo>
                  <a:pt x="0" y="177813"/>
                  <a:pt x="5804" y="199690"/>
                  <a:pt x="22881" y="209513"/>
                </a:cubicBezTo>
                <a:lnTo>
                  <a:pt x="82821" y="244116"/>
                </a:lnTo>
                <a:lnTo>
                  <a:pt x="59939" y="250255"/>
                </a:lnTo>
                <a:cubicBezTo>
                  <a:pt x="45652" y="254050"/>
                  <a:pt x="37167" y="268784"/>
                  <a:pt x="40963" y="283071"/>
                </a:cubicBezTo>
                <a:cubicBezTo>
                  <a:pt x="44759" y="297359"/>
                  <a:pt x="59493" y="305842"/>
                  <a:pt x="73780" y="302047"/>
                </a:cubicBezTo>
                <a:lnTo>
                  <a:pt x="148455" y="282067"/>
                </a:lnTo>
                <a:lnTo>
                  <a:pt x="216767" y="321469"/>
                </a:lnTo>
                <a:lnTo>
                  <a:pt x="148455" y="360871"/>
                </a:lnTo>
                <a:lnTo>
                  <a:pt x="73780" y="340891"/>
                </a:lnTo>
                <a:cubicBezTo>
                  <a:pt x="59493" y="337096"/>
                  <a:pt x="44759" y="345579"/>
                  <a:pt x="40963" y="359867"/>
                </a:cubicBezTo>
                <a:cubicBezTo>
                  <a:pt x="37167" y="374154"/>
                  <a:pt x="45652" y="388888"/>
                  <a:pt x="59939" y="392683"/>
                </a:cubicBezTo>
                <a:lnTo>
                  <a:pt x="82821" y="398822"/>
                </a:lnTo>
                <a:lnTo>
                  <a:pt x="22881" y="433425"/>
                </a:lnTo>
                <a:cubicBezTo>
                  <a:pt x="5804" y="443248"/>
                  <a:pt x="0" y="465125"/>
                  <a:pt x="9821" y="482203"/>
                </a:cubicBezTo>
                <a:cubicBezTo>
                  <a:pt x="19644" y="499280"/>
                  <a:pt x="41522" y="505197"/>
                  <a:pt x="58600" y="495263"/>
                </a:cubicBezTo>
                <a:lnTo>
                  <a:pt x="118540" y="460661"/>
                </a:lnTo>
                <a:lnTo>
                  <a:pt x="112401" y="483543"/>
                </a:lnTo>
                <a:cubicBezTo>
                  <a:pt x="108606" y="497830"/>
                  <a:pt x="117089" y="512565"/>
                  <a:pt x="131377" y="516359"/>
                </a:cubicBezTo>
                <a:cubicBezTo>
                  <a:pt x="145664" y="520155"/>
                  <a:pt x="160398" y="511671"/>
                  <a:pt x="164193" y="497384"/>
                </a:cubicBezTo>
                <a:lnTo>
                  <a:pt x="184172" y="422710"/>
                </a:lnTo>
                <a:lnTo>
                  <a:pt x="252484" y="383307"/>
                </a:lnTo>
                <a:lnTo>
                  <a:pt x="252484" y="462113"/>
                </a:lnTo>
                <a:lnTo>
                  <a:pt x="197791" y="516806"/>
                </a:lnTo>
                <a:cubicBezTo>
                  <a:pt x="187299" y="527298"/>
                  <a:pt x="187299" y="544265"/>
                  <a:pt x="197791" y="554645"/>
                </a:cubicBezTo>
                <a:cubicBezTo>
                  <a:pt x="208283" y="565026"/>
                  <a:pt x="225251" y="565138"/>
                  <a:pt x="235632" y="554645"/>
                </a:cubicBezTo>
                <a:lnTo>
                  <a:pt x="252374" y="537902"/>
                </a:lnTo>
                <a:lnTo>
                  <a:pt x="252374" y="607219"/>
                </a:lnTo>
                <a:cubicBezTo>
                  <a:pt x="252374" y="626976"/>
                  <a:pt x="268335" y="642938"/>
                  <a:pt x="288093" y="642938"/>
                </a:cubicBezTo>
                <a:cubicBezTo>
                  <a:pt x="307850" y="642938"/>
                  <a:pt x="323812" y="626976"/>
                  <a:pt x="323812" y="607219"/>
                </a:cubicBezTo>
                <a:lnTo>
                  <a:pt x="323812" y="537902"/>
                </a:lnTo>
                <a:lnTo>
                  <a:pt x="340555" y="554645"/>
                </a:lnTo>
                <a:cubicBezTo>
                  <a:pt x="351047" y="565138"/>
                  <a:pt x="368013" y="565138"/>
                  <a:pt x="378394" y="554645"/>
                </a:cubicBezTo>
                <a:cubicBezTo>
                  <a:pt x="388775" y="544153"/>
                  <a:pt x="388886" y="527187"/>
                  <a:pt x="378394" y="516806"/>
                </a:cubicBezTo>
                <a:lnTo>
                  <a:pt x="323700" y="462113"/>
                </a:lnTo>
                <a:lnTo>
                  <a:pt x="323700" y="383307"/>
                </a:lnTo>
                <a:lnTo>
                  <a:pt x="392012" y="422710"/>
                </a:lnTo>
                <a:lnTo>
                  <a:pt x="411991" y="497384"/>
                </a:lnTo>
                <a:cubicBezTo>
                  <a:pt x="415787" y="511671"/>
                  <a:pt x="430521" y="520155"/>
                  <a:pt x="444809" y="516359"/>
                </a:cubicBezTo>
                <a:cubicBezTo>
                  <a:pt x="459096" y="512565"/>
                  <a:pt x="467579" y="497830"/>
                  <a:pt x="463785" y="483543"/>
                </a:cubicBezTo>
                <a:lnTo>
                  <a:pt x="457645" y="460661"/>
                </a:lnTo>
                <a:lnTo>
                  <a:pt x="517586" y="495263"/>
                </a:lnTo>
                <a:cubicBezTo>
                  <a:pt x="534665" y="505086"/>
                  <a:pt x="556542" y="499280"/>
                  <a:pt x="566364" y="482203"/>
                </a:cubicBezTo>
                <a:cubicBezTo>
                  <a:pt x="576187" y="465125"/>
                  <a:pt x="570382" y="443248"/>
                  <a:pt x="553304" y="433425"/>
                </a:cubicBezTo>
                <a:lnTo>
                  <a:pt x="493364" y="398822"/>
                </a:lnTo>
                <a:lnTo>
                  <a:pt x="516246" y="392683"/>
                </a:lnTo>
                <a:cubicBezTo>
                  <a:pt x="530534" y="388888"/>
                  <a:pt x="539017" y="374154"/>
                  <a:pt x="535222" y="359867"/>
                </a:cubicBezTo>
                <a:cubicBezTo>
                  <a:pt x="531427" y="345579"/>
                  <a:pt x="516693" y="337096"/>
                  <a:pt x="502405" y="340891"/>
                </a:cubicBezTo>
                <a:lnTo>
                  <a:pt x="427731" y="360871"/>
                </a:lnTo>
                <a:lnTo>
                  <a:pt x="359418" y="321469"/>
                </a:lnTo>
                <a:lnTo>
                  <a:pt x="427731" y="282067"/>
                </a:lnTo>
                <a:lnTo>
                  <a:pt x="502405" y="302047"/>
                </a:lnTo>
                <a:cubicBezTo>
                  <a:pt x="516693" y="305842"/>
                  <a:pt x="531427" y="297359"/>
                  <a:pt x="535222" y="283071"/>
                </a:cubicBezTo>
                <a:cubicBezTo>
                  <a:pt x="539017" y="268784"/>
                  <a:pt x="530534" y="254050"/>
                  <a:pt x="516246" y="250255"/>
                </a:cubicBezTo>
                <a:lnTo>
                  <a:pt x="493364" y="244116"/>
                </a:lnTo>
                <a:lnTo>
                  <a:pt x="553304" y="209513"/>
                </a:lnTo>
                <a:cubicBezTo>
                  <a:pt x="570382" y="199690"/>
                  <a:pt x="576298" y="177813"/>
                  <a:pt x="566364" y="160735"/>
                </a:cubicBezTo>
                <a:cubicBezTo>
                  <a:pt x="556430" y="143658"/>
                  <a:pt x="534665" y="137852"/>
                  <a:pt x="517586" y="147675"/>
                </a:cubicBezTo>
                <a:lnTo>
                  <a:pt x="457645" y="182277"/>
                </a:lnTo>
                <a:lnTo>
                  <a:pt x="463785" y="159395"/>
                </a:lnTo>
                <a:cubicBezTo>
                  <a:pt x="467579" y="145108"/>
                  <a:pt x="459096" y="130373"/>
                  <a:pt x="444809" y="126579"/>
                </a:cubicBezTo>
                <a:cubicBezTo>
                  <a:pt x="430521" y="122783"/>
                  <a:pt x="415787" y="131267"/>
                  <a:pt x="411991" y="145554"/>
                </a:cubicBezTo>
                <a:lnTo>
                  <a:pt x="392012" y="220228"/>
                </a:lnTo>
                <a:lnTo>
                  <a:pt x="323700" y="259631"/>
                </a:lnTo>
                <a:lnTo>
                  <a:pt x="323700" y="180825"/>
                </a:lnTo>
                <a:lnTo>
                  <a:pt x="378394" y="126132"/>
                </a:lnTo>
                <a:cubicBezTo>
                  <a:pt x="388886" y="115640"/>
                  <a:pt x="388886" y="98673"/>
                  <a:pt x="378394" y="88293"/>
                </a:cubicBezTo>
                <a:cubicBezTo>
                  <a:pt x="367902" y="77912"/>
                  <a:pt x="350935" y="77800"/>
                  <a:pt x="340555" y="88293"/>
                </a:cubicBezTo>
                <a:lnTo>
                  <a:pt x="323812" y="105036"/>
                </a:lnTo>
                <a:lnTo>
                  <a:pt x="323812" y="3571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3838548" y="4368366"/>
            <a:ext cx="1619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8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Above the Iceberg</a:t>
            </a:r>
            <a:endParaRPr lang="en-US" sz="1100"/>
          </a:p>
        </p:txBody>
      </p:sp>
      <p:sp>
        <p:nvSpPr>
          <p:cNvPr id="21" name="AutoShape 21"/>
          <p:cNvSpPr/>
          <p:nvPr/>
        </p:nvSpPr>
        <p:spPr>
          <a:xfrm>
            <a:off x="3848073" y="4711229"/>
            <a:ext cx="16002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Large model applications we see</a:t>
            </a:r>
            <a:endParaRPr lang="en-US" sz="1100"/>
          </a:p>
        </p:txBody>
      </p:sp>
      <p:sp>
        <p:nvSpPr>
          <p:cNvPr id="22" name="AutoShape 22"/>
          <p:cNvSpPr/>
          <p:nvPr/>
        </p:nvSpPr>
        <p:spPr>
          <a:xfrm>
            <a:off x="5714865" y="4063566"/>
            <a:ext cx="685800" cy="457200"/>
          </a:xfrm>
          <a:prstGeom prst="rect">
            <a:avLst/>
          </a:prstGeom>
          <a:noFill/>
          <a:ln w="12700">
            <a:noFill/>
            <a:prstDash val="solid"/>
          </a:ln>
        </p:spPr>
        <p:txBody>
          <a:bodyPr wrap="square" lIns="0" tIns="0" rIns="0" bIns="0" rtlCol="0" anchor="ctr">
            <a:noAutofit/>
          </a:bodyPr>
          <a:lstStyle/>
          <a:p>
            <a:pPr indent="0" algn="l">
              <a:lnSpc>
                <a:spcPct val="83000"/>
              </a:lnSpc>
              <a:defRPr/>
            </a:pPr>
            <a:r>
              <a:rPr lang="en-US" sz="1845"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23" name="Freeform 23"/>
          <p:cNvSpPr/>
          <p:nvPr/>
        </p:nvSpPr>
        <p:spPr>
          <a:xfrm>
            <a:off x="7103674" y="3707941"/>
            <a:ext cx="575071" cy="437109"/>
          </a:xfrm>
          <a:custGeom>
            <a:avLst/>
            <a:gdLst/>
            <a:ahLst/>
            <a:cxnLst/>
            <a:rect l="l" t="t" r="r" b="b"/>
            <a:pathLst>
              <a:path w="575071" h="437109">
                <a:moveTo>
                  <a:pt x="460102" y="75120"/>
                </a:moveTo>
                <a:cubicBezTo>
                  <a:pt x="483207" y="92533"/>
                  <a:pt x="511448" y="109388"/>
                  <a:pt x="542925" y="113629"/>
                </a:cubicBezTo>
                <a:cubicBezTo>
                  <a:pt x="557547" y="115639"/>
                  <a:pt x="571055" y="105258"/>
                  <a:pt x="573062" y="90636"/>
                </a:cubicBezTo>
                <a:cubicBezTo>
                  <a:pt x="575072" y="76015"/>
                  <a:pt x="564691" y="62508"/>
                  <a:pt x="550069" y="60498"/>
                </a:cubicBezTo>
                <a:cubicBezTo>
                  <a:pt x="532321" y="58155"/>
                  <a:pt x="513011" y="47885"/>
                  <a:pt x="492362" y="32370"/>
                </a:cubicBezTo>
                <a:cubicBezTo>
                  <a:pt x="449498" y="0"/>
                  <a:pt x="391345" y="0"/>
                  <a:pt x="348369" y="32370"/>
                </a:cubicBezTo>
                <a:cubicBezTo>
                  <a:pt x="321580" y="52573"/>
                  <a:pt x="302940" y="61726"/>
                  <a:pt x="287536" y="61726"/>
                </a:cubicBezTo>
                <a:cubicBezTo>
                  <a:pt x="272132" y="61726"/>
                  <a:pt x="253492" y="52573"/>
                  <a:pt x="226703" y="32370"/>
                </a:cubicBezTo>
                <a:cubicBezTo>
                  <a:pt x="183841" y="0"/>
                  <a:pt x="125685" y="0"/>
                  <a:pt x="82710" y="32370"/>
                </a:cubicBezTo>
                <a:cubicBezTo>
                  <a:pt x="62061" y="47885"/>
                  <a:pt x="42751" y="58155"/>
                  <a:pt x="25003" y="60498"/>
                </a:cubicBezTo>
                <a:cubicBezTo>
                  <a:pt x="10381" y="62508"/>
                  <a:pt x="0" y="75901"/>
                  <a:pt x="2010" y="90636"/>
                </a:cubicBezTo>
                <a:cubicBezTo>
                  <a:pt x="4017" y="105371"/>
                  <a:pt x="17413" y="115639"/>
                  <a:pt x="32147" y="113629"/>
                </a:cubicBezTo>
                <a:cubicBezTo>
                  <a:pt x="63624" y="109388"/>
                  <a:pt x="91976" y="92533"/>
                  <a:pt x="114970" y="75120"/>
                </a:cubicBezTo>
                <a:cubicBezTo>
                  <a:pt x="138745" y="57150"/>
                  <a:pt x="170669" y="57150"/>
                  <a:pt x="194444" y="75120"/>
                </a:cubicBezTo>
                <a:cubicBezTo>
                  <a:pt x="221457" y="95547"/>
                  <a:pt x="252822" y="115193"/>
                  <a:pt x="287536" y="115193"/>
                </a:cubicBezTo>
                <a:cubicBezTo>
                  <a:pt x="322250" y="115193"/>
                  <a:pt x="353504" y="95437"/>
                  <a:pt x="380628" y="75120"/>
                </a:cubicBezTo>
                <a:cubicBezTo>
                  <a:pt x="404403" y="57150"/>
                  <a:pt x="436327" y="57150"/>
                  <a:pt x="460102" y="75120"/>
                </a:cubicBezTo>
                <a:close/>
                <a:moveTo>
                  <a:pt x="460102" y="235855"/>
                </a:moveTo>
                <a:cubicBezTo>
                  <a:pt x="483207" y="253268"/>
                  <a:pt x="511448" y="270123"/>
                  <a:pt x="542925" y="274364"/>
                </a:cubicBezTo>
                <a:cubicBezTo>
                  <a:pt x="557547" y="276374"/>
                  <a:pt x="571055" y="265993"/>
                  <a:pt x="573062" y="251370"/>
                </a:cubicBezTo>
                <a:cubicBezTo>
                  <a:pt x="575072" y="236748"/>
                  <a:pt x="564691" y="223242"/>
                  <a:pt x="550069" y="221233"/>
                </a:cubicBezTo>
                <a:cubicBezTo>
                  <a:pt x="532321" y="218890"/>
                  <a:pt x="513011" y="208620"/>
                  <a:pt x="492362" y="193103"/>
                </a:cubicBezTo>
                <a:cubicBezTo>
                  <a:pt x="449498" y="160734"/>
                  <a:pt x="391345" y="160734"/>
                  <a:pt x="348369" y="193103"/>
                </a:cubicBezTo>
                <a:cubicBezTo>
                  <a:pt x="321580" y="213308"/>
                  <a:pt x="302940" y="222461"/>
                  <a:pt x="287536" y="222461"/>
                </a:cubicBezTo>
                <a:cubicBezTo>
                  <a:pt x="272132" y="222461"/>
                  <a:pt x="253492" y="213308"/>
                  <a:pt x="226703" y="193103"/>
                </a:cubicBezTo>
                <a:cubicBezTo>
                  <a:pt x="183841" y="160734"/>
                  <a:pt x="125685" y="160734"/>
                  <a:pt x="82710" y="193103"/>
                </a:cubicBezTo>
                <a:cubicBezTo>
                  <a:pt x="62061" y="208620"/>
                  <a:pt x="42751" y="218890"/>
                  <a:pt x="25003" y="221233"/>
                </a:cubicBezTo>
                <a:cubicBezTo>
                  <a:pt x="10381" y="223130"/>
                  <a:pt x="0" y="236637"/>
                  <a:pt x="2010" y="251370"/>
                </a:cubicBezTo>
                <a:cubicBezTo>
                  <a:pt x="4017" y="266104"/>
                  <a:pt x="17413" y="276374"/>
                  <a:pt x="32147" y="274364"/>
                </a:cubicBezTo>
                <a:cubicBezTo>
                  <a:pt x="63624" y="270123"/>
                  <a:pt x="91976" y="253268"/>
                  <a:pt x="114970" y="235855"/>
                </a:cubicBezTo>
                <a:cubicBezTo>
                  <a:pt x="138745" y="217884"/>
                  <a:pt x="170669" y="217884"/>
                  <a:pt x="194444" y="235855"/>
                </a:cubicBezTo>
                <a:cubicBezTo>
                  <a:pt x="221457" y="256282"/>
                  <a:pt x="252822" y="275926"/>
                  <a:pt x="287536" y="275926"/>
                </a:cubicBezTo>
                <a:cubicBezTo>
                  <a:pt x="322250" y="275926"/>
                  <a:pt x="353504" y="256170"/>
                  <a:pt x="380628" y="235855"/>
                </a:cubicBezTo>
                <a:cubicBezTo>
                  <a:pt x="404403" y="217884"/>
                  <a:pt x="436327" y="217884"/>
                  <a:pt x="460102" y="235855"/>
                </a:cubicBezTo>
                <a:close/>
                <a:moveTo>
                  <a:pt x="380628" y="396590"/>
                </a:moveTo>
                <a:cubicBezTo>
                  <a:pt x="404403" y="378619"/>
                  <a:pt x="436327" y="378619"/>
                  <a:pt x="460102" y="396590"/>
                </a:cubicBezTo>
                <a:cubicBezTo>
                  <a:pt x="483207" y="414002"/>
                  <a:pt x="511448" y="430858"/>
                  <a:pt x="542925" y="435099"/>
                </a:cubicBezTo>
                <a:cubicBezTo>
                  <a:pt x="557547" y="437109"/>
                  <a:pt x="571055" y="426728"/>
                  <a:pt x="573062" y="412105"/>
                </a:cubicBezTo>
                <a:cubicBezTo>
                  <a:pt x="575072" y="397482"/>
                  <a:pt x="564691" y="383976"/>
                  <a:pt x="550069" y="381966"/>
                </a:cubicBezTo>
                <a:cubicBezTo>
                  <a:pt x="532321" y="379623"/>
                  <a:pt x="513011" y="369354"/>
                  <a:pt x="492362" y="353838"/>
                </a:cubicBezTo>
                <a:cubicBezTo>
                  <a:pt x="449498" y="321469"/>
                  <a:pt x="391345" y="321469"/>
                  <a:pt x="348369" y="353838"/>
                </a:cubicBezTo>
                <a:cubicBezTo>
                  <a:pt x="321580" y="374042"/>
                  <a:pt x="302940" y="383195"/>
                  <a:pt x="287536" y="383195"/>
                </a:cubicBezTo>
                <a:cubicBezTo>
                  <a:pt x="272132" y="383195"/>
                  <a:pt x="253492" y="374042"/>
                  <a:pt x="226703" y="353838"/>
                </a:cubicBezTo>
                <a:cubicBezTo>
                  <a:pt x="183841" y="321469"/>
                  <a:pt x="125685" y="321469"/>
                  <a:pt x="82710" y="353838"/>
                </a:cubicBezTo>
                <a:cubicBezTo>
                  <a:pt x="62061" y="369354"/>
                  <a:pt x="42751" y="379623"/>
                  <a:pt x="25003" y="381966"/>
                </a:cubicBezTo>
                <a:cubicBezTo>
                  <a:pt x="10381" y="383976"/>
                  <a:pt x="0" y="397372"/>
                  <a:pt x="2010" y="412105"/>
                </a:cubicBezTo>
                <a:cubicBezTo>
                  <a:pt x="4017" y="426839"/>
                  <a:pt x="17413" y="437109"/>
                  <a:pt x="32147" y="435099"/>
                </a:cubicBezTo>
                <a:cubicBezTo>
                  <a:pt x="63624" y="430858"/>
                  <a:pt x="91976" y="414002"/>
                  <a:pt x="114970" y="396590"/>
                </a:cubicBezTo>
                <a:cubicBezTo>
                  <a:pt x="138745" y="378619"/>
                  <a:pt x="170669" y="378619"/>
                  <a:pt x="194444" y="396590"/>
                </a:cubicBezTo>
                <a:cubicBezTo>
                  <a:pt x="221457" y="417016"/>
                  <a:pt x="252822" y="436661"/>
                  <a:pt x="287536" y="436661"/>
                </a:cubicBezTo>
                <a:cubicBezTo>
                  <a:pt x="322250" y="436661"/>
                  <a:pt x="353504" y="416905"/>
                  <a:pt x="380628" y="39659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4" name="AutoShape 24"/>
          <p:cNvSpPr/>
          <p:nvPr/>
        </p:nvSpPr>
        <p:spPr>
          <a:xfrm>
            <a:off x="6429240" y="4368366"/>
            <a:ext cx="19240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8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Below the Iceberg</a:t>
            </a:r>
            <a:endParaRPr lang="en-US" sz="1100"/>
          </a:p>
        </p:txBody>
      </p:sp>
      <p:sp>
        <p:nvSpPr>
          <p:cNvPr id="25" name="AutoShape 25"/>
          <p:cNvSpPr/>
          <p:nvPr/>
        </p:nvSpPr>
        <p:spPr>
          <a:xfrm>
            <a:off x="6438765" y="4711229"/>
            <a:ext cx="19050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Computing infrastructure supporting large models</a:t>
            </a:r>
            <a:endParaRPr lang="en-US" sz="1100"/>
          </a:p>
        </p:txBody>
      </p:sp>
      <p:sp>
        <p:nvSpPr>
          <p:cNvPr id="26" name="AutoShape 26"/>
          <p:cNvSpPr/>
          <p:nvPr/>
        </p:nvSpPr>
        <p:spPr>
          <a:xfrm>
            <a:off x="2829051" y="5549131"/>
            <a:ext cx="6530975" cy="4191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65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What is </a:t>
            </a:r>
            <a:r>
              <a:rPr lang="en-US" sz="1655"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supporting </a:t>
            </a:r>
            <a:r>
              <a:rPr lang="en-US" sz="165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large models?</a:t>
            </a:r>
            <a:endParaRPr lang="en-US" sz="1100"/>
          </a:p>
        </p:txBody>
      </p:sp>
    </p:spTree>
  </p:cSld>
  <p:clrMapOvr>
    <a:masterClrMapping/>
  </p:clrMapOvr>
  <p:transition spd="slow">
    <p:fade/>
  </p:transition>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5B92E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657600" y="2590800"/>
            <a:ext cx="7040880" cy="9144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2920" b="1" i="0" u="none" strike="noStrike">
                <a:solidFill>
                  <a:srgbClr val="FFFFFF"/>
                </a:solidFill>
                <a:latin typeface="Alimama ShuHeiTi"/>
                <a:ea typeface="Alimama ShuHeiTi"/>
                <a:cs typeface="Alimama ShuHeiTi"/>
                <a:sym typeface="Alimama ShuHeiTi"/>
              </a:rPr>
              <a:t>Computing Power Behind Large Models</a:t>
            </a:r>
            <a:endParaRPr lang="en-US" sz="1100"/>
          </a:p>
        </p:txBody>
      </p:sp>
      <p:sp>
        <p:nvSpPr>
          <p:cNvPr id="3" name="AutoShape 3"/>
          <p:cNvSpPr/>
          <p:nvPr/>
        </p:nvSpPr>
        <p:spPr>
          <a:xfrm>
            <a:off x="3922395" y="3733800"/>
            <a:ext cx="6268720" cy="5334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745" b="0" i="0" u="none" strike="noStrike">
                <a:solidFill>
                  <a:srgbClr val="87CEEB"/>
                </a:solidFill>
                <a:latin typeface="MiSans" panose="00000500000000000000" charset="-122"/>
                <a:ea typeface="MiSans" panose="00000500000000000000" charset="-122"/>
                <a:cs typeface="MiSans" panose="00000500000000000000" charset="-122"/>
                <a:sym typeface="MiSans" panose="00000500000000000000" charset="-122"/>
              </a:rPr>
              <a:t>Open Source AI System Software Stack: FlagOS</a:t>
            </a:r>
            <a:endParaRPr lang="en-US" sz="1100"/>
          </a:p>
        </p:txBody>
      </p:sp>
      <p:sp>
        <p:nvSpPr>
          <p:cNvPr id="4" name="AutoShape 4"/>
          <p:cNvSpPr/>
          <p:nvPr/>
        </p:nvSpPr>
        <p:spPr>
          <a:xfrm>
            <a:off x="5621209" y="1790784"/>
            <a:ext cx="1123950" cy="4572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845"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PART 4</a:t>
            </a:r>
            <a:endParaRPr lang="en-US" sz="1100"/>
          </a:p>
        </p:txBody>
      </p:sp>
    </p:spTree>
  </p:cSld>
  <p:clrMapOvr>
    <a:masterClrMapping/>
  </p:clrMapOvr>
  <p:transition spd="slow">
    <p:fade/>
  </p:transition>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615" b="0" i="0" u="none" strike="noStrike">
                <a:solidFill>
                  <a:srgbClr val="5B92E5"/>
                </a:solidFill>
                <a:latin typeface="Alimama ShuHeiTi"/>
                <a:ea typeface="Alimama ShuHeiTi"/>
                <a:cs typeface="Alimama ShuHeiTi"/>
                <a:sym typeface="Alimama ShuHeiTi"/>
              </a:rPr>
              <a:t>FlagOS Ecosystem Position</a:t>
            </a:r>
            <a:endParaRPr lang="en-US" sz="1100"/>
          </a:p>
        </p:txBody>
      </p:sp>
      <p:sp>
        <p:nvSpPr>
          <p:cNvPr id="3" name="Freeform 3"/>
          <p:cNvSpPr/>
          <p:nvPr/>
        </p:nvSpPr>
        <p:spPr>
          <a:xfrm>
            <a:off x="6286500" y="1583420"/>
            <a:ext cx="5524500" cy="1028700"/>
          </a:xfrm>
          <a:custGeom>
            <a:avLst/>
            <a:gdLst/>
            <a:ahLst/>
            <a:cxnLst/>
            <a:rect l="l" t="t" r="r" b="b"/>
            <a:pathLst>
              <a:path w="5524500" h="1028700">
                <a:moveTo>
                  <a:pt x="114299" y="0"/>
                </a:moveTo>
                <a:lnTo>
                  <a:pt x="5410201" y="0"/>
                </a:lnTo>
                <a:cubicBezTo>
                  <a:pt x="5473327" y="0"/>
                  <a:pt x="5524500" y="51173"/>
                  <a:pt x="5524500" y="114299"/>
                </a:cubicBezTo>
                <a:lnTo>
                  <a:pt x="5524500" y="914401"/>
                </a:lnTo>
                <a:cubicBezTo>
                  <a:pt x="5524500" y="977527"/>
                  <a:pt x="5473327" y="1028700"/>
                  <a:pt x="5410201" y="1028700"/>
                </a:cubicBezTo>
                <a:lnTo>
                  <a:pt x="114299" y="1028700"/>
                </a:lnTo>
                <a:cubicBezTo>
                  <a:pt x="51173" y="1028700"/>
                  <a:pt x="0" y="977527"/>
                  <a:pt x="0" y="914401"/>
                </a:cubicBezTo>
                <a:lnTo>
                  <a:pt x="0" y="114299"/>
                </a:lnTo>
                <a:cubicBezTo>
                  <a:pt x="0" y="51173"/>
                  <a:pt x="51173" y="0"/>
                  <a:pt x="114299"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4" name="Freeform 4"/>
          <p:cNvSpPr/>
          <p:nvPr/>
        </p:nvSpPr>
        <p:spPr>
          <a:xfrm>
            <a:off x="6500813" y="1811908"/>
            <a:ext cx="190500" cy="190500"/>
          </a:xfrm>
          <a:custGeom>
            <a:avLst/>
            <a:gdLst/>
            <a:ahLst/>
            <a:cxnLst/>
            <a:rect l="l" t="t" r="r" b="b"/>
            <a:pathLst>
              <a:path w="190500" h="190500">
                <a:moveTo>
                  <a:pt x="83344" y="0"/>
                </a:moveTo>
                <a:cubicBezTo>
                  <a:pt x="96478" y="0"/>
                  <a:pt x="107156" y="8000"/>
                  <a:pt x="107156" y="17859"/>
                </a:cubicBezTo>
                <a:cubicBezTo>
                  <a:pt x="107156" y="21728"/>
                  <a:pt x="105519" y="25301"/>
                  <a:pt x="102691" y="28240"/>
                </a:cubicBezTo>
                <a:cubicBezTo>
                  <a:pt x="100236" y="30806"/>
                  <a:pt x="98227" y="33933"/>
                  <a:pt x="98227" y="37504"/>
                </a:cubicBezTo>
                <a:cubicBezTo>
                  <a:pt x="98227" y="43086"/>
                  <a:pt x="102766" y="47625"/>
                  <a:pt x="108348" y="47625"/>
                </a:cubicBezTo>
                <a:lnTo>
                  <a:pt x="125016" y="47625"/>
                </a:lnTo>
                <a:cubicBezTo>
                  <a:pt x="134875" y="47625"/>
                  <a:pt x="142875" y="55625"/>
                  <a:pt x="142875" y="65484"/>
                </a:cubicBezTo>
                <a:lnTo>
                  <a:pt x="142875" y="82152"/>
                </a:lnTo>
                <a:cubicBezTo>
                  <a:pt x="142875" y="87734"/>
                  <a:pt x="147414" y="92273"/>
                  <a:pt x="152996" y="92273"/>
                </a:cubicBezTo>
                <a:cubicBezTo>
                  <a:pt x="156530" y="92273"/>
                  <a:pt x="159694" y="90264"/>
                  <a:pt x="162260" y="87809"/>
                </a:cubicBezTo>
                <a:cubicBezTo>
                  <a:pt x="165199" y="85018"/>
                  <a:pt x="168772" y="83344"/>
                  <a:pt x="172641" y="83344"/>
                </a:cubicBezTo>
                <a:cubicBezTo>
                  <a:pt x="182500" y="83344"/>
                  <a:pt x="190500" y="94022"/>
                  <a:pt x="190500" y="107156"/>
                </a:cubicBezTo>
                <a:cubicBezTo>
                  <a:pt x="190500" y="120291"/>
                  <a:pt x="182500" y="130969"/>
                  <a:pt x="172641" y="130969"/>
                </a:cubicBezTo>
                <a:cubicBezTo>
                  <a:pt x="168772" y="130969"/>
                  <a:pt x="165162" y="129332"/>
                  <a:pt x="162260" y="126503"/>
                </a:cubicBezTo>
                <a:cubicBezTo>
                  <a:pt x="159694" y="124049"/>
                  <a:pt x="156567" y="122039"/>
                  <a:pt x="152996" y="122039"/>
                </a:cubicBezTo>
                <a:cubicBezTo>
                  <a:pt x="147414" y="122039"/>
                  <a:pt x="142875" y="126578"/>
                  <a:pt x="142875" y="132159"/>
                </a:cubicBezTo>
                <a:lnTo>
                  <a:pt x="142875" y="172641"/>
                </a:lnTo>
                <a:cubicBezTo>
                  <a:pt x="142875" y="182500"/>
                  <a:pt x="134875" y="190500"/>
                  <a:pt x="125016" y="190500"/>
                </a:cubicBezTo>
                <a:lnTo>
                  <a:pt x="103882" y="190500"/>
                </a:lnTo>
                <a:cubicBezTo>
                  <a:pt x="99120" y="190500"/>
                  <a:pt x="95250" y="186630"/>
                  <a:pt x="95250" y="181868"/>
                </a:cubicBezTo>
                <a:cubicBezTo>
                  <a:pt x="95250" y="178445"/>
                  <a:pt x="97408" y="175431"/>
                  <a:pt x="100161" y="173385"/>
                </a:cubicBezTo>
                <a:cubicBezTo>
                  <a:pt x="104477" y="170148"/>
                  <a:pt x="107156" y="165683"/>
                  <a:pt x="107156" y="160734"/>
                </a:cubicBezTo>
                <a:cubicBezTo>
                  <a:pt x="107156" y="150875"/>
                  <a:pt x="96478" y="142875"/>
                  <a:pt x="83344" y="142875"/>
                </a:cubicBezTo>
                <a:cubicBezTo>
                  <a:pt x="70209" y="142875"/>
                  <a:pt x="59531" y="150875"/>
                  <a:pt x="59531" y="160734"/>
                </a:cubicBezTo>
                <a:cubicBezTo>
                  <a:pt x="59531" y="165683"/>
                  <a:pt x="62210" y="170148"/>
                  <a:pt x="66526" y="173385"/>
                </a:cubicBezTo>
                <a:cubicBezTo>
                  <a:pt x="69279" y="175431"/>
                  <a:pt x="71437" y="178408"/>
                  <a:pt x="71437" y="181868"/>
                </a:cubicBezTo>
                <a:cubicBezTo>
                  <a:pt x="71437" y="186630"/>
                  <a:pt x="67568" y="190500"/>
                  <a:pt x="62805" y="190500"/>
                </a:cubicBezTo>
                <a:lnTo>
                  <a:pt x="17859" y="190500"/>
                </a:lnTo>
                <a:cubicBezTo>
                  <a:pt x="8000" y="190500"/>
                  <a:pt x="0" y="182500"/>
                  <a:pt x="0" y="172641"/>
                </a:cubicBezTo>
                <a:lnTo>
                  <a:pt x="0" y="127695"/>
                </a:lnTo>
                <a:cubicBezTo>
                  <a:pt x="0" y="122932"/>
                  <a:pt x="3870" y="119062"/>
                  <a:pt x="8632" y="119062"/>
                </a:cubicBezTo>
                <a:cubicBezTo>
                  <a:pt x="12055" y="119062"/>
                  <a:pt x="15069" y="121221"/>
                  <a:pt x="17115" y="123974"/>
                </a:cubicBezTo>
                <a:cubicBezTo>
                  <a:pt x="20352" y="128290"/>
                  <a:pt x="24817" y="130969"/>
                  <a:pt x="29766" y="130969"/>
                </a:cubicBezTo>
                <a:cubicBezTo>
                  <a:pt x="39625" y="130969"/>
                  <a:pt x="47625" y="120291"/>
                  <a:pt x="47625" y="107156"/>
                </a:cubicBezTo>
                <a:cubicBezTo>
                  <a:pt x="47625" y="94022"/>
                  <a:pt x="39625" y="83344"/>
                  <a:pt x="29766" y="83344"/>
                </a:cubicBezTo>
                <a:cubicBezTo>
                  <a:pt x="24817" y="83344"/>
                  <a:pt x="20352" y="86023"/>
                  <a:pt x="17115" y="90339"/>
                </a:cubicBezTo>
                <a:cubicBezTo>
                  <a:pt x="15069" y="93092"/>
                  <a:pt x="12092" y="95250"/>
                  <a:pt x="8632" y="95250"/>
                </a:cubicBezTo>
                <a:cubicBezTo>
                  <a:pt x="3870" y="95250"/>
                  <a:pt x="0" y="91380"/>
                  <a:pt x="0" y="86618"/>
                </a:cubicBezTo>
                <a:lnTo>
                  <a:pt x="0" y="65484"/>
                </a:lnTo>
                <a:cubicBezTo>
                  <a:pt x="0" y="55625"/>
                  <a:pt x="8000" y="47625"/>
                  <a:pt x="17859" y="47625"/>
                </a:cubicBezTo>
                <a:lnTo>
                  <a:pt x="58341" y="47625"/>
                </a:lnTo>
                <a:cubicBezTo>
                  <a:pt x="63922" y="47625"/>
                  <a:pt x="68461" y="43086"/>
                  <a:pt x="68461" y="37504"/>
                </a:cubicBezTo>
                <a:cubicBezTo>
                  <a:pt x="68461" y="33970"/>
                  <a:pt x="66451" y="30806"/>
                  <a:pt x="63997" y="28240"/>
                </a:cubicBezTo>
                <a:cubicBezTo>
                  <a:pt x="61206" y="25301"/>
                  <a:pt x="59531" y="21728"/>
                  <a:pt x="59531" y="17859"/>
                </a:cubicBezTo>
                <a:cubicBezTo>
                  <a:pt x="59531" y="8000"/>
                  <a:pt x="70209" y="0"/>
                  <a:pt x="83344"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6829316" y="1773920"/>
            <a:ext cx="771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Ecosystem Enablement</a:t>
            </a:r>
            <a:endParaRPr lang="en-US" sz="1100"/>
          </a:p>
        </p:txBody>
      </p:sp>
      <p:sp>
        <p:nvSpPr>
          <p:cNvPr id="6" name="Freeform 6"/>
          <p:cNvSpPr/>
          <p:nvPr/>
        </p:nvSpPr>
        <p:spPr>
          <a:xfrm>
            <a:off x="6477000" y="2154622"/>
            <a:ext cx="1038225" cy="266700"/>
          </a:xfrm>
          <a:custGeom>
            <a:avLst/>
            <a:gdLst/>
            <a:ahLst/>
            <a:cxnLst/>
            <a:rect l="l" t="t" r="r" b="b"/>
            <a:pathLst>
              <a:path w="1038225" h="266700">
                <a:moveTo>
                  <a:pt x="38101" y="0"/>
                </a:moveTo>
                <a:lnTo>
                  <a:pt x="1000124" y="0"/>
                </a:lnTo>
                <a:cubicBezTo>
                  <a:pt x="1021168" y="0"/>
                  <a:pt x="1038225" y="17057"/>
                  <a:pt x="1038225" y="38101"/>
                </a:cubicBezTo>
                <a:lnTo>
                  <a:pt x="1038225" y="228599"/>
                </a:lnTo>
                <a:cubicBezTo>
                  <a:pt x="1038225" y="249643"/>
                  <a:pt x="1021168" y="266700"/>
                  <a:pt x="1000124" y="266700"/>
                </a:cubicBezTo>
                <a:lnTo>
                  <a:pt x="38101" y="266700"/>
                </a:lnTo>
                <a:cubicBezTo>
                  <a:pt x="17057" y="266700"/>
                  <a:pt x="0" y="249643"/>
                  <a:pt x="0" y="228599"/>
                </a:cubicBezTo>
                <a:lnTo>
                  <a:pt x="0" y="38101"/>
                </a:lnTo>
                <a:cubicBezTo>
                  <a:pt x="0" y="17073"/>
                  <a:pt x="17073" y="0"/>
                  <a:pt x="38101"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6477000" y="2154622"/>
            <a:ext cx="1104900" cy="266700"/>
          </a:xfrm>
          <a:prstGeom prst="rect">
            <a:avLst/>
          </a:prstGeom>
          <a:noFill/>
          <a:ln w="12700">
            <a:noFill/>
            <a:prstDash val="solid"/>
          </a:ln>
        </p:spPr>
        <p:txBody>
          <a:bodyPr wrap="square" lIns="114300" tIns="38100" rIns="114300" bIns="38100" rtlCol="0" anchor="ctr">
            <a:noAutofit/>
          </a:bodyPr>
          <a:lstStyle/>
          <a:p>
            <a:pPr indent="0" algn="l">
              <a:lnSpc>
                <a:spcPct val="117000"/>
              </a:lnSpc>
              <a:defRPr/>
            </a:pPr>
            <a:r>
              <a:rPr lang="en-US" sz="88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Megatron-EL</a:t>
            </a:r>
            <a:endParaRPr lang="en-US" sz="1100"/>
          </a:p>
        </p:txBody>
      </p:sp>
      <p:sp>
        <p:nvSpPr>
          <p:cNvPr id="8" name="Freeform 8"/>
          <p:cNvSpPr/>
          <p:nvPr/>
        </p:nvSpPr>
        <p:spPr>
          <a:xfrm>
            <a:off x="7586717" y="2154622"/>
            <a:ext cx="1209675" cy="266700"/>
          </a:xfrm>
          <a:custGeom>
            <a:avLst/>
            <a:gdLst/>
            <a:ahLst/>
            <a:cxnLst/>
            <a:rect l="l" t="t" r="r" b="b"/>
            <a:pathLst>
              <a:path w="1209675" h="266700">
                <a:moveTo>
                  <a:pt x="38101" y="0"/>
                </a:moveTo>
                <a:lnTo>
                  <a:pt x="1171574" y="0"/>
                </a:lnTo>
                <a:cubicBezTo>
                  <a:pt x="1192618" y="0"/>
                  <a:pt x="1209675" y="17057"/>
                  <a:pt x="1209675" y="38101"/>
                </a:cubicBezTo>
                <a:lnTo>
                  <a:pt x="1209675" y="228599"/>
                </a:lnTo>
                <a:cubicBezTo>
                  <a:pt x="1209675" y="249643"/>
                  <a:pt x="1192618" y="266700"/>
                  <a:pt x="1171574" y="266700"/>
                </a:cubicBezTo>
                <a:lnTo>
                  <a:pt x="38101" y="266700"/>
                </a:lnTo>
                <a:cubicBezTo>
                  <a:pt x="17057" y="266700"/>
                  <a:pt x="0" y="249643"/>
                  <a:pt x="0" y="228599"/>
                </a:cubicBezTo>
                <a:lnTo>
                  <a:pt x="0" y="38101"/>
                </a:lnTo>
                <a:cubicBezTo>
                  <a:pt x="0" y="17073"/>
                  <a:pt x="17073" y="0"/>
                  <a:pt x="38101"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7586717" y="2154622"/>
            <a:ext cx="1276350" cy="266700"/>
          </a:xfrm>
          <a:prstGeom prst="rect">
            <a:avLst/>
          </a:prstGeom>
          <a:noFill/>
          <a:ln w="12700">
            <a:noFill/>
            <a:prstDash val="solid"/>
          </a:ln>
        </p:spPr>
        <p:txBody>
          <a:bodyPr wrap="square" lIns="114300" tIns="38100" rIns="114300" bIns="38100" rtlCol="0" anchor="ctr">
            <a:noAutofit/>
          </a:bodyPr>
          <a:lstStyle/>
          <a:p>
            <a:pPr indent="0" algn="l">
              <a:lnSpc>
                <a:spcPct val="117000"/>
              </a:lnSpc>
              <a:defRPr/>
            </a:pPr>
            <a:r>
              <a:rPr lang="en-US" sz="88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vLLM-plugin-FL</a:t>
            </a:r>
            <a:endParaRPr lang="en-US" sz="1100"/>
          </a:p>
        </p:txBody>
      </p:sp>
      <p:sp>
        <p:nvSpPr>
          <p:cNvPr id="10" name="Freeform 10"/>
          <p:cNvSpPr/>
          <p:nvPr/>
        </p:nvSpPr>
        <p:spPr>
          <a:xfrm>
            <a:off x="8872185" y="2154622"/>
            <a:ext cx="1609725" cy="266700"/>
          </a:xfrm>
          <a:custGeom>
            <a:avLst/>
            <a:gdLst/>
            <a:ahLst/>
            <a:cxnLst/>
            <a:rect l="l" t="t" r="r" b="b"/>
            <a:pathLst>
              <a:path w="1609725" h="266700">
                <a:moveTo>
                  <a:pt x="38101" y="0"/>
                </a:moveTo>
                <a:lnTo>
                  <a:pt x="1571624" y="0"/>
                </a:lnTo>
                <a:cubicBezTo>
                  <a:pt x="1592668" y="0"/>
                  <a:pt x="1609725" y="17057"/>
                  <a:pt x="1609725" y="38101"/>
                </a:cubicBezTo>
                <a:lnTo>
                  <a:pt x="1609725" y="228599"/>
                </a:lnTo>
                <a:cubicBezTo>
                  <a:pt x="1609725" y="249643"/>
                  <a:pt x="1592668" y="266700"/>
                  <a:pt x="1571624" y="266700"/>
                </a:cubicBezTo>
                <a:lnTo>
                  <a:pt x="38101" y="266700"/>
                </a:lnTo>
                <a:cubicBezTo>
                  <a:pt x="17057" y="266700"/>
                  <a:pt x="0" y="249643"/>
                  <a:pt x="0" y="228599"/>
                </a:cubicBezTo>
                <a:lnTo>
                  <a:pt x="0" y="38101"/>
                </a:lnTo>
                <a:cubicBezTo>
                  <a:pt x="0" y="17073"/>
                  <a:pt x="17073" y="0"/>
                  <a:pt x="38101"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8872185" y="2154622"/>
            <a:ext cx="1676400" cy="266700"/>
          </a:xfrm>
          <a:prstGeom prst="rect">
            <a:avLst/>
          </a:prstGeom>
          <a:noFill/>
          <a:ln w="12700">
            <a:noFill/>
            <a:prstDash val="solid"/>
          </a:ln>
        </p:spPr>
        <p:txBody>
          <a:bodyPr wrap="square" lIns="114300" tIns="38100" rIns="114300" bIns="38100" rtlCol="0" anchor="ctr">
            <a:noAutofit/>
          </a:bodyPr>
          <a:lstStyle/>
          <a:p>
            <a:pPr indent="0" algn="l">
              <a:lnSpc>
                <a:spcPct val="117000"/>
              </a:lnSpc>
              <a:defRPr/>
            </a:pPr>
            <a:r>
              <a:rPr lang="en-US" sz="88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TransformerEngine-FL</a:t>
            </a:r>
            <a:endParaRPr lang="en-US" sz="1100"/>
          </a:p>
        </p:txBody>
      </p:sp>
      <p:sp>
        <p:nvSpPr>
          <p:cNvPr id="12" name="Freeform 12"/>
          <p:cNvSpPr/>
          <p:nvPr/>
        </p:nvSpPr>
        <p:spPr>
          <a:xfrm>
            <a:off x="6295159" y="2772658"/>
            <a:ext cx="5503718" cy="1769918"/>
          </a:xfrm>
          <a:custGeom>
            <a:avLst/>
            <a:gdLst/>
            <a:ahLst/>
            <a:cxnLst/>
            <a:rect l="l" t="t" r="r" b="b"/>
            <a:pathLst>
              <a:path w="5503718" h="1769918">
                <a:moveTo>
                  <a:pt x="114301" y="0"/>
                </a:moveTo>
                <a:lnTo>
                  <a:pt x="5389416" y="0"/>
                </a:lnTo>
                <a:cubicBezTo>
                  <a:pt x="5452544" y="0"/>
                  <a:pt x="5503718" y="51173"/>
                  <a:pt x="5503718" y="114301"/>
                </a:cubicBezTo>
                <a:lnTo>
                  <a:pt x="5503718" y="1655616"/>
                </a:lnTo>
                <a:cubicBezTo>
                  <a:pt x="5503718" y="1718744"/>
                  <a:pt x="5452544" y="1769918"/>
                  <a:pt x="5389416" y="1769918"/>
                </a:cubicBezTo>
                <a:lnTo>
                  <a:pt x="114301" y="1769918"/>
                </a:lnTo>
                <a:cubicBezTo>
                  <a:pt x="51173" y="1769918"/>
                  <a:pt x="0" y="1718744"/>
                  <a:pt x="0" y="1655616"/>
                </a:cubicBezTo>
                <a:lnTo>
                  <a:pt x="0" y="114301"/>
                </a:lnTo>
                <a:cubicBezTo>
                  <a:pt x="0" y="51217"/>
                  <a:pt x="51217" y="0"/>
                  <a:pt x="114301"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algn="ctr">
              <a:defRPr/>
            </a:pPr>
          </a:p>
        </p:txBody>
      </p:sp>
      <p:sp>
        <p:nvSpPr>
          <p:cNvPr id="13" name="Freeform 13"/>
          <p:cNvSpPr/>
          <p:nvPr/>
        </p:nvSpPr>
        <p:spPr>
          <a:xfrm>
            <a:off x="6517946" y="3005659"/>
            <a:ext cx="190871" cy="190834"/>
          </a:xfrm>
          <a:custGeom>
            <a:avLst/>
            <a:gdLst/>
            <a:ahLst/>
            <a:cxnLst/>
            <a:rect l="l" t="t" r="r" b="b"/>
            <a:pathLst>
              <a:path w="190871" h="190834">
                <a:moveTo>
                  <a:pt x="105853" y="3720"/>
                </a:moveTo>
                <a:cubicBezTo>
                  <a:pt x="99416" y="0"/>
                  <a:pt x="91454" y="0"/>
                  <a:pt x="85017" y="3720"/>
                </a:cubicBezTo>
                <a:lnTo>
                  <a:pt x="53689" y="21802"/>
                </a:lnTo>
                <a:cubicBezTo>
                  <a:pt x="47252" y="25523"/>
                  <a:pt x="43271" y="32407"/>
                  <a:pt x="43271" y="39848"/>
                </a:cubicBezTo>
                <a:lnTo>
                  <a:pt x="43271" y="77762"/>
                </a:lnTo>
                <a:lnTo>
                  <a:pt x="10417" y="96737"/>
                </a:lnTo>
                <a:cubicBezTo>
                  <a:pt x="3980" y="100459"/>
                  <a:pt x="0" y="107342"/>
                  <a:pt x="0" y="114783"/>
                </a:cubicBezTo>
                <a:lnTo>
                  <a:pt x="0" y="150986"/>
                </a:lnTo>
                <a:cubicBezTo>
                  <a:pt x="0" y="158426"/>
                  <a:pt x="3980" y="165310"/>
                  <a:pt x="10417" y="169031"/>
                </a:cubicBezTo>
                <a:lnTo>
                  <a:pt x="41783" y="187114"/>
                </a:lnTo>
                <a:cubicBezTo>
                  <a:pt x="48219" y="190834"/>
                  <a:pt x="56182" y="190834"/>
                  <a:pt x="62618" y="187114"/>
                </a:cubicBezTo>
                <a:lnTo>
                  <a:pt x="95472" y="168138"/>
                </a:lnTo>
                <a:lnTo>
                  <a:pt x="128325" y="187114"/>
                </a:lnTo>
                <a:cubicBezTo>
                  <a:pt x="134763" y="190834"/>
                  <a:pt x="142725" y="190834"/>
                  <a:pt x="149162" y="187114"/>
                </a:cubicBezTo>
                <a:lnTo>
                  <a:pt x="180453" y="169031"/>
                </a:lnTo>
                <a:cubicBezTo>
                  <a:pt x="186890" y="165310"/>
                  <a:pt x="190870" y="158426"/>
                  <a:pt x="190870" y="150986"/>
                </a:cubicBezTo>
                <a:lnTo>
                  <a:pt x="190870" y="114783"/>
                </a:lnTo>
                <a:cubicBezTo>
                  <a:pt x="190870" y="107342"/>
                  <a:pt x="186890" y="100459"/>
                  <a:pt x="180453" y="96737"/>
                </a:cubicBezTo>
                <a:lnTo>
                  <a:pt x="147599" y="77762"/>
                </a:lnTo>
                <a:lnTo>
                  <a:pt x="147599" y="39848"/>
                </a:lnTo>
                <a:cubicBezTo>
                  <a:pt x="147599" y="32407"/>
                  <a:pt x="143618" y="25523"/>
                  <a:pt x="137181" y="21802"/>
                </a:cubicBezTo>
                <a:lnTo>
                  <a:pt x="105853" y="3720"/>
                </a:lnTo>
                <a:close/>
                <a:moveTo>
                  <a:pt x="86506" y="113072"/>
                </a:moveTo>
                <a:lnTo>
                  <a:pt x="86506" y="152697"/>
                </a:lnTo>
                <a:lnTo>
                  <a:pt x="53652" y="171673"/>
                </a:lnTo>
                <a:cubicBezTo>
                  <a:pt x="53205" y="171933"/>
                  <a:pt x="52684" y="172081"/>
                  <a:pt x="52164" y="172081"/>
                </a:cubicBezTo>
                <a:lnTo>
                  <a:pt x="52164" y="132903"/>
                </a:lnTo>
                <a:lnTo>
                  <a:pt x="86506" y="113072"/>
                </a:lnTo>
                <a:close/>
                <a:moveTo>
                  <a:pt x="172601" y="113294"/>
                </a:moveTo>
                <a:cubicBezTo>
                  <a:pt x="172863" y="113741"/>
                  <a:pt x="173012" y="114262"/>
                  <a:pt x="173012" y="114783"/>
                </a:cubicBezTo>
                <a:lnTo>
                  <a:pt x="173012" y="150986"/>
                </a:lnTo>
                <a:cubicBezTo>
                  <a:pt x="173012" y="152065"/>
                  <a:pt x="172454" y="153031"/>
                  <a:pt x="171523" y="153553"/>
                </a:cubicBezTo>
                <a:lnTo>
                  <a:pt x="140158" y="171636"/>
                </a:lnTo>
                <a:cubicBezTo>
                  <a:pt x="139711" y="171896"/>
                  <a:pt x="139190" y="172045"/>
                  <a:pt x="138670" y="172045"/>
                </a:cubicBezTo>
                <a:lnTo>
                  <a:pt x="138670" y="132866"/>
                </a:lnTo>
                <a:lnTo>
                  <a:pt x="172601" y="113294"/>
                </a:lnTo>
                <a:close/>
                <a:moveTo>
                  <a:pt x="129777" y="39848"/>
                </a:moveTo>
                <a:lnTo>
                  <a:pt x="129777" y="77762"/>
                </a:lnTo>
                <a:lnTo>
                  <a:pt x="95435" y="97593"/>
                </a:lnTo>
                <a:lnTo>
                  <a:pt x="95435" y="57968"/>
                </a:lnTo>
                <a:lnTo>
                  <a:pt x="129368" y="38397"/>
                </a:lnTo>
                <a:cubicBezTo>
                  <a:pt x="129628" y="38845"/>
                  <a:pt x="129777" y="39365"/>
                  <a:pt x="129777" y="39886"/>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6846634" y="2971837"/>
            <a:ext cx="6000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Core Libraries</a:t>
            </a:r>
            <a:endParaRPr lang="en-US" sz="1100"/>
          </a:p>
        </p:txBody>
      </p:sp>
      <p:sp>
        <p:nvSpPr>
          <p:cNvPr id="15" name="AutoShape 15"/>
          <p:cNvSpPr/>
          <p:nvPr/>
        </p:nvSpPr>
        <p:spPr>
          <a:xfrm>
            <a:off x="6494318" y="3352577"/>
            <a:ext cx="51720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FlagGems:</a:t>
            </a: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High-performance General-purpose AI Operator Library</a:t>
            </a:r>
            <a:endParaRPr lang="en-US" sz="1100"/>
          </a:p>
        </p:txBody>
      </p:sp>
      <p:sp>
        <p:nvSpPr>
          <p:cNvPr id="16" name="AutoShape 16"/>
          <p:cNvSpPr/>
          <p:nvPr/>
        </p:nvSpPr>
        <p:spPr>
          <a:xfrm>
            <a:off x="6494318" y="3619240"/>
            <a:ext cx="51720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FlagTree:</a:t>
            </a: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Unified AI Compiler</a:t>
            </a:r>
            <a:endParaRPr lang="en-US" sz="1100"/>
          </a:p>
        </p:txBody>
      </p:sp>
      <p:sp>
        <p:nvSpPr>
          <p:cNvPr id="17" name="AutoShape 17"/>
          <p:cNvSpPr/>
          <p:nvPr/>
        </p:nvSpPr>
        <p:spPr>
          <a:xfrm>
            <a:off x="6494318" y="3885902"/>
            <a:ext cx="51720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FlagScale:</a:t>
            </a: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Unified Parallel Training and Inference Framework</a:t>
            </a:r>
            <a:endParaRPr lang="en-US" sz="1100"/>
          </a:p>
        </p:txBody>
      </p:sp>
      <p:sp>
        <p:nvSpPr>
          <p:cNvPr id="18" name="AutoShape 18"/>
          <p:cNvSpPr/>
          <p:nvPr/>
        </p:nvSpPr>
        <p:spPr>
          <a:xfrm>
            <a:off x="6494318" y="4152565"/>
            <a:ext cx="51720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FlagCX:</a:t>
            </a: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Unified Communication Library</a:t>
            </a:r>
            <a:endParaRPr lang="en-US" sz="1100"/>
          </a:p>
        </p:txBody>
      </p:sp>
      <p:sp>
        <p:nvSpPr>
          <p:cNvPr id="19" name="Freeform 19"/>
          <p:cNvSpPr/>
          <p:nvPr/>
        </p:nvSpPr>
        <p:spPr>
          <a:xfrm>
            <a:off x="6286500" y="4703229"/>
            <a:ext cx="5524500" cy="1485900"/>
          </a:xfrm>
          <a:custGeom>
            <a:avLst/>
            <a:gdLst/>
            <a:ahLst/>
            <a:cxnLst/>
            <a:rect l="l" t="t" r="r" b="b"/>
            <a:pathLst>
              <a:path w="5524500" h="1485900">
                <a:moveTo>
                  <a:pt x="114295" y="0"/>
                </a:moveTo>
                <a:lnTo>
                  <a:pt x="5410205" y="0"/>
                </a:lnTo>
                <a:cubicBezTo>
                  <a:pt x="5473286" y="0"/>
                  <a:pt x="5524500" y="51214"/>
                  <a:pt x="5524500" y="114295"/>
                </a:cubicBezTo>
                <a:lnTo>
                  <a:pt x="5524500" y="1371605"/>
                </a:lnTo>
                <a:cubicBezTo>
                  <a:pt x="5524500" y="1434686"/>
                  <a:pt x="5473286" y="1485900"/>
                  <a:pt x="5410205" y="1485900"/>
                </a:cubicBezTo>
                <a:lnTo>
                  <a:pt x="114295" y="1485900"/>
                </a:lnTo>
                <a:cubicBezTo>
                  <a:pt x="51214" y="1485900"/>
                  <a:pt x="0" y="1434686"/>
                  <a:pt x="0" y="1371605"/>
                </a:cubicBezTo>
                <a:lnTo>
                  <a:pt x="0" y="114295"/>
                </a:lnTo>
                <a:cubicBezTo>
                  <a:pt x="0" y="51214"/>
                  <a:pt x="51214" y="0"/>
                  <a:pt x="114295"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0" name="Freeform 20"/>
          <p:cNvSpPr/>
          <p:nvPr/>
        </p:nvSpPr>
        <p:spPr>
          <a:xfrm>
            <a:off x="6495267" y="4926954"/>
            <a:ext cx="202296" cy="201515"/>
          </a:xfrm>
          <a:custGeom>
            <a:avLst/>
            <a:gdLst/>
            <a:ahLst/>
            <a:cxnLst/>
            <a:rect l="l" t="t" r="r" b="b"/>
            <a:pathLst>
              <a:path w="202296" h="201515">
                <a:moveTo>
                  <a:pt x="77020" y="40929"/>
                </a:moveTo>
                <a:lnTo>
                  <a:pt x="77020" y="59384"/>
                </a:lnTo>
                <a:lnTo>
                  <a:pt x="77206" y="59570"/>
                </a:lnTo>
                <a:cubicBezTo>
                  <a:pt x="79624" y="28911"/>
                  <a:pt x="105261" y="4801"/>
                  <a:pt x="136551" y="4801"/>
                </a:cubicBezTo>
                <a:cubicBezTo>
                  <a:pt x="144030" y="4801"/>
                  <a:pt x="151210" y="6178"/>
                  <a:pt x="157795" y="8708"/>
                </a:cubicBezTo>
                <a:cubicBezTo>
                  <a:pt x="161516" y="10122"/>
                  <a:pt x="162187" y="14847"/>
                  <a:pt x="159396" y="17675"/>
                </a:cubicBezTo>
                <a:lnTo>
                  <a:pt x="126393" y="50677"/>
                </a:lnTo>
                <a:cubicBezTo>
                  <a:pt x="125277" y="51794"/>
                  <a:pt x="124645" y="53319"/>
                  <a:pt x="124645" y="54882"/>
                </a:cubicBezTo>
                <a:lnTo>
                  <a:pt x="124645" y="70285"/>
                </a:lnTo>
                <a:cubicBezTo>
                  <a:pt x="124645" y="73560"/>
                  <a:pt x="127324" y="76238"/>
                  <a:pt x="130598" y="76238"/>
                </a:cubicBezTo>
                <a:lnTo>
                  <a:pt x="146002" y="76238"/>
                </a:lnTo>
                <a:cubicBezTo>
                  <a:pt x="147564" y="76238"/>
                  <a:pt x="149090" y="75606"/>
                  <a:pt x="150206" y="74490"/>
                </a:cubicBezTo>
                <a:lnTo>
                  <a:pt x="183209" y="41487"/>
                </a:lnTo>
                <a:cubicBezTo>
                  <a:pt x="186036" y="38659"/>
                  <a:pt x="190762" y="39367"/>
                  <a:pt x="192176" y="43086"/>
                </a:cubicBezTo>
                <a:cubicBezTo>
                  <a:pt x="194705" y="49673"/>
                  <a:pt x="196082" y="56854"/>
                  <a:pt x="196082" y="64332"/>
                </a:cubicBezTo>
                <a:cubicBezTo>
                  <a:pt x="196082" y="86880"/>
                  <a:pt x="183543" y="106525"/>
                  <a:pt x="165015" y="116608"/>
                </a:cubicBezTo>
                <a:lnTo>
                  <a:pt x="195338" y="146932"/>
                </a:lnTo>
                <a:cubicBezTo>
                  <a:pt x="202296" y="153890"/>
                  <a:pt x="202296" y="165201"/>
                  <a:pt x="195338" y="172195"/>
                </a:cubicBezTo>
                <a:lnTo>
                  <a:pt x="172977" y="194557"/>
                </a:lnTo>
                <a:cubicBezTo>
                  <a:pt x="166019" y="201515"/>
                  <a:pt x="154708" y="201515"/>
                  <a:pt x="147713" y="194557"/>
                </a:cubicBezTo>
                <a:lnTo>
                  <a:pt x="100832" y="147676"/>
                </a:lnTo>
                <a:cubicBezTo>
                  <a:pt x="90638" y="137480"/>
                  <a:pt x="88331" y="122412"/>
                  <a:pt x="93949" y="109985"/>
                </a:cubicBezTo>
                <a:lnTo>
                  <a:pt x="60202" y="76238"/>
                </a:lnTo>
                <a:lnTo>
                  <a:pt x="41748" y="76238"/>
                </a:lnTo>
                <a:cubicBezTo>
                  <a:pt x="37766" y="76238"/>
                  <a:pt x="34047" y="74267"/>
                  <a:pt x="31851" y="70955"/>
                </a:cubicBezTo>
                <a:lnTo>
                  <a:pt x="2345" y="26716"/>
                </a:lnTo>
                <a:cubicBezTo>
                  <a:pt x="783" y="24372"/>
                  <a:pt x="1080" y="21209"/>
                  <a:pt x="3090" y="19200"/>
                </a:cubicBezTo>
                <a:lnTo>
                  <a:pt x="19983" y="2308"/>
                </a:lnTo>
                <a:cubicBezTo>
                  <a:pt x="21990" y="299"/>
                  <a:pt x="25116" y="0"/>
                  <a:pt x="27497" y="1564"/>
                </a:cubicBezTo>
                <a:lnTo>
                  <a:pt x="71736" y="31032"/>
                </a:lnTo>
                <a:cubicBezTo>
                  <a:pt x="75049" y="33227"/>
                  <a:pt x="77020" y="36949"/>
                  <a:pt x="77020" y="40929"/>
                </a:cubicBezTo>
                <a:close/>
                <a:moveTo>
                  <a:pt x="73857" y="115156"/>
                </a:moveTo>
                <a:cubicBezTo>
                  <a:pt x="71513" y="128924"/>
                  <a:pt x="74750" y="143472"/>
                  <a:pt x="83679" y="155117"/>
                </a:cubicBezTo>
                <a:lnTo>
                  <a:pt x="48333" y="190427"/>
                </a:lnTo>
                <a:cubicBezTo>
                  <a:pt x="37878" y="200881"/>
                  <a:pt x="20912" y="200881"/>
                  <a:pt x="10458" y="190427"/>
                </a:cubicBezTo>
                <a:cubicBezTo>
                  <a:pt x="0" y="179972"/>
                  <a:pt x="0" y="163005"/>
                  <a:pt x="10458" y="152550"/>
                </a:cubicBezTo>
                <a:lnTo>
                  <a:pt x="60835" y="102172"/>
                </a:lnTo>
                <a:lnTo>
                  <a:pt x="73857" y="115194"/>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6829316" y="4893729"/>
            <a:ext cx="4286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8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Tools</a:t>
            </a:r>
            <a:endParaRPr lang="en-US" sz="1100"/>
          </a:p>
        </p:txBody>
      </p:sp>
      <p:sp>
        <p:nvSpPr>
          <p:cNvPr id="22" name="AutoShape 22"/>
          <p:cNvSpPr/>
          <p:nvPr/>
        </p:nvSpPr>
        <p:spPr>
          <a:xfrm>
            <a:off x="6477000" y="5274469"/>
            <a:ext cx="52101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KernelGen:</a:t>
            </a: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AI-powered Operator Development Tool</a:t>
            </a:r>
            <a:endParaRPr lang="en-US" sz="1100"/>
          </a:p>
        </p:txBody>
      </p:sp>
      <p:sp>
        <p:nvSpPr>
          <p:cNvPr id="23" name="AutoShape 23"/>
          <p:cNvSpPr/>
          <p:nvPr/>
        </p:nvSpPr>
        <p:spPr>
          <a:xfrm>
            <a:off x="6477000" y="5541132"/>
            <a:ext cx="52101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FlagRelease:</a:t>
            </a: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Large Model Release Platform</a:t>
            </a:r>
            <a:endParaRPr lang="en-US" sz="1100"/>
          </a:p>
        </p:txBody>
      </p:sp>
      <p:sp>
        <p:nvSpPr>
          <p:cNvPr id="24" name="AutoShape 24"/>
          <p:cNvSpPr/>
          <p:nvPr/>
        </p:nvSpPr>
        <p:spPr>
          <a:xfrm>
            <a:off x="6477000" y="5807832"/>
            <a:ext cx="52101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FlagPerf:</a:t>
            </a: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AI Hardware Evaluation Engine</a:t>
            </a:r>
            <a:endParaRPr lang="en-US" sz="1100"/>
          </a:p>
        </p:txBody>
      </p:sp>
      <p:pic>
        <p:nvPicPr>
          <p:cNvPr id="25" name="Picture 25"/>
          <p:cNvPicPr>
            <a:picLocks noChangeAspect="1"/>
          </p:cNvPicPr>
          <p:nvPr/>
        </p:nvPicPr>
        <p:blipFill>
          <a:blip r:embed="rId1"/>
          <a:srcRect/>
          <a:stretch>
            <a:fillRect/>
          </a:stretch>
        </p:blipFill>
        <p:spPr>
          <a:xfrm>
            <a:off x="287655" y="1535430"/>
            <a:ext cx="5739765" cy="3139440"/>
          </a:xfrm>
          <a:prstGeom prst="rect">
            <a:avLst/>
          </a:prstGeom>
          <a:ln w="12700">
            <a:noFill/>
            <a:prstDash val="solid"/>
          </a:ln>
        </p:spPr>
      </p:pic>
      <p:sp>
        <p:nvSpPr>
          <p:cNvPr id="26" name="AutoShape 26"/>
          <p:cNvSpPr/>
          <p:nvPr/>
        </p:nvSpPr>
        <p:spPr>
          <a:xfrm>
            <a:off x="6027420" y="2046605"/>
            <a:ext cx="265430" cy="3947160"/>
          </a:xfrm>
          <a:prstGeom prst="leftBrace">
            <a:avLst>
              <a:gd name="adj1" fmla="val 41173"/>
              <a:gd name="adj2" fmla="val 29166"/>
            </a:avLst>
          </a:prstGeom>
          <a:noFill/>
          <a:ln w="25400" cap="flat">
            <a:gradFill rotWithShape="0">
              <a:gsLst>
                <a:gs pos="0">
                  <a:srgbClr val="8DC29C">
                    <a:alpha val="100000"/>
                  </a:srgbClr>
                </a:gs>
                <a:gs pos="100000">
                  <a:srgbClr val="8DAAC2">
                    <a:alpha val="100000"/>
                  </a:srgbClr>
                </a:gs>
              </a:gsLst>
              <a:lin ang="0"/>
            </a:gra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Tree>
  </p:cSld>
  <p:clrMapOvr>
    <a:masterClrMapping/>
  </p:clrMapOvr>
  <p:transition spd="slow">
    <p:fade/>
  </p:transition>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5B92E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81232" y="2667000"/>
            <a:ext cx="10033000" cy="8382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3005" b="1" i="0" u="none" strike="noStrike">
                <a:solidFill>
                  <a:srgbClr val="FFFFFF"/>
                </a:solidFill>
                <a:latin typeface="Alimama ShuHeiTi"/>
                <a:ea typeface="Alimama ShuHeiTi"/>
                <a:cs typeface="Alimama ShuHeiTi"/>
                <a:sym typeface="Alimama ShuHeiTi"/>
              </a:rPr>
              <a:t>Hands-on: How to Run Large Models Locally Based on FlagOS</a:t>
            </a:r>
            <a:endParaRPr lang="en-US" sz="1100"/>
          </a:p>
        </p:txBody>
      </p:sp>
      <p:sp>
        <p:nvSpPr>
          <p:cNvPr id="3" name="AutoShape 3"/>
          <p:cNvSpPr/>
          <p:nvPr/>
        </p:nvSpPr>
        <p:spPr>
          <a:xfrm>
            <a:off x="4262573" y="3733688"/>
            <a:ext cx="3819525" cy="4572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720" b="0" i="0" u="none" strike="noStrike">
                <a:solidFill>
                  <a:srgbClr val="87CEEB"/>
                </a:solidFill>
                <a:latin typeface="MiSans" panose="00000500000000000000" charset="-122"/>
                <a:ea typeface="MiSans" panose="00000500000000000000" charset="-122"/>
                <a:cs typeface="MiSans" panose="00000500000000000000" charset="-122"/>
                <a:sym typeface="MiSans" panose="00000500000000000000" charset="-122"/>
              </a:rPr>
              <a:t>Running Qwen3-4B on Huawei NPU</a:t>
            </a:r>
            <a:endParaRPr lang="en-US" sz="1100"/>
          </a:p>
        </p:txBody>
      </p:sp>
      <p:sp>
        <p:nvSpPr>
          <p:cNvPr id="4" name="AutoShape 4"/>
          <p:cNvSpPr/>
          <p:nvPr/>
        </p:nvSpPr>
        <p:spPr>
          <a:xfrm>
            <a:off x="5536119" y="1790784"/>
            <a:ext cx="1123950" cy="4572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845"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PART 5</a:t>
            </a:r>
            <a:endParaRPr lang="en-US" sz="1100"/>
          </a:p>
        </p:txBody>
      </p:sp>
    </p:spTree>
  </p:cSld>
  <p:clrMapOvr>
    <a:masterClrMapping/>
  </p:clrMapOvr>
  <p:transition spd="slow">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49842" y="658232"/>
            <a:ext cx="11702221" cy="419811"/>
          </a:xfrm>
          <a:prstGeom prst="rect">
            <a:avLst/>
          </a:prstGeom>
          <a:noFill/>
          <a:ln w="12700">
            <a:noFill/>
            <a:prstDash val="solid"/>
          </a:ln>
        </p:spPr>
        <p:txBody>
          <a:bodyPr wrap="square" lIns="0" tIns="0" rIns="0" bIns="0" rtlCol="0" anchor="ctr">
            <a:noAutofit/>
          </a:bodyPr>
          <a:lstStyle/>
          <a:p>
            <a:pPr indent="0" algn="l">
              <a:lnSpc>
                <a:spcPct val="83000"/>
              </a:lnSpc>
              <a:defRPr/>
            </a:pPr>
            <a:r>
              <a:rPr lang="en-US" sz="1655"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Hands-on Deployment</a:t>
            </a:r>
            <a:r>
              <a:rPr lang="en-US" sz="1655" b="1"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655"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Creating a Chatbot via</a:t>
            </a:r>
            <a:r>
              <a:rPr lang="en-US" sz="1655" b="1" i="0" u="none" strike="noStrike">
                <a:solidFill>
                  <a:srgbClr val="000000"/>
                </a:solidFill>
                <a:latin typeface="Calibri" panose="020F0502020204030204"/>
                <a:ea typeface="Calibri" panose="020F0502020204030204"/>
                <a:cs typeface="Calibri" panose="020F0502020204030204"/>
                <a:sym typeface="Calibri" panose="020F0502020204030204"/>
              </a:rPr>
              <a:t>FlagOS</a:t>
            </a:r>
            <a:r>
              <a:rPr lang="en-US" sz="1655"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Creating a Chatbot</a:t>
            </a:r>
            <a:endParaRPr lang="en-US" sz="1100"/>
          </a:p>
        </p:txBody>
      </p:sp>
      <p:sp>
        <p:nvSpPr>
          <p:cNvPr id="3" name="Freeform 3"/>
          <p:cNvSpPr/>
          <p:nvPr/>
        </p:nvSpPr>
        <p:spPr>
          <a:xfrm>
            <a:off x="349842" y="1119495"/>
            <a:ext cx="699684" cy="34983"/>
          </a:xfrm>
          <a:custGeom>
            <a:avLst/>
            <a:gdLst/>
            <a:ahLst/>
            <a:cxnLst/>
            <a:rect l="l" t="t" r="r" b="b"/>
            <a:pathLst>
              <a:path w="699684" h="34983">
                <a:moveTo>
                  <a:pt x="0" y="0"/>
                </a:moveTo>
                <a:lnTo>
                  <a:pt x="699684" y="0"/>
                </a:lnTo>
                <a:lnTo>
                  <a:pt x="699684" y="34983"/>
                </a:lnTo>
                <a:lnTo>
                  <a:pt x="0" y="34983"/>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67334" y="1364385"/>
            <a:ext cx="6183461" cy="1425607"/>
          </a:xfrm>
          <a:custGeom>
            <a:avLst/>
            <a:gdLst/>
            <a:ahLst/>
            <a:cxnLst/>
            <a:rect l="l" t="t" r="r" b="b"/>
            <a:pathLst>
              <a:path w="6183461" h="1425607">
                <a:moveTo>
                  <a:pt x="34983" y="0"/>
                </a:moveTo>
                <a:lnTo>
                  <a:pt x="6078507" y="0"/>
                </a:lnTo>
                <a:cubicBezTo>
                  <a:pt x="6136471" y="0"/>
                  <a:pt x="6183461" y="46989"/>
                  <a:pt x="6183461" y="104953"/>
                </a:cubicBezTo>
                <a:lnTo>
                  <a:pt x="6183461" y="1320654"/>
                </a:lnTo>
                <a:cubicBezTo>
                  <a:pt x="6183461" y="1378618"/>
                  <a:pt x="6136471" y="1425607"/>
                  <a:pt x="6078507" y="1425607"/>
                </a:cubicBezTo>
                <a:lnTo>
                  <a:pt x="34983" y="1425607"/>
                </a:lnTo>
                <a:cubicBezTo>
                  <a:pt x="15663" y="1425607"/>
                  <a:pt x="0" y="1409944"/>
                  <a:pt x="0" y="1390623"/>
                </a:cubicBezTo>
                <a:lnTo>
                  <a:pt x="0" y="34983"/>
                </a:lnTo>
                <a:cubicBezTo>
                  <a:pt x="0" y="15676"/>
                  <a:pt x="15676" y="0"/>
                  <a:pt x="34983" y="0"/>
                </a:cubicBezTo>
                <a:close/>
              </a:path>
            </a:pathLst>
          </a:custGeom>
          <a:solidFill>
            <a:srgbClr val="FFF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5" name="Freeform 5"/>
          <p:cNvSpPr/>
          <p:nvPr/>
        </p:nvSpPr>
        <p:spPr>
          <a:xfrm>
            <a:off x="367334" y="1364385"/>
            <a:ext cx="34983" cy="1425607"/>
          </a:xfrm>
          <a:custGeom>
            <a:avLst/>
            <a:gdLst/>
            <a:ahLst/>
            <a:cxnLst/>
            <a:rect l="l" t="t" r="r" b="b"/>
            <a:pathLst>
              <a:path w="34983" h="1425607">
                <a:moveTo>
                  <a:pt x="34983" y="0"/>
                </a:moveTo>
                <a:lnTo>
                  <a:pt x="34983" y="0"/>
                </a:lnTo>
                <a:lnTo>
                  <a:pt x="34983" y="1425607"/>
                </a:lnTo>
                <a:lnTo>
                  <a:pt x="34983" y="1425607"/>
                </a:lnTo>
                <a:cubicBezTo>
                  <a:pt x="15663" y="1425607"/>
                  <a:pt x="0" y="1409944"/>
                  <a:pt x="0" y="1390623"/>
                </a:cubicBezTo>
                <a:lnTo>
                  <a:pt x="0" y="34983"/>
                </a:lnTo>
                <a:cubicBezTo>
                  <a:pt x="0" y="15676"/>
                  <a:pt x="15676" y="0"/>
                  <a:pt x="34983"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559747" y="1699604"/>
            <a:ext cx="419811" cy="419811"/>
          </a:xfrm>
          <a:custGeom>
            <a:avLst/>
            <a:gdLst/>
            <a:ahLst/>
            <a:cxnLst/>
            <a:rect l="l" t="t" r="r" b="b"/>
            <a:pathLst>
              <a:path w="419811" h="419811">
                <a:moveTo>
                  <a:pt x="209906" y="0"/>
                </a:moveTo>
                <a:lnTo>
                  <a:pt x="209906" y="0"/>
                </a:lnTo>
                <a:cubicBezTo>
                  <a:pt x="325755" y="0"/>
                  <a:pt x="419811" y="94055"/>
                  <a:pt x="419811" y="209906"/>
                </a:cubicBezTo>
                <a:lnTo>
                  <a:pt x="419811" y="209906"/>
                </a:lnTo>
                <a:cubicBezTo>
                  <a:pt x="419811" y="325755"/>
                  <a:pt x="325755" y="419811"/>
                  <a:pt x="209906" y="419811"/>
                </a:cubicBezTo>
                <a:lnTo>
                  <a:pt x="209906" y="419811"/>
                </a:lnTo>
                <a:cubicBezTo>
                  <a:pt x="94055" y="419811"/>
                  <a:pt x="0" y="325755"/>
                  <a:pt x="0" y="209906"/>
                </a:cubicBezTo>
                <a:lnTo>
                  <a:pt x="0" y="209906"/>
                </a:lnTo>
                <a:cubicBezTo>
                  <a:pt x="0" y="94055"/>
                  <a:pt x="94055" y="0"/>
                  <a:pt x="209906"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516017" y="1699604"/>
            <a:ext cx="507271" cy="419811"/>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01</a:t>
            </a:r>
            <a:endParaRPr lang="en-US" sz="1100"/>
          </a:p>
        </p:txBody>
      </p:sp>
      <p:sp>
        <p:nvSpPr>
          <p:cNvPr id="8" name="AutoShape 8"/>
          <p:cNvSpPr/>
          <p:nvPr/>
        </p:nvSpPr>
        <p:spPr>
          <a:xfrm>
            <a:off x="1119505" y="1609090"/>
            <a:ext cx="3870960" cy="57912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79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Environment Check and Model Installation</a:t>
            </a:r>
            <a:endParaRPr lang="en-US" sz="1100"/>
          </a:p>
        </p:txBody>
      </p:sp>
      <p:sp>
        <p:nvSpPr>
          <p:cNvPr id="9" name="Freeform 9"/>
          <p:cNvSpPr/>
          <p:nvPr/>
        </p:nvSpPr>
        <p:spPr>
          <a:xfrm>
            <a:off x="402894" y="2926922"/>
            <a:ext cx="6183461" cy="1425607"/>
          </a:xfrm>
          <a:custGeom>
            <a:avLst/>
            <a:gdLst/>
            <a:ahLst/>
            <a:cxnLst/>
            <a:rect l="l" t="t" r="r" b="b"/>
            <a:pathLst>
              <a:path w="6183461" h="1425607">
                <a:moveTo>
                  <a:pt x="34983" y="0"/>
                </a:moveTo>
                <a:lnTo>
                  <a:pt x="6078507" y="0"/>
                </a:lnTo>
                <a:cubicBezTo>
                  <a:pt x="6136471" y="0"/>
                  <a:pt x="6183461" y="46989"/>
                  <a:pt x="6183461" y="104953"/>
                </a:cubicBezTo>
                <a:lnTo>
                  <a:pt x="6183461" y="1320654"/>
                </a:lnTo>
                <a:cubicBezTo>
                  <a:pt x="6183461" y="1378618"/>
                  <a:pt x="6136471" y="1425607"/>
                  <a:pt x="6078507" y="1425607"/>
                </a:cubicBezTo>
                <a:lnTo>
                  <a:pt x="34983" y="1425607"/>
                </a:lnTo>
                <a:cubicBezTo>
                  <a:pt x="15663" y="1425607"/>
                  <a:pt x="0" y="1409944"/>
                  <a:pt x="0" y="1390623"/>
                </a:cubicBezTo>
                <a:lnTo>
                  <a:pt x="0" y="34983"/>
                </a:lnTo>
                <a:cubicBezTo>
                  <a:pt x="0" y="15676"/>
                  <a:pt x="15676" y="0"/>
                  <a:pt x="34983" y="0"/>
                </a:cubicBezTo>
                <a:close/>
              </a:path>
            </a:pathLst>
          </a:custGeom>
          <a:solidFill>
            <a:srgbClr val="FFF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0" name="Freeform 10"/>
          <p:cNvSpPr/>
          <p:nvPr/>
        </p:nvSpPr>
        <p:spPr>
          <a:xfrm>
            <a:off x="367334" y="2926922"/>
            <a:ext cx="34983" cy="1425607"/>
          </a:xfrm>
          <a:custGeom>
            <a:avLst/>
            <a:gdLst/>
            <a:ahLst/>
            <a:cxnLst/>
            <a:rect l="l" t="t" r="r" b="b"/>
            <a:pathLst>
              <a:path w="34983" h="1425607">
                <a:moveTo>
                  <a:pt x="34983" y="0"/>
                </a:moveTo>
                <a:lnTo>
                  <a:pt x="34983" y="0"/>
                </a:lnTo>
                <a:lnTo>
                  <a:pt x="34983" y="1425607"/>
                </a:lnTo>
                <a:lnTo>
                  <a:pt x="34983" y="1425607"/>
                </a:lnTo>
                <a:cubicBezTo>
                  <a:pt x="15663" y="1425607"/>
                  <a:pt x="0" y="1409944"/>
                  <a:pt x="0" y="1390623"/>
                </a:cubicBezTo>
                <a:lnTo>
                  <a:pt x="0" y="34983"/>
                </a:lnTo>
                <a:cubicBezTo>
                  <a:pt x="0" y="15676"/>
                  <a:pt x="15676" y="0"/>
                  <a:pt x="34983"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559747" y="3262142"/>
            <a:ext cx="419811" cy="419811"/>
          </a:xfrm>
          <a:custGeom>
            <a:avLst/>
            <a:gdLst/>
            <a:ahLst/>
            <a:cxnLst/>
            <a:rect l="l" t="t" r="r" b="b"/>
            <a:pathLst>
              <a:path w="419811" h="419811">
                <a:moveTo>
                  <a:pt x="209906" y="0"/>
                </a:moveTo>
                <a:lnTo>
                  <a:pt x="209906" y="0"/>
                </a:lnTo>
                <a:cubicBezTo>
                  <a:pt x="325755" y="0"/>
                  <a:pt x="419811" y="94055"/>
                  <a:pt x="419811" y="209906"/>
                </a:cubicBezTo>
                <a:lnTo>
                  <a:pt x="419811" y="209906"/>
                </a:lnTo>
                <a:cubicBezTo>
                  <a:pt x="419811" y="325755"/>
                  <a:pt x="325755" y="419811"/>
                  <a:pt x="209906" y="419811"/>
                </a:cubicBezTo>
                <a:lnTo>
                  <a:pt x="209906" y="419811"/>
                </a:lnTo>
                <a:cubicBezTo>
                  <a:pt x="94055" y="419811"/>
                  <a:pt x="0" y="325755"/>
                  <a:pt x="0" y="209906"/>
                </a:cubicBezTo>
                <a:lnTo>
                  <a:pt x="0" y="209906"/>
                </a:lnTo>
                <a:cubicBezTo>
                  <a:pt x="0" y="94055"/>
                  <a:pt x="94055" y="0"/>
                  <a:pt x="209906"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516017" y="3262142"/>
            <a:ext cx="507271" cy="419811"/>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02</a:t>
            </a:r>
            <a:endParaRPr lang="en-US" sz="1100"/>
          </a:p>
        </p:txBody>
      </p:sp>
      <p:sp>
        <p:nvSpPr>
          <p:cNvPr id="13" name="AutoShape 13"/>
          <p:cNvSpPr/>
          <p:nvPr/>
        </p:nvSpPr>
        <p:spPr>
          <a:xfrm>
            <a:off x="1136650" y="3260725"/>
            <a:ext cx="4039235" cy="35750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4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FlagGems High-Performance Operator Library Installation</a:t>
            </a:r>
            <a:endParaRPr lang="en-US" sz="1100"/>
          </a:p>
        </p:txBody>
      </p:sp>
      <p:sp>
        <p:nvSpPr>
          <p:cNvPr id="14" name="Freeform 14"/>
          <p:cNvSpPr/>
          <p:nvPr/>
        </p:nvSpPr>
        <p:spPr>
          <a:xfrm>
            <a:off x="367334" y="4489596"/>
            <a:ext cx="6183461" cy="1425607"/>
          </a:xfrm>
          <a:custGeom>
            <a:avLst/>
            <a:gdLst/>
            <a:ahLst/>
            <a:cxnLst/>
            <a:rect l="l" t="t" r="r" b="b"/>
            <a:pathLst>
              <a:path w="6183461" h="1425607">
                <a:moveTo>
                  <a:pt x="34983" y="0"/>
                </a:moveTo>
                <a:lnTo>
                  <a:pt x="6078507" y="0"/>
                </a:lnTo>
                <a:cubicBezTo>
                  <a:pt x="6136471" y="0"/>
                  <a:pt x="6183461" y="46989"/>
                  <a:pt x="6183461" y="104953"/>
                </a:cubicBezTo>
                <a:lnTo>
                  <a:pt x="6183461" y="1320654"/>
                </a:lnTo>
                <a:cubicBezTo>
                  <a:pt x="6183461" y="1378618"/>
                  <a:pt x="6136471" y="1425607"/>
                  <a:pt x="6078507" y="1425607"/>
                </a:cubicBezTo>
                <a:lnTo>
                  <a:pt x="34983" y="1425607"/>
                </a:lnTo>
                <a:cubicBezTo>
                  <a:pt x="15663" y="1425607"/>
                  <a:pt x="0" y="1409944"/>
                  <a:pt x="0" y="1390623"/>
                </a:cubicBezTo>
                <a:lnTo>
                  <a:pt x="0" y="34983"/>
                </a:lnTo>
                <a:cubicBezTo>
                  <a:pt x="0" y="15676"/>
                  <a:pt x="15676" y="0"/>
                  <a:pt x="34983" y="0"/>
                </a:cubicBezTo>
                <a:close/>
              </a:path>
            </a:pathLst>
          </a:custGeom>
          <a:solidFill>
            <a:srgbClr val="FFF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5" name="Freeform 15"/>
          <p:cNvSpPr/>
          <p:nvPr/>
        </p:nvSpPr>
        <p:spPr>
          <a:xfrm>
            <a:off x="367334" y="4489596"/>
            <a:ext cx="34983" cy="1425607"/>
          </a:xfrm>
          <a:custGeom>
            <a:avLst/>
            <a:gdLst/>
            <a:ahLst/>
            <a:cxnLst/>
            <a:rect l="l" t="t" r="r" b="b"/>
            <a:pathLst>
              <a:path w="34983" h="1425607">
                <a:moveTo>
                  <a:pt x="34983" y="0"/>
                </a:moveTo>
                <a:lnTo>
                  <a:pt x="34983" y="0"/>
                </a:lnTo>
                <a:lnTo>
                  <a:pt x="34983" y="1425607"/>
                </a:lnTo>
                <a:lnTo>
                  <a:pt x="34983" y="1425607"/>
                </a:lnTo>
                <a:cubicBezTo>
                  <a:pt x="15663" y="1425607"/>
                  <a:pt x="0" y="1409944"/>
                  <a:pt x="0" y="1390623"/>
                </a:cubicBezTo>
                <a:lnTo>
                  <a:pt x="0" y="34983"/>
                </a:lnTo>
                <a:cubicBezTo>
                  <a:pt x="0" y="15676"/>
                  <a:pt x="15676" y="0"/>
                  <a:pt x="34983"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559747" y="4824816"/>
            <a:ext cx="419811" cy="419811"/>
          </a:xfrm>
          <a:custGeom>
            <a:avLst/>
            <a:gdLst/>
            <a:ahLst/>
            <a:cxnLst/>
            <a:rect l="l" t="t" r="r" b="b"/>
            <a:pathLst>
              <a:path w="419811" h="419811">
                <a:moveTo>
                  <a:pt x="209906" y="0"/>
                </a:moveTo>
                <a:lnTo>
                  <a:pt x="209906" y="0"/>
                </a:lnTo>
                <a:cubicBezTo>
                  <a:pt x="325755" y="0"/>
                  <a:pt x="419811" y="94055"/>
                  <a:pt x="419811" y="209906"/>
                </a:cubicBezTo>
                <a:lnTo>
                  <a:pt x="419811" y="209906"/>
                </a:lnTo>
                <a:cubicBezTo>
                  <a:pt x="419811" y="325755"/>
                  <a:pt x="325755" y="419811"/>
                  <a:pt x="209906" y="419811"/>
                </a:cubicBezTo>
                <a:lnTo>
                  <a:pt x="209906" y="419811"/>
                </a:lnTo>
                <a:cubicBezTo>
                  <a:pt x="94055" y="419811"/>
                  <a:pt x="0" y="325755"/>
                  <a:pt x="0" y="209906"/>
                </a:cubicBezTo>
                <a:lnTo>
                  <a:pt x="0" y="209906"/>
                </a:lnTo>
                <a:cubicBezTo>
                  <a:pt x="0" y="94055"/>
                  <a:pt x="94055" y="0"/>
                  <a:pt x="209906"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516017" y="4824816"/>
            <a:ext cx="507271" cy="419811"/>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03</a:t>
            </a:r>
            <a:endParaRPr lang="en-US" sz="1100"/>
          </a:p>
        </p:txBody>
      </p:sp>
      <p:sp>
        <p:nvSpPr>
          <p:cNvPr id="18" name="AutoShape 18"/>
          <p:cNvSpPr/>
          <p:nvPr/>
        </p:nvSpPr>
        <p:spPr>
          <a:xfrm>
            <a:off x="1136650" y="4824730"/>
            <a:ext cx="4563110" cy="58166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77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FlagTree Cross-Chip Unified Compiler Installation</a:t>
            </a:r>
            <a:endParaRPr lang="en-US" sz="1100"/>
          </a:p>
        </p:txBody>
      </p:sp>
      <p:sp>
        <p:nvSpPr>
          <p:cNvPr id="19" name="Freeform 19"/>
          <p:cNvSpPr/>
          <p:nvPr/>
        </p:nvSpPr>
        <p:spPr>
          <a:xfrm>
            <a:off x="6781472" y="1364385"/>
            <a:ext cx="5055220" cy="1425607"/>
          </a:xfrm>
          <a:custGeom>
            <a:avLst/>
            <a:gdLst/>
            <a:ahLst/>
            <a:cxnLst/>
            <a:rect l="l" t="t" r="r" b="b"/>
            <a:pathLst>
              <a:path w="5055220" h="1425607">
                <a:moveTo>
                  <a:pt x="34983" y="0"/>
                </a:moveTo>
                <a:lnTo>
                  <a:pt x="4950266" y="0"/>
                </a:lnTo>
                <a:cubicBezTo>
                  <a:pt x="5008230" y="0"/>
                  <a:pt x="5055220" y="46989"/>
                  <a:pt x="5055220" y="104953"/>
                </a:cubicBezTo>
                <a:lnTo>
                  <a:pt x="5055220" y="1320654"/>
                </a:lnTo>
                <a:cubicBezTo>
                  <a:pt x="5055220" y="1378618"/>
                  <a:pt x="5008230" y="1425607"/>
                  <a:pt x="4950266" y="1425607"/>
                </a:cubicBezTo>
                <a:lnTo>
                  <a:pt x="34983" y="1425607"/>
                </a:lnTo>
                <a:cubicBezTo>
                  <a:pt x="15663" y="1425607"/>
                  <a:pt x="0" y="1409944"/>
                  <a:pt x="0" y="1390623"/>
                </a:cubicBezTo>
                <a:lnTo>
                  <a:pt x="0" y="34983"/>
                </a:lnTo>
                <a:cubicBezTo>
                  <a:pt x="0" y="15676"/>
                  <a:pt x="15676" y="0"/>
                  <a:pt x="34983" y="0"/>
                </a:cubicBezTo>
                <a:close/>
              </a:path>
            </a:pathLst>
          </a:custGeom>
          <a:solidFill>
            <a:srgbClr val="FFF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0" name="Freeform 20"/>
          <p:cNvSpPr/>
          <p:nvPr/>
        </p:nvSpPr>
        <p:spPr>
          <a:xfrm>
            <a:off x="6781472" y="1364385"/>
            <a:ext cx="34983" cy="1425607"/>
          </a:xfrm>
          <a:custGeom>
            <a:avLst/>
            <a:gdLst/>
            <a:ahLst/>
            <a:cxnLst/>
            <a:rect l="l" t="t" r="r" b="b"/>
            <a:pathLst>
              <a:path w="34983" h="1425607">
                <a:moveTo>
                  <a:pt x="34983" y="0"/>
                </a:moveTo>
                <a:lnTo>
                  <a:pt x="34983" y="0"/>
                </a:lnTo>
                <a:lnTo>
                  <a:pt x="34983" y="1425607"/>
                </a:lnTo>
                <a:lnTo>
                  <a:pt x="34983" y="1425607"/>
                </a:lnTo>
                <a:cubicBezTo>
                  <a:pt x="15663" y="1425607"/>
                  <a:pt x="0" y="1409944"/>
                  <a:pt x="0" y="1390623"/>
                </a:cubicBezTo>
                <a:lnTo>
                  <a:pt x="0" y="34983"/>
                </a:lnTo>
                <a:cubicBezTo>
                  <a:pt x="0" y="15676"/>
                  <a:pt x="15676" y="0"/>
                  <a:pt x="34983"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6973885" y="1699604"/>
            <a:ext cx="419811" cy="419811"/>
          </a:xfrm>
          <a:custGeom>
            <a:avLst/>
            <a:gdLst/>
            <a:ahLst/>
            <a:cxnLst/>
            <a:rect l="l" t="t" r="r" b="b"/>
            <a:pathLst>
              <a:path w="419811" h="419811">
                <a:moveTo>
                  <a:pt x="209906" y="0"/>
                </a:moveTo>
                <a:lnTo>
                  <a:pt x="209906" y="0"/>
                </a:lnTo>
                <a:cubicBezTo>
                  <a:pt x="325755" y="0"/>
                  <a:pt x="419811" y="94055"/>
                  <a:pt x="419811" y="209906"/>
                </a:cubicBezTo>
                <a:lnTo>
                  <a:pt x="419811" y="209906"/>
                </a:lnTo>
                <a:cubicBezTo>
                  <a:pt x="419811" y="325755"/>
                  <a:pt x="325755" y="419811"/>
                  <a:pt x="209906" y="419811"/>
                </a:cubicBezTo>
                <a:lnTo>
                  <a:pt x="209906" y="419811"/>
                </a:lnTo>
                <a:cubicBezTo>
                  <a:pt x="94055" y="419811"/>
                  <a:pt x="0" y="325755"/>
                  <a:pt x="0" y="209906"/>
                </a:cubicBezTo>
                <a:lnTo>
                  <a:pt x="0" y="209906"/>
                </a:lnTo>
                <a:cubicBezTo>
                  <a:pt x="0" y="94055"/>
                  <a:pt x="94055" y="0"/>
                  <a:pt x="209906"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6930155" y="1699604"/>
            <a:ext cx="507271" cy="419811"/>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04</a:t>
            </a:r>
            <a:endParaRPr lang="en-US" sz="1100"/>
          </a:p>
        </p:txBody>
      </p:sp>
      <p:sp>
        <p:nvSpPr>
          <p:cNvPr id="23" name="AutoShape 23"/>
          <p:cNvSpPr/>
          <p:nvPr/>
        </p:nvSpPr>
        <p:spPr>
          <a:xfrm>
            <a:off x="7533640" y="1507490"/>
            <a:ext cx="3962400" cy="73977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74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vLLM Cross-Chip Unified Plugin Installation</a:t>
            </a:r>
            <a:endParaRPr lang="en-US" sz="1100"/>
          </a:p>
        </p:txBody>
      </p:sp>
      <p:sp>
        <p:nvSpPr>
          <p:cNvPr id="24" name="Freeform 24"/>
          <p:cNvSpPr/>
          <p:nvPr/>
        </p:nvSpPr>
        <p:spPr>
          <a:xfrm>
            <a:off x="6781472" y="2926922"/>
            <a:ext cx="5055220" cy="1425607"/>
          </a:xfrm>
          <a:custGeom>
            <a:avLst/>
            <a:gdLst/>
            <a:ahLst/>
            <a:cxnLst/>
            <a:rect l="l" t="t" r="r" b="b"/>
            <a:pathLst>
              <a:path w="5055220" h="1425607">
                <a:moveTo>
                  <a:pt x="34983" y="0"/>
                </a:moveTo>
                <a:lnTo>
                  <a:pt x="4950266" y="0"/>
                </a:lnTo>
                <a:cubicBezTo>
                  <a:pt x="5008230" y="0"/>
                  <a:pt x="5055220" y="46989"/>
                  <a:pt x="5055220" y="104953"/>
                </a:cubicBezTo>
                <a:lnTo>
                  <a:pt x="5055220" y="1320654"/>
                </a:lnTo>
                <a:cubicBezTo>
                  <a:pt x="5055220" y="1378618"/>
                  <a:pt x="5008230" y="1425607"/>
                  <a:pt x="4950266" y="1425607"/>
                </a:cubicBezTo>
                <a:lnTo>
                  <a:pt x="34983" y="1425607"/>
                </a:lnTo>
                <a:cubicBezTo>
                  <a:pt x="15663" y="1425607"/>
                  <a:pt x="0" y="1409944"/>
                  <a:pt x="0" y="1390623"/>
                </a:cubicBezTo>
                <a:lnTo>
                  <a:pt x="0" y="34983"/>
                </a:lnTo>
                <a:cubicBezTo>
                  <a:pt x="0" y="15676"/>
                  <a:pt x="15676" y="0"/>
                  <a:pt x="34983" y="0"/>
                </a:cubicBezTo>
                <a:close/>
              </a:path>
            </a:pathLst>
          </a:custGeom>
          <a:solidFill>
            <a:srgbClr val="FFF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indent="0" algn="l">
              <a:lnSpc>
                <a:spcPct val="100000"/>
              </a:lnSpc>
              <a:defRPr/>
            </a:pPr>
            <a:r>
              <a:rPr lang="en-US" sz="1800" b="1" i="0" u="none" strike="noStrike">
                <a:solidFill>
                  <a:srgbClr val="FF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5" name="Freeform 25"/>
          <p:cNvSpPr/>
          <p:nvPr/>
        </p:nvSpPr>
        <p:spPr>
          <a:xfrm>
            <a:off x="6781472" y="2926922"/>
            <a:ext cx="34983" cy="1425607"/>
          </a:xfrm>
          <a:custGeom>
            <a:avLst/>
            <a:gdLst/>
            <a:ahLst/>
            <a:cxnLst/>
            <a:rect l="l" t="t" r="r" b="b"/>
            <a:pathLst>
              <a:path w="34983" h="1425607">
                <a:moveTo>
                  <a:pt x="34983" y="0"/>
                </a:moveTo>
                <a:lnTo>
                  <a:pt x="34983" y="0"/>
                </a:lnTo>
                <a:lnTo>
                  <a:pt x="34983" y="1425607"/>
                </a:lnTo>
                <a:lnTo>
                  <a:pt x="34983" y="1425607"/>
                </a:lnTo>
                <a:cubicBezTo>
                  <a:pt x="15663" y="1425607"/>
                  <a:pt x="0" y="1409944"/>
                  <a:pt x="0" y="1390623"/>
                </a:cubicBezTo>
                <a:lnTo>
                  <a:pt x="0" y="34983"/>
                </a:lnTo>
                <a:cubicBezTo>
                  <a:pt x="0" y="15676"/>
                  <a:pt x="15676" y="0"/>
                  <a:pt x="34983"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26" name="Freeform 26"/>
          <p:cNvSpPr/>
          <p:nvPr/>
        </p:nvSpPr>
        <p:spPr>
          <a:xfrm>
            <a:off x="6973885" y="3262142"/>
            <a:ext cx="419811" cy="419811"/>
          </a:xfrm>
          <a:custGeom>
            <a:avLst/>
            <a:gdLst/>
            <a:ahLst/>
            <a:cxnLst/>
            <a:rect l="l" t="t" r="r" b="b"/>
            <a:pathLst>
              <a:path w="419811" h="419811">
                <a:moveTo>
                  <a:pt x="209906" y="0"/>
                </a:moveTo>
                <a:lnTo>
                  <a:pt x="209906" y="0"/>
                </a:lnTo>
                <a:cubicBezTo>
                  <a:pt x="325755" y="0"/>
                  <a:pt x="419811" y="94055"/>
                  <a:pt x="419811" y="209906"/>
                </a:cubicBezTo>
                <a:lnTo>
                  <a:pt x="419811" y="209906"/>
                </a:lnTo>
                <a:cubicBezTo>
                  <a:pt x="419811" y="325755"/>
                  <a:pt x="325755" y="419811"/>
                  <a:pt x="209906" y="419811"/>
                </a:cubicBezTo>
                <a:lnTo>
                  <a:pt x="209906" y="419811"/>
                </a:lnTo>
                <a:cubicBezTo>
                  <a:pt x="94055" y="419811"/>
                  <a:pt x="0" y="325755"/>
                  <a:pt x="0" y="209906"/>
                </a:cubicBezTo>
                <a:lnTo>
                  <a:pt x="0" y="209906"/>
                </a:lnTo>
                <a:cubicBezTo>
                  <a:pt x="0" y="94055"/>
                  <a:pt x="94055" y="0"/>
                  <a:pt x="209906"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6930155" y="3262142"/>
            <a:ext cx="507271" cy="419811"/>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05</a:t>
            </a:r>
            <a:endParaRPr lang="en-US" sz="1100"/>
          </a:p>
        </p:txBody>
      </p:sp>
      <p:sp>
        <p:nvSpPr>
          <p:cNvPr id="28" name="AutoShape 28"/>
          <p:cNvSpPr/>
          <p:nvPr/>
        </p:nvSpPr>
        <p:spPr>
          <a:xfrm>
            <a:off x="7550785" y="3255645"/>
            <a:ext cx="3091815" cy="45466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4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Configure and Start Inference Service</a:t>
            </a:r>
            <a:endParaRPr lang="en-US" sz="1100"/>
          </a:p>
        </p:txBody>
      </p:sp>
      <p:sp>
        <p:nvSpPr>
          <p:cNvPr id="29" name="Freeform 29"/>
          <p:cNvSpPr/>
          <p:nvPr/>
        </p:nvSpPr>
        <p:spPr>
          <a:xfrm>
            <a:off x="6781472" y="4489596"/>
            <a:ext cx="5055220" cy="1425607"/>
          </a:xfrm>
          <a:custGeom>
            <a:avLst/>
            <a:gdLst/>
            <a:ahLst/>
            <a:cxnLst/>
            <a:rect l="l" t="t" r="r" b="b"/>
            <a:pathLst>
              <a:path w="5055220" h="1425607">
                <a:moveTo>
                  <a:pt x="34983" y="0"/>
                </a:moveTo>
                <a:lnTo>
                  <a:pt x="4950266" y="0"/>
                </a:lnTo>
                <a:cubicBezTo>
                  <a:pt x="5008230" y="0"/>
                  <a:pt x="5055220" y="46989"/>
                  <a:pt x="5055220" y="104953"/>
                </a:cubicBezTo>
                <a:lnTo>
                  <a:pt x="5055220" y="1320654"/>
                </a:lnTo>
                <a:cubicBezTo>
                  <a:pt x="5055220" y="1378618"/>
                  <a:pt x="5008230" y="1425607"/>
                  <a:pt x="4950266" y="1425607"/>
                </a:cubicBezTo>
                <a:lnTo>
                  <a:pt x="34983" y="1425607"/>
                </a:lnTo>
                <a:cubicBezTo>
                  <a:pt x="15663" y="1425607"/>
                  <a:pt x="0" y="1409944"/>
                  <a:pt x="0" y="1390623"/>
                </a:cubicBezTo>
                <a:lnTo>
                  <a:pt x="0" y="34983"/>
                </a:lnTo>
                <a:cubicBezTo>
                  <a:pt x="0" y="15676"/>
                  <a:pt x="15676" y="0"/>
                  <a:pt x="34983" y="0"/>
                </a:cubicBezTo>
                <a:close/>
              </a:path>
            </a:pathLst>
          </a:custGeom>
          <a:solidFill>
            <a:srgbClr val="FFF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30" name="Freeform 30"/>
          <p:cNvSpPr/>
          <p:nvPr/>
        </p:nvSpPr>
        <p:spPr>
          <a:xfrm>
            <a:off x="6781472" y="4489596"/>
            <a:ext cx="34983" cy="1425607"/>
          </a:xfrm>
          <a:custGeom>
            <a:avLst/>
            <a:gdLst/>
            <a:ahLst/>
            <a:cxnLst/>
            <a:rect l="l" t="t" r="r" b="b"/>
            <a:pathLst>
              <a:path w="34983" h="1425607">
                <a:moveTo>
                  <a:pt x="34983" y="0"/>
                </a:moveTo>
                <a:lnTo>
                  <a:pt x="34983" y="0"/>
                </a:lnTo>
                <a:lnTo>
                  <a:pt x="34983" y="1425607"/>
                </a:lnTo>
                <a:lnTo>
                  <a:pt x="34983" y="1425607"/>
                </a:lnTo>
                <a:cubicBezTo>
                  <a:pt x="15663" y="1425607"/>
                  <a:pt x="0" y="1409944"/>
                  <a:pt x="0" y="1390623"/>
                </a:cubicBezTo>
                <a:lnTo>
                  <a:pt x="0" y="34983"/>
                </a:lnTo>
                <a:cubicBezTo>
                  <a:pt x="0" y="15676"/>
                  <a:pt x="15676" y="0"/>
                  <a:pt x="34983"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31" name="Freeform 31"/>
          <p:cNvSpPr/>
          <p:nvPr/>
        </p:nvSpPr>
        <p:spPr>
          <a:xfrm>
            <a:off x="6973885" y="4824816"/>
            <a:ext cx="419811" cy="419811"/>
          </a:xfrm>
          <a:custGeom>
            <a:avLst/>
            <a:gdLst/>
            <a:ahLst/>
            <a:cxnLst/>
            <a:rect l="l" t="t" r="r" b="b"/>
            <a:pathLst>
              <a:path w="419811" h="419811">
                <a:moveTo>
                  <a:pt x="209906" y="0"/>
                </a:moveTo>
                <a:lnTo>
                  <a:pt x="209906" y="0"/>
                </a:lnTo>
                <a:cubicBezTo>
                  <a:pt x="325755" y="0"/>
                  <a:pt x="419811" y="94055"/>
                  <a:pt x="419811" y="209906"/>
                </a:cubicBezTo>
                <a:lnTo>
                  <a:pt x="419811" y="209906"/>
                </a:lnTo>
                <a:cubicBezTo>
                  <a:pt x="419811" y="325755"/>
                  <a:pt x="325755" y="419811"/>
                  <a:pt x="209906" y="419811"/>
                </a:cubicBezTo>
                <a:lnTo>
                  <a:pt x="209906" y="419811"/>
                </a:lnTo>
                <a:cubicBezTo>
                  <a:pt x="94055" y="419811"/>
                  <a:pt x="0" y="325755"/>
                  <a:pt x="0" y="209906"/>
                </a:cubicBezTo>
                <a:lnTo>
                  <a:pt x="0" y="209906"/>
                </a:lnTo>
                <a:cubicBezTo>
                  <a:pt x="0" y="94055"/>
                  <a:pt x="94055" y="0"/>
                  <a:pt x="209906"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32" name="AutoShape 32"/>
          <p:cNvSpPr/>
          <p:nvPr/>
        </p:nvSpPr>
        <p:spPr>
          <a:xfrm>
            <a:off x="6930155" y="4824816"/>
            <a:ext cx="507271" cy="419811"/>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06</a:t>
            </a:r>
            <a:endParaRPr lang="en-US" sz="1100"/>
          </a:p>
        </p:txBody>
      </p:sp>
      <p:sp>
        <p:nvSpPr>
          <p:cNvPr id="33" name="AutoShape 33"/>
          <p:cNvSpPr/>
          <p:nvPr/>
        </p:nvSpPr>
        <p:spPr>
          <a:xfrm>
            <a:off x="7533640" y="4912360"/>
            <a:ext cx="2693035" cy="32702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9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Client Configuration and Chat</a:t>
            </a:r>
            <a:endParaRPr lang="en-US" sz="1100"/>
          </a:p>
        </p:txBody>
      </p:sp>
      <p:sp>
        <p:nvSpPr>
          <p:cNvPr id="34" name="AutoShape 34"/>
          <p:cNvSpPr/>
          <p:nvPr/>
        </p:nvSpPr>
        <p:spPr>
          <a:xfrm>
            <a:off x="1010920" y="2188210"/>
            <a:ext cx="5459095" cy="33718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05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Huawei Ascend provides computing hardware, open-source</a:t>
            </a:r>
            <a:r>
              <a:rPr lang="en-US" sz="1050" b="0" i="0" u="none" strike="noStrike">
                <a:solidFill>
                  <a:srgbClr val="000000"/>
                </a:solidFill>
                <a:latin typeface="Calibri" panose="020F0502020204030204"/>
                <a:ea typeface="Calibri" panose="020F0502020204030204"/>
                <a:cs typeface="Calibri" panose="020F0502020204030204"/>
                <a:sym typeface="Calibri" panose="020F0502020204030204"/>
              </a:rPr>
              <a:t>Qwen3-4B</a:t>
            </a:r>
            <a:r>
              <a:rPr lang="en-US" sz="105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model provides</a:t>
            </a:r>
            <a:r>
              <a:rPr lang="en-US" sz="105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05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brain</a:t>
            </a:r>
            <a:r>
              <a:rPr lang="en-US" sz="1050" b="0" i="0" u="none" strike="noStrike">
                <a:solidFill>
                  <a:srgbClr val="000000"/>
                </a:solidFill>
                <a:latin typeface="Calibri" panose="020F0502020204030204"/>
                <a:ea typeface="Calibri" panose="020F0502020204030204"/>
                <a:cs typeface="Calibri" panose="020F0502020204030204"/>
                <a:sym typeface="Calibri" panose="020F0502020204030204"/>
              </a:rPr>
              <a:t>"</a:t>
            </a:r>
            <a:endParaRPr lang="en-US" sz="1100"/>
          </a:p>
        </p:txBody>
      </p:sp>
      <p:sp>
        <p:nvSpPr>
          <p:cNvPr id="35" name="AutoShape 35"/>
          <p:cNvSpPr/>
          <p:nvPr/>
        </p:nvSpPr>
        <p:spPr>
          <a:xfrm>
            <a:off x="1064260" y="3749040"/>
            <a:ext cx="4042410" cy="33718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210" b="0" i="0" u="none" strike="noStrike">
                <a:solidFill>
                  <a:srgbClr val="000000"/>
                </a:solidFill>
                <a:latin typeface="Calibri" panose="020F0502020204030204"/>
                <a:ea typeface="Calibri" panose="020F0502020204030204"/>
                <a:cs typeface="Calibri" panose="020F0502020204030204"/>
                <a:sym typeface="Calibri" panose="020F0502020204030204"/>
              </a:rPr>
              <a:t>FlagGems</a:t>
            </a:r>
            <a:r>
              <a:rPr lang="en-US" sz="121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operators for training and inference</a:t>
            </a:r>
            <a:endParaRPr lang="en-US" sz="1100"/>
          </a:p>
        </p:txBody>
      </p:sp>
      <p:sp>
        <p:nvSpPr>
          <p:cNvPr id="36" name="AutoShape 36"/>
          <p:cNvSpPr/>
          <p:nvPr/>
        </p:nvSpPr>
        <p:spPr>
          <a:xfrm>
            <a:off x="1045845" y="5361305"/>
            <a:ext cx="4635500" cy="33718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095" b="0" i="0" u="none" strike="noStrike">
                <a:solidFill>
                  <a:srgbClr val="000000"/>
                </a:solidFill>
                <a:latin typeface="Calibri" panose="020F0502020204030204"/>
                <a:ea typeface="Calibri" panose="020F0502020204030204"/>
                <a:cs typeface="Calibri" panose="020F0502020204030204"/>
                <a:sym typeface="Calibri" panose="020F0502020204030204"/>
              </a:rPr>
              <a:t>FlagTree</a:t>
            </a:r>
            <a:r>
              <a:rPr lang="en-US" sz="1095"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translates chip-specific</a:t>
            </a:r>
            <a:r>
              <a:rPr lang="en-US" sz="1095"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095"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dialects</a:t>
            </a:r>
            <a:r>
              <a:rPr lang="en-US" sz="1095"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095"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into</a:t>
            </a:r>
            <a:r>
              <a:rPr lang="en-US" sz="1095"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095"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common language</a:t>
            </a:r>
            <a:r>
              <a:rPr lang="en-US" sz="1095" b="0" i="0" u="none" strike="noStrike">
                <a:solidFill>
                  <a:srgbClr val="000000"/>
                </a:solidFill>
                <a:latin typeface="Calibri" panose="020F0502020204030204"/>
                <a:ea typeface="Calibri" panose="020F0502020204030204"/>
                <a:cs typeface="Calibri" panose="020F0502020204030204"/>
                <a:sym typeface="Calibri" panose="020F0502020204030204"/>
              </a:rPr>
              <a:t>"</a:t>
            </a:r>
            <a:endParaRPr lang="en-US" sz="1100"/>
          </a:p>
        </p:txBody>
      </p:sp>
      <p:sp>
        <p:nvSpPr>
          <p:cNvPr id="37" name="AutoShape 37"/>
          <p:cNvSpPr/>
          <p:nvPr/>
        </p:nvSpPr>
        <p:spPr>
          <a:xfrm>
            <a:off x="7509510" y="2247265"/>
            <a:ext cx="4042410" cy="33718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080" b="0" i="0" u="none" strike="noStrike">
                <a:solidFill>
                  <a:srgbClr val="000000"/>
                </a:solidFill>
                <a:latin typeface="Calibri" panose="020F0502020204030204"/>
                <a:ea typeface="Calibri" panose="020F0502020204030204"/>
                <a:cs typeface="Calibri" panose="020F0502020204030204"/>
                <a:sym typeface="Calibri" panose="020F0502020204030204"/>
              </a:rPr>
              <a:t>vLLM</a:t>
            </a:r>
            <a:r>
              <a:rPr lang="en-US" sz="108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plugin connects</a:t>
            </a:r>
            <a:r>
              <a:rPr lang="en-US" sz="108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08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brain</a:t>
            </a:r>
            <a:r>
              <a:rPr lang="en-US" sz="108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08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080" b="0" i="0" u="none" strike="noStrike">
                <a:solidFill>
                  <a:srgbClr val="000000"/>
                </a:solidFill>
                <a:latin typeface="Calibri" panose="020F0502020204030204"/>
                <a:ea typeface="Calibri" panose="020F0502020204030204"/>
                <a:cs typeface="Calibri" panose="020F0502020204030204"/>
                <a:sym typeface="Calibri" panose="020F0502020204030204"/>
              </a:rPr>
              <a:t>FlagOS</a:t>
            </a:r>
            <a:r>
              <a:rPr lang="en-US" sz="108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and computing hardware</a:t>
            </a:r>
            <a:endParaRPr lang="en-US" sz="1100"/>
          </a:p>
        </p:txBody>
      </p:sp>
      <p:sp>
        <p:nvSpPr>
          <p:cNvPr id="38" name="AutoShape 38"/>
          <p:cNvSpPr/>
          <p:nvPr/>
        </p:nvSpPr>
        <p:spPr>
          <a:xfrm>
            <a:off x="7473315" y="5361305"/>
            <a:ext cx="4042410" cy="33718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240" b="0" i="0" u="none" strike="noStrike">
                <a:solidFill>
                  <a:srgbClr val="000000"/>
                </a:solidFill>
                <a:latin typeface="Calibri" panose="020F0502020204030204"/>
                <a:ea typeface="Calibri" panose="020F0502020204030204"/>
                <a:cs typeface="Calibri" panose="020F0502020204030204"/>
                <a:sym typeface="Calibri" panose="020F0502020204030204"/>
              </a:rPr>
              <a:t>AnythingLLM</a:t>
            </a:r>
            <a:r>
              <a:rPr lang="en-US" sz="124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client and knowledge base</a:t>
            </a:r>
            <a:endParaRPr lang="en-US" sz="1100"/>
          </a:p>
        </p:txBody>
      </p:sp>
      <p:sp>
        <p:nvSpPr>
          <p:cNvPr id="39" name="AutoShape 39"/>
          <p:cNvSpPr/>
          <p:nvPr/>
        </p:nvSpPr>
        <p:spPr>
          <a:xfrm>
            <a:off x="7454265" y="3804285"/>
            <a:ext cx="4042410" cy="33718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24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Server</a:t>
            </a:r>
            <a:endParaRPr lang="en-US" sz="11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49842" y="658232"/>
            <a:ext cx="11702221" cy="419811"/>
          </a:xfrm>
          <a:prstGeom prst="rect">
            <a:avLst/>
          </a:prstGeom>
          <a:noFill/>
          <a:ln w="12700">
            <a:noFill/>
            <a:prstDash val="solid"/>
          </a:ln>
        </p:spPr>
        <p:txBody>
          <a:bodyPr wrap="square" lIns="0" tIns="0" rIns="0" bIns="0" rtlCol="0" anchor="ctr">
            <a:noAutofit/>
          </a:bodyPr>
          <a:lstStyle/>
          <a:p>
            <a:pPr indent="0" algn="l">
              <a:lnSpc>
                <a:spcPct val="83000"/>
              </a:lnSpc>
              <a:defRPr/>
            </a:pPr>
            <a:r>
              <a:rPr lang="en-US" sz="1655"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Practical Deployment</a:t>
            </a:r>
            <a:r>
              <a:rPr lang="en-US" sz="1655" b="1"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655"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Through</a:t>
            </a:r>
            <a:r>
              <a:rPr lang="en-US" sz="1655" b="1" i="0" u="none" strike="noStrike">
                <a:solidFill>
                  <a:srgbClr val="000000"/>
                </a:solidFill>
                <a:latin typeface="Calibri" panose="020F0502020204030204"/>
                <a:ea typeface="Calibri" panose="020F0502020204030204"/>
                <a:cs typeface="Calibri" panose="020F0502020204030204"/>
                <a:sym typeface="Calibri" panose="020F0502020204030204"/>
              </a:rPr>
              <a:t>FlagOS</a:t>
            </a:r>
            <a:r>
              <a:rPr lang="en-US" sz="1655"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Creating a Chatbot</a:t>
            </a:r>
            <a:endParaRPr lang="en-US" sz="1100"/>
          </a:p>
        </p:txBody>
      </p:sp>
      <p:sp>
        <p:nvSpPr>
          <p:cNvPr id="3" name="Freeform 3"/>
          <p:cNvSpPr/>
          <p:nvPr/>
        </p:nvSpPr>
        <p:spPr>
          <a:xfrm>
            <a:off x="349842" y="1119495"/>
            <a:ext cx="699684" cy="34983"/>
          </a:xfrm>
          <a:custGeom>
            <a:avLst/>
            <a:gdLst/>
            <a:ahLst/>
            <a:cxnLst/>
            <a:rect l="l" t="t" r="r" b="b"/>
            <a:pathLst>
              <a:path w="699684" h="34983">
                <a:moveTo>
                  <a:pt x="0" y="0"/>
                </a:moveTo>
                <a:lnTo>
                  <a:pt x="699684" y="0"/>
                </a:lnTo>
                <a:lnTo>
                  <a:pt x="699684" y="34983"/>
                </a:lnTo>
                <a:lnTo>
                  <a:pt x="0" y="34983"/>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274579" y="1565198"/>
            <a:ext cx="32686" cy="4320000"/>
          </a:xfrm>
          <a:custGeom>
            <a:avLst/>
            <a:gdLst/>
            <a:ahLst/>
            <a:cxnLst/>
            <a:rect l="l" t="t" r="r" b="b"/>
            <a:pathLst>
              <a:path w="32686" h="4320000">
                <a:moveTo>
                  <a:pt x="32686" y="0"/>
                </a:moveTo>
                <a:lnTo>
                  <a:pt x="32686" y="0"/>
                </a:lnTo>
                <a:lnTo>
                  <a:pt x="32686" y="4320000"/>
                </a:lnTo>
                <a:lnTo>
                  <a:pt x="32686" y="4320000"/>
                </a:lnTo>
                <a:cubicBezTo>
                  <a:pt x="14634" y="4320000"/>
                  <a:pt x="0" y="4300560"/>
                  <a:pt x="0" y="4276581"/>
                </a:cubicBezTo>
                <a:lnTo>
                  <a:pt x="0" y="43416"/>
                </a:lnTo>
                <a:cubicBezTo>
                  <a:pt x="0" y="19454"/>
                  <a:pt x="14646" y="0"/>
                  <a:pt x="32686"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5" name="Freeform 5"/>
          <p:cNvSpPr/>
          <p:nvPr/>
        </p:nvSpPr>
        <p:spPr>
          <a:xfrm>
            <a:off x="8237479" y="1565198"/>
            <a:ext cx="32686" cy="4320000"/>
          </a:xfrm>
          <a:custGeom>
            <a:avLst/>
            <a:gdLst/>
            <a:ahLst/>
            <a:cxnLst/>
            <a:rect l="l" t="t" r="r" b="b"/>
            <a:pathLst>
              <a:path w="32686" h="4320000">
                <a:moveTo>
                  <a:pt x="32686" y="0"/>
                </a:moveTo>
                <a:lnTo>
                  <a:pt x="32686" y="0"/>
                </a:lnTo>
                <a:lnTo>
                  <a:pt x="32686" y="4320000"/>
                </a:lnTo>
                <a:lnTo>
                  <a:pt x="32686" y="4320000"/>
                </a:lnTo>
                <a:cubicBezTo>
                  <a:pt x="14634" y="4320000"/>
                  <a:pt x="0" y="4300560"/>
                  <a:pt x="0" y="4276581"/>
                </a:cubicBezTo>
                <a:lnTo>
                  <a:pt x="0" y="43416"/>
                </a:lnTo>
                <a:cubicBezTo>
                  <a:pt x="0" y="19454"/>
                  <a:pt x="14646" y="0"/>
                  <a:pt x="32686"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pic>
        <p:nvPicPr>
          <p:cNvPr id="6" name="Picture 6"/>
          <p:cNvPicPr>
            <a:picLocks noChangeAspect="1"/>
          </p:cNvPicPr>
          <p:nvPr/>
        </p:nvPicPr>
        <p:blipFill>
          <a:blip r:embed="rId1"/>
          <a:srcRect/>
          <a:stretch>
            <a:fillRect/>
          </a:stretch>
        </p:blipFill>
        <p:spPr>
          <a:xfrm>
            <a:off x="394335" y="1438275"/>
            <a:ext cx="7854950" cy="3696970"/>
          </a:xfrm>
          <a:prstGeom prst="rect">
            <a:avLst/>
          </a:prstGeom>
          <a:ln w="12700">
            <a:noFill/>
            <a:prstDash val="solid"/>
          </a:ln>
        </p:spPr>
      </p:pic>
      <p:graphicFrame>
        <p:nvGraphicFramePr>
          <p:cNvPr id="8" name="对象 7"/>
          <p:cNvGraphicFramePr>
            <a:graphicFrameLocks noChangeAspect="1"/>
          </p:cNvGraphicFramePr>
          <p:nvPr/>
        </p:nvGraphicFramePr>
        <p:xfrm>
          <a:off x="9173928" y="2709863"/>
          <a:ext cx="844550" cy="520700"/>
        </p:xfrm>
        <a:graphic>
          <a:graphicData uri="http://schemas.openxmlformats.org/presentationml/2006/ole">
            <mc:AlternateContent xmlns:mc="http://schemas.openxmlformats.org/markup-compatibility/2006">
              <mc:Choice xmlns:v="urn:schemas-microsoft-com:vml" Requires="v">
                <p:oleObj spid="_x0000_s1027" name="包装程序外壳对象" showAsIcon="1" r:id="rId2" imgW="624840" imgH="387350" progId="Package">
                  <p:embed/>
                </p:oleObj>
              </mc:Choice>
              <mc:Fallback>
                <p:oleObj name="包装程序外壳对象" showAsIcon="1" r:id="rId2" imgW="624840" imgH="387350" progId="Package">
                  <p:embed/>
                  <p:pic>
                    <p:nvPicPr>
                      <p:cNvPr id="0" name="图片 1026"/>
                      <p:cNvPicPr/>
                      <p:nvPr/>
                    </p:nvPicPr>
                    <p:blipFill>
                      <a:blip r:embed="rId3"/>
                      <a:stretch>
                        <a:fillRect/>
                      </a:stretch>
                    </p:blipFill>
                    <p:spPr>
                      <a:xfrm>
                        <a:off x="9173928" y="2709863"/>
                        <a:ext cx="844550" cy="520700"/>
                      </a:xfrm>
                      <a:prstGeom prst="rect">
                        <a:avLst/>
                      </a:prstGeom>
                    </p:spPr>
                  </p:pic>
                </p:oleObj>
              </mc:Fallback>
            </mc:AlternateContent>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65303" y="621016"/>
            <a:ext cx="11625780" cy="365303"/>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138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Step 1: Environment Check and Model Download</a:t>
            </a:r>
            <a:endParaRPr lang="en-US" sz="1100"/>
          </a:p>
        </p:txBody>
      </p:sp>
      <p:sp>
        <p:nvSpPr>
          <p:cNvPr id="3" name="Freeform 3"/>
          <p:cNvSpPr/>
          <p:nvPr/>
        </p:nvSpPr>
        <p:spPr>
          <a:xfrm>
            <a:off x="365303" y="1424683"/>
            <a:ext cx="730607" cy="36530"/>
          </a:xfrm>
          <a:custGeom>
            <a:avLst/>
            <a:gdLst/>
            <a:ahLst/>
            <a:cxnLst/>
            <a:rect l="l" t="t" r="r" b="b"/>
            <a:pathLst>
              <a:path w="730607" h="36530">
                <a:moveTo>
                  <a:pt x="0" y="0"/>
                </a:moveTo>
                <a:lnTo>
                  <a:pt x="730607" y="0"/>
                </a:lnTo>
                <a:lnTo>
                  <a:pt x="730607" y="36530"/>
                </a:lnTo>
                <a:lnTo>
                  <a:pt x="0" y="3653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83540" y="1607185"/>
            <a:ext cx="5625465" cy="4000500"/>
          </a:xfrm>
          <a:custGeom>
            <a:avLst/>
            <a:gdLst/>
            <a:ahLst/>
            <a:cxnLst/>
            <a:rect l="l" t="t" r="r" b="b"/>
            <a:pathLst>
              <a:path w="5625465" h="4000500">
                <a:moveTo>
                  <a:pt x="36529" y="0"/>
                </a:moveTo>
                <a:lnTo>
                  <a:pt x="5515868" y="0"/>
                </a:lnTo>
                <a:cubicBezTo>
                  <a:pt x="5576397" y="0"/>
                  <a:pt x="5625465" y="73113"/>
                  <a:pt x="5625465" y="163300"/>
                </a:cubicBezTo>
                <a:lnTo>
                  <a:pt x="5625465" y="3837200"/>
                </a:lnTo>
                <a:cubicBezTo>
                  <a:pt x="5625465" y="3927326"/>
                  <a:pt x="5576355" y="4000500"/>
                  <a:pt x="5515868" y="4000500"/>
                </a:cubicBezTo>
                <a:lnTo>
                  <a:pt x="36529" y="4000500"/>
                </a:lnTo>
                <a:cubicBezTo>
                  <a:pt x="16354" y="4000500"/>
                  <a:pt x="0" y="3976131"/>
                  <a:pt x="0" y="3946070"/>
                </a:cubicBezTo>
                <a:lnTo>
                  <a:pt x="0" y="54428"/>
                </a:lnTo>
                <a:cubicBezTo>
                  <a:pt x="0" y="24389"/>
                  <a:pt x="16369" y="0"/>
                  <a:pt x="36529" y="0"/>
                </a:cubicBezTo>
                <a:close/>
              </a:path>
            </a:pathLst>
          </a:custGeom>
          <a:solidFill>
            <a:srgbClr val="FFFFFF">
              <a:alpha val="100000"/>
            </a:srgbClr>
          </a:solidFill>
          <a:ln w="12700">
            <a:noFill/>
            <a:prstDash val="solid"/>
          </a:ln>
          <a:effectLst>
            <a:outerShdw blurRad="1270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5" name="Freeform 5"/>
          <p:cNvSpPr/>
          <p:nvPr/>
        </p:nvSpPr>
        <p:spPr>
          <a:xfrm>
            <a:off x="383569" y="1607335"/>
            <a:ext cx="36530" cy="2684979"/>
          </a:xfrm>
          <a:custGeom>
            <a:avLst/>
            <a:gdLst/>
            <a:ahLst/>
            <a:cxnLst/>
            <a:rect l="l" t="t" r="r" b="b"/>
            <a:pathLst>
              <a:path w="36530" h="2684979">
                <a:moveTo>
                  <a:pt x="36530" y="0"/>
                </a:moveTo>
                <a:lnTo>
                  <a:pt x="36530" y="0"/>
                </a:lnTo>
                <a:lnTo>
                  <a:pt x="36530" y="2684979"/>
                </a:lnTo>
                <a:lnTo>
                  <a:pt x="36530" y="2684979"/>
                </a:lnTo>
                <a:cubicBezTo>
                  <a:pt x="16355" y="2684979"/>
                  <a:pt x="0" y="2668626"/>
                  <a:pt x="0" y="2648449"/>
                </a:cubicBezTo>
                <a:lnTo>
                  <a:pt x="0" y="36530"/>
                </a:lnTo>
                <a:cubicBezTo>
                  <a:pt x="0" y="16369"/>
                  <a:pt x="16369" y="0"/>
                  <a:pt x="3653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584485" y="1789987"/>
            <a:ext cx="365303" cy="365303"/>
          </a:xfrm>
          <a:custGeom>
            <a:avLst/>
            <a:gdLst/>
            <a:ahLst/>
            <a:cxnLst/>
            <a:rect l="l" t="t" r="r" b="b"/>
            <a:pathLst>
              <a:path w="365303" h="365303">
                <a:moveTo>
                  <a:pt x="182651" y="0"/>
                </a:moveTo>
                <a:lnTo>
                  <a:pt x="182651" y="0"/>
                </a:lnTo>
                <a:cubicBezTo>
                  <a:pt x="283528" y="0"/>
                  <a:pt x="365303" y="81777"/>
                  <a:pt x="365303" y="182651"/>
                </a:cubicBezTo>
                <a:lnTo>
                  <a:pt x="365303" y="182651"/>
                </a:lnTo>
                <a:cubicBezTo>
                  <a:pt x="365303" y="283527"/>
                  <a:pt x="283528" y="365303"/>
                  <a:pt x="182651" y="365303"/>
                </a:cubicBezTo>
                <a:lnTo>
                  <a:pt x="182651" y="365303"/>
                </a:lnTo>
                <a:cubicBezTo>
                  <a:pt x="81777" y="365303"/>
                  <a:pt x="0" y="283527"/>
                  <a:pt x="0" y="182651"/>
                </a:cubicBezTo>
                <a:lnTo>
                  <a:pt x="0" y="182651"/>
                </a:lnTo>
                <a:cubicBezTo>
                  <a:pt x="0" y="81777"/>
                  <a:pt x="81777" y="0"/>
                  <a:pt x="182651"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543389" y="1789987"/>
            <a:ext cx="447497" cy="365303"/>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01</a:t>
            </a:r>
            <a:endParaRPr lang="en-US" sz="1100"/>
          </a:p>
        </p:txBody>
      </p:sp>
      <p:sp>
        <p:nvSpPr>
          <p:cNvPr id="8" name="AutoShape 8"/>
          <p:cNvSpPr/>
          <p:nvPr/>
        </p:nvSpPr>
        <p:spPr>
          <a:xfrm>
            <a:off x="1059180" y="1844675"/>
            <a:ext cx="3057525" cy="25590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3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Check NPU Status</a:t>
            </a:r>
            <a:endParaRPr lang="en-US" sz="1100"/>
          </a:p>
        </p:txBody>
      </p:sp>
      <p:sp>
        <p:nvSpPr>
          <p:cNvPr id="9" name="Freeform 9"/>
          <p:cNvSpPr/>
          <p:nvPr/>
        </p:nvSpPr>
        <p:spPr>
          <a:xfrm>
            <a:off x="565785" y="2447290"/>
            <a:ext cx="5202555" cy="688975"/>
          </a:xfrm>
          <a:custGeom>
            <a:avLst/>
            <a:gdLst/>
            <a:ahLst/>
            <a:cxnLst/>
            <a:rect l="l" t="t" r="r" b="b"/>
            <a:pathLst>
              <a:path w="5202555" h="688975">
                <a:moveTo>
                  <a:pt x="72512" y="0"/>
                </a:moveTo>
                <a:lnTo>
                  <a:pt x="5130044" y="0"/>
                </a:lnTo>
                <a:cubicBezTo>
                  <a:pt x="5170091" y="0"/>
                  <a:pt x="5202555" y="47457"/>
                  <a:pt x="5202555" y="105999"/>
                </a:cubicBezTo>
                <a:lnTo>
                  <a:pt x="5202555" y="582977"/>
                </a:lnTo>
                <a:cubicBezTo>
                  <a:pt x="5202555" y="641518"/>
                  <a:pt x="5170091" y="688975"/>
                  <a:pt x="5130044" y="688975"/>
                </a:cubicBezTo>
                <a:lnTo>
                  <a:pt x="72512" y="688975"/>
                </a:lnTo>
                <a:cubicBezTo>
                  <a:pt x="32490" y="688975"/>
                  <a:pt x="0" y="641478"/>
                  <a:pt x="0" y="582977"/>
                </a:cubicBezTo>
                <a:lnTo>
                  <a:pt x="0" y="105999"/>
                </a:lnTo>
                <a:cubicBezTo>
                  <a:pt x="0" y="47497"/>
                  <a:pt x="32490" y="0"/>
                  <a:pt x="72512"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10" name="AutoShape 10"/>
          <p:cNvSpPr/>
          <p:nvPr/>
        </p:nvSpPr>
        <p:spPr>
          <a:xfrm>
            <a:off x="591185" y="2447290"/>
            <a:ext cx="5166995" cy="677545"/>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npu-smi info</a:t>
            </a:r>
            <a:endParaRPr lang="en-US" sz="1100"/>
          </a:p>
        </p:txBody>
      </p:sp>
      <p:grpSp>
        <p:nvGrpSpPr>
          <p:cNvPr id="11" name="Group 11"/>
          <p:cNvGrpSpPr/>
          <p:nvPr/>
        </p:nvGrpSpPr>
        <p:grpSpPr>
          <a:xfrm>
            <a:off x="584200" y="5854065"/>
            <a:ext cx="5241925" cy="659130"/>
            <a:chOff x="584200" y="5854065"/>
            <a:chExt cx="5241925" cy="659130"/>
          </a:xfrm>
        </p:grpSpPr>
        <p:sp>
          <p:nvSpPr>
            <p:cNvPr id="12" name="Freeform 12"/>
            <p:cNvSpPr/>
            <p:nvPr/>
          </p:nvSpPr>
          <p:spPr>
            <a:xfrm>
              <a:off x="584200" y="5854065"/>
              <a:ext cx="5241925" cy="659130"/>
            </a:xfrm>
            <a:custGeom>
              <a:avLst/>
              <a:gdLst/>
              <a:ahLst/>
              <a:cxnLst/>
              <a:rect l="l" t="t" r="r" b="b"/>
              <a:pathLst>
                <a:path w="5241925" h="659130">
                  <a:moveTo>
                    <a:pt x="73057" y="0"/>
                  </a:moveTo>
                  <a:lnTo>
                    <a:pt x="5168868" y="0"/>
                  </a:lnTo>
                  <a:cubicBezTo>
                    <a:pt x="5209217" y="0"/>
                    <a:pt x="5241925" y="50230"/>
                    <a:pt x="5241925" y="112189"/>
                  </a:cubicBezTo>
                  <a:lnTo>
                    <a:pt x="5241925" y="546941"/>
                  </a:lnTo>
                  <a:cubicBezTo>
                    <a:pt x="5241925" y="608901"/>
                    <a:pt x="5209217" y="659130"/>
                    <a:pt x="5168868" y="659130"/>
                  </a:cubicBezTo>
                  <a:lnTo>
                    <a:pt x="73057" y="659130"/>
                  </a:lnTo>
                  <a:cubicBezTo>
                    <a:pt x="32709" y="659130"/>
                    <a:pt x="0" y="608901"/>
                    <a:pt x="0" y="546941"/>
                  </a:cubicBezTo>
                  <a:lnTo>
                    <a:pt x="0" y="112189"/>
                  </a:lnTo>
                  <a:cubicBezTo>
                    <a:pt x="0" y="50272"/>
                    <a:pt x="32736" y="0"/>
                    <a:pt x="73057" y="0"/>
                  </a:cubicBezTo>
                  <a:close/>
                </a:path>
              </a:pathLst>
            </a:custGeom>
            <a:solidFill>
              <a:srgbClr val="5B92E5">
                <a:alpha val="10196"/>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13" name="Freeform 13"/>
            <p:cNvSpPr/>
            <p:nvPr/>
          </p:nvSpPr>
          <p:spPr>
            <a:xfrm>
              <a:off x="584200" y="5908667"/>
              <a:ext cx="309245" cy="307139"/>
            </a:xfrm>
            <a:custGeom>
              <a:avLst/>
              <a:gdLst/>
              <a:ahLst/>
              <a:cxnLst/>
              <a:rect l="l" t="t" r="r" b="b"/>
              <a:pathLst>
                <a:path w="309245" h="307139">
                  <a:moveTo>
                    <a:pt x="154622" y="307139"/>
                  </a:moveTo>
                  <a:cubicBezTo>
                    <a:pt x="239961" y="307139"/>
                    <a:pt x="309245" y="238327"/>
                    <a:pt x="309245" y="153570"/>
                  </a:cubicBezTo>
                  <a:cubicBezTo>
                    <a:pt x="309245" y="68811"/>
                    <a:pt x="239961" y="0"/>
                    <a:pt x="154622" y="0"/>
                  </a:cubicBezTo>
                  <a:cubicBezTo>
                    <a:pt x="69284" y="0"/>
                    <a:pt x="0" y="68811"/>
                    <a:pt x="0" y="153570"/>
                  </a:cubicBezTo>
                  <a:cubicBezTo>
                    <a:pt x="0" y="238327"/>
                    <a:pt x="69284" y="307139"/>
                    <a:pt x="154622" y="307139"/>
                  </a:cubicBezTo>
                  <a:close/>
                  <a:moveTo>
                    <a:pt x="205599" y="127594"/>
                  </a:moveTo>
                  <a:lnTo>
                    <a:pt x="157281" y="204379"/>
                  </a:lnTo>
                  <a:cubicBezTo>
                    <a:pt x="154743" y="208398"/>
                    <a:pt x="150395" y="210918"/>
                    <a:pt x="145622" y="211158"/>
                  </a:cubicBezTo>
                  <a:cubicBezTo>
                    <a:pt x="140851" y="211398"/>
                    <a:pt x="136262" y="209239"/>
                    <a:pt x="133422" y="205400"/>
                  </a:cubicBezTo>
                  <a:lnTo>
                    <a:pt x="104430" y="167008"/>
                  </a:lnTo>
                  <a:cubicBezTo>
                    <a:pt x="99600" y="160649"/>
                    <a:pt x="100927" y="151651"/>
                    <a:pt x="107330" y="146850"/>
                  </a:cubicBezTo>
                  <a:cubicBezTo>
                    <a:pt x="113732" y="142051"/>
                    <a:pt x="122792" y="143372"/>
                    <a:pt x="127625" y="149730"/>
                  </a:cubicBezTo>
                  <a:lnTo>
                    <a:pt x="143932" y="171327"/>
                  </a:lnTo>
                  <a:lnTo>
                    <a:pt x="181018" y="112357"/>
                  </a:lnTo>
                  <a:cubicBezTo>
                    <a:pt x="185246" y="105640"/>
                    <a:pt x="194186" y="103541"/>
                    <a:pt x="201011" y="107800"/>
                  </a:cubicBezTo>
                  <a:cubicBezTo>
                    <a:pt x="207834" y="112058"/>
                    <a:pt x="209888" y="120875"/>
                    <a:pt x="205599" y="127654"/>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911225" y="6021773"/>
              <a:ext cx="4869815" cy="322740"/>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75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Both Ascend cards show normal status</a:t>
              </a:r>
              <a:r>
                <a:rPr lang="en-US" sz="75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temperature and power consumption are within safe limits, NPU version is compatible, chip health status OK</a:t>
              </a:r>
              <a:endParaRPr lang="en-US" sz="1100"/>
            </a:p>
          </p:txBody>
        </p:sp>
      </p:grpSp>
      <p:grpSp>
        <p:nvGrpSpPr>
          <p:cNvPr id="15" name="Group 15"/>
          <p:cNvGrpSpPr/>
          <p:nvPr/>
        </p:nvGrpSpPr>
        <p:grpSpPr>
          <a:xfrm>
            <a:off x="6407150" y="3945983"/>
            <a:ext cx="5347873" cy="1682022"/>
            <a:chOff x="6407150" y="3945983"/>
            <a:chExt cx="5347873" cy="1682022"/>
          </a:xfrm>
        </p:grpSpPr>
        <p:sp>
          <p:nvSpPr>
            <p:cNvPr id="16" name="Freeform 16"/>
            <p:cNvSpPr/>
            <p:nvPr/>
          </p:nvSpPr>
          <p:spPr>
            <a:xfrm>
              <a:off x="6407150" y="3945983"/>
              <a:ext cx="5347873" cy="1682022"/>
            </a:xfrm>
            <a:custGeom>
              <a:avLst/>
              <a:gdLst/>
              <a:ahLst/>
              <a:cxnLst/>
              <a:rect l="l" t="t" r="r" b="b"/>
              <a:pathLst>
                <a:path w="5347873" h="1682022">
                  <a:moveTo>
                    <a:pt x="104008" y="0"/>
                  </a:moveTo>
                  <a:lnTo>
                    <a:pt x="5243866" y="0"/>
                  </a:lnTo>
                  <a:cubicBezTo>
                    <a:pt x="5301308" y="0"/>
                    <a:pt x="5347873" y="117357"/>
                    <a:pt x="5347873" y="262125"/>
                  </a:cubicBezTo>
                  <a:lnTo>
                    <a:pt x="5347873" y="1419896"/>
                  </a:lnTo>
                  <a:cubicBezTo>
                    <a:pt x="5347873" y="1564664"/>
                    <a:pt x="5301308" y="1682022"/>
                    <a:pt x="5243866" y="1682022"/>
                  </a:cubicBezTo>
                  <a:lnTo>
                    <a:pt x="104008" y="1682022"/>
                  </a:lnTo>
                  <a:cubicBezTo>
                    <a:pt x="46604" y="1682022"/>
                    <a:pt x="0" y="1564566"/>
                    <a:pt x="0" y="1419896"/>
                  </a:cubicBezTo>
                  <a:lnTo>
                    <a:pt x="0" y="262125"/>
                  </a:lnTo>
                  <a:cubicBezTo>
                    <a:pt x="0" y="117357"/>
                    <a:pt x="46566" y="0"/>
                    <a:pt x="104008" y="0"/>
                  </a:cubicBezTo>
                  <a:close/>
                </a:path>
              </a:pathLst>
            </a:custGeom>
            <a:gradFill rotWithShape="1">
              <a:gsLst>
                <a:gs pos="0">
                  <a:srgbClr val="5B92E5">
                    <a:alpha val="15000"/>
                  </a:srgbClr>
                </a:gs>
                <a:gs pos="100000">
                  <a:srgbClr val="1E90FF">
                    <a:alpha val="15000"/>
                  </a:srgbClr>
                </a:gs>
              </a:gsLst>
              <a:lin ang="2700000"/>
            </a:gradFill>
            <a:ln w="12700">
              <a:solidFill>
                <a:srgbClr val="5B92E5">
                  <a:alpha val="30000"/>
                </a:srgbClr>
              </a:solidFill>
              <a:prstDash val="solid"/>
            </a:ln>
          </p:spPr>
          <p:txBody>
            <a:bodyPr wrap="square" lIns="91440" tIns="45720" rIns="91440" bIns="45720" rtlCol="0" anchor="t">
              <a:noAutofit/>
            </a:bodyPr>
            <a:lstStyle/>
            <a:p>
              <a:pPr algn="ctr">
                <a:defRPr/>
              </a:pPr>
            </a:p>
          </p:txBody>
        </p:sp>
        <p:sp>
          <p:nvSpPr>
            <p:cNvPr id="17" name="Freeform 17"/>
            <p:cNvSpPr/>
            <p:nvPr/>
          </p:nvSpPr>
          <p:spPr>
            <a:xfrm>
              <a:off x="6483586" y="4142424"/>
              <a:ext cx="386057" cy="401900"/>
            </a:xfrm>
            <a:custGeom>
              <a:avLst/>
              <a:gdLst/>
              <a:ahLst/>
              <a:cxnLst/>
              <a:rect l="l" t="t" r="r" b="b"/>
              <a:pathLst>
                <a:path w="386057" h="401900">
                  <a:moveTo>
                    <a:pt x="192948" y="0"/>
                  </a:moveTo>
                  <a:cubicBezTo>
                    <a:pt x="196646" y="0"/>
                    <a:pt x="200343" y="786"/>
                    <a:pt x="203720" y="2280"/>
                  </a:cubicBezTo>
                  <a:lnTo>
                    <a:pt x="355186" y="65096"/>
                  </a:lnTo>
                  <a:cubicBezTo>
                    <a:pt x="372873" y="72408"/>
                    <a:pt x="386057" y="89469"/>
                    <a:pt x="385975" y="110067"/>
                  </a:cubicBezTo>
                  <a:cubicBezTo>
                    <a:pt x="385574" y="188055"/>
                    <a:pt x="352773" y="330749"/>
                    <a:pt x="214252" y="395610"/>
                  </a:cubicBezTo>
                  <a:cubicBezTo>
                    <a:pt x="200826" y="401900"/>
                    <a:pt x="185229" y="401900"/>
                    <a:pt x="171804" y="395610"/>
                  </a:cubicBezTo>
                  <a:cubicBezTo>
                    <a:pt x="33204" y="330749"/>
                    <a:pt x="482" y="188055"/>
                    <a:pt x="80" y="110067"/>
                  </a:cubicBezTo>
                  <a:cubicBezTo>
                    <a:pt x="0" y="89469"/>
                    <a:pt x="13185" y="72408"/>
                    <a:pt x="30872" y="65096"/>
                  </a:cubicBezTo>
                  <a:lnTo>
                    <a:pt x="182255" y="2280"/>
                  </a:lnTo>
                  <a:cubicBezTo>
                    <a:pt x="185632" y="786"/>
                    <a:pt x="189250" y="0"/>
                    <a:pt x="192948" y="0"/>
                  </a:cubicBezTo>
                  <a:close/>
                  <a:moveTo>
                    <a:pt x="192948" y="52517"/>
                  </a:moveTo>
                  <a:lnTo>
                    <a:pt x="192948" y="349775"/>
                  </a:lnTo>
                  <a:cubicBezTo>
                    <a:pt x="303893" y="297257"/>
                    <a:pt x="333720" y="180901"/>
                    <a:pt x="334444" y="111246"/>
                  </a:cubicBezTo>
                  <a:lnTo>
                    <a:pt x="192948" y="52596"/>
                  </a:lnTo>
                  <a:lnTo>
                    <a:pt x="192948" y="52596"/>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6947845" y="4115238"/>
              <a:ext cx="4663977" cy="302553"/>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6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Data Security Advantage</a:t>
              </a:r>
              <a:endParaRPr lang="en-US" sz="1100"/>
            </a:p>
          </p:txBody>
        </p:sp>
        <p:sp>
          <p:nvSpPr>
            <p:cNvPr id="19" name="AutoShape 19"/>
            <p:cNvSpPr/>
            <p:nvPr/>
          </p:nvSpPr>
          <p:spPr>
            <a:xfrm>
              <a:off x="6947845" y="4884337"/>
              <a:ext cx="4654987" cy="252566"/>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5" b="0" i="0" u="none" strike="noStrike">
                  <a:solidFill>
                    <a:srgbClr val="333333">
                      <a:alpha val="80000"/>
                    </a:srgbClr>
                  </a:solidFill>
                  <a:latin typeface="MiSans" panose="00000500000000000000" charset="-122"/>
                  <a:ea typeface="MiSans" panose="00000500000000000000" charset="-122"/>
                  <a:cs typeface="MiSans" panose="00000500000000000000" charset="-122"/>
                  <a:sym typeface="MiSans" panose="00000500000000000000" charset="-122"/>
                </a:rPr>
                <a:t>Downloading open-source model weights, not API calls. Data stays completely local, no privacy concerns.</a:t>
              </a:r>
              <a:endParaRPr lang="en-US" sz="1100"/>
            </a:p>
          </p:txBody>
        </p:sp>
      </p:grpSp>
      <p:sp>
        <p:nvSpPr>
          <p:cNvPr id="20" name="Freeform 20"/>
          <p:cNvSpPr/>
          <p:nvPr/>
        </p:nvSpPr>
        <p:spPr>
          <a:xfrm>
            <a:off x="6206019" y="1607335"/>
            <a:ext cx="36530" cy="2904162"/>
          </a:xfrm>
          <a:custGeom>
            <a:avLst/>
            <a:gdLst/>
            <a:ahLst/>
            <a:cxnLst/>
            <a:rect l="l" t="t" r="r" b="b"/>
            <a:pathLst>
              <a:path w="36530" h="2904162">
                <a:moveTo>
                  <a:pt x="36530" y="0"/>
                </a:moveTo>
                <a:lnTo>
                  <a:pt x="36530" y="0"/>
                </a:lnTo>
                <a:lnTo>
                  <a:pt x="36530" y="2904162"/>
                </a:lnTo>
                <a:lnTo>
                  <a:pt x="36530" y="2904162"/>
                </a:lnTo>
                <a:cubicBezTo>
                  <a:pt x="16355" y="2904162"/>
                  <a:pt x="0" y="2887807"/>
                  <a:pt x="0" y="2867631"/>
                </a:cubicBezTo>
                <a:lnTo>
                  <a:pt x="0" y="36530"/>
                </a:lnTo>
                <a:cubicBezTo>
                  <a:pt x="0" y="16369"/>
                  <a:pt x="16369" y="0"/>
                  <a:pt x="36530"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6406936" y="1789987"/>
            <a:ext cx="365303" cy="365303"/>
          </a:xfrm>
          <a:custGeom>
            <a:avLst/>
            <a:gdLst/>
            <a:ahLst/>
            <a:cxnLst/>
            <a:rect l="l" t="t" r="r" b="b"/>
            <a:pathLst>
              <a:path w="365303" h="365303">
                <a:moveTo>
                  <a:pt x="182651" y="0"/>
                </a:moveTo>
                <a:lnTo>
                  <a:pt x="182651" y="0"/>
                </a:lnTo>
                <a:cubicBezTo>
                  <a:pt x="283527" y="0"/>
                  <a:pt x="365303" y="81777"/>
                  <a:pt x="365303" y="182651"/>
                </a:cubicBezTo>
                <a:lnTo>
                  <a:pt x="365303" y="182651"/>
                </a:lnTo>
                <a:cubicBezTo>
                  <a:pt x="365303" y="283527"/>
                  <a:pt x="283527" y="365303"/>
                  <a:pt x="182651" y="365303"/>
                </a:cubicBezTo>
                <a:lnTo>
                  <a:pt x="182651" y="365303"/>
                </a:lnTo>
                <a:cubicBezTo>
                  <a:pt x="81777" y="365303"/>
                  <a:pt x="0" y="283527"/>
                  <a:pt x="0" y="182651"/>
                </a:cubicBezTo>
                <a:lnTo>
                  <a:pt x="0" y="182651"/>
                </a:lnTo>
                <a:cubicBezTo>
                  <a:pt x="0" y="81777"/>
                  <a:pt x="81777" y="0"/>
                  <a:pt x="182651"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6365839" y="1789987"/>
            <a:ext cx="447497" cy="365303"/>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02</a:t>
            </a:r>
            <a:endParaRPr lang="en-US" sz="1100"/>
          </a:p>
        </p:txBody>
      </p:sp>
      <p:sp>
        <p:nvSpPr>
          <p:cNvPr id="23" name="AutoShape 23"/>
          <p:cNvSpPr/>
          <p:nvPr/>
        </p:nvSpPr>
        <p:spPr>
          <a:xfrm>
            <a:off x="6882130" y="1844675"/>
            <a:ext cx="4613275" cy="25590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3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Download Qwen3-4B Model to Root Directory</a:t>
            </a:r>
            <a:endParaRPr lang="en-US" sz="1100"/>
          </a:p>
        </p:txBody>
      </p:sp>
      <p:sp>
        <p:nvSpPr>
          <p:cNvPr id="24" name="AutoShape 24"/>
          <p:cNvSpPr/>
          <p:nvPr/>
        </p:nvSpPr>
        <p:spPr>
          <a:xfrm>
            <a:off x="6470650" y="2376170"/>
            <a:ext cx="5301615" cy="1152525"/>
          </a:xfrm>
          <a:prstGeom prst="rect">
            <a:avLst/>
          </a:prstGeom>
          <a:solidFill>
            <a:srgbClr val="EEEEEE">
              <a:alpha val="100000"/>
            </a:srgbClr>
          </a:solidFill>
          <a:ln w="12700">
            <a:noFill/>
            <a:prstDash val="solid"/>
          </a:ln>
        </p:spPr>
        <p:txBody>
          <a:bodyPr wrap="square" lIns="146121" tIns="146121" rIns="146121" bIns="146121" rtlCol="0" anchor="ctr">
            <a:noAutofit/>
          </a:bodyPr>
          <a:lstStyle/>
          <a:p>
            <a:pPr indent="0" algn="l">
              <a:lnSpc>
                <a:spcPct val="133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pip install modelscope</a:t>
            </a:r>
            <a:endParaRPr lang="en-US" sz="1100"/>
          </a:p>
          <a:p>
            <a:pPr indent="0" algn="l">
              <a:lnSpc>
                <a:spcPct val="133000"/>
              </a:lnSpc>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modelscope download --model Qwen/Qwen3-4B --local_dir ./Qwen3-4B</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pic>
        <p:nvPicPr>
          <p:cNvPr id="25" name="Picture 25"/>
          <p:cNvPicPr>
            <a:picLocks noChangeAspect="1"/>
          </p:cNvPicPr>
          <p:nvPr/>
        </p:nvPicPr>
        <p:blipFill>
          <a:blip r:embed="rId1"/>
          <a:srcRect/>
          <a:stretch>
            <a:fillRect/>
          </a:stretch>
        </p:blipFill>
        <p:spPr>
          <a:xfrm>
            <a:off x="541020" y="3248025"/>
            <a:ext cx="5284470" cy="2102485"/>
          </a:xfrm>
          <a:prstGeom prst="rect">
            <a:avLst/>
          </a:prstGeom>
          <a:ln w="12700">
            <a:noFill/>
            <a:prstDash val="solid"/>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70578" y="592924"/>
            <a:ext cx="11589812" cy="33352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2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Step 2: FlagGems High-Performance Operator Library Installation</a:t>
            </a:r>
            <a:endParaRPr lang="en-US" sz="1100"/>
          </a:p>
        </p:txBody>
      </p:sp>
      <p:sp>
        <p:nvSpPr>
          <p:cNvPr id="3" name="Freeform 3"/>
          <p:cNvSpPr/>
          <p:nvPr/>
        </p:nvSpPr>
        <p:spPr>
          <a:xfrm>
            <a:off x="416933" y="1196464"/>
            <a:ext cx="741155" cy="37059"/>
          </a:xfrm>
          <a:custGeom>
            <a:avLst/>
            <a:gdLst/>
            <a:ahLst/>
            <a:cxnLst/>
            <a:rect l="l" t="t" r="r" b="b"/>
            <a:pathLst>
              <a:path w="741155" h="37059">
                <a:moveTo>
                  <a:pt x="0" y="0"/>
                </a:moveTo>
                <a:lnTo>
                  <a:pt x="741155" y="0"/>
                </a:lnTo>
                <a:lnTo>
                  <a:pt x="741155" y="37059"/>
                </a:lnTo>
                <a:lnTo>
                  <a:pt x="0" y="37059"/>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grpSp>
        <p:nvGrpSpPr>
          <p:cNvPr id="4" name="Group 4"/>
          <p:cNvGrpSpPr/>
          <p:nvPr/>
        </p:nvGrpSpPr>
        <p:grpSpPr>
          <a:xfrm>
            <a:off x="407670" y="1316901"/>
            <a:ext cx="2214245" cy="1007834"/>
            <a:chOff x="407670" y="1316901"/>
            <a:chExt cx="2214245" cy="1007834"/>
          </a:xfrm>
        </p:grpSpPr>
        <p:sp>
          <p:nvSpPr>
            <p:cNvPr id="5" name="Freeform 5"/>
            <p:cNvSpPr/>
            <p:nvPr/>
          </p:nvSpPr>
          <p:spPr>
            <a:xfrm>
              <a:off x="417195" y="1316901"/>
              <a:ext cx="2204720" cy="1007834"/>
            </a:xfrm>
            <a:custGeom>
              <a:avLst/>
              <a:gdLst/>
              <a:ahLst/>
              <a:cxnLst/>
              <a:rect l="l" t="t" r="r" b="b"/>
              <a:pathLst>
                <a:path w="2204720" h="1007834">
                  <a:moveTo>
                    <a:pt x="18527" y="0"/>
                  </a:moveTo>
                  <a:lnTo>
                    <a:pt x="2186193" y="0"/>
                  </a:lnTo>
                  <a:cubicBezTo>
                    <a:pt x="2196426" y="0"/>
                    <a:pt x="2204720" y="8678"/>
                    <a:pt x="2204720" y="19381"/>
                  </a:cubicBezTo>
                  <a:lnTo>
                    <a:pt x="2204720" y="930311"/>
                  </a:lnTo>
                  <a:cubicBezTo>
                    <a:pt x="2204720" y="973097"/>
                    <a:pt x="2171515" y="1007834"/>
                    <a:pt x="2130615" y="1007834"/>
                  </a:cubicBezTo>
                  <a:lnTo>
                    <a:pt x="74106" y="1007834"/>
                  </a:lnTo>
                  <a:cubicBezTo>
                    <a:pt x="33177" y="1007834"/>
                    <a:pt x="0" y="973125"/>
                    <a:pt x="0" y="930311"/>
                  </a:cubicBezTo>
                  <a:lnTo>
                    <a:pt x="0" y="19381"/>
                  </a:lnTo>
                  <a:cubicBezTo>
                    <a:pt x="0" y="8678"/>
                    <a:pt x="8296" y="0"/>
                    <a:pt x="18527" y="0"/>
                  </a:cubicBezTo>
                  <a:close/>
                </a:path>
              </a:pathLst>
            </a:custGeom>
            <a:solidFill>
              <a:srgbClr val="FFF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6" name="Freeform 6"/>
            <p:cNvSpPr/>
            <p:nvPr/>
          </p:nvSpPr>
          <p:spPr>
            <a:xfrm>
              <a:off x="417195" y="1316901"/>
              <a:ext cx="2204720" cy="18418"/>
            </a:xfrm>
            <a:custGeom>
              <a:avLst/>
              <a:gdLst/>
              <a:ahLst/>
              <a:cxnLst/>
              <a:rect l="l" t="t" r="r" b="b"/>
              <a:pathLst>
                <a:path w="2204720" h="18418">
                  <a:moveTo>
                    <a:pt x="18527" y="0"/>
                  </a:moveTo>
                  <a:lnTo>
                    <a:pt x="2186193" y="0"/>
                  </a:lnTo>
                  <a:cubicBezTo>
                    <a:pt x="2196426" y="0"/>
                    <a:pt x="2204720" y="8246"/>
                    <a:pt x="2204720" y="18418"/>
                  </a:cubicBezTo>
                  <a:lnTo>
                    <a:pt x="2204720" y="18418"/>
                  </a:lnTo>
                  <a:lnTo>
                    <a:pt x="0" y="18418"/>
                  </a:lnTo>
                  <a:lnTo>
                    <a:pt x="0" y="18418"/>
                  </a:lnTo>
                  <a:cubicBezTo>
                    <a:pt x="0" y="8246"/>
                    <a:pt x="8296" y="0"/>
                    <a:pt x="18527"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1331595" y="1400093"/>
              <a:ext cx="370840" cy="370873"/>
            </a:xfrm>
            <a:custGeom>
              <a:avLst/>
              <a:gdLst/>
              <a:ahLst/>
              <a:cxnLst/>
              <a:rect l="l" t="t" r="r" b="b"/>
              <a:pathLst>
                <a:path w="370840" h="370873">
                  <a:moveTo>
                    <a:pt x="185420" y="0"/>
                  </a:moveTo>
                  <a:lnTo>
                    <a:pt x="185420" y="0"/>
                  </a:lnTo>
                  <a:cubicBezTo>
                    <a:pt x="287755" y="0"/>
                    <a:pt x="370840" y="83091"/>
                    <a:pt x="370840" y="185437"/>
                  </a:cubicBezTo>
                  <a:lnTo>
                    <a:pt x="370840" y="185437"/>
                  </a:lnTo>
                  <a:cubicBezTo>
                    <a:pt x="370840" y="287781"/>
                    <a:pt x="287755" y="370873"/>
                    <a:pt x="185420" y="370873"/>
                  </a:cubicBezTo>
                  <a:lnTo>
                    <a:pt x="185420" y="370873"/>
                  </a:lnTo>
                  <a:cubicBezTo>
                    <a:pt x="83083" y="370873"/>
                    <a:pt x="0" y="287781"/>
                    <a:pt x="0" y="185437"/>
                  </a:cubicBezTo>
                  <a:lnTo>
                    <a:pt x="0" y="185437"/>
                  </a:lnTo>
                  <a:cubicBezTo>
                    <a:pt x="0" y="83091"/>
                    <a:pt x="83083" y="0"/>
                    <a:pt x="18542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1290320" y="1400093"/>
              <a:ext cx="454025" cy="370873"/>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100"/>
            </a:p>
          </p:txBody>
        </p:sp>
        <p:sp>
          <p:nvSpPr>
            <p:cNvPr id="9" name="AutoShape 9"/>
            <p:cNvSpPr/>
            <p:nvPr/>
          </p:nvSpPr>
          <p:spPr>
            <a:xfrm>
              <a:off x="407670" y="1770966"/>
              <a:ext cx="2131060" cy="22227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Install Dependencies</a:t>
              </a:r>
              <a:endParaRPr lang="en-US" sz="1100"/>
            </a:p>
          </p:txBody>
        </p:sp>
        <p:sp>
          <p:nvSpPr>
            <p:cNvPr id="10" name="AutoShape 10"/>
            <p:cNvSpPr/>
            <p:nvPr/>
          </p:nvSpPr>
          <p:spPr>
            <a:xfrm>
              <a:off x="454660" y="2141204"/>
              <a:ext cx="2112010" cy="139077"/>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700" b="0" i="0" u="none" strike="noStrike">
                  <a:solidFill>
                    <a:srgbClr val="333333">
                      <a:alpha val="70196"/>
                    </a:srgbClr>
                  </a:solidFill>
                  <a:latin typeface="MiSans" panose="00000500000000000000" charset="-122"/>
                  <a:ea typeface="MiSans" panose="00000500000000000000" charset="-122"/>
                  <a:cs typeface="MiSans" panose="00000500000000000000" charset="-122"/>
                  <a:sym typeface="MiSans" panose="00000500000000000000" charset="-122"/>
                </a:rPr>
                <a:t>Build Toolchain</a:t>
              </a:r>
              <a:endParaRPr lang="en-US" sz="1100"/>
            </a:p>
          </p:txBody>
        </p:sp>
      </p:grpSp>
      <p:grpSp>
        <p:nvGrpSpPr>
          <p:cNvPr id="11" name="Group 11"/>
          <p:cNvGrpSpPr/>
          <p:nvPr/>
        </p:nvGrpSpPr>
        <p:grpSpPr>
          <a:xfrm>
            <a:off x="407485" y="2520226"/>
            <a:ext cx="2204936" cy="1008000"/>
            <a:chOff x="407485" y="2520226"/>
            <a:chExt cx="2204936" cy="1008000"/>
          </a:xfrm>
        </p:grpSpPr>
        <p:sp>
          <p:nvSpPr>
            <p:cNvPr id="12" name="Freeform 12"/>
            <p:cNvSpPr/>
            <p:nvPr/>
          </p:nvSpPr>
          <p:spPr>
            <a:xfrm>
              <a:off x="407485" y="2520226"/>
              <a:ext cx="2204936" cy="1008000"/>
            </a:xfrm>
            <a:custGeom>
              <a:avLst/>
              <a:gdLst/>
              <a:ahLst/>
              <a:cxnLst/>
              <a:rect l="l" t="t" r="r" b="b"/>
              <a:pathLst>
                <a:path w="2204936" h="1008000">
                  <a:moveTo>
                    <a:pt x="18529" y="0"/>
                  </a:moveTo>
                  <a:lnTo>
                    <a:pt x="2186407" y="0"/>
                  </a:lnTo>
                  <a:cubicBezTo>
                    <a:pt x="2196642" y="0"/>
                    <a:pt x="2204936" y="8679"/>
                    <a:pt x="2204936" y="19385"/>
                  </a:cubicBezTo>
                  <a:lnTo>
                    <a:pt x="2204936" y="930464"/>
                  </a:lnTo>
                  <a:cubicBezTo>
                    <a:pt x="2204936" y="973257"/>
                    <a:pt x="2171727" y="1008000"/>
                    <a:pt x="2130824" y="1008000"/>
                  </a:cubicBezTo>
                  <a:lnTo>
                    <a:pt x="74113" y="1008000"/>
                  </a:lnTo>
                  <a:cubicBezTo>
                    <a:pt x="33181" y="1008000"/>
                    <a:pt x="0" y="973286"/>
                    <a:pt x="0" y="930464"/>
                  </a:cubicBezTo>
                  <a:lnTo>
                    <a:pt x="0" y="19385"/>
                  </a:lnTo>
                  <a:cubicBezTo>
                    <a:pt x="0" y="8679"/>
                    <a:pt x="8296" y="0"/>
                    <a:pt x="18529" y="0"/>
                  </a:cubicBezTo>
                  <a:close/>
                </a:path>
              </a:pathLst>
            </a:custGeom>
            <a:solidFill>
              <a:srgbClr val="FFF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3" name="Freeform 13"/>
            <p:cNvSpPr/>
            <p:nvPr/>
          </p:nvSpPr>
          <p:spPr>
            <a:xfrm>
              <a:off x="407485" y="2520226"/>
              <a:ext cx="2204936" cy="19270"/>
            </a:xfrm>
            <a:custGeom>
              <a:avLst/>
              <a:gdLst/>
              <a:ahLst/>
              <a:cxnLst/>
              <a:rect l="l" t="t" r="r" b="b"/>
              <a:pathLst>
                <a:path w="2204936" h="19270">
                  <a:moveTo>
                    <a:pt x="18529" y="0"/>
                  </a:moveTo>
                  <a:lnTo>
                    <a:pt x="2186407" y="0"/>
                  </a:lnTo>
                  <a:cubicBezTo>
                    <a:pt x="2196642" y="0"/>
                    <a:pt x="2204936" y="8628"/>
                    <a:pt x="2204936" y="19270"/>
                  </a:cubicBezTo>
                  <a:lnTo>
                    <a:pt x="2204936" y="19270"/>
                  </a:lnTo>
                  <a:lnTo>
                    <a:pt x="0" y="19270"/>
                  </a:lnTo>
                  <a:lnTo>
                    <a:pt x="0" y="19270"/>
                  </a:lnTo>
                  <a:cubicBezTo>
                    <a:pt x="0" y="8628"/>
                    <a:pt x="8296" y="0"/>
                    <a:pt x="18529"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1321975" y="2607271"/>
              <a:ext cx="370876" cy="388050"/>
            </a:xfrm>
            <a:custGeom>
              <a:avLst/>
              <a:gdLst/>
              <a:ahLst/>
              <a:cxnLst/>
              <a:rect l="l" t="t" r="r" b="b"/>
              <a:pathLst>
                <a:path w="370876" h="388050">
                  <a:moveTo>
                    <a:pt x="185438" y="0"/>
                  </a:moveTo>
                  <a:lnTo>
                    <a:pt x="185438" y="0"/>
                  </a:lnTo>
                  <a:cubicBezTo>
                    <a:pt x="287783" y="0"/>
                    <a:pt x="370876" y="86939"/>
                    <a:pt x="370876" y="194026"/>
                  </a:cubicBezTo>
                  <a:lnTo>
                    <a:pt x="370876" y="194026"/>
                  </a:lnTo>
                  <a:cubicBezTo>
                    <a:pt x="370876" y="301109"/>
                    <a:pt x="287783" y="388050"/>
                    <a:pt x="185438" y="388050"/>
                  </a:cubicBezTo>
                  <a:lnTo>
                    <a:pt x="185438" y="388050"/>
                  </a:lnTo>
                  <a:cubicBezTo>
                    <a:pt x="83092" y="388050"/>
                    <a:pt x="0" y="301109"/>
                    <a:pt x="0" y="194026"/>
                  </a:cubicBezTo>
                  <a:lnTo>
                    <a:pt x="0" y="194026"/>
                  </a:lnTo>
                  <a:cubicBezTo>
                    <a:pt x="0" y="86939"/>
                    <a:pt x="83092" y="0"/>
                    <a:pt x="185438"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1280696" y="2607271"/>
              <a:ext cx="454069" cy="38805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100"/>
            </a:p>
          </p:txBody>
        </p:sp>
        <p:sp>
          <p:nvSpPr>
            <p:cNvPr id="16" name="AutoShape 16"/>
            <p:cNvSpPr/>
            <p:nvPr/>
          </p:nvSpPr>
          <p:spPr>
            <a:xfrm>
              <a:off x="444319" y="3033861"/>
              <a:ext cx="2131269" cy="232564"/>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1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Clone Repository</a:t>
              </a:r>
              <a:endParaRPr lang="en-US" sz="1100"/>
            </a:p>
          </p:txBody>
        </p:sp>
        <p:sp>
          <p:nvSpPr>
            <p:cNvPr id="17" name="AutoShape 17"/>
            <p:cNvSpPr/>
            <p:nvPr/>
          </p:nvSpPr>
          <p:spPr>
            <a:xfrm>
              <a:off x="454480" y="3340181"/>
              <a:ext cx="2112217" cy="145519"/>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700" b="0" i="0" u="none" strike="noStrike">
                  <a:solidFill>
                    <a:srgbClr val="333333">
                      <a:alpha val="70196"/>
                    </a:srgbClr>
                  </a:solidFill>
                  <a:latin typeface="MiSans" panose="00000500000000000000" charset="-122"/>
                  <a:ea typeface="MiSans" panose="00000500000000000000" charset="-122"/>
                  <a:cs typeface="MiSans" panose="00000500000000000000" charset="-122"/>
                  <a:sym typeface="MiSans" panose="00000500000000000000" charset="-122"/>
                </a:rPr>
                <a:t>Get Source Code</a:t>
              </a:r>
              <a:endParaRPr lang="en-US" sz="1100"/>
            </a:p>
          </p:txBody>
        </p:sp>
      </p:grpSp>
      <p:grpSp>
        <p:nvGrpSpPr>
          <p:cNvPr id="18" name="Group 18"/>
          <p:cNvGrpSpPr/>
          <p:nvPr/>
        </p:nvGrpSpPr>
        <p:grpSpPr>
          <a:xfrm>
            <a:off x="407670" y="3747681"/>
            <a:ext cx="2204973" cy="1007834"/>
            <a:chOff x="407670" y="3747681"/>
            <a:chExt cx="2204973" cy="1007834"/>
          </a:xfrm>
        </p:grpSpPr>
        <p:sp>
          <p:nvSpPr>
            <p:cNvPr id="19" name="Freeform 19"/>
            <p:cNvSpPr/>
            <p:nvPr/>
          </p:nvSpPr>
          <p:spPr>
            <a:xfrm>
              <a:off x="407670" y="3747681"/>
              <a:ext cx="2204973" cy="1007834"/>
            </a:xfrm>
            <a:custGeom>
              <a:avLst/>
              <a:gdLst/>
              <a:ahLst/>
              <a:cxnLst/>
              <a:rect l="l" t="t" r="r" b="b"/>
              <a:pathLst>
                <a:path w="2204973" h="1007834">
                  <a:moveTo>
                    <a:pt x="18529" y="0"/>
                  </a:moveTo>
                  <a:lnTo>
                    <a:pt x="2186443" y="0"/>
                  </a:lnTo>
                  <a:cubicBezTo>
                    <a:pt x="2196678" y="0"/>
                    <a:pt x="2204973" y="8678"/>
                    <a:pt x="2204973" y="19381"/>
                  </a:cubicBezTo>
                  <a:lnTo>
                    <a:pt x="2204973" y="930311"/>
                  </a:lnTo>
                  <a:cubicBezTo>
                    <a:pt x="2204973" y="973097"/>
                    <a:pt x="2171764" y="1007834"/>
                    <a:pt x="2130859" y="1007834"/>
                  </a:cubicBezTo>
                  <a:lnTo>
                    <a:pt x="74115" y="1007834"/>
                  </a:lnTo>
                  <a:cubicBezTo>
                    <a:pt x="33181" y="1007834"/>
                    <a:pt x="0" y="973125"/>
                    <a:pt x="0" y="930311"/>
                  </a:cubicBezTo>
                  <a:lnTo>
                    <a:pt x="0" y="19381"/>
                  </a:lnTo>
                  <a:cubicBezTo>
                    <a:pt x="0" y="8678"/>
                    <a:pt x="8296" y="0"/>
                    <a:pt x="18529" y="0"/>
                  </a:cubicBezTo>
                  <a:close/>
                </a:path>
              </a:pathLst>
            </a:custGeom>
            <a:solidFill>
              <a:srgbClr val="FFF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0" name="Freeform 20"/>
            <p:cNvSpPr/>
            <p:nvPr/>
          </p:nvSpPr>
          <p:spPr>
            <a:xfrm>
              <a:off x="407670" y="3747681"/>
              <a:ext cx="2204973" cy="18418"/>
            </a:xfrm>
            <a:custGeom>
              <a:avLst/>
              <a:gdLst/>
              <a:ahLst/>
              <a:cxnLst/>
              <a:rect l="l" t="t" r="r" b="b"/>
              <a:pathLst>
                <a:path w="2204973" h="18418">
                  <a:moveTo>
                    <a:pt x="18529" y="0"/>
                  </a:moveTo>
                  <a:lnTo>
                    <a:pt x="2186443" y="0"/>
                  </a:lnTo>
                  <a:cubicBezTo>
                    <a:pt x="2196678" y="0"/>
                    <a:pt x="2204973" y="8246"/>
                    <a:pt x="2204973" y="18418"/>
                  </a:cubicBezTo>
                  <a:lnTo>
                    <a:pt x="2204973" y="18418"/>
                  </a:lnTo>
                  <a:lnTo>
                    <a:pt x="0" y="18418"/>
                  </a:lnTo>
                  <a:lnTo>
                    <a:pt x="0" y="18418"/>
                  </a:lnTo>
                  <a:cubicBezTo>
                    <a:pt x="0" y="8246"/>
                    <a:pt x="8296" y="0"/>
                    <a:pt x="18529"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1322810" y="3830873"/>
              <a:ext cx="370883" cy="370873"/>
            </a:xfrm>
            <a:custGeom>
              <a:avLst/>
              <a:gdLst/>
              <a:ahLst/>
              <a:cxnLst/>
              <a:rect l="l" t="t" r="r" b="b"/>
              <a:pathLst>
                <a:path w="370883" h="370873">
                  <a:moveTo>
                    <a:pt x="185442" y="0"/>
                  </a:moveTo>
                  <a:lnTo>
                    <a:pt x="185442" y="0"/>
                  </a:lnTo>
                  <a:cubicBezTo>
                    <a:pt x="287788" y="0"/>
                    <a:pt x="370883" y="83091"/>
                    <a:pt x="370883" y="185437"/>
                  </a:cubicBezTo>
                  <a:lnTo>
                    <a:pt x="370883" y="185437"/>
                  </a:lnTo>
                  <a:cubicBezTo>
                    <a:pt x="370883" y="287781"/>
                    <a:pt x="287788" y="370873"/>
                    <a:pt x="185442" y="370873"/>
                  </a:cubicBezTo>
                  <a:lnTo>
                    <a:pt x="185442" y="370873"/>
                  </a:lnTo>
                  <a:cubicBezTo>
                    <a:pt x="83094" y="370873"/>
                    <a:pt x="0" y="287781"/>
                    <a:pt x="0" y="185437"/>
                  </a:cubicBezTo>
                  <a:lnTo>
                    <a:pt x="0" y="185437"/>
                  </a:lnTo>
                  <a:cubicBezTo>
                    <a:pt x="0" y="83091"/>
                    <a:pt x="83094" y="0"/>
                    <a:pt x="185442"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1280895" y="3830873"/>
              <a:ext cx="454077" cy="370873"/>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3</a:t>
              </a:r>
              <a:endParaRPr lang="en-US" sz="1100"/>
            </a:p>
          </p:txBody>
        </p:sp>
        <p:sp>
          <p:nvSpPr>
            <p:cNvPr id="23" name="AutoShape 23"/>
            <p:cNvSpPr/>
            <p:nvPr/>
          </p:nvSpPr>
          <p:spPr>
            <a:xfrm>
              <a:off x="444504" y="4238579"/>
              <a:ext cx="2131305" cy="22227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Install Package</a:t>
              </a:r>
              <a:endParaRPr lang="en-US" sz="1100"/>
            </a:p>
          </p:txBody>
        </p:sp>
        <p:sp>
          <p:nvSpPr>
            <p:cNvPr id="24" name="AutoShape 24"/>
            <p:cNvSpPr/>
            <p:nvPr/>
          </p:nvSpPr>
          <p:spPr>
            <a:xfrm>
              <a:off x="454030" y="4571984"/>
              <a:ext cx="2112252" cy="139077"/>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700" b="0" i="0" u="none" strike="noStrike">
                  <a:solidFill>
                    <a:srgbClr val="333333">
                      <a:alpha val="70196"/>
                    </a:srgbClr>
                  </a:solidFill>
                  <a:latin typeface="MiSans" panose="00000500000000000000" charset="-122"/>
                  <a:ea typeface="MiSans" panose="00000500000000000000" charset="-122"/>
                  <a:cs typeface="MiSans" panose="00000500000000000000" charset="-122"/>
                  <a:sym typeface="MiSans" panose="00000500000000000000" charset="-122"/>
                </a:rPr>
                <a:t>Development Mode</a:t>
              </a:r>
              <a:endParaRPr lang="en-US" sz="1100"/>
            </a:p>
          </p:txBody>
        </p:sp>
      </p:grpSp>
      <p:grpSp>
        <p:nvGrpSpPr>
          <p:cNvPr id="25" name="Group 25"/>
          <p:cNvGrpSpPr/>
          <p:nvPr/>
        </p:nvGrpSpPr>
        <p:grpSpPr>
          <a:xfrm>
            <a:off x="407670" y="4944110"/>
            <a:ext cx="2204415" cy="1008000"/>
            <a:chOff x="407670" y="4944110"/>
            <a:chExt cx="2204415" cy="1008000"/>
          </a:xfrm>
        </p:grpSpPr>
        <p:sp>
          <p:nvSpPr>
            <p:cNvPr id="26" name="Freeform 26"/>
            <p:cNvSpPr/>
            <p:nvPr/>
          </p:nvSpPr>
          <p:spPr>
            <a:xfrm>
              <a:off x="407670" y="4944110"/>
              <a:ext cx="2204415" cy="1008000"/>
            </a:xfrm>
            <a:custGeom>
              <a:avLst/>
              <a:gdLst/>
              <a:ahLst/>
              <a:cxnLst/>
              <a:rect l="l" t="t" r="r" b="b"/>
              <a:pathLst>
                <a:path w="2204415" h="1008000">
                  <a:moveTo>
                    <a:pt x="18524" y="0"/>
                  </a:moveTo>
                  <a:lnTo>
                    <a:pt x="2185891" y="0"/>
                  </a:lnTo>
                  <a:cubicBezTo>
                    <a:pt x="2196122" y="0"/>
                    <a:pt x="2204415" y="8679"/>
                    <a:pt x="2204415" y="19385"/>
                  </a:cubicBezTo>
                  <a:lnTo>
                    <a:pt x="2204415" y="930464"/>
                  </a:lnTo>
                  <a:cubicBezTo>
                    <a:pt x="2204415" y="973257"/>
                    <a:pt x="2171214" y="1008000"/>
                    <a:pt x="2130321" y="1008000"/>
                  </a:cubicBezTo>
                  <a:lnTo>
                    <a:pt x="74096" y="1008000"/>
                  </a:lnTo>
                  <a:cubicBezTo>
                    <a:pt x="33174" y="1008000"/>
                    <a:pt x="0" y="973286"/>
                    <a:pt x="0" y="930464"/>
                  </a:cubicBezTo>
                  <a:lnTo>
                    <a:pt x="0" y="19385"/>
                  </a:lnTo>
                  <a:cubicBezTo>
                    <a:pt x="0" y="8679"/>
                    <a:pt x="8294" y="0"/>
                    <a:pt x="18524" y="0"/>
                  </a:cubicBezTo>
                  <a:close/>
                </a:path>
              </a:pathLst>
            </a:custGeom>
            <a:solidFill>
              <a:srgbClr val="FFF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7" name="Freeform 27"/>
            <p:cNvSpPr/>
            <p:nvPr/>
          </p:nvSpPr>
          <p:spPr>
            <a:xfrm>
              <a:off x="407670" y="4970689"/>
              <a:ext cx="2204415" cy="19270"/>
            </a:xfrm>
            <a:custGeom>
              <a:avLst/>
              <a:gdLst/>
              <a:ahLst/>
              <a:cxnLst/>
              <a:rect l="l" t="t" r="r" b="b"/>
              <a:pathLst>
                <a:path w="2204415" h="19270">
                  <a:moveTo>
                    <a:pt x="18524" y="0"/>
                  </a:moveTo>
                  <a:lnTo>
                    <a:pt x="2185891" y="0"/>
                  </a:lnTo>
                  <a:cubicBezTo>
                    <a:pt x="2196122" y="0"/>
                    <a:pt x="2204415" y="8628"/>
                    <a:pt x="2204415" y="19270"/>
                  </a:cubicBezTo>
                  <a:lnTo>
                    <a:pt x="2204415" y="19270"/>
                  </a:lnTo>
                  <a:lnTo>
                    <a:pt x="0" y="19270"/>
                  </a:lnTo>
                  <a:lnTo>
                    <a:pt x="0" y="19270"/>
                  </a:lnTo>
                  <a:cubicBezTo>
                    <a:pt x="0" y="8628"/>
                    <a:pt x="8294" y="0"/>
                    <a:pt x="18524"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8" name="Freeform 28"/>
            <p:cNvSpPr/>
            <p:nvPr/>
          </p:nvSpPr>
          <p:spPr>
            <a:xfrm>
              <a:off x="1322578" y="5057734"/>
              <a:ext cx="370789" cy="388050"/>
            </a:xfrm>
            <a:custGeom>
              <a:avLst/>
              <a:gdLst/>
              <a:ahLst/>
              <a:cxnLst/>
              <a:rect l="l" t="t" r="r" b="b"/>
              <a:pathLst>
                <a:path w="370789" h="388050">
                  <a:moveTo>
                    <a:pt x="185395" y="0"/>
                  </a:moveTo>
                  <a:lnTo>
                    <a:pt x="185395" y="0"/>
                  </a:lnTo>
                  <a:cubicBezTo>
                    <a:pt x="287716" y="0"/>
                    <a:pt x="370789" y="86939"/>
                    <a:pt x="370789" y="194026"/>
                  </a:cubicBezTo>
                  <a:lnTo>
                    <a:pt x="370789" y="194026"/>
                  </a:lnTo>
                  <a:cubicBezTo>
                    <a:pt x="370789" y="301109"/>
                    <a:pt x="287716" y="388050"/>
                    <a:pt x="185395" y="388050"/>
                  </a:cubicBezTo>
                  <a:lnTo>
                    <a:pt x="185395" y="388050"/>
                  </a:lnTo>
                  <a:cubicBezTo>
                    <a:pt x="83072" y="388050"/>
                    <a:pt x="0" y="301109"/>
                    <a:pt x="0" y="194026"/>
                  </a:cubicBezTo>
                  <a:lnTo>
                    <a:pt x="0" y="194026"/>
                  </a:lnTo>
                  <a:cubicBezTo>
                    <a:pt x="0" y="86939"/>
                    <a:pt x="83072" y="0"/>
                    <a:pt x="185395"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9" name="AutoShape 29"/>
            <p:cNvSpPr/>
            <p:nvPr/>
          </p:nvSpPr>
          <p:spPr>
            <a:xfrm>
              <a:off x="1280674" y="5057734"/>
              <a:ext cx="453962" cy="38805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4</a:t>
              </a:r>
              <a:endParaRPr lang="en-US" sz="1100"/>
            </a:p>
          </p:txBody>
        </p:sp>
        <p:sp>
          <p:nvSpPr>
            <p:cNvPr id="30" name="AutoShape 30"/>
            <p:cNvSpPr/>
            <p:nvPr/>
          </p:nvSpPr>
          <p:spPr>
            <a:xfrm>
              <a:off x="445130" y="5484324"/>
              <a:ext cx="2130765" cy="232564"/>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1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Verify Installation</a:t>
              </a:r>
              <a:endParaRPr lang="en-US" sz="1100"/>
            </a:p>
          </p:txBody>
        </p:sp>
        <p:sp>
          <p:nvSpPr>
            <p:cNvPr id="31" name="AutoShape 31"/>
            <p:cNvSpPr/>
            <p:nvPr/>
          </p:nvSpPr>
          <p:spPr>
            <a:xfrm>
              <a:off x="454019" y="5785328"/>
              <a:ext cx="2111718" cy="145519"/>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700" b="0" i="0" u="none" strike="noStrike">
                  <a:solidFill>
                    <a:srgbClr val="333333">
                      <a:alpha val="70196"/>
                    </a:srgbClr>
                  </a:solidFill>
                  <a:latin typeface="MiSans" panose="00000500000000000000" charset="-122"/>
                  <a:ea typeface="MiSans" panose="00000500000000000000" charset="-122"/>
                  <a:cs typeface="MiSans" panose="00000500000000000000" charset="-122"/>
                  <a:sym typeface="MiSans" panose="00000500000000000000" charset="-122"/>
                </a:rPr>
                <a:t>Run Tests</a:t>
              </a:r>
              <a:endParaRPr lang="en-US" sz="1100"/>
            </a:p>
          </p:txBody>
        </p:sp>
      </p:grpSp>
      <p:sp>
        <p:nvSpPr>
          <p:cNvPr id="32" name="Freeform 32"/>
          <p:cNvSpPr/>
          <p:nvPr/>
        </p:nvSpPr>
        <p:spPr>
          <a:xfrm>
            <a:off x="9718685" y="1479029"/>
            <a:ext cx="222347" cy="222347"/>
          </a:xfrm>
          <a:custGeom>
            <a:avLst/>
            <a:gdLst/>
            <a:ahLst/>
            <a:cxnLst/>
            <a:rect l="l" t="t" r="r" b="b"/>
            <a:pathLst>
              <a:path w="222347" h="222347">
                <a:moveTo>
                  <a:pt x="173057" y="5298"/>
                </a:moveTo>
                <a:lnTo>
                  <a:pt x="134755" y="43600"/>
                </a:lnTo>
                <a:lnTo>
                  <a:pt x="178746" y="87592"/>
                </a:lnTo>
                <a:lnTo>
                  <a:pt x="217048" y="49290"/>
                </a:lnTo>
                <a:cubicBezTo>
                  <a:pt x="220436" y="45858"/>
                  <a:pt x="222347" y="41256"/>
                  <a:pt x="222347" y="36479"/>
                </a:cubicBezTo>
                <a:cubicBezTo>
                  <a:pt x="222347" y="31702"/>
                  <a:pt x="220436" y="27098"/>
                  <a:pt x="217048" y="23668"/>
                </a:cubicBezTo>
                <a:lnTo>
                  <a:pt x="198679" y="5298"/>
                </a:lnTo>
                <a:cubicBezTo>
                  <a:pt x="195249" y="1911"/>
                  <a:pt x="190645" y="0"/>
                  <a:pt x="185868" y="0"/>
                </a:cubicBezTo>
                <a:cubicBezTo>
                  <a:pt x="181091" y="0"/>
                  <a:pt x="176488" y="1911"/>
                  <a:pt x="173057" y="5298"/>
                </a:cubicBezTo>
                <a:close/>
                <a:moveTo>
                  <a:pt x="120032" y="58323"/>
                </a:moveTo>
                <a:lnTo>
                  <a:pt x="5298" y="173057"/>
                </a:lnTo>
                <a:cubicBezTo>
                  <a:pt x="1911" y="176488"/>
                  <a:pt x="0" y="181091"/>
                  <a:pt x="0" y="185868"/>
                </a:cubicBezTo>
                <a:cubicBezTo>
                  <a:pt x="0" y="190645"/>
                  <a:pt x="1911" y="195249"/>
                  <a:pt x="5298" y="198679"/>
                </a:cubicBezTo>
                <a:lnTo>
                  <a:pt x="23668" y="217048"/>
                </a:lnTo>
                <a:cubicBezTo>
                  <a:pt x="27098" y="220436"/>
                  <a:pt x="31702" y="222347"/>
                  <a:pt x="36479" y="222347"/>
                </a:cubicBezTo>
                <a:cubicBezTo>
                  <a:pt x="41256" y="222347"/>
                  <a:pt x="45858" y="220436"/>
                  <a:pt x="49290" y="217048"/>
                </a:cubicBezTo>
                <a:lnTo>
                  <a:pt x="164024" y="102314"/>
                </a:lnTo>
                <a:lnTo>
                  <a:pt x="120032" y="58323"/>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3" name="AutoShape 33"/>
          <p:cNvSpPr/>
          <p:nvPr/>
        </p:nvSpPr>
        <p:spPr>
          <a:xfrm>
            <a:off x="9653834" y="1801933"/>
            <a:ext cx="2130821" cy="222347"/>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Zero Code Changes</a:t>
            </a:r>
            <a:endParaRPr lang="en-US" sz="1100"/>
          </a:p>
        </p:txBody>
      </p:sp>
      <p:sp>
        <p:nvSpPr>
          <p:cNvPr id="34" name="AutoShape 34"/>
          <p:cNvSpPr/>
          <p:nvPr/>
        </p:nvSpPr>
        <p:spPr>
          <a:xfrm>
            <a:off x="9663098" y="2024280"/>
            <a:ext cx="2112292" cy="148231"/>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7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Auto-Enable</a:t>
            </a:r>
            <a:endParaRPr lang="en-US" sz="1100"/>
          </a:p>
        </p:txBody>
      </p:sp>
      <p:sp>
        <p:nvSpPr>
          <p:cNvPr id="35" name="Freeform 35"/>
          <p:cNvSpPr/>
          <p:nvPr/>
        </p:nvSpPr>
        <p:spPr>
          <a:xfrm>
            <a:off x="8936186" y="3068482"/>
            <a:ext cx="98899" cy="130487"/>
          </a:xfrm>
          <a:custGeom>
            <a:avLst/>
            <a:gdLst/>
            <a:ahLst/>
            <a:cxnLst/>
            <a:rect l="l" t="t" r="r" b="b"/>
            <a:pathLst>
              <a:path w="98899" h="130487">
                <a:moveTo>
                  <a:pt x="43725" y="127321"/>
                </a:moveTo>
                <a:cubicBezTo>
                  <a:pt x="46891" y="130487"/>
                  <a:pt x="52034" y="130487"/>
                  <a:pt x="55201" y="127321"/>
                </a:cubicBezTo>
                <a:lnTo>
                  <a:pt x="95733" y="86789"/>
                </a:lnTo>
                <a:cubicBezTo>
                  <a:pt x="98899" y="83622"/>
                  <a:pt x="98899" y="78480"/>
                  <a:pt x="95733" y="75314"/>
                </a:cubicBezTo>
                <a:cubicBezTo>
                  <a:pt x="92566" y="72147"/>
                  <a:pt x="87423" y="72147"/>
                  <a:pt x="84257" y="75314"/>
                </a:cubicBezTo>
                <a:lnTo>
                  <a:pt x="57557" y="102014"/>
                </a:lnTo>
                <a:lnTo>
                  <a:pt x="57557" y="8106"/>
                </a:lnTo>
                <a:cubicBezTo>
                  <a:pt x="57557" y="3623"/>
                  <a:pt x="53934" y="0"/>
                  <a:pt x="49450" y="0"/>
                </a:cubicBezTo>
                <a:cubicBezTo>
                  <a:pt x="44966" y="0"/>
                  <a:pt x="41344" y="3623"/>
                  <a:pt x="41344" y="8106"/>
                </a:cubicBezTo>
                <a:lnTo>
                  <a:pt x="41344" y="102014"/>
                </a:lnTo>
                <a:lnTo>
                  <a:pt x="14644" y="75314"/>
                </a:lnTo>
                <a:cubicBezTo>
                  <a:pt x="11477" y="72147"/>
                  <a:pt x="6334" y="72147"/>
                  <a:pt x="3168" y="75314"/>
                </a:cubicBezTo>
                <a:cubicBezTo>
                  <a:pt x="0" y="78480"/>
                  <a:pt x="0" y="83622"/>
                  <a:pt x="3168" y="86789"/>
                </a:cubicBezTo>
                <a:lnTo>
                  <a:pt x="43700" y="127321"/>
                </a:ln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36" name="Freeform 36"/>
          <p:cNvSpPr/>
          <p:nvPr/>
        </p:nvSpPr>
        <p:spPr>
          <a:xfrm>
            <a:off x="3005455" y="1463675"/>
            <a:ext cx="7813040" cy="5311775"/>
          </a:xfrm>
          <a:custGeom>
            <a:avLst/>
            <a:gdLst/>
            <a:ahLst/>
            <a:cxnLst/>
            <a:rect l="l" t="t" r="r" b="b"/>
            <a:pathLst>
              <a:path w="7813040" h="5311775">
                <a:moveTo>
                  <a:pt x="102131" y="0"/>
                </a:moveTo>
                <a:lnTo>
                  <a:pt x="7710909" y="0"/>
                </a:lnTo>
                <a:cubicBezTo>
                  <a:pt x="7767314" y="0"/>
                  <a:pt x="7813040" y="47682"/>
                  <a:pt x="7813040" y="106501"/>
                </a:cubicBezTo>
                <a:lnTo>
                  <a:pt x="7813040" y="5205274"/>
                </a:lnTo>
                <a:cubicBezTo>
                  <a:pt x="7813040" y="5264092"/>
                  <a:pt x="7767314" y="5311775"/>
                  <a:pt x="7710909" y="5311775"/>
                </a:cubicBezTo>
                <a:lnTo>
                  <a:pt x="102131" y="5311775"/>
                </a:lnTo>
                <a:cubicBezTo>
                  <a:pt x="45725" y="5311775"/>
                  <a:pt x="0" y="5264092"/>
                  <a:pt x="0" y="5205274"/>
                </a:cubicBezTo>
                <a:lnTo>
                  <a:pt x="0" y="106501"/>
                </a:lnTo>
                <a:cubicBezTo>
                  <a:pt x="0" y="47722"/>
                  <a:pt x="45763" y="0"/>
                  <a:pt x="102131" y="0"/>
                </a:cubicBezTo>
                <a:close/>
              </a:path>
            </a:pathLst>
          </a:custGeom>
          <a:solidFill>
            <a:srgbClr val="FFF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37" name="Freeform 37"/>
          <p:cNvSpPr/>
          <p:nvPr/>
        </p:nvSpPr>
        <p:spPr>
          <a:xfrm>
            <a:off x="3209925" y="1332230"/>
            <a:ext cx="7608570" cy="964800"/>
          </a:xfrm>
          <a:custGeom>
            <a:avLst/>
            <a:gdLst/>
            <a:ahLst/>
            <a:cxnLst/>
            <a:rect l="l" t="t" r="r" b="b"/>
            <a:pathLst>
              <a:path w="7608570" h="964800">
                <a:moveTo>
                  <a:pt x="102132" y="0"/>
                </a:moveTo>
                <a:lnTo>
                  <a:pt x="7506438" y="0"/>
                </a:lnTo>
                <a:cubicBezTo>
                  <a:pt x="7562844" y="0"/>
                  <a:pt x="7608570" y="48673"/>
                  <a:pt x="7608570" y="108713"/>
                </a:cubicBezTo>
                <a:lnTo>
                  <a:pt x="7608570" y="856087"/>
                </a:lnTo>
                <a:cubicBezTo>
                  <a:pt x="7608570" y="916127"/>
                  <a:pt x="7562844" y="964800"/>
                  <a:pt x="7506438" y="964800"/>
                </a:cubicBezTo>
                <a:lnTo>
                  <a:pt x="102132" y="964800"/>
                </a:lnTo>
                <a:cubicBezTo>
                  <a:pt x="45726" y="964800"/>
                  <a:pt x="0" y="916127"/>
                  <a:pt x="0" y="856087"/>
                </a:cubicBezTo>
                <a:lnTo>
                  <a:pt x="0" y="108713"/>
                </a:lnTo>
                <a:cubicBezTo>
                  <a:pt x="0" y="48712"/>
                  <a:pt x="45763" y="0"/>
                  <a:pt x="102132"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38" name="AutoShape 38"/>
          <p:cNvSpPr/>
          <p:nvPr/>
        </p:nvSpPr>
        <p:spPr>
          <a:xfrm>
            <a:off x="3209925" y="1332230"/>
            <a:ext cx="7691755" cy="974090"/>
          </a:xfrm>
          <a:prstGeom prst="rect">
            <a:avLst/>
          </a:prstGeom>
          <a:noFill/>
          <a:ln w="12700">
            <a:noFill/>
            <a:prstDash val="solid"/>
          </a:ln>
        </p:spPr>
        <p:txBody>
          <a:bodyPr wrap="square" lIns="148231" tIns="148231" rIns="148231" bIns="148231" rtlCol="0" anchor="ctr">
            <a:noAutofit/>
          </a:bodyPr>
          <a:lstStyle/>
          <a:p>
            <a:pPr indent="0" algn="l">
              <a:lnSpc>
                <a:spcPct val="133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pip install -U scikit-build-core==0.11 pybind11 ninja cmake</a:t>
            </a:r>
            <a:endParaRPr lang="en-US" sz="1100"/>
          </a:p>
        </p:txBody>
      </p:sp>
      <p:sp>
        <p:nvSpPr>
          <p:cNvPr id="39" name="Freeform 39"/>
          <p:cNvSpPr/>
          <p:nvPr/>
        </p:nvSpPr>
        <p:spPr>
          <a:xfrm>
            <a:off x="3209925" y="2509520"/>
            <a:ext cx="7608570" cy="964800"/>
          </a:xfrm>
          <a:custGeom>
            <a:avLst/>
            <a:gdLst/>
            <a:ahLst/>
            <a:cxnLst/>
            <a:rect l="l" t="t" r="r" b="b"/>
            <a:pathLst>
              <a:path w="7608570" h="964800">
                <a:moveTo>
                  <a:pt x="102132" y="0"/>
                </a:moveTo>
                <a:lnTo>
                  <a:pt x="7506438" y="0"/>
                </a:lnTo>
                <a:cubicBezTo>
                  <a:pt x="7562844" y="0"/>
                  <a:pt x="7608570" y="48673"/>
                  <a:pt x="7608570" y="108713"/>
                </a:cubicBezTo>
                <a:lnTo>
                  <a:pt x="7608570" y="856087"/>
                </a:lnTo>
                <a:cubicBezTo>
                  <a:pt x="7608570" y="916127"/>
                  <a:pt x="7562844" y="964800"/>
                  <a:pt x="7506438" y="964800"/>
                </a:cubicBezTo>
                <a:lnTo>
                  <a:pt x="102132" y="964800"/>
                </a:lnTo>
                <a:cubicBezTo>
                  <a:pt x="45726" y="964800"/>
                  <a:pt x="0" y="916127"/>
                  <a:pt x="0" y="856087"/>
                </a:cubicBezTo>
                <a:lnTo>
                  <a:pt x="0" y="108713"/>
                </a:lnTo>
                <a:cubicBezTo>
                  <a:pt x="0" y="48712"/>
                  <a:pt x="45763" y="0"/>
                  <a:pt x="102132"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40" name="AutoShape 40"/>
          <p:cNvSpPr/>
          <p:nvPr/>
        </p:nvSpPr>
        <p:spPr>
          <a:xfrm>
            <a:off x="3209925" y="2468245"/>
            <a:ext cx="7691755" cy="1007110"/>
          </a:xfrm>
          <a:prstGeom prst="rect">
            <a:avLst/>
          </a:prstGeom>
          <a:noFill/>
          <a:ln w="12700">
            <a:noFill/>
            <a:prstDash val="solid"/>
          </a:ln>
        </p:spPr>
        <p:txBody>
          <a:bodyPr wrap="square" lIns="148231" tIns="148231" rIns="148231" bIns="148231" rtlCol="0" anchor="ctr">
            <a:noAutofit/>
          </a:bodyPr>
          <a:lstStyle/>
          <a:p>
            <a:pPr indent="0" algn="l">
              <a:lnSpc>
                <a:spcPct val="133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git clone https://github.com/flagos-ai/FlagGems</a:t>
            </a:r>
            <a:endParaRPr lang="en-US" sz="1100"/>
          </a:p>
        </p:txBody>
      </p:sp>
      <p:sp>
        <p:nvSpPr>
          <p:cNvPr id="41" name="Freeform 41"/>
          <p:cNvSpPr/>
          <p:nvPr/>
        </p:nvSpPr>
        <p:spPr>
          <a:xfrm>
            <a:off x="3209925" y="3709035"/>
            <a:ext cx="7608570" cy="964800"/>
          </a:xfrm>
          <a:custGeom>
            <a:avLst/>
            <a:gdLst/>
            <a:ahLst/>
            <a:cxnLst/>
            <a:rect l="l" t="t" r="r" b="b"/>
            <a:pathLst>
              <a:path w="7608570" h="964800">
                <a:moveTo>
                  <a:pt x="102126" y="0"/>
                </a:moveTo>
                <a:lnTo>
                  <a:pt x="7506444" y="0"/>
                </a:lnTo>
                <a:cubicBezTo>
                  <a:pt x="7562846" y="0"/>
                  <a:pt x="7608570" y="37973"/>
                  <a:pt x="7608570" y="84816"/>
                </a:cubicBezTo>
                <a:lnTo>
                  <a:pt x="7608570" y="879984"/>
                </a:lnTo>
                <a:cubicBezTo>
                  <a:pt x="7608570" y="926827"/>
                  <a:pt x="7562846" y="964800"/>
                  <a:pt x="7506444" y="964800"/>
                </a:cubicBezTo>
                <a:lnTo>
                  <a:pt x="102126" y="964800"/>
                </a:lnTo>
                <a:cubicBezTo>
                  <a:pt x="45761" y="964800"/>
                  <a:pt x="0" y="926795"/>
                  <a:pt x="0" y="879984"/>
                </a:cubicBezTo>
                <a:lnTo>
                  <a:pt x="0" y="84816"/>
                </a:lnTo>
                <a:cubicBezTo>
                  <a:pt x="0" y="38005"/>
                  <a:pt x="45761" y="0"/>
                  <a:pt x="102126"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42" name="AutoShape 42"/>
          <p:cNvSpPr/>
          <p:nvPr/>
        </p:nvSpPr>
        <p:spPr>
          <a:xfrm>
            <a:off x="3209925" y="3549650"/>
            <a:ext cx="7691755" cy="1248410"/>
          </a:xfrm>
          <a:prstGeom prst="rect">
            <a:avLst/>
          </a:prstGeom>
          <a:noFill/>
          <a:ln w="12700">
            <a:noFill/>
            <a:prstDash val="solid"/>
          </a:ln>
        </p:spPr>
        <p:txBody>
          <a:bodyPr wrap="square" lIns="148231" tIns="148231" rIns="148231" bIns="148231" rtlCol="0" anchor="ctr">
            <a:noAutofit/>
          </a:bodyPr>
          <a:lstStyle/>
          <a:p>
            <a:pPr indent="0" algn="l">
              <a:lnSpc>
                <a:spcPct val="133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pip install --no-build-isolation -e .</a:t>
            </a:r>
            <a:endParaRPr lang="en-US" sz="1100"/>
          </a:p>
        </p:txBody>
      </p:sp>
      <p:sp>
        <p:nvSpPr>
          <p:cNvPr id="43" name="Freeform 43"/>
          <p:cNvSpPr/>
          <p:nvPr/>
        </p:nvSpPr>
        <p:spPr>
          <a:xfrm>
            <a:off x="3209925" y="4944745"/>
            <a:ext cx="7608570" cy="875665"/>
          </a:xfrm>
          <a:custGeom>
            <a:avLst/>
            <a:gdLst/>
            <a:ahLst/>
            <a:cxnLst/>
            <a:rect l="l" t="t" r="r" b="b"/>
            <a:pathLst>
              <a:path w="7608570" h="875665">
                <a:moveTo>
                  <a:pt x="102132" y="0"/>
                </a:moveTo>
                <a:lnTo>
                  <a:pt x="7506438" y="0"/>
                </a:lnTo>
                <a:cubicBezTo>
                  <a:pt x="7562844" y="0"/>
                  <a:pt x="7608570" y="28514"/>
                  <a:pt x="7608570" y="63687"/>
                </a:cubicBezTo>
                <a:lnTo>
                  <a:pt x="7608570" y="811978"/>
                </a:lnTo>
                <a:cubicBezTo>
                  <a:pt x="7608570" y="847151"/>
                  <a:pt x="7562844" y="875665"/>
                  <a:pt x="7506438" y="875665"/>
                </a:cubicBezTo>
                <a:lnTo>
                  <a:pt x="102132" y="875665"/>
                </a:lnTo>
                <a:cubicBezTo>
                  <a:pt x="45726" y="875665"/>
                  <a:pt x="0" y="847151"/>
                  <a:pt x="0" y="811978"/>
                </a:cubicBezTo>
                <a:lnTo>
                  <a:pt x="0" y="63687"/>
                </a:lnTo>
                <a:cubicBezTo>
                  <a:pt x="0" y="28537"/>
                  <a:pt x="45763" y="0"/>
                  <a:pt x="102132"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44" name="AutoShape 44"/>
          <p:cNvSpPr/>
          <p:nvPr/>
        </p:nvSpPr>
        <p:spPr>
          <a:xfrm>
            <a:off x="3209925" y="4686300"/>
            <a:ext cx="7691755" cy="1508760"/>
          </a:xfrm>
          <a:prstGeom prst="rect">
            <a:avLst/>
          </a:prstGeom>
          <a:noFill/>
          <a:ln w="12700">
            <a:noFill/>
            <a:prstDash val="solid"/>
          </a:ln>
        </p:spPr>
        <p:txBody>
          <a:bodyPr wrap="square" lIns="148231" tIns="148231" rIns="148231" bIns="148231" rtlCol="0" anchor="ctr">
            <a:noAutofit/>
          </a:bodyPr>
          <a:lstStyle/>
          <a:p>
            <a:pPr indent="0" algn="l">
              <a:lnSpc>
                <a:spcPct val="133000"/>
              </a:lnSpc>
              <a:defRPr/>
            </a:pPr>
            <a:r>
              <a:rPr lang="en-US" sz="1635" b="0" i="0" u="none" strike="noStrike">
                <a:solidFill>
                  <a:srgbClr val="000000"/>
                </a:solidFill>
                <a:latin typeface="Calibri" panose="020F0502020204030204"/>
                <a:ea typeface="Calibri" panose="020F0502020204030204"/>
                <a:cs typeface="Calibri" panose="020F0502020204030204"/>
                <a:sym typeface="Calibri" panose="020F0502020204030204"/>
              </a:rPr>
              <a:t>pytest test_unary_pointwise_ops.py #</a:t>
            </a:r>
            <a:r>
              <a:rPr lang="en-US" sz="1635"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Running</a:t>
            </a:r>
            <a:r>
              <a:rPr lang="en-US" sz="1635" b="0" i="0" u="none" strike="noStrike">
                <a:solidFill>
                  <a:srgbClr val="000000"/>
                </a:solidFill>
                <a:latin typeface="Calibri" panose="020F0502020204030204"/>
                <a:ea typeface="Calibri" panose="020F0502020204030204"/>
                <a:cs typeface="Calibri" panose="020F0502020204030204"/>
                <a:sym typeface="Calibri" panose="020F0502020204030204"/>
              </a:rPr>
              <a:t>pytest</a:t>
            </a:r>
            <a:r>
              <a:rPr lang="en-US" sz="1635"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already enables</a:t>
            </a:r>
            <a:r>
              <a:rPr lang="en-US" sz="1635" b="0" i="0" u="none" strike="noStrike">
                <a:solidFill>
                  <a:srgbClr val="000000"/>
                </a:solidFill>
                <a:latin typeface="Calibri" panose="020F0502020204030204"/>
                <a:ea typeface="Calibri" panose="020F0502020204030204"/>
                <a:cs typeface="Calibri" panose="020F0502020204030204"/>
                <a:sym typeface="Calibri" panose="020F0502020204030204"/>
              </a:rPr>
              <a:t>FlagGems</a:t>
            </a:r>
            <a:r>
              <a:rPr lang="en-US" sz="1635"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operators</a:t>
            </a:r>
            <a:endParaRPr lang="en-US" sz="1100"/>
          </a:p>
        </p:txBody>
      </p:sp>
      <p:sp>
        <p:nvSpPr>
          <p:cNvPr id="45" name="AutoShape 45"/>
          <p:cNvSpPr/>
          <p:nvPr/>
        </p:nvSpPr>
        <p:spPr>
          <a:xfrm>
            <a:off x="3145155" y="5865495"/>
            <a:ext cx="7084695" cy="36830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350" b="0" i="0" u="none" strike="noStrike">
                <a:solidFill>
                  <a:srgbClr val="000000"/>
                </a:solidFill>
                <a:latin typeface="Calibri" panose="020F0502020204030204" charset="-122"/>
                <a:ea typeface="微软雅黑" panose="020B0503020204020204" charset="-122"/>
                <a:cs typeface="微软雅黑" panose="020B0503020204020204" charset="-122"/>
                <a:sym typeface="微软雅黑" panose="020B0503020204020204" charset="-122"/>
              </a:rPr>
              <a:t>Passing operators prove FlagGems is running correctly pip show flag_gems</a:t>
            </a:r>
            <a:endParaRPr lang="en-US" sz="1100"/>
          </a:p>
        </p:txBody>
      </p:sp>
      <p:pic>
        <p:nvPicPr>
          <p:cNvPr id="46" name="Picture 46"/>
          <p:cNvPicPr>
            <a:picLocks noChangeAspect="1"/>
          </p:cNvPicPr>
          <p:nvPr/>
        </p:nvPicPr>
        <p:blipFill>
          <a:blip r:embed="rId1"/>
          <a:srcRect/>
          <a:stretch>
            <a:fillRect/>
          </a:stretch>
        </p:blipFill>
        <p:spPr>
          <a:xfrm>
            <a:off x="3221355" y="6261735"/>
            <a:ext cx="6091555" cy="468630"/>
          </a:xfrm>
          <a:prstGeom prst="rect">
            <a:avLst/>
          </a:prstGeom>
          <a:ln w="12700">
            <a:noFill/>
            <a:prstDash val="soli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81000" y="647700"/>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146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Step 3: FlagTree Cross-Chip Unified Compiler Installation</a:t>
            </a:r>
            <a:endParaRPr lang="en-US" sz="1100"/>
          </a:p>
        </p:txBody>
      </p:sp>
      <p:sp>
        <p:nvSpPr>
          <p:cNvPr id="3" name="Freeform 3"/>
          <p:cNvSpPr/>
          <p:nvPr/>
        </p:nvSpPr>
        <p:spPr>
          <a:xfrm>
            <a:off x="381000" y="14859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400050" y="1676400"/>
            <a:ext cx="11395710" cy="2428875"/>
          </a:xfrm>
          <a:custGeom>
            <a:avLst/>
            <a:gdLst/>
            <a:ahLst/>
            <a:cxnLst/>
            <a:rect l="l" t="t" r="r" b="b"/>
            <a:pathLst>
              <a:path w="11395710" h="2428875">
                <a:moveTo>
                  <a:pt x="77522" y="0"/>
                </a:moveTo>
                <a:lnTo>
                  <a:pt x="11163139" y="0"/>
                </a:lnTo>
                <a:cubicBezTo>
                  <a:pt x="11291499" y="0"/>
                  <a:pt x="11395710" y="51217"/>
                  <a:pt x="11395710" y="114303"/>
                </a:cubicBezTo>
                <a:lnTo>
                  <a:pt x="11395710" y="2314572"/>
                </a:lnTo>
                <a:cubicBezTo>
                  <a:pt x="11395710" y="2377658"/>
                  <a:pt x="11291499" y="2428875"/>
                  <a:pt x="11163139" y="2428875"/>
                </a:cubicBezTo>
                <a:lnTo>
                  <a:pt x="77522" y="2428875"/>
                </a:lnTo>
                <a:cubicBezTo>
                  <a:pt x="34736" y="2428875"/>
                  <a:pt x="0" y="2411802"/>
                  <a:pt x="0" y="2390775"/>
                </a:cubicBezTo>
                <a:lnTo>
                  <a:pt x="0" y="38100"/>
                </a:lnTo>
                <a:cubicBezTo>
                  <a:pt x="0" y="17073"/>
                  <a:pt x="34736" y="0"/>
                  <a:pt x="77522" y="0"/>
                </a:cubicBezTo>
                <a:close/>
              </a:path>
            </a:pathLst>
          </a:custGeom>
          <a:solidFill>
            <a:srgbClr val="FFFFFF">
              <a:alpha val="100000"/>
            </a:srgbClr>
          </a:soli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5" name="Freeform 5"/>
          <p:cNvSpPr/>
          <p:nvPr/>
        </p:nvSpPr>
        <p:spPr>
          <a:xfrm>
            <a:off x="400050" y="1676400"/>
            <a:ext cx="38100" cy="2428875"/>
          </a:xfrm>
          <a:custGeom>
            <a:avLst/>
            <a:gdLst/>
            <a:ahLst/>
            <a:cxnLst/>
            <a:rect l="l" t="t" r="r" b="b"/>
            <a:pathLst>
              <a:path w="38100" h="2428875">
                <a:moveTo>
                  <a:pt x="38100" y="0"/>
                </a:moveTo>
                <a:lnTo>
                  <a:pt x="38100" y="0"/>
                </a:lnTo>
                <a:lnTo>
                  <a:pt x="38100" y="2428875"/>
                </a:lnTo>
                <a:lnTo>
                  <a:pt x="38100" y="2428875"/>
                </a:lnTo>
                <a:cubicBezTo>
                  <a:pt x="17073" y="2428875"/>
                  <a:pt x="0" y="2411802"/>
                  <a:pt x="0" y="2390775"/>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609600" y="1760220"/>
            <a:ext cx="10959465" cy="1011555"/>
          </a:xfrm>
          <a:custGeom>
            <a:avLst/>
            <a:gdLst/>
            <a:ahLst/>
            <a:cxnLst/>
            <a:rect l="l" t="t" r="r" b="b"/>
            <a:pathLst>
              <a:path w="10959465" h="1011555">
                <a:moveTo>
                  <a:pt x="160574" y="0"/>
                </a:moveTo>
                <a:lnTo>
                  <a:pt x="10798891" y="0"/>
                </a:lnTo>
                <a:cubicBezTo>
                  <a:pt x="10887574" y="0"/>
                  <a:pt x="10959465" y="39813"/>
                  <a:pt x="10959465" y="88925"/>
                </a:cubicBezTo>
                <a:lnTo>
                  <a:pt x="10959465" y="922630"/>
                </a:lnTo>
                <a:cubicBezTo>
                  <a:pt x="10959465" y="971742"/>
                  <a:pt x="10887574" y="1011555"/>
                  <a:pt x="10798891" y="1011555"/>
                </a:cubicBezTo>
                <a:lnTo>
                  <a:pt x="160574" y="1011555"/>
                </a:lnTo>
                <a:cubicBezTo>
                  <a:pt x="71951" y="1011555"/>
                  <a:pt x="0" y="971709"/>
                  <a:pt x="0" y="922630"/>
                </a:cubicBezTo>
                <a:lnTo>
                  <a:pt x="0" y="88925"/>
                </a:lnTo>
                <a:cubicBezTo>
                  <a:pt x="0" y="39813"/>
                  <a:pt x="71891" y="0"/>
                  <a:pt x="160574"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616585" y="1816100"/>
            <a:ext cx="9713595" cy="903605"/>
          </a:xfrm>
          <a:prstGeom prst="rect">
            <a:avLst/>
          </a:prstGeom>
          <a:noFill/>
          <a:ln w="12700">
            <a:noFill/>
            <a:prstDash val="solid"/>
          </a:ln>
        </p:spPr>
        <p:txBody>
          <a:bodyPr wrap="square" lIns="152400" tIns="152400" rIns="152400" bIns="152400" rtlCol="0" anchor="ctr">
            <a:noAutofit/>
          </a:bodyPr>
          <a:lstStyle/>
          <a:p>
            <a:pPr indent="0" algn="l">
              <a:lnSpc>
                <a:spcPct val="133000"/>
              </a:lnSpc>
              <a:defRPr/>
            </a:pPr>
            <a:r>
              <a:rPr lang="en-US" sz="1660" b="0" i="0" u="none" strike="noStrike">
                <a:solidFill>
                  <a:srgbClr val="000000"/>
                </a:solidFill>
                <a:latin typeface="Calibri" panose="020F0502020204030204"/>
                <a:ea typeface="Calibri" panose="020F0502020204030204"/>
                <a:cs typeface="Calibri" panose="020F0502020204030204"/>
                <a:sym typeface="Calibri" panose="020F0502020204030204"/>
              </a:rPr>
              <a:t>RES="--index-url=https://resource.flagos.net/repository/flagos-pypi-hosted/simple --trusted-host=https://resource.flagos.net"</a:t>
            </a:r>
            <a:endParaRPr lang="en-US" sz="1100"/>
          </a:p>
          <a:p>
            <a:pPr indent="0" algn="l">
              <a:lnSpc>
                <a:spcPct val="133000"/>
              </a:lnSpc>
            </a:pPr>
            <a:r>
              <a:rPr lang="en-US" sz="1660" b="0" i="0" u="none" strike="noStrike">
                <a:solidFill>
                  <a:srgbClr val="000000"/>
                </a:solidFill>
                <a:latin typeface="Calibri" panose="020F0502020204030204"/>
                <a:ea typeface="Calibri" panose="020F0502020204030204"/>
                <a:cs typeface="Calibri" panose="020F0502020204030204"/>
                <a:sym typeface="Calibri" panose="020F0502020204030204"/>
              </a:rPr>
              <a:t>python3 -m pip install flagtree==0.4.0+ascend3.2 $RES</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 name="Freeform 8"/>
          <p:cNvSpPr/>
          <p:nvPr/>
        </p:nvSpPr>
        <p:spPr>
          <a:xfrm>
            <a:off x="616585" y="2886075"/>
            <a:ext cx="10952480" cy="882650"/>
          </a:xfrm>
          <a:custGeom>
            <a:avLst/>
            <a:gdLst/>
            <a:ahLst/>
            <a:cxnLst/>
            <a:rect l="l" t="t" r="r" b="b"/>
            <a:pathLst>
              <a:path w="10952480" h="882650">
                <a:moveTo>
                  <a:pt x="328164" y="0"/>
                </a:moveTo>
                <a:lnTo>
                  <a:pt x="10624316" y="0"/>
                </a:lnTo>
                <a:cubicBezTo>
                  <a:pt x="10805434" y="0"/>
                  <a:pt x="10952480" y="49437"/>
                  <a:pt x="10952480" y="110331"/>
                </a:cubicBezTo>
                <a:lnTo>
                  <a:pt x="10952480" y="772319"/>
                </a:lnTo>
                <a:cubicBezTo>
                  <a:pt x="10952480" y="833213"/>
                  <a:pt x="10805434" y="882650"/>
                  <a:pt x="10624316" y="882650"/>
                </a:cubicBezTo>
                <a:lnTo>
                  <a:pt x="328164" y="882650"/>
                </a:lnTo>
                <a:cubicBezTo>
                  <a:pt x="147046" y="882650"/>
                  <a:pt x="0" y="833213"/>
                  <a:pt x="0" y="772319"/>
                </a:cubicBezTo>
                <a:lnTo>
                  <a:pt x="0" y="110331"/>
                </a:lnTo>
                <a:cubicBezTo>
                  <a:pt x="0" y="49437"/>
                  <a:pt x="147046" y="0"/>
                  <a:pt x="328164" y="0"/>
                </a:cubicBezTo>
                <a:close/>
              </a:path>
            </a:pathLst>
          </a:custGeom>
          <a:solidFill>
            <a:srgbClr val="5B92E5">
              <a:alpha val="10196"/>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9" name="AutoShape 9"/>
          <p:cNvSpPr/>
          <p:nvPr/>
        </p:nvSpPr>
        <p:spPr>
          <a:xfrm>
            <a:off x="790575" y="3007995"/>
            <a:ext cx="9262110" cy="632460"/>
          </a:xfrm>
          <a:prstGeom prst="rect">
            <a:avLst/>
          </a:prstGeom>
          <a:noFill/>
          <a:ln w="12700">
            <a:noFill/>
            <a:prstDash val="solid"/>
          </a:ln>
        </p:spPr>
        <p:txBody>
          <a:bodyPr wrap="square" lIns="0" tIns="0" rIns="0" bIns="0" rtlCol="0" anchor="ctr">
            <a:noAutofit/>
          </a:bodyPr>
          <a:lstStyle/>
          <a:p>
            <a:pPr indent="0" algn="l">
              <a:lnSpc>
                <a:spcPct val="108000"/>
              </a:lnSpc>
              <a:defRPr/>
            </a:pPr>
            <a:endParaRPr lang="en-US" sz="1100"/>
          </a:p>
          <a:p>
            <a:pPr indent="0" algn="l">
              <a:lnSpc>
                <a:spcPct val="108000"/>
              </a:lnSpc>
            </a:pPr>
            <a:r>
              <a:rPr lang="en-US" sz="1225" b="0" i="0" u="none" strike="noStrike">
                <a:solidFill>
                  <a:srgbClr val="333333">
                    <a:alpha val="70196"/>
                  </a:srgbClr>
                </a:solidFill>
                <a:latin typeface="MiSans" panose="00000500000000000000" charset="-122"/>
                <a:ea typeface="MiSans" panose="00000500000000000000" charset="-122"/>
                <a:cs typeface="MiSans" panose="00000500000000000000" charset="-122"/>
                <a:sym typeface="MiSans" panose="00000500000000000000" charset="-122"/>
              </a:rPr>
              <a:t>Download from FlagOS official resource repository, pre-compiled for Huawei Ascend 3.2</a:t>
            </a:r>
            <a:endParaRPr lang="en-US" sz="1600" b="0" i="0" u="none" strike="noStrike">
              <a:solidFill>
                <a:srgbClr val="333333">
                  <a:alpha val="70196"/>
                </a:srgbClr>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8000"/>
              </a:lnSpc>
            </a:pPr>
            <a:r>
              <a:rPr lang="en-US" sz="1225" b="0" i="0" u="none" strike="noStrike">
                <a:solidFill>
                  <a:srgbClr val="333333">
                    <a:alpha val="70196"/>
                  </a:srgbClr>
                </a:solidFill>
                <a:latin typeface="MiSans" panose="00000500000000000000" charset="-122"/>
                <a:ea typeface="MiSans" panose="00000500000000000000" charset="-122"/>
                <a:cs typeface="MiSans" panose="00000500000000000000" charset="-122"/>
                <a:sym typeface="MiSans" panose="00000500000000000000" charset="-122"/>
              </a:rPr>
              <a:t> </a:t>
            </a:r>
            <a:endParaRPr lang="en-US" sz="1600" b="0" i="0" u="none" strike="noStrike">
              <a:solidFill>
                <a:srgbClr val="333333">
                  <a:alpha val="70196"/>
                </a:srgbClr>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0" name="Freeform 10"/>
          <p:cNvSpPr/>
          <p:nvPr/>
        </p:nvSpPr>
        <p:spPr>
          <a:xfrm>
            <a:off x="381000" y="4153535"/>
            <a:ext cx="3805555" cy="2489835"/>
          </a:xfrm>
          <a:custGeom>
            <a:avLst/>
            <a:gdLst/>
            <a:ahLst/>
            <a:cxnLst/>
            <a:rect l="l" t="t" r="r" b="b"/>
            <a:pathLst>
              <a:path w="3805555" h="2489835">
                <a:moveTo>
                  <a:pt x="77401" y="0"/>
                </a:moveTo>
                <a:lnTo>
                  <a:pt x="3728154" y="0"/>
                </a:lnTo>
                <a:cubicBezTo>
                  <a:pt x="3770902" y="0"/>
                  <a:pt x="3805555" y="71153"/>
                  <a:pt x="3805555" y="158925"/>
                </a:cubicBezTo>
                <a:lnTo>
                  <a:pt x="3805555" y="2330910"/>
                </a:lnTo>
                <a:cubicBezTo>
                  <a:pt x="3805555" y="2418682"/>
                  <a:pt x="3770902" y="2489835"/>
                  <a:pt x="3728154" y="2489835"/>
                </a:cubicBezTo>
                <a:lnTo>
                  <a:pt x="77401" y="2489835"/>
                </a:lnTo>
                <a:cubicBezTo>
                  <a:pt x="34653" y="2489835"/>
                  <a:pt x="0" y="2418682"/>
                  <a:pt x="0" y="2330910"/>
                </a:cubicBezTo>
                <a:lnTo>
                  <a:pt x="0" y="158925"/>
                </a:lnTo>
                <a:cubicBezTo>
                  <a:pt x="0" y="71211"/>
                  <a:pt x="34682" y="0"/>
                  <a:pt x="77401" y="0"/>
                </a:cubicBezTo>
                <a:close/>
              </a:path>
            </a:pathLst>
          </a:custGeom>
          <a:solidFill>
            <a:srgbClr val="FFFFFF">
              <a:alpha val="100000"/>
            </a:srgbClr>
          </a:solidFill>
          <a:ln w="12700">
            <a:noFill/>
            <a:prstDash val="solid"/>
          </a:ln>
          <a:effectLst>
            <a:outerShdw blurRad="50800" dist="38100" dir="5400000" algn="bl" rotWithShape="0">
              <a:srgbClr val="000000">
                <a:alpha val="10196"/>
              </a:srgbClr>
            </a:outerShdw>
          </a:effectLst>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11" name="Freeform 11"/>
          <p:cNvSpPr/>
          <p:nvPr/>
        </p:nvSpPr>
        <p:spPr>
          <a:xfrm>
            <a:off x="615672" y="4494956"/>
            <a:ext cx="131098" cy="157051"/>
          </a:xfrm>
          <a:custGeom>
            <a:avLst/>
            <a:gdLst/>
            <a:ahLst/>
            <a:cxnLst/>
            <a:rect l="l" t="t" r="r" b="b"/>
            <a:pathLst>
              <a:path w="131098" h="157051">
                <a:moveTo>
                  <a:pt x="84754" y="18451"/>
                </a:moveTo>
                <a:cubicBezTo>
                  <a:pt x="88237" y="13663"/>
                  <a:pt x="87165" y="6965"/>
                  <a:pt x="82377" y="3482"/>
                </a:cubicBezTo>
                <a:cubicBezTo>
                  <a:pt x="77588" y="0"/>
                  <a:pt x="70892" y="1071"/>
                  <a:pt x="67408" y="5860"/>
                </a:cubicBezTo>
                <a:lnTo>
                  <a:pt x="31913" y="54651"/>
                </a:lnTo>
                <a:lnTo>
                  <a:pt x="19356" y="42092"/>
                </a:lnTo>
                <a:cubicBezTo>
                  <a:pt x="15170" y="37906"/>
                  <a:pt x="8372" y="37906"/>
                  <a:pt x="4186" y="42092"/>
                </a:cubicBezTo>
                <a:cubicBezTo>
                  <a:pt x="0" y="46277"/>
                  <a:pt x="0" y="53076"/>
                  <a:pt x="4186" y="57262"/>
                </a:cubicBezTo>
                <a:lnTo>
                  <a:pt x="25617" y="78693"/>
                </a:lnTo>
                <a:cubicBezTo>
                  <a:pt x="27828" y="80903"/>
                  <a:pt x="30908" y="82041"/>
                  <a:pt x="34023" y="81807"/>
                </a:cubicBezTo>
                <a:cubicBezTo>
                  <a:pt x="37137" y="81573"/>
                  <a:pt x="40017" y="79966"/>
                  <a:pt x="41858" y="77420"/>
                </a:cubicBezTo>
                <a:lnTo>
                  <a:pt x="84721" y="18484"/>
                </a:lnTo>
                <a:close/>
                <a:moveTo>
                  <a:pt x="127617" y="63991"/>
                </a:moveTo>
                <a:cubicBezTo>
                  <a:pt x="131098" y="59204"/>
                  <a:pt x="130028" y="52506"/>
                  <a:pt x="125239" y="49024"/>
                </a:cubicBezTo>
                <a:cubicBezTo>
                  <a:pt x="120451" y="45541"/>
                  <a:pt x="113753" y="46613"/>
                  <a:pt x="110270" y="51401"/>
                </a:cubicBezTo>
                <a:lnTo>
                  <a:pt x="53344" y="129659"/>
                </a:lnTo>
                <a:lnTo>
                  <a:pt x="30071" y="106387"/>
                </a:lnTo>
                <a:cubicBezTo>
                  <a:pt x="25885" y="102199"/>
                  <a:pt x="19088" y="102199"/>
                  <a:pt x="14902" y="106387"/>
                </a:cubicBezTo>
                <a:cubicBezTo>
                  <a:pt x="10716" y="110572"/>
                  <a:pt x="10716" y="117370"/>
                  <a:pt x="14902" y="121555"/>
                </a:cubicBezTo>
                <a:lnTo>
                  <a:pt x="47049" y="153702"/>
                </a:lnTo>
                <a:cubicBezTo>
                  <a:pt x="49260" y="155912"/>
                  <a:pt x="52341" y="157051"/>
                  <a:pt x="55453" y="156816"/>
                </a:cubicBezTo>
                <a:cubicBezTo>
                  <a:pt x="58567" y="156582"/>
                  <a:pt x="61448" y="154976"/>
                  <a:pt x="63291" y="152430"/>
                </a:cubicBezTo>
                <a:lnTo>
                  <a:pt x="127583" y="64026"/>
                </a:ln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790575" y="4443413"/>
            <a:ext cx="510540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8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Verify Installation</a:t>
            </a:r>
            <a:endParaRPr lang="en-US" sz="1100"/>
          </a:p>
        </p:txBody>
      </p:sp>
      <p:sp>
        <p:nvSpPr>
          <p:cNvPr id="13" name="Freeform 13"/>
          <p:cNvSpPr/>
          <p:nvPr/>
        </p:nvSpPr>
        <p:spPr>
          <a:xfrm>
            <a:off x="577850" y="4855210"/>
            <a:ext cx="2656840" cy="495300"/>
          </a:xfrm>
          <a:custGeom>
            <a:avLst/>
            <a:gdLst/>
            <a:ahLst/>
            <a:cxnLst/>
            <a:rect l="l" t="t" r="r" b="b"/>
            <a:pathLst>
              <a:path w="2656840" h="495300">
                <a:moveTo>
                  <a:pt x="38646" y="0"/>
                </a:moveTo>
                <a:lnTo>
                  <a:pt x="2618194" y="0"/>
                </a:lnTo>
                <a:cubicBezTo>
                  <a:pt x="2639538" y="0"/>
                  <a:pt x="2656840" y="34117"/>
                  <a:pt x="2656840" y="76203"/>
                </a:cubicBezTo>
                <a:lnTo>
                  <a:pt x="2656840" y="419097"/>
                </a:lnTo>
                <a:cubicBezTo>
                  <a:pt x="2656840" y="461183"/>
                  <a:pt x="2639538" y="495300"/>
                  <a:pt x="2618194" y="495300"/>
                </a:cubicBezTo>
                <a:lnTo>
                  <a:pt x="38646" y="495300"/>
                </a:lnTo>
                <a:cubicBezTo>
                  <a:pt x="17302" y="495300"/>
                  <a:pt x="0" y="461183"/>
                  <a:pt x="0" y="419097"/>
                </a:cubicBezTo>
                <a:lnTo>
                  <a:pt x="0" y="76203"/>
                </a:lnTo>
                <a:cubicBezTo>
                  <a:pt x="0" y="34117"/>
                  <a:pt x="17302" y="0"/>
                  <a:pt x="38646"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723900" y="4977130"/>
            <a:ext cx="2917190" cy="1714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0" i="0" u="none" strike="noStrike">
                <a:solidFill>
                  <a:srgbClr val="000000"/>
                </a:solidFill>
                <a:latin typeface="Calibri" panose="020F0502020204030204"/>
                <a:ea typeface="Calibri" panose="020F0502020204030204"/>
                <a:cs typeface="Calibri" panose="020F0502020204030204"/>
                <a:sym typeface="Calibri" panose="020F0502020204030204"/>
              </a:rPr>
              <a:t>pip show flagtree</a:t>
            </a:r>
            <a:endParaRPr lang="en-US" sz="1100"/>
          </a:p>
        </p:txBody>
      </p:sp>
      <p:sp>
        <p:nvSpPr>
          <p:cNvPr id="15" name="Freeform 15"/>
          <p:cNvSpPr/>
          <p:nvPr/>
        </p:nvSpPr>
        <p:spPr>
          <a:xfrm>
            <a:off x="571500" y="5429250"/>
            <a:ext cx="3305810" cy="589280"/>
          </a:xfrm>
          <a:custGeom>
            <a:avLst/>
            <a:gdLst/>
            <a:ahLst/>
            <a:cxnLst/>
            <a:rect l="l" t="t" r="r" b="b"/>
            <a:pathLst>
              <a:path w="3305810" h="589280">
                <a:moveTo>
                  <a:pt x="48085" y="0"/>
                </a:moveTo>
                <a:lnTo>
                  <a:pt x="3257725" y="0"/>
                </a:lnTo>
                <a:cubicBezTo>
                  <a:pt x="3284282" y="0"/>
                  <a:pt x="3305810" y="47969"/>
                  <a:pt x="3305810" y="107144"/>
                </a:cubicBezTo>
                <a:lnTo>
                  <a:pt x="3305810" y="482136"/>
                </a:lnTo>
                <a:cubicBezTo>
                  <a:pt x="3305810" y="541311"/>
                  <a:pt x="3284282" y="589280"/>
                  <a:pt x="3257725" y="589280"/>
                </a:cubicBezTo>
                <a:lnTo>
                  <a:pt x="48085" y="589280"/>
                </a:lnTo>
                <a:cubicBezTo>
                  <a:pt x="21528" y="589280"/>
                  <a:pt x="0" y="541311"/>
                  <a:pt x="0" y="482136"/>
                </a:cubicBezTo>
                <a:lnTo>
                  <a:pt x="0" y="107144"/>
                </a:lnTo>
                <a:cubicBezTo>
                  <a:pt x="0" y="48009"/>
                  <a:pt x="21546" y="0"/>
                  <a:pt x="48085" y="0"/>
                </a:cubicBezTo>
                <a:close/>
              </a:path>
            </a:pathLst>
          </a:custGeom>
          <a:solidFill>
            <a:srgbClr val="1E90FF">
              <a:alpha val="10196"/>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629285" y="5508625"/>
            <a:ext cx="215900" cy="215900"/>
          </a:xfrm>
          <a:custGeom>
            <a:avLst/>
            <a:gdLst/>
            <a:ahLst/>
            <a:cxnLst/>
            <a:rect l="l" t="t" r="r" b="b"/>
            <a:pathLst>
              <a:path w="215900" h="215900">
                <a:moveTo>
                  <a:pt x="107950" y="215900"/>
                </a:moveTo>
                <a:cubicBezTo>
                  <a:pt x="167530" y="215900"/>
                  <a:pt x="215900" y="167530"/>
                  <a:pt x="215900" y="107950"/>
                </a:cubicBezTo>
                <a:cubicBezTo>
                  <a:pt x="215900" y="48370"/>
                  <a:pt x="167530" y="0"/>
                  <a:pt x="107950" y="0"/>
                </a:cubicBezTo>
                <a:cubicBezTo>
                  <a:pt x="48370" y="0"/>
                  <a:pt x="0" y="48370"/>
                  <a:pt x="0" y="107950"/>
                </a:cubicBezTo>
                <a:cubicBezTo>
                  <a:pt x="0" y="167530"/>
                  <a:pt x="48370" y="215900"/>
                  <a:pt x="107950" y="215900"/>
                </a:cubicBezTo>
                <a:close/>
                <a:moveTo>
                  <a:pt x="94456" y="67469"/>
                </a:moveTo>
                <a:cubicBezTo>
                  <a:pt x="94456" y="60021"/>
                  <a:pt x="100503" y="53974"/>
                  <a:pt x="107950" y="53974"/>
                </a:cubicBezTo>
                <a:cubicBezTo>
                  <a:pt x="115397" y="53974"/>
                  <a:pt x="121444" y="60021"/>
                  <a:pt x="121444" y="67469"/>
                </a:cubicBezTo>
                <a:cubicBezTo>
                  <a:pt x="121444" y="74916"/>
                  <a:pt x="115397" y="80963"/>
                  <a:pt x="107950" y="80963"/>
                </a:cubicBezTo>
                <a:cubicBezTo>
                  <a:pt x="100503" y="80963"/>
                  <a:pt x="94456" y="74916"/>
                  <a:pt x="94456" y="67469"/>
                </a:cubicBezTo>
                <a:close/>
                <a:moveTo>
                  <a:pt x="91083" y="94456"/>
                </a:moveTo>
                <a:lnTo>
                  <a:pt x="111324" y="94456"/>
                </a:lnTo>
                <a:cubicBezTo>
                  <a:pt x="116933" y="94456"/>
                  <a:pt x="121444" y="98967"/>
                  <a:pt x="121444" y="104576"/>
                </a:cubicBezTo>
                <a:lnTo>
                  <a:pt x="121444" y="141685"/>
                </a:lnTo>
                <a:lnTo>
                  <a:pt x="124817" y="141685"/>
                </a:lnTo>
                <a:cubicBezTo>
                  <a:pt x="130425" y="141685"/>
                  <a:pt x="134937" y="146197"/>
                  <a:pt x="134937" y="151806"/>
                </a:cubicBezTo>
                <a:cubicBezTo>
                  <a:pt x="134937" y="157414"/>
                  <a:pt x="130425" y="161926"/>
                  <a:pt x="124817" y="161926"/>
                </a:cubicBezTo>
                <a:lnTo>
                  <a:pt x="91083" y="161926"/>
                </a:lnTo>
                <a:cubicBezTo>
                  <a:pt x="85475" y="161926"/>
                  <a:pt x="80963" y="157414"/>
                  <a:pt x="80963" y="151806"/>
                </a:cubicBezTo>
                <a:cubicBezTo>
                  <a:pt x="80963" y="146197"/>
                  <a:pt x="85475" y="141685"/>
                  <a:pt x="91083" y="141685"/>
                </a:cubicBezTo>
                <a:lnTo>
                  <a:pt x="101204" y="141685"/>
                </a:lnTo>
                <a:lnTo>
                  <a:pt x="101204" y="114696"/>
                </a:lnTo>
                <a:lnTo>
                  <a:pt x="91083" y="114696"/>
                </a:lnTo>
                <a:cubicBezTo>
                  <a:pt x="85475" y="114696"/>
                  <a:pt x="80963" y="110184"/>
                  <a:pt x="80963" y="104576"/>
                </a:cubicBezTo>
                <a:cubicBezTo>
                  <a:pt x="80963" y="98967"/>
                  <a:pt x="85475" y="94456"/>
                  <a:pt x="91083" y="94456"/>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920750" y="5415280"/>
            <a:ext cx="4848225" cy="36131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26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Confirm version number and installation path are correct</a:t>
            </a:r>
            <a:endParaRPr lang="en-US" sz="1100"/>
          </a:p>
        </p:txBody>
      </p:sp>
      <p:pic>
        <p:nvPicPr>
          <p:cNvPr id="18" name="Picture 18"/>
          <p:cNvPicPr>
            <a:picLocks noChangeAspect="1"/>
          </p:cNvPicPr>
          <p:nvPr/>
        </p:nvPicPr>
        <p:blipFill>
          <a:blip r:embed="rId1"/>
          <a:srcRect/>
          <a:stretch>
            <a:fillRect/>
          </a:stretch>
        </p:blipFill>
        <p:spPr>
          <a:xfrm>
            <a:off x="4464685" y="4667885"/>
            <a:ext cx="6680200" cy="1682115"/>
          </a:xfrm>
          <a:prstGeom prst="rect">
            <a:avLst/>
          </a:prstGeom>
          <a:ln w="12700">
            <a:noFill/>
            <a:prstDash val="soli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81000" y="609600"/>
            <a:ext cx="11572875"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7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Step 4: vLLM-Plugin-FL Cross-Chip Unified Plugin Installation</a:t>
            </a:r>
            <a:endParaRPr lang="en-US" sz="1100"/>
          </a:p>
          <a:p>
            <a:pPr indent="0" algn="l">
              <a:lnSpc>
                <a:spcPct val="100000"/>
              </a:lnSpc>
            </a:pPr>
            <a:r>
              <a:rPr lang="en-US" sz="7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36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 name="Freeform 3"/>
          <p:cNvSpPr/>
          <p:nvPr/>
        </p:nvSpPr>
        <p:spPr>
          <a:xfrm>
            <a:off x="381000" y="12954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81000" y="1428750"/>
            <a:ext cx="3733800" cy="1260000"/>
          </a:xfrm>
          <a:custGeom>
            <a:avLst/>
            <a:gdLst/>
            <a:ahLst/>
            <a:cxnLst/>
            <a:rect l="l" t="t" r="r" b="b"/>
            <a:pathLst>
              <a:path w="3733800" h="1260000">
                <a:moveTo>
                  <a:pt x="38100" y="0"/>
                </a:moveTo>
                <a:lnTo>
                  <a:pt x="3695700" y="0"/>
                </a:lnTo>
                <a:cubicBezTo>
                  <a:pt x="3716727" y="0"/>
                  <a:pt x="3733800" y="12476"/>
                  <a:pt x="3733800" y="27845"/>
                </a:cubicBezTo>
                <a:lnTo>
                  <a:pt x="3733800" y="1204308"/>
                </a:lnTo>
                <a:cubicBezTo>
                  <a:pt x="3733800" y="1235066"/>
                  <a:pt x="3699683" y="1260000"/>
                  <a:pt x="3657597" y="1260000"/>
                </a:cubicBezTo>
                <a:lnTo>
                  <a:pt x="76203" y="1260000"/>
                </a:lnTo>
                <a:cubicBezTo>
                  <a:pt x="34117" y="1260000"/>
                  <a:pt x="0" y="1235066"/>
                  <a:pt x="0" y="1204308"/>
                </a:cubicBezTo>
                <a:lnTo>
                  <a:pt x="0" y="27845"/>
                </a:lnTo>
                <a:cubicBezTo>
                  <a:pt x="0" y="12476"/>
                  <a:pt x="17073" y="0"/>
                  <a:pt x="38100" y="0"/>
                </a:cubicBezTo>
                <a:close/>
              </a:path>
            </a:pathLst>
          </a:custGeom>
          <a:solidFill>
            <a:srgbClr val="FFFFFF">
              <a:alpha val="100000"/>
            </a:srgbClr>
          </a:soli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5" name="Freeform 5"/>
          <p:cNvSpPr/>
          <p:nvPr/>
        </p:nvSpPr>
        <p:spPr>
          <a:xfrm>
            <a:off x="381000" y="1428750"/>
            <a:ext cx="3733800" cy="38100"/>
          </a:xfrm>
          <a:custGeom>
            <a:avLst/>
            <a:gdLst/>
            <a:ahLst/>
            <a:cxnLst/>
            <a:rect l="l" t="t" r="r" b="b"/>
            <a:pathLst>
              <a:path w="3733800" h="38100">
                <a:moveTo>
                  <a:pt x="38100" y="0"/>
                </a:moveTo>
                <a:lnTo>
                  <a:pt x="3695700" y="0"/>
                </a:lnTo>
                <a:cubicBezTo>
                  <a:pt x="3716727" y="0"/>
                  <a:pt x="3733800" y="17073"/>
                  <a:pt x="3733800" y="38100"/>
                </a:cubicBezTo>
                <a:lnTo>
                  <a:pt x="3733800" y="38100"/>
                </a:lnTo>
                <a:lnTo>
                  <a:pt x="0" y="38100"/>
                </a:ln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2057400" y="1562100"/>
            <a:ext cx="381000" cy="381000"/>
          </a:xfrm>
          <a:custGeom>
            <a:avLst/>
            <a:gdLst/>
            <a:ahLst/>
            <a:cxnLst/>
            <a:rect l="l" t="t" r="r" b="b"/>
            <a:pathLst>
              <a:path w="381000" h="381000">
                <a:moveTo>
                  <a:pt x="190500" y="0"/>
                </a:moveTo>
                <a:lnTo>
                  <a:pt x="190500" y="0"/>
                </a:lnTo>
                <a:cubicBezTo>
                  <a:pt x="295639" y="0"/>
                  <a:pt x="381000" y="85361"/>
                  <a:pt x="381000" y="190500"/>
                </a:cubicBezTo>
                <a:lnTo>
                  <a:pt x="381000" y="190500"/>
                </a:lnTo>
                <a:cubicBezTo>
                  <a:pt x="381000" y="295639"/>
                  <a:pt x="295639" y="381000"/>
                  <a:pt x="190500" y="381000"/>
                </a:cubicBezTo>
                <a:lnTo>
                  <a:pt x="190500" y="381000"/>
                </a:lnTo>
                <a:cubicBezTo>
                  <a:pt x="85361" y="381000"/>
                  <a:pt x="0" y="295639"/>
                  <a:pt x="0" y="190500"/>
                </a:cubicBezTo>
                <a:lnTo>
                  <a:pt x="0" y="190500"/>
                </a:lnTo>
                <a:cubicBezTo>
                  <a:pt x="0" y="85361"/>
                  <a:pt x="85361" y="0"/>
                  <a:pt x="1905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2009775" y="1562100"/>
            <a:ext cx="476250" cy="26035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85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100"/>
          </a:p>
        </p:txBody>
      </p:sp>
      <p:sp>
        <p:nvSpPr>
          <p:cNvPr id="8" name="AutoShape 8"/>
          <p:cNvSpPr/>
          <p:nvPr/>
        </p:nvSpPr>
        <p:spPr>
          <a:xfrm>
            <a:off x="452755" y="2019300"/>
            <a:ext cx="3590925" cy="182245"/>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Clone Plugin Repository</a:t>
            </a:r>
            <a:endParaRPr lang="en-US" sz="1100"/>
          </a:p>
        </p:txBody>
      </p:sp>
      <p:sp>
        <p:nvSpPr>
          <p:cNvPr id="9" name="Freeform 9"/>
          <p:cNvSpPr/>
          <p:nvPr/>
        </p:nvSpPr>
        <p:spPr>
          <a:xfrm>
            <a:off x="4414520" y="1428750"/>
            <a:ext cx="7092950" cy="1188000"/>
          </a:xfrm>
          <a:custGeom>
            <a:avLst/>
            <a:gdLst/>
            <a:ahLst/>
            <a:cxnLst/>
            <a:rect l="l" t="t" r="r" b="b"/>
            <a:pathLst>
              <a:path w="7092950" h="1188000">
                <a:moveTo>
                  <a:pt x="154201" y="0"/>
                </a:moveTo>
                <a:lnTo>
                  <a:pt x="6938749" y="0"/>
                </a:lnTo>
                <a:cubicBezTo>
                  <a:pt x="7023913" y="0"/>
                  <a:pt x="7092950" y="59933"/>
                  <a:pt x="7092950" y="133864"/>
                </a:cubicBezTo>
                <a:lnTo>
                  <a:pt x="7092950" y="1054136"/>
                </a:lnTo>
                <a:cubicBezTo>
                  <a:pt x="7092950" y="1128067"/>
                  <a:pt x="7023913" y="1188000"/>
                  <a:pt x="6938749" y="1188000"/>
                </a:cubicBezTo>
                <a:lnTo>
                  <a:pt x="154201" y="1188000"/>
                </a:lnTo>
                <a:cubicBezTo>
                  <a:pt x="69037" y="1188000"/>
                  <a:pt x="0" y="1128067"/>
                  <a:pt x="0" y="1054136"/>
                </a:cubicBezTo>
                <a:lnTo>
                  <a:pt x="0" y="133864"/>
                </a:lnTo>
                <a:cubicBezTo>
                  <a:pt x="0" y="59982"/>
                  <a:pt x="69094" y="0"/>
                  <a:pt x="154201"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endParaRPr lang="en-US" sz="1100"/>
          </a:p>
          <a:p>
            <a:pPr indent="0" algn="l">
              <a:lnSpc>
                <a:spcPct val="100000"/>
              </a:lnSpc>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git clone https://github.com/flagos-ai/vllm-plugin-FL</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 name="Freeform 10"/>
          <p:cNvSpPr/>
          <p:nvPr/>
        </p:nvSpPr>
        <p:spPr>
          <a:xfrm>
            <a:off x="381000" y="3109595"/>
            <a:ext cx="3733800" cy="1260000"/>
          </a:xfrm>
          <a:custGeom>
            <a:avLst/>
            <a:gdLst/>
            <a:ahLst/>
            <a:cxnLst/>
            <a:rect l="l" t="t" r="r" b="b"/>
            <a:pathLst>
              <a:path w="3733800" h="1260000">
                <a:moveTo>
                  <a:pt x="38100" y="0"/>
                </a:moveTo>
                <a:lnTo>
                  <a:pt x="3695700" y="0"/>
                </a:lnTo>
                <a:cubicBezTo>
                  <a:pt x="3716727" y="0"/>
                  <a:pt x="3733800" y="12476"/>
                  <a:pt x="3733800" y="27845"/>
                </a:cubicBezTo>
                <a:lnTo>
                  <a:pt x="3733800" y="1204308"/>
                </a:lnTo>
                <a:cubicBezTo>
                  <a:pt x="3733800" y="1235066"/>
                  <a:pt x="3699683" y="1260000"/>
                  <a:pt x="3657597" y="1260000"/>
                </a:cubicBezTo>
                <a:lnTo>
                  <a:pt x="76203" y="1260000"/>
                </a:lnTo>
                <a:cubicBezTo>
                  <a:pt x="34117" y="1260000"/>
                  <a:pt x="0" y="1235066"/>
                  <a:pt x="0" y="1204308"/>
                </a:cubicBezTo>
                <a:lnTo>
                  <a:pt x="0" y="27845"/>
                </a:lnTo>
                <a:cubicBezTo>
                  <a:pt x="0" y="12476"/>
                  <a:pt x="17073" y="0"/>
                  <a:pt x="38100" y="0"/>
                </a:cubicBezTo>
                <a:close/>
              </a:path>
            </a:pathLst>
          </a:custGeom>
          <a:solidFill>
            <a:srgbClr val="FFFFFF">
              <a:alpha val="100000"/>
            </a:srgbClr>
          </a:soli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1" name="Freeform 11"/>
          <p:cNvSpPr/>
          <p:nvPr/>
        </p:nvSpPr>
        <p:spPr>
          <a:xfrm>
            <a:off x="381000" y="3072130"/>
            <a:ext cx="3733800" cy="38100"/>
          </a:xfrm>
          <a:custGeom>
            <a:avLst/>
            <a:gdLst/>
            <a:ahLst/>
            <a:cxnLst/>
            <a:rect l="l" t="t" r="r" b="b"/>
            <a:pathLst>
              <a:path w="3733800" h="38100">
                <a:moveTo>
                  <a:pt x="38100" y="0"/>
                </a:moveTo>
                <a:lnTo>
                  <a:pt x="3695700" y="0"/>
                </a:lnTo>
                <a:cubicBezTo>
                  <a:pt x="3716727" y="0"/>
                  <a:pt x="3733800" y="17073"/>
                  <a:pt x="3733800" y="38100"/>
                </a:cubicBezTo>
                <a:lnTo>
                  <a:pt x="3733800" y="38100"/>
                </a:lnTo>
                <a:lnTo>
                  <a:pt x="0" y="38100"/>
                </a:ln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2064385" y="3223895"/>
            <a:ext cx="381000" cy="381000"/>
          </a:xfrm>
          <a:custGeom>
            <a:avLst/>
            <a:gdLst/>
            <a:ahLst/>
            <a:cxnLst/>
            <a:rect l="l" t="t" r="r" b="b"/>
            <a:pathLst>
              <a:path w="381000" h="381000">
                <a:moveTo>
                  <a:pt x="190500" y="0"/>
                </a:moveTo>
                <a:lnTo>
                  <a:pt x="190500" y="0"/>
                </a:lnTo>
                <a:cubicBezTo>
                  <a:pt x="295639" y="0"/>
                  <a:pt x="381000" y="85361"/>
                  <a:pt x="381000" y="190500"/>
                </a:cubicBezTo>
                <a:lnTo>
                  <a:pt x="381000" y="190500"/>
                </a:lnTo>
                <a:cubicBezTo>
                  <a:pt x="381000" y="295639"/>
                  <a:pt x="295639" y="381000"/>
                  <a:pt x="190500" y="381000"/>
                </a:cubicBezTo>
                <a:lnTo>
                  <a:pt x="190500" y="381000"/>
                </a:lnTo>
                <a:cubicBezTo>
                  <a:pt x="85361" y="381000"/>
                  <a:pt x="0" y="295639"/>
                  <a:pt x="0" y="190500"/>
                </a:cubicBezTo>
                <a:lnTo>
                  <a:pt x="0" y="190500"/>
                </a:lnTo>
                <a:cubicBezTo>
                  <a:pt x="0" y="85361"/>
                  <a:pt x="85361" y="0"/>
                  <a:pt x="1905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2009775" y="3205480"/>
            <a:ext cx="47625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46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100"/>
          </a:p>
        </p:txBody>
      </p:sp>
      <p:sp>
        <p:nvSpPr>
          <p:cNvPr id="14" name="AutoShape 14"/>
          <p:cNvSpPr/>
          <p:nvPr/>
        </p:nvSpPr>
        <p:spPr>
          <a:xfrm>
            <a:off x="453073" y="3808095"/>
            <a:ext cx="35909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8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Install Dependencies</a:t>
            </a:r>
            <a:endParaRPr lang="en-US" sz="1100"/>
          </a:p>
        </p:txBody>
      </p:sp>
      <p:sp>
        <p:nvSpPr>
          <p:cNvPr id="15" name="Freeform 15"/>
          <p:cNvSpPr/>
          <p:nvPr/>
        </p:nvSpPr>
        <p:spPr>
          <a:xfrm>
            <a:off x="4414520" y="3068955"/>
            <a:ext cx="7053580" cy="1188000"/>
          </a:xfrm>
          <a:custGeom>
            <a:avLst/>
            <a:gdLst/>
            <a:ahLst/>
            <a:cxnLst/>
            <a:rect l="l" t="t" r="r" b="b"/>
            <a:pathLst>
              <a:path w="7053580" h="1188000">
                <a:moveTo>
                  <a:pt x="153345" y="0"/>
                </a:moveTo>
                <a:lnTo>
                  <a:pt x="6900235" y="0"/>
                </a:lnTo>
                <a:cubicBezTo>
                  <a:pt x="6984926" y="0"/>
                  <a:pt x="7053580" y="59933"/>
                  <a:pt x="7053580" y="133864"/>
                </a:cubicBezTo>
                <a:lnTo>
                  <a:pt x="7053580" y="1054136"/>
                </a:lnTo>
                <a:cubicBezTo>
                  <a:pt x="7053580" y="1128067"/>
                  <a:pt x="6984926" y="1188000"/>
                  <a:pt x="6900235" y="1188000"/>
                </a:cubicBezTo>
                <a:lnTo>
                  <a:pt x="153345" y="1188000"/>
                </a:lnTo>
                <a:cubicBezTo>
                  <a:pt x="68654" y="1188000"/>
                  <a:pt x="0" y="1128067"/>
                  <a:pt x="0" y="1054136"/>
                </a:cubicBezTo>
                <a:lnTo>
                  <a:pt x="0" y="133864"/>
                </a:lnTo>
                <a:cubicBezTo>
                  <a:pt x="0" y="59982"/>
                  <a:pt x="68711" y="0"/>
                  <a:pt x="153345"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endParaRPr lang="en-US" sz="1100"/>
          </a:p>
          <a:p>
            <a:pPr indent="0" algn="l">
              <a:lnSpc>
                <a:spcPct val="100000"/>
              </a:lnSpc>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pip install -r requirements.txt</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6" name="Freeform 16"/>
          <p:cNvSpPr/>
          <p:nvPr/>
        </p:nvSpPr>
        <p:spPr>
          <a:xfrm>
            <a:off x="381635" y="4859020"/>
            <a:ext cx="3733800" cy="1188000"/>
          </a:xfrm>
          <a:custGeom>
            <a:avLst/>
            <a:gdLst/>
            <a:ahLst/>
            <a:cxnLst/>
            <a:rect l="l" t="t" r="r" b="b"/>
            <a:pathLst>
              <a:path w="3733800" h="1188000">
                <a:moveTo>
                  <a:pt x="38100" y="0"/>
                </a:moveTo>
                <a:lnTo>
                  <a:pt x="3695700" y="0"/>
                </a:lnTo>
                <a:cubicBezTo>
                  <a:pt x="3716727" y="0"/>
                  <a:pt x="3733800" y="11764"/>
                  <a:pt x="3733800" y="26255"/>
                </a:cubicBezTo>
                <a:lnTo>
                  <a:pt x="3733800" y="1135490"/>
                </a:lnTo>
                <a:cubicBezTo>
                  <a:pt x="3733800" y="1164491"/>
                  <a:pt x="3699683" y="1188000"/>
                  <a:pt x="3657597" y="1188000"/>
                </a:cubicBezTo>
                <a:lnTo>
                  <a:pt x="76203" y="1188000"/>
                </a:lnTo>
                <a:cubicBezTo>
                  <a:pt x="34117" y="1188000"/>
                  <a:pt x="0" y="1164491"/>
                  <a:pt x="0" y="1135490"/>
                </a:cubicBezTo>
                <a:lnTo>
                  <a:pt x="0" y="26255"/>
                </a:lnTo>
                <a:cubicBezTo>
                  <a:pt x="0" y="11764"/>
                  <a:pt x="17073" y="0"/>
                  <a:pt x="38100" y="0"/>
                </a:cubicBezTo>
                <a:close/>
              </a:path>
            </a:pathLst>
          </a:custGeom>
          <a:solidFill>
            <a:srgbClr val="FFFFFF">
              <a:alpha val="100000"/>
            </a:srgbClr>
          </a:soli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7" name="Freeform 17"/>
          <p:cNvSpPr/>
          <p:nvPr/>
        </p:nvSpPr>
        <p:spPr>
          <a:xfrm>
            <a:off x="381635" y="4859020"/>
            <a:ext cx="3733800" cy="38100"/>
          </a:xfrm>
          <a:custGeom>
            <a:avLst/>
            <a:gdLst/>
            <a:ahLst/>
            <a:cxnLst/>
            <a:rect l="l" t="t" r="r" b="b"/>
            <a:pathLst>
              <a:path w="3733800" h="38100">
                <a:moveTo>
                  <a:pt x="38100" y="0"/>
                </a:moveTo>
                <a:lnTo>
                  <a:pt x="3695700" y="0"/>
                </a:lnTo>
                <a:cubicBezTo>
                  <a:pt x="3716727" y="0"/>
                  <a:pt x="3733800" y="17073"/>
                  <a:pt x="3733800" y="38100"/>
                </a:cubicBezTo>
                <a:lnTo>
                  <a:pt x="3733800" y="38100"/>
                </a:lnTo>
                <a:lnTo>
                  <a:pt x="0" y="38100"/>
                </a:lnTo>
                <a:lnTo>
                  <a:pt x="0" y="38100"/>
                </a:lnTo>
                <a:cubicBezTo>
                  <a:pt x="0" y="17073"/>
                  <a:pt x="17073" y="0"/>
                  <a:pt x="38100"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2058035" y="4992370"/>
            <a:ext cx="381000" cy="381000"/>
          </a:xfrm>
          <a:custGeom>
            <a:avLst/>
            <a:gdLst/>
            <a:ahLst/>
            <a:cxnLst/>
            <a:rect l="l" t="t" r="r" b="b"/>
            <a:pathLst>
              <a:path w="381000" h="381000">
                <a:moveTo>
                  <a:pt x="190500" y="0"/>
                </a:moveTo>
                <a:lnTo>
                  <a:pt x="190500" y="0"/>
                </a:lnTo>
                <a:cubicBezTo>
                  <a:pt x="295639" y="0"/>
                  <a:pt x="381000" y="85361"/>
                  <a:pt x="381000" y="190500"/>
                </a:cubicBezTo>
                <a:lnTo>
                  <a:pt x="381000" y="190500"/>
                </a:lnTo>
                <a:cubicBezTo>
                  <a:pt x="381000" y="295639"/>
                  <a:pt x="295639" y="381000"/>
                  <a:pt x="190500" y="381000"/>
                </a:cubicBezTo>
                <a:lnTo>
                  <a:pt x="190500" y="381000"/>
                </a:lnTo>
                <a:cubicBezTo>
                  <a:pt x="85361" y="381000"/>
                  <a:pt x="0" y="295639"/>
                  <a:pt x="0" y="190500"/>
                </a:cubicBezTo>
                <a:lnTo>
                  <a:pt x="0" y="190500"/>
                </a:lnTo>
                <a:cubicBezTo>
                  <a:pt x="0" y="85361"/>
                  <a:pt x="85361" y="0"/>
                  <a:pt x="190500"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2010410" y="4992370"/>
            <a:ext cx="47625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46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3</a:t>
            </a:r>
            <a:endParaRPr lang="en-US" sz="1100"/>
          </a:p>
        </p:txBody>
      </p:sp>
      <p:sp>
        <p:nvSpPr>
          <p:cNvPr id="20" name="AutoShape 20"/>
          <p:cNvSpPr/>
          <p:nvPr/>
        </p:nvSpPr>
        <p:spPr>
          <a:xfrm>
            <a:off x="453073" y="5449570"/>
            <a:ext cx="35909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8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Install Plugin</a:t>
            </a:r>
            <a:endParaRPr lang="en-US" sz="1100"/>
          </a:p>
        </p:txBody>
      </p:sp>
      <p:sp>
        <p:nvSpPr>
          <p:cNvPr id="21" name="Freeform 21"/>
          <p:cNvSpPr/>
          <p:nvPr/>
        </p:nvSpPr>
        <p:spPr>
          <a:xfrm>
            <a:off x="4414520" y="4859020"/>
            <a:ext cx="7130415" cy="1188000"/>
          </a:xfrm>
          <a:custGeom>
            <a:avLst/>
            <a:gdLst/>
            <a:ahLst/>
            <a:cxnLst/>
            <a:rect l="l" t="t" r="r" b="b"/>
            <a:pathLst>
              <a:path w="7130415" h="1188000">
                <a:moveTo>
                  <a:pt x="155014" y="0"/>
                </a:moveTo>
                <a:lnTo>
                  <a:pt x="6975401" y="0"/>
                </a:lnTo>
                <a:cubicBezTo>
                  <a:pt x="7061013" y="0"/>
                  <a:pt x="7130415" y="81831"/>
                  <a:pt x="7130415" y="182775"/>
                </a:cubicBezTo>
                <a:lnTo>
                  <a:pt x="7130415" y="1005227"/>
                </a:lnTo>
                <a:cubicBezTo>
                  <a:pt x="7130415" y="1106169"/>
                  <a:pt x="7061013" y="1188000"/>
                  <a:pt x="6975401" y="1188000"/>
                </a:cubicBezTo>
                <a:lnTo>
                  <a:pt x="155014" y="1188000"/>
                </a:lnTo>
                <a:cubicBezTo>
                  <a:pt x="69402" y="1188000"/>
                  <a:pt x="0" y="1106169"/>
                  <a:pt x="0" y="1005227"/>
                </a:cubicBezTo>
                <a:lnTo>
                  <a:pt x="0" y="182775"/>
                </a:lnTo>
                <a:cubicBezTo>
                  <a:pt x="0" y="81831"/>
                  <a:pt x="69402" y="0"/>
                  <a:pt x="155014"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endParaRPr lang="en-US" sz="1100"/>
          </a:p>
          <a:p>
            <a:pPr indent="0" algn="l">
              <a:lnSpc>
                <a:spcPct val="100000"/>
              </a:lnSpc>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pip install --no-build-isolation -e .</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2" name="Freeform 22"/>
          <p:cNvSpPr/>
          <p:nvPr/>
        </p:nvSpPr>
        <p:spPr>
          <a:xfrm>
            <a:off x="659606" y="3505200"/>
            <a:ext cx="285750" cy="285750"/>
          </a:xfrm>
          <a:custGeom>
            <a:avLst/>
            <a:gdLst/>
            <a:ahLst/>
            <a:cxnLst/>
            <a:rect l="l" t="t" r="r" b="b"/>
            <a:pathLst>
              <a:path w="285750" h="285750">
                <a:moveTo>
                  <a:pt x="222405" y="6808"/>
                </a:moveTo>
                <a:lnTo>
                  <a:pt x="173180" y="56034"/>
                </a:lnTo>
                <a:lnTo>
                  <a:pt x="229716" y="112570"/>
                </a:lnTo>
                <a:lnTo>
                  <a:pt x="278942" y="63345"/>
                </a:lnTo>
                <a:cubicBezTo>
                  <a:pt x="283294" y="58936"/>
                  <a:pt x="285750" y="53020"/>
                  <a:pt x="285750" y="46881"/>
                </a:cubicBezTo>
                <a:cubicBezTo>
                  <a:pt x="285750" y="40742"/>
                  <a:pt x="283294" y="34826"/>
                  <a:pt x="278942" y="30416"/>
                </a:cubicBezTo>
                <a:lnTo>
                  <a:pt x="255334" y="6808"/>
                </a:lnTo>
                <a:cubicBezTo>
                  <a:pt x="250924" y="2456"/>
                  <a:pt x="245008" y="0"/>
                  <a:pt x="238869" y="0"/>
                </a:cubicBezTo>
                <a:cubicBezTo>
                  <a:pt x="232730" y="0"/>
                  <a:pt x="226814" y="2456"/>
                  <a:pt x="222405" y="6808"/>
                </a:cubicBezTo>
                <a:close/>
                <a:moveTo>
                  <a:pt x="154261" y="74954"/>
                </a:moveTo>
                <a:lnTo>
                  <a:pt x="6808" y="222405"/>
                </a:lnTo>
                <a:cubicBezTo>
                  <a:pt x="2456" y="226814"/>
                  <a:pt x="0" y="232730"/>
                  <a:pt x="0" y="238869"/>
                </a:cubicBezTo>
                <a:cubicBezTo>
                  <a:pt x="0" y="245008"/>
                  <a:pt x="2456" y="250924"/>
                  <a:pt x="6808" y="255334"/>
                </a:cubicBezTo>
                <a:lnTo>
                  <a:pt x="30416" y="278942"/>
                </a:lnTo>
                <a:cubicBezTo>
                  <a:pt x="34826" y="283294"/>
                  <a:pt x="40742" y="285750"/>
                  <a:pt x="46881" y="285750"/>
                </a:cubicBezTo>
                <a:cubicBezTo>
                  <a:pt x="53020" y="285750"/>
                  <a:pt x="58936" y="283294"/>
                  <a:pt x="63345" y="278942"/>
                </a:cubicBezTo>
                <a:lnTo>
                  <a:pt x="210796" y="131489"/>
                </a:lnTo>
                <a:lnTo>
                  <a:pt x="154261" y="74954"/>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538163" y="4714875"/>
            <a:ext cx="2609850" cy="3429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27025" y="314325"/>
            <a:ext cx="11685270" cy="568325"/>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40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Step 5: Configure and Start Inference Service</a:t>
            </a:r>
            <a:endParaRPr lang="en-US" sz="1100"/>
          </a:p>
        </p:txBody>
      </p:sp>
      <p:sp>
        <p:nvSpPr>
          <p:cNvPr id="3" name="Freeform 3"/>
          <p:cNvSpPr/>
          <p:nvPr/>
        </p:nvSpPr>
        <p:spPr>
          <a:xfrm>
            <a:off x="326863" y="1274767"/>
            <a:ext cx="653727" cy="32686"/>
          </a:xfrm>
          <a:custGeom>
            <a:avLst/>
            <a:gdLst/>
            <a:ahLst/>
            <a:cxnLst/>
            <a:rect l="l" t="t" r="r" b="b"/>
            <a:pathLst>
              <a:path w="653727" h="32686">
                <a:moveTo>
                  <a:pt x="0" y="0"/>
                </a:moveTo>
                <a:lnTo>
                  <a:pt x="653727" y="0"/>
                </a:lnTo>
                <a:lnTo>
                  <a:pt x="653727" y="32686"/>
                </a:lnTo>
                <a:lnTo>
                  <a:pt x="0" y="32686"/>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42900" y="1438275"/>
            <a:ext cx="5671185" cy="5075555"/>
          </a:xfrm>
          <a:custGeom>
            <a:avLst/>
            <a:gdLst/>
            <a:ahLst/>
            <a:cxnLst/>
            <a:rect l="l" t="t" r="r" b="b"/>
            <a:pathLst>
              <a:path w="5671185" h="5075555">
                <a:moveTo>
                  <a:pt x="32686" y="0"/>
                </a:moveTo>
                <a:lnTo>
                  <a:pt x="5573117" y="0"/>
                </a:lnTo>
                <a:cubicBezTo>
                  <a:pt x="5627279" y="0"/>
                  <a:pt x="5671185" y="70467"/>
                  <a:pt x="5671185" y="157392"/>
                </a:cubicBezTo>
                <a:lnTo>
                  <a:pt x="5671185" y="4918163"/>
                </a:lnTo>
                <a:cubicBezTo>
                  <a:pt x="5671185" y="5005088"/>
                  <a:pt x="5627279" y="5075555"/>
                  <a:pt x="5573117" y="5075555"/>
                </a:cubicBezTo>
                <a:lnTo>
                  <a:pt x="32686" y="5075555"/>
                </a:lnTo>
                <a:cubicBezTo>
                  <a:pt x="14634" y="5075555"/>
                  <a:pt x="0" y="5052068"/>
                  <a:pt x="0" y="5023095"/>
                </a:cubicBezTo>
                <a:lnTo>
                  <a:pt x="0" y="52460"/>
                </a:lnTo>
                <a:cubicBezTo>
                  <a:pt x="0" y="23506"/>
                  <a:pt x="14647" y="0"/>
                  <a:pt x="32686" y="0"/>
                </a:cubicBezTo>
                <a:close/>
              </a:path>
            </a:pathLst>
          </a:custGeom>
          <a:solidFill>
            <a:srgbClr val="FFFFFF">
              <a:alpha val="100000"/>
            </a:srgbClr>
          </a:solidFill>
          <a:ln w="12700">
            <a:noFill/>
            <a:prstDash val="solid"/>
          </a:ln>
          <a:effectLst>
            <a:outerShdw blurRad="114300" dist="762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5" name="Freeform 5"/>
          <p:cNvSpPr/>
          <p:nvPr/>
        </p:nvSpPr>
        <p:spPr>
          <a:xfrm>
            <a:off x="343206" y="1438198"/>
            <a:ext cx="32686" cy="3162402"/>
          </a:xfrm>
          <a:custGeom>
            <a:avLst/>
            <a:gdLst/>
            <a:ahLst/>
            <a:cxnLst/>
            <a:rect l="l" t="t" r="r" b="b"/>
            <a:pathLst>
              <a:path w="32686" h="3162402">
                <a:moveTo>
                  <a:pt x="32686" y="0"/>
                </a:moveTo>
                <a:lnTo>
                  <a:pt x="32686" y="0"/>
                </a:lnTo>
                <a:lnTo>
                  <a:pt x="32686" y="3162402"/>
                </a:lnTo>
                <a:lnTo>
                  <a:pt x="32686" y="3162402"/>
                </a:lnTo>
                <a:cubicBezTo>
                  <a:pt x="14634" y="3162402"/>
                  <a:pt x="0" y="3147767"/>
                  <a:pt x="0" y="3129716"/>
                </a:cubicBezTo>
                <a:lnTo>
                  <a:pt x="0" y="32686"/>
                </a:lnTo>
                <a:cubicBezTo>
                  <a:pt x="0" y="14646"/>
                  <a:pt x="14646" y="0"/>
                  <a:pt x="32686"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543560" y="1640622"/>
            <a:ext cx="252730" cy="183951"/>
          </a:xfrm>
          <a:custGeom>
            <a:avLst/>
            <a:gdLst/>
            <a:ahLst/>
            <a:cxnLst/>
            <a:rect l="l" t="t" r="r" b="b"/>
            <a:pathLst>
              <a:path w="252730" h="183951">
                <a:moveTo>
                  <a:pt x="15795" y="18396"/>
                </a:moveTo>
                <a:cubicBezTo>
                  <a:pt x="7059" y="18396"/>
                  <a:pt x="0" y="23876"/>
                  <a:pt x="0" y="30657"/>
                </a:cubicBezTo>
                <a:cubicBezTo>
                  <a:pt x="0" y="37440"/>
                  <a:pt x="7059" y="42922"/>
                  <a:pt x="15795" y="42922"/>
                </a:cubicBezTo>
                <a:lnTo>
                  <a:pt x="58591" y="42922"/>
                </a:lnTo>
                <a:cubicBezTo>
                  <a:pt x="64663" y="53766"/>
                  <a:pt x="78583" y="61318"/>
                  <a:pt x="94774" y="61318"/>
                </a:cubicBezTo>
                <a:cubicBezTo>
                  <a:pt x="110965" y="61318"/>
                  <a:pt x="124884" y="53766"/>
                  <a:pt x="130955" y="42922"/>
                </a:cubicBezTo>
                <a:lnTo>
                  <a:pt x="236934" y="42922"/>
                </a:lnTo>
                <a:cubicBezTo>
                  <a:pt x="245671" y="42922"/>
                  <a:pt x="252730" y="37440"/>
                  <a:pt x="252730" y="30657"/>
                </a:cubicBezTo>
                <a:cubicBezTo>
                  <a:pt x="252730" y="23876"/>
                  <a:pt x="245671" y="18396"/>
                  <a:pt x="236934" y="18396"/>
                </a:cubicBezTo>
                <a:lnTo>
                  <a:pt x="130955" y="18396"/>
                </a:lnTo>
                <a:cubicBezTo>
                  <a:pt x="124884" y="7550"/>
                  <a:pt x="110965" y="0"/>
                  <a:pt x="94774" y="0"/>
                </a:cubicBezTo>
                <a:cubicBezTo>
                  <a:pt x="78583" y="0"/>
                  <a:pt x="64663" y="7550"/>
                  <a:pt x="58591" y="18396"/>
                </a:cubicBezTo>
                <a:lnTo>
                  <a:pt x="15795" y="18396"/>
                </a:lnTo>
                <a:close/>
                <a:moveTo>
                  <a:pt x="15795" y="79711"/>
                </a:moveTo>
                <a:cubicBezTo>
                  <a:pt x="7059" y="79711"/>
                  <a:pt x="0" y="85192"/>
                  <a:pt x="0" y="91975"/>
                </a:cubicBezTo>
                <a:cubicBezTo>
                  <a:pt x="0" y="98759"/>
                  <a:pt x="7059" y="104239"/>
                  <a:pt x="15795" y="104239"/>
                </a:cubicBezTo>
                <a:lnTo>
                  <a:pt x="137570" y="104239"/>
                </a:lnTo>
                <a:cubicBezTo>
                  <a:pt x="143641" y="115084"/>
                  <a:pt x="157560" y="122633"/>
                  <a:pt x="173751" y="122633"/>
                </a:cubicBezTo>
                <a:cubicBezTo>
                  <a:pt x="189941" y="122633"/>
                  <a:pt x="203863" y="115084"/>
                  <a:pt x="209934" y="104239"/>
                </a:cubicBezTo>
                <a:lnTo>
                  <a:pt x="236934" y="104239"/>
                </a:lnTo>
                <a:cubicBezTo>
                  <a:pt x="245671" y="104239"/>
                  <a:pt x="252730" y="98759"/>
                  <a:pt x="252730" y="91975"/>
                </a:cubicBezTo>
                <a:cubicBezTo>
                  <a:pt x="252730" y="85192"/>
                  <a:pt x="245671" y="79711"/>
                  <a:pt x="236934" y="79711"/>
                </a:cubicBezTo>
                <a:lnTo>
                  <a:pt x="209934" y="79711"/>
                </a:lnTo>
                <a:cubicBezTo>
                  <a:pt x="203863" y="68867"/>
                  <a:pt x="189941" y="61318"/>
                  <a:pt x="173751" y="61318"/>
                </a:cubicBezTo>
                <a:cubicBezTo>
                  <a:pt x="157560" y="61318"/>
                  <a:pt x="143641" y="68867"/>
                  <a:pt x="137570" y="79711"/>
                </a:cubicBezTo>
                <a:lnTo>
                  <a:pt x="15795" y="79711"/>
                </a:lnTo>
                <a:close/>
                <a:moveTo>
                  <a:pt x="15795" y="141029"/>
                </a:moveTo>
                <a:cubicBezTo>
                  <a:pt x="7059" y="141029"/>
                  <a:pt x="0" y="146509"/>
                  <a:pt x="0" y="153292"/>
                </a:cubicBezTo>
                <a:cubicBezTo>
                  <a:pt x="0" y="160075"/>
                  <a:pt x="7059" y="165557"/>
                  <a:pt x="15795" y="165557"/>
                </a:cubicBezTo>
                <a:lnTo>
                  <a:pt x="42796" y="165557"/>
                </a:lnTo>
                <a:cubicBezTo>
                  <a:pt x="48867" y="176401"/>
                  <a:pt x="62789" y="183950"/>
                  <a:pt x="78977" y="183950"/>
                </a:cubicBezTo>
                <a:cubicBezTo>
                  <a:pt x="95167" y="183950"/>
                  <a:pt x="109089" y="176401"/>
                  <a:pt x="115160" y="165557"/>
                </a:cubicBezTo>
                <a:lnTo>
                  <a:pt x="236934" y="165557"/>
                </a:lnTo>
                <a:cubicBezTo>
                  <a:pt x="245671" y="165557"/>
                  <a:pt x="252730" y="160075"/>
                  <a:pt x="252730" y="153292"/>
                </a:cubicBezTo>
                <a:cubicBezTo>
                  <a:pt x="252730" y="146509"/>
                  <a:pt x="245671" y="141029"/>
                  <a:pt x="236934" y="141029"/>
                </a:cubicBezTo>
                <a:lnTo>
                  <a:pt x="115160" y="141029"/>
                </a:lnTo>
                <a:cubicBezTo>
                  <a:pt x="109089" y="130183"/>
                  <a:pt x="95167" y="122633"/>
                  <a:pt x="78977" y="122633"/>
                </a:cubicBezTo>
                <a:cubicBezTo>
                  <a:pt x="62789" y="122633"/>
                  <a:pt x="48867" y="130183"/>
                  <a:pt x="42796" y="141029"/>
                </a:cubicBezTo>
                <a:lnTo>
                  <a:pt x="15795" y="14102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923486" y="1634650"/>
            <a:ext cx="5205298" cy="228804"/>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Environment Variable Configuration</a:t>
            </a:r>
            <a:endParaRPr lang="en-US" sz="1100"/>
          </a:p>
        </p:txBody>
      </p:sp>
      <p:sp>
        <p:nvSpPr>
          <p:cNvPr id="8" name="Freeform 8"/>
          <p:cNvSpPr/>
          <p:nvPr/>
        </p:nvSpPr>
        <p:spPr>
          <a:xfrm>
            <a:off x="523240" y="1960880"/>
            <a:ext cx="5327650" cy="1842770"/>
          </a:xfrm>
          <a:custGeom>
            <a:avLst/>
            <a:gdLst/>
            <a:ahLst/>
            <a:cxnLst/>
            <a:rect l="l" t="t" r="r" b="b"/>
            <a:pathLst>
              <a:path w="5327650" h="1842770">
                <a:moveTo>
                  <a:pt x="65373" y="0"/>
                </a:moveTo>
                <a:lnTo>
                  <a:pt x="5262277" y="0"/>
                </a:lnTo>
                <a:cubicBezTo>
                  <a:pt x="5298382" y="0"/>
                  <a:pt x="5327650" y="55005"/>
                  <a:pt x="5327650" y="122857"/>
                </a:cubicBezTo>
                <a:lnTo>
                  <a:pt x="5327650" y="1719913"/>
                </a:lnTo>
                <a:cubicBezTo>
                  <a:pt x="5327650" y="1787765"/>
                  <a:pt x="5298382" y="1842770"/>
                  <a:pt x="5262277" y="1842770"/>
                </a:cubicBezTo>
                <a:lnTo>
                  <a:pt x="65373" y="1842770"/>
                </a:lnTo>
                <a:cubicBezTo>
                  <a:pt x="29268" y="1842770"/>
                  <a:pt x="0" y="1787765"/>
                  <a:pt x="0" y="1719913"/>
                </a:cubicBezTo>
                <a:lnTo>
                  <a:pt x="0" y="122857"/>
                </a:lnTo>
                <a:cubicBezTo>
                  <a:pt x="0" y="55051"/>
                  <a:pt x="29293" y="0"/>
                  <a:pt x="65373" y="0"/>
                </a:cubicBezTo>
                <a:close/>
              </a:path>
            </a:pathLst>
          </a:custGeom>
          <a:solidFill>
            <a:srgbClr val="5B92E5">
              <a:alpha val="10196"/>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621040" y="2059239"/>
            <a:ext cx="5188954" cy="16343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Key Variable 1</a:t>
            </a:r>
            <a:endParaRPr lang="en-US" sz="1100"/>
          </a:p>
        </p:txBody>
      </p:sp>
      <p:sp>
        <p:nvSpPr>
          <p:cNvPr id="10" name="Freeform 10"/>
          <p:cNvSpPr/>
          <p:nvPr/>
        </p:nvSpPr>
        <p:spPr>
          <a:xfrm>
            <a:off x="670560" y="2406650"/>
            <a:ext cx="5130800" cy="810260"/>
          </a:xfrm>
          <a:custGeom>
            <a:avLst/>
            <a:gdLst/>
            <a:ahLst/>
            <a:cxnLst/>
            <a:rect l="l" t="t" r="r" b="b"/>
            <a:pathLst>
              <a:path w="5130800" h="810260">
                <a:moveTo>
                  <a:pt x="65362" y="0"/>
                </a:moveTo>
                <a:lnTo>
                  <a:pt x="5065438" y="0"/>
                </a:lnTo>
                <a:cubicBezTo>
                  <a:pt x="5101537" y="0"/>
                  <a:pt x="5130800" y="55811"/>
                  <a:pt x="5130800" y="124658"/>
                </a:cubicBezTo>
                <a:lnTo>
                  <a:pt x="5130800" y="685602"/>
                </a:lnTo>
                <a:cubicBezTo>
                  <a:pt x="5130800" y="754449"/>
                  <a:pt x="5101537" y="810260"/>
                  <a:pt x="5065438" y="810260"/>
                </a:cubicBezTo>
                <a:lnTo>
                  <a:pt x="65362" y="810260"/>
                </a:lnTo>
                <a:cubicBezTo>
                  <a:pt x="29287" y="810260"/>
                  <a:pt x="0" y="754403"/>
                  <a:pt x="0" y="685602"/>
                </a:cubicBezTo>
                <a:lnTo>
                  <a:pt x="0" y="124658"/>
                </a:lnTo>
                <a:cubicBezTo>
                  <a:pt x="0" y="55857"/>
                  <a:pt x="29287" y="0"/>
                  <a:pt x="65362"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11" name="AutoShape 11"/>
          <p:cNvSpPr/>
          <p:nvPr/>
        </p:nvSpPr>
        <p:spPr>
          <a:xfrm>
            <a:off x="674380" y="2598257"/>
            <a:ext cx="5184869" cy="424922"/>
          </a:xfrm>
          <a:prstGeom prst="rect">
            <a:avLst/>
          </a:prstGeom>
          <a:noFill/>
          <a:ln w="12700">
            <a:noFill/>
            <a:prstDash val="solid"/>
          </a:ln>
        </p:spPr>
        <p:txBody>
          <a:bodyPr wrap="square" lIns="130745" tIns="130745" rIns="130745" bIns="130745" rtlCol="0" anchor="ctr">
            <a:noAutofit/>
          </a:bodyPr>
          <a:lstStyle/>
          <a:p>
            <a:pPr indent="0" algn="l">
              <a:lnSpc>
                <a:spcPct val="133000"/>
              </a:lnSpc>
              <a:defRPr/>
            </a:pPr>
            <a:r>
              <a:rPr lang="en-US" sz="1680" b="0" i="0" u="none" strike="noStrike">
                <a:solidFill>
                  <a:srgbClr val="000000"/>
                </a:solidFill>
                <a:latin typeface="Calibri" panose="020F0502020204030204"/>
                <a:ea typeface="Calibri" panose="020F0502020204030204"/>
                <a:cs typeface="Calibri" panose="020F0502020204030204"/>
                <a:sym typeface="Calibri" panose="020F0502020204030204"/>
              </a:rPr>
              <a:t>export VLLM_PLUGINS=fl</a:t>
            </a:r>
            <a:endParaRPr lang="en-US" sz="1100"/>
          </a:p>
        </p:txBody>
      </p:sp>
      <p:sp>
        <p:nvSpPr>
          <p:cNvPr id="12" name="AutoShape 12"/>
          <p:cNvSpPr/>
          <p:nvPr/>
        </p:nvSpPr>
        <p:spPr>
          <a:xfrm>
            <a:off x="764645" y="3451194"/>
            <a:ext cx="5037178" cy="130745"/>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700" b="0" i="0" u="none" strike="noStrike">
                <a:solidFill>
                  <a:srgbClr val="333333">
                    <a:alpha val="70196"/>
                  </a:srgbClr>
                </a:solidFill>
                <a:latin typeface="MiSans" panose="00000500000000000000" charset="-122"/>
                <a:ea typeface="MiSans" panose="00000500000000000000" charset="-122"/>
                <a:cs typeface="MiSans" panose="00000500000000000000" charset="-122"/>
                <a:sym typeface="MiSans" panose="00000500000000000000" charset="-122"/>
              </a:rPr>
              <a:t>Tells vLLM to use FlagOS backend plugin</a:t>
            </a:r>
            <a:endParaRPr lang="en-US" sz="1100"/>
          </a:p>
        </p:txBody>
      </p:sp>
      <p:sp>
        <p:nvSpPr>
          <p:cNvPr id="13" name="Freeform 13"/>
          <p:cNvSpPr/>
          <p:nvPr/>
        </p:nvSpPr>
        <p:spPr>
          <a:xfrm>
            <a:off x="523240" y="4163060"/>
            <a:ext cx="5309870" cy="2059305"/>
          </a:xfrm>
          <a:custGeom>
            <a:avLst/>
            <a:gdLst/>
            <a:ahLst/>
            <a:cxnLst/>
            <a:rect l="l" t="t" r="r" b="b"/>
            <a:pathLst>
              <a:path w="5309870" h="2059305">
                <a:moveTo>
                  <a:pt x="65155" y="0"/>
                </a:moveTo>
                <a:lnTo>
                  <a:pt x="5244715" y="0"/>
                </a:lnTo>
                <a:cubicBezTo>
                  <a:pt x="5280699" y="0"/>
                  <a:pt x="5309870" y="61469"/>
                  <a:pt x="5309870" y="137295"/>
                </a:cubicBezTo>
                <a:lnTo>
                  <a:pt x="5309870" y="1922010"/>
                </a:lnTo>
                <a:cubicBezTo>
                  <a:pt x="5309870" y="1997836"/>
                  <a:pt x="5280699" y="2059305"/>
                  <a:pt x="5244715" y="2059305"/>
                </a:cubicBezTo>
                <a:lnTo>
                  <a:pt x="65155" y="2059305"/>
                </a:lnTo>
                <a:cubicBezTo>
                  <a:pt x="29171" y="2059305"/>
                  <a:pt x="0" y="1997836"/>
                  <a:pt x="0" y="1922010"/>
                </a:cubicBezTo>
                <a:lnTo>
                  <a:pt x="0" y="137295"/>
                </a:lnTo>
                <a:cubicBezTo>
                  <a:pt x="0" y="61519"/>
                  <a:pt x="29195" y="0"/>
                  <a:pt x="65155" y="0"/>
                </a:cubicBezTo>
                <a:close/>
              </a:path>
            </a:pathLst>
          </a:custGeom>
          <a:solidFill>
            <a:srgbClr val="1E90FF">
              <a:alpha val="10196"/>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669935" y="4163772"/>
            <a:ext cx="5188954" cy="16343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Key Variable 2</a:t>
            </a:r>
            <a:endParaRPr lang="en-US" sz="1100"/>
          </a:p>
        </p:txBody>
      </p:sp>
      <p:sp>
        <p:nvSpPr>
          <p:cNvPr id="15" name="Freeform 15"/>
          <p:cNvSpPr/>
          <p:nvPr/>
        </p:nvSpPr>
        <p:spPr>
          <a:xfrm>
            <a:off x="669925" y="4522470"/>
            <a:ext cx="4962525" cy="809625"/>
          </a:xfrm>
          <a:custGeom>
            <a:avLst/>
            <a:gdLst/>
            <a:ahLst/>
            <a:cxnLst/>
            <a:rect l="l" t="t" r="r" b="b"/>
            <a:pathLst>
              <a:path w="4962525" h="809625">
                <a:moveTo>
                  <a:pt x="63218" y="0"/>
                </a:moveTo>
                <a:lnTo>
                  <a:pt x="4899307" y="0"/>
                </a:lnTo>
                <a:cubicBezTo>
                  <a:pt x="4934222" y="0"/>
                  <a:pt x="4962525" y="55768"/>
                  <a:pt x="4962525" y="124560"/>
                </a:cubicBezTo>
                <a:lnTo>
                  <a:pt x="4962525" y="685065"/>
                </a:lnTo>
                <a:cubicBezTo>
                  <a:pt x="4962525" y="753857"/>
                  <a:pt x="4934222" y="809625"/>
                  <a:pt x="4899307" y="809625"/>
                </a:cubicBezTo>
                <a:lnTo>
                  <a:pt x="63218" y="809625"/>
                </a:lnTo>
                <a:cubicBezTo>
                  <a:pt x="28327" y="809625"/>
                  <a:pt x="0" y="753811"/>
                  <a:pt x="0" y="685065"/>
                </a:cubicBezTo>
                <a:lnTo>
                  <a:pt x="0" y="124560"/>
                </a:lnTo>
                <a:cubicBezTo>
                  <a:pt x="0" y="55814"/>
                  <a:pt x="28327" y="0"/>
                  <a:pt x="63218"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16" name="AutoShape 16"/>
          <p:cNvSpPr/>
          <p:nvPr/>
        </p:nvSpPr>
        <p:spPr>
          <a:xfrm>
            <a:off x="641350" y="4686935"/>
            <a:ext cx="5160645" cy="424815"/>
          </a:xfrm>
          <a:prstGeom prst="rect">
            <a:avLst/>
          </a:prstGeom>
          <a:noFill/>
          <a:ln w="12700">
            <a:noFill/>
            <a:prstDash val="solid"/>
          </a:ln>
        </p:spPr>
        <p:txBody>
          <a:bodyPr wrap="square" lIns="130745" tIns="130745" rIns="130745" bIns="130745" rtlCol="0" anchor="ctr">
            <a:noAutofit/>
          </a:bodyPr>
          <a:lstStyle/>
          <a:p>
            <a:pPr indent="0" algn="l">
              <a:lnSpc>
                <a:spcPct val="133000"/>
              </a:lnSpc>
              <a:defRPr/>
            </a:pPr>
            <a:r>
              <a:rPr lang="en-US" sz="1680" b="0" i="0" u="none" strike="noStrike">
                <a:solidFill>
                  <a:srgbClr val="000000"/>
                </a:solidFill>
                <a:latin typeface="Calibri" panose="020F0502020204030204"/>
                <a:ea typeface="Calibri" panose="020F0502020204030204"/>
                <a:cs typeface="Calibri" panose="020F0502020204030204"/>
                <a:sym typeface="Calibri" panose="020F0502020204030204"/>
              </a:rPr>
              <a:t>export TRITON_ALL_BLOCKS_PARALLEL=1</a:t>
            </a:r>
            <a:endParaRPr lang="en-US" sz="1100"/>
          </a:p>
        </p:txBody>
      </p:sp>
      <p:sp>
        <p:nvSpPr>
          <p:cNvPr id="17" name="AutoShape 17"/>
          <p:cNvSpPr/>
          <p:nvPr/>
        </p:nvSpPr>
        <p:spPr>
          <a:xfrm>
            <a:off x="731625" y="5555092"/>
            <a:ext cx="5037178" cy="130745"/>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700" b="0" i="0" u="none" strike="noStrike">
                <a:solidFill>
                  <a:srgbClr val="333333">
                    <a:alpha val="70196"/>
                  </a:srgbClr>
                </a:solidFill>
                <a:latin typeface="MiSans" panose="00000500000000000000" charset="-122"/>
                <a:ea typeface="MiSans" panose="00000500000000000000" charset="-122"/>
                <a:cs typeface="MiSans" panose="00000500000000000000" charset="-122"/>
                <a:sym typeface="MiSans" panose="00000500000000000000" charset="-122"/>
              </a:rPr>
              <a:t>Enables Triton parallel optimization to improve inference speed</a:t>
            </a:r>
            <a:endParaRPr lang="en-US" sz="1100"/>
          </a:p>
        </p:txBody>
      </p:sp>
      <p:sp>
        <p:nvSpPr>
          <p:cNvPr id="18" name="Freeform 18"/>
          <p:cNvSpPr/>
          <p:nvPr/>
        </p:nvSpPr>
        <p:spPr>
          <a:xfrm>
            <a:off x="6191885" y="1438275"/>
            <a:ext cx="5671185" cy="2753995"/>
          </a:xfrm>
          <a:custGeom>
            <a:avLst/>
            <a:gdLst/>
            <a:ahLst/>
            <a:cxnLst/>
            <a:rect l="l" t="t" r="r" b="b"/>
            <a:pathLst>
              <a:path w="5671185" h="2753995">
                <a:moveTo>
                  <a:pt x="32686" y="0"/>
                </a:moveTo>
                <a:lnTo>
                  <a:pt x="5573126" y="0"/>
                </a:lnTo>
                <a:cubicBezTo>
                  <a:pt x="5627282" y="0"/>
                  <a:pt x="5671185" y="37174"/>
                  <a:pt x="5671185" y="83034"/>
                </a:cubicBezTo>
                <a:lnTo>
                  <a:pt x="5671185" y="2670961"/>
                </a:lnTo>
                <a:cubicBezTo>
                  <a:pt x="5671185" y="2716820"/>
                  <a:pt x="5627282" y="2753995"/>
                  <a:pt x="5573126" y="2753995"/>
                </a:cubicBezTo>
                <a:lnTo>
                  <a:pt x="32686" y="2753995"/>
                </a:lnTo>
                <a:cubicBezTo>
                  <a:pt x="14634" y="2753995"/>
                  <a:pt x="0" y="2741602"/>
                  <a:pt x="0" y="2726317"/>
                </a:cubicBezTo>
                <a:lnTo>
                  <a:pt x="0" y="27678"/>
                </a:lnTo>
                <a:cubicBezTo>
                  <a:pt x="0" y="12402"/>
                  <a:pt x="14647" y="0"/>
                  <a:pt x="32686" y="0"/>
                </a:cubicBezTo>
                <a:close/>
              </a:path>
            </a:pathLst>
          </a:custGeom>
          <a:solidFill>
            <a:srgbClr val="FFFFFF">
              <a:alpha val="100000"/>
            </a:srgbClr>
          </a:solidFill>
          <a:ln w="12700">
            <a:noFill/>
            <a:prstDash val="solid"/>
          </a:ln>
          <a:effectLst>
            <a:outerShdw blurRad="114300" dist="762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9" name="Freeform 19"/>
          <p:cNvSpPr/>
          <p:nvPr/>
        </p:nvSpPr>
        <p:spPr>
          <a:xfrm>
            <a:off x="6192144" y="1438198"/>
            <a:ext cx="32686" cy="3252290"/>
          </a:xfrm>
          <a:custGeom>
            <a:avLst/>
            <a:gdLst/>
            <a:ahLst/>
            <a:cxnLst/>
            <a:rect l="l" t="t" r="r" b="b"/>
            <a:pathLst>
              <a:path w="32686" h="3252290">
                <a:moveTo>
                  <a:pt x="32686" y="0"/>
                </a:moveTo>
                <a:lnTo>
                  <a:pt x="32686" y="0"/>
                </a:lnTo>
                <a:lnTo>
                  <a:pt x="32686" y="3252290"/>
                </a:lnTo>
                <a:lnTo>
                  <a:pt x="32686" y="3252290"/>
                </a:lnTo>
                <a:cubicBezTo>
                  <a:pt x="14634" y="3252290"/>
                  <a:pt x="0" y="3237655"/>
                  <a:pt x="0" y="3219602"/>
                </a:cubicBezTo>
                <a:lnTo>
                  <a:pt x="0" y="32686"/>
                </a:lnTo>
                <a:cubicBezTo>
                  <a:pt x="0" y="14646"/>
                  <a:pt x="14646" y="0"/>
                  <a:pt x="32686"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6296025" y="1600200"/>
            <a:ext cx="294640" cy="294640"/>
          </a:xfrm>
          <a:custGeom>
            <a:avLst/>
            <a:gdLst/>
            <a:ahLst/>
            <a:cxnLst/>
            <a:rect l="l" t="t" r="r" b="b"/>
            <a:pathLst>
              <a:path w="294640" h="294640">
                <a:moveTo>
                  <a:pt x="0" y="147320"/>
                </a:moveTo>
                <a:cubicBezTo>
                  <a:pt x="0" y="66012"/>
                  <a:pt x="66012" y="0"/>
                  <a:pt x="147320" y="0"/>
                </a:cubicBezTo>
                <a:cubicBezTo>
                  <a:pt x="228628" y="0"/>
                  <a:pt x="294640" y="66012"/>
                  <a:pt x="294640" y="147320"/>
                </a:cubicBezTo>
                <a:cubicBezTo>
                  <a:pt x="294640" y="228628"/>
                  <a:pt x="228628" y="294640"/>
                  <a:pt x="147320" y="294640"/>
                </a:cubicBezTo>
                <a:cubicBezTo>
                  <a:pt x="66012" y="294640"/>
                  <a:pt x="0" y="228628"/>
                  <a:pt x="0" y="147320"/>
                </a:cubicBezTo>
                <a:close/>
                <a:moveTo>
                  <a:pt x="108361" y="84652"/>
                </a:moveTo>
                <a:cubicBezTo>
                  <a:pt x="103988" y="87067"/>
                  <a:pt x="101283" y="91730"/>
                  <a:pt x="101283" y="96679"/>
                </a:cubicBezTo>
                <a:lnTo>
                  <a:pt x="101283" y="197961"/>
                </a:lnTo>
                <a:cubicBezTo>
                  <a:pt x="101283" y="202968"/>
                  <a:pt x="103988" y="207570"/>
                  <a:pt x="108361" y="209988"/>
                </a:cubicBezTo>
                <a:cubicBezTo>
                  <a:pt x="112734" y="212406"/>
                  <a:pt x="118027" y="212348"/>
                  <a:pt x="122344" y="209700"/>
                </a:cubicBezTo>
                <a:lnTo>
                  <a:pt x="205213" y="159060"/>
                </a:lnTo>
                <a:cubicBezTo>
                  <a:pt x="209297" y="156527"/>
                  <a:pt x="211828" y="152095"/>
                  <a:pt x="211828" y="147263"/>
                </a:cubicBezTo>
                <a:cubicBezTo>
                  <a:pt x="211828" y="142429"/>
                  <a:pt x="209297" y="137998"/>
                  <a:pt x="205213" y="135465"/>
                </a:cubicBezTo>
                <a:lnTo>
                  <a:pt x="122344" y="84823"/>
                </a:lnTo>
                <a:cubicBezTo>
                  <a:pt x="118086" y="82234"/>
                  <a:pt x="112734" y="82119"/>
                  <a:pt x="108361" y="84536"/>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6785123" y="1601630"/>
            <a:ext cx="5205298" cy="228804"/>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Start Inference Service</a:t>
            </a:r>
            <a:endParaRPr lang="en-US" sz="1100"/>
          </a:p>
        </p:txBody>
      </p:sp>
      <p:sp>
        <p:nvSpPr>
          <p:cNvPr id="22" name="AutoShape 22"/>
          <p:cNvSpPr/>
          <p:nvPr/>
        </p:nvSpPr>
        <p:spPr>
          <a:xfrm>
            <a:off x="6372225" y="1960880"/>
            <a:ext cx="5380990" cy="111125"/>
          </a:xfrm>
          <a:prstGeom prst="rect">
            <a:avLst/>
          </a:prstGeom>
          <a:noFill/>
          <a:ln w="12700">
            <a:noFill/>
            <a:prstDash val="solid"/>
          </a:ln>
        </p:spPr>
        <p:txBody>
          <a:bodyPr wrap="square" lIns="130745" tIns="130745" rIns="130745" bIns="130745" rtlCol="0" anchor="ctr">
            <a:noAutofit/>
          </a:bodyPr>
          <a:lstStyle/>
          <a:p>
            <a:pPr indent="0" algn="l">
              <a:lnSpc>
                <a:spcPct val="133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3" name="Freeform 23"/>
          <p:cNvSpPr/>
          <p:nvPr/>
        </p:nvSpPr>
        <p:spPr>
          <a:xfrm>
            <a:off x="6359661" y="5021437"/>
            <a:ext cx="147088" cy="147088"/>
          </a:xfrm>
          <a:custGeom>
            <a:avLst/>
            <a:gdLst/>
            <a:ahLst/>
            <a:cxnLst/>
            <a:rect l="l" t="t" r="r" b="b"/>
            <a:pathLst>
              <a:path w="147088" h="147088">
                <a:moveTo>
                  <a:pt x="73544" y="147088"/>
                </a:moveTo>
                <a:cubicBezTo>
                  <a:pt x="114134" y="147088"/>
                  <a:pt x="147088" y="114134"/>
                  <a:pt x="147088" y="73544"/>
                </a:cubicBezTo>
                <a:cubicBezTo>
                  <a:pt x="147088" y="32954"/>
                  <a:pt x="114134" y="0"/>
                  <a:pt x="73544" y="0"/>
                </a:cubicBezTo>
                <a:cubicBezTo>
                  <a:pt x="32954" y="0"/>
                  <a:pt x="0" y="32954"/>
                  <a:pt x="0" y="73544"/>
                </a:cubicBezTo>
                <a:cubicBezTo>
                  <a:pt x="0" y="114134"/>
                  <a:pt x="32954" y="147088"/>
                  <a:pt x="73544" y="147088"/>
                </a:cubicBezTo>
                <a:close/>
                <a:moveTo>
                  <a:pt x="97791" y="61105"/>
                </a:moveTo>
                <a:lnTo>
                  <a:pt x="74808" y="97878"/>
                </a:lnTo>
                <a:cubicBezTo>
                  <a:pt x="73602" y="99802"/>
                  <a:pt x="71533" y="101008"/>
                  <a:pt x="69265" y="101122"/>
                </a:cubicBezTo>
                <a:cubicBezTo>
                  <a:pt x="66994" y="101238"/>
                  <a:pt x="64811" y="100204"/>
                  <a:pt x="63461" y="98365"/>
                </a:cubicBezTo>
                <a:lnTo>
                  <a:pt x="49671" y="79980"/>
                </a:lnTo>
                <a:cubicBezTo>
                  <a:pt x="47374" y="76934"/>
                  <a:pt x="48005" y="72625"/>
                  <a:pt x="51050" y="70328"/>
                </a:cubicBezTo>
                <a:cubicBezTo>
                  <a:pt x="54094" y="68028"/>
                  <a:pt x="58403" y="68660"/>
                  <a:pt x="60703" y="71705"/>
                </a:cubicBezTo>
                <a:lnTo>
                  <a:pt x="68459" y="82048"/>
                </a:lnTo>
                <a:lnTo>
                  <a:pt x="86098" y="53809"/>
                </a:lnTo>
                <a:cubicBezTo>
                  <a:pt x="88109" y="50590"/>
                  <a:pt x="92361" y="49585"/>
                  <a:pt x="95608" y="51625"/>
                </a:cubicBezTo>
                <a:cubicBezTo>
                  <a:pt x="98854" y="53664"/>
                  <a:pt x="99831" y="57887"/>
                  <a:pt x="97791" y="61134"/>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4" name="AutoShape 24"/>
          <p:cNvSpPr/>
          <p:nvPr/>
        </p:nvSpPr>
        <p:spPr>
          <a:xfrm>
            <a:off x="6527179" y="4980579"/>
            <a:ext cx="5246155" cy="228804"/>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Successful Startup Indicator</a:t>
            </a:r>
            <a:endParaRPr lang="en-US" sz="1100"/>
          </a:p>
        </p:txBody>
      </p:sp>
      <p:sp>
        <p:nvSpPr>
          <p:cNvPr id="25" name="Freeform 25"/>
          <p:cNvSpPr/>
          <p:nvPr/>
        </p:nvSpPr>
        <p:spPr>
          <a:xfrm>
            <a:off x="6362033" y="5345274"/>
            <a:ext cx="101756" cy="94090"/>
          </a:xfrm>
          <a:custGeom>
            <a:avLst/>
            <a:gdLst/>
            <a:ahLst/>
            <a:cxnLst/>
            <a:rect l="l" t="t" r="r" b="b"/>
            <a:pathLst>
              <a:path w="101756" h="94090">
                <a:moveTo>
                  <a:pt x="97845" y="2346"/>
                </a:moveTo>
                <a:cubicBezTo>
                  <a:pt x="101041" y="4670"/>
                  <a:pt x="101756" y="9139"/>
                  <a:pt x="99432" y="12334"/>
                </a:cubicBezTo>
                <a:lnTo>
                  <a:pt x="42231" y="90986"/>
                </a:lnTo>
                <a:cubicBezTo>
                  <a:pt x="41002" y="92684"/>
                  <a:pt x="39103" y="93734"/>
                  <a:pt x="37002" y="93913"/>
                </a:cubicBezTo>
                <a:cubicBezTo>
                  <a:pt x="34902" y="94091"/>
                  <a:pt x="32868" y="93308"/>
                  <a:pt x="31394" y="91835"/>
                </a:cubicBezTo>
                <a:lnTo>
                  <a:pt x="2794" y="63234"/>
                </a:lnTo>
                <a:cubicBezTo>
                  <a:pt x="0" y="60441"/>
                  <a:pt x="0" y="55906"/>
                  <a:pt x="2794" y="53112"/>
                </a:cubicBezTo>
                <a:cubicBezTo>
                  <a:pt x="5586" y="50319"/>
                  <a:pt x="10121" y="50319"/>
                  <a:pt x="12915" y="53112"/>
                </a:cubicBezTo>
                <a:lnTo>
                  <a:pt x="35595" y="75793"/>
                </a:lnTo>
                <a:lnTo>
                  <a:pt x="87880" y="3911"/>
                </a:lnTo>
                <a:cubicBezTo>
                  <a:pt x="90204" y="715"/>
                  <a:pt x="94673" y="0"/>
                  <a:pt x="97868" y="2324"/>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6547608" y="5307442"/>
            <a:ext cx="1593458" cy="16343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Platform plugin fl is activated</a:t>
            </a:r>
            <a:endParaRPr lang="en-US" sz="1100"/>
          </a:p>
        </p:txBody>
      </p:sp>
      <p:sp>
        <p:nvSpPr>
          <p:cNvPr id="27" name="Freeform 27"/>
          <p:cNvSpPr/>
          <p:nvPr/>
        </p:nvSpPr>
        <p:spPr>
          <a:xfrm>
            <a:off x="6362033" y="5574078"/>
            <a:ext cx="101756" cy="94090"/>
          </a:xfrm>
          <a:custGeom>
            <a:avLst/>
            <a:gdLst/>
            <a:ahLst/>
            <a:cxnLst/>
            <a:rect l="l" t="t" r="r" b="b"/>
            <a:pathLst>
              <a:path w="101756" h="94090">
                <a:moveTo>
                  <a:pt x="97845" y="2346"/>
                </a:moveTo>
                <a:cubicBezTo>
                  <a:pt x="101041" y="4670"/>
                  <a:pt x="101756" y="9139"/>
                  <a:pt x="99432" y="12334"/>
                </a:cubicBezTo>
                <a:lnTo>
                  <a:pt x="42231" y="90986"/>
                </a:lnTo>
                <a:cubicBezTo>
                  <a:pt x="41002" y="92684"/>
                  <a:pt x="39103" y="93734"/>
                  <a:pt x="37002" y="93913"/>
                </a:cubicBezTo>
                <a:cubicBezTo>
                  <a:pt x="34902" y="94091"/>
                  <a:pt x="32868" y="93308"/>
                  <a:pt x="31394" y="91835"/>
                </a:cubicBezTo>
                <a:lnTo>
                  <a:pt x="2794" y="63234"/>
                </a:lnTo>
                <a:cubicBezTo>
                  <a:pt x="0" y="60441"/>
                  <a:pt x="0" y="55906"/>
                  <a:pt x="2794" y="53112"/>
                </a:cubicBezTo>
                <a:cubicBezTo>
                  <a:pt x="5586" y="50319"/>
                  <a:pt x="10121" y="50319"/>
                  <a:pt x="12915" y="53112"/>
                </a:cubicBezTo>
                <a:lnTo>
                  <a:pt x="35595" y="75793"/>
                </a:lnTo>
                <a:lnTo>
                  <a:pt x="87880" y="3911"/>
                </a:lnTo>
                <a:cubicBezTo>
                  <a:pt x="90204" y="715"/>
                  <a:pt x="94673" y="0"/>
                  <a:pt x="97868" y="2324"/>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8" name="AutoShape 28"/>
          <p:cNvSpPr/>
          <p:nvPr/>
        </p:nvSpPr>
        <p:spPr>
          <a:xfrm>
            <a:off x="6547608" y="5536247"/>
            <a:ext cx="915217" cy="16343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Service Status: Running</a:t>
            </a:r>
            <a:endParaRPr lang="en-US" sz="1100"/>
          </a:p>
        </p:txBody>
      </p:sp>
      <p:sp>
        <p:nvSpPr>
          <p:cNvPr id="29" name="Freeform 29"/>
          <p:cNvSpPr/>
          <p:nvPr/>
        </p:nvSpPr>
        <p:spPr>
          <a:xfrm>
            <a:off x="6362033" y="5802883"/>
            <a:ext cx="101756" cy="94090"/>
          </a:xfrm>
          <a:custGeom>
            <a:avLst/>
            <a:gdLst/>
            <a:ahLst/>
            <a:cxnLst/>
            <a:rect l="l" t="t" r="r" b="b"/>
            <a:pathLst>
              <a:path w="101756" h="94090">
                <a:moveTo>
                  <a:pt x="97845" y="2346"/>
                </a:moveTo>
                <a:cubicBezTo>
                  <a:pt x="101041" y="4670"/>
                  <a:pt x="101756" y="9139"/>
                  <a:pt x="99432" y="12334"/>
                </a:cubicBezTo>
                <a:lnTo>
                  <a:pt x="42231" y="90986"/>
                </a:lnTo>
                <a:cubicBezTo>
                  <a:pt x="41002" y="92684"/>
                  <a:pt x="39103" y="93734"/>
                  <a:pt x="37002" y="93913"/>
                </a:cubicBezTo>
                <a:cubicBezTo>
                  <a:pt x="34902" y="94091"/>
                  <a:pt x="32868" y="93308"/>
                  <a:pt x="31394" y="91835"/>
                </a:cubicBezTo>
                <a:lnTo>
                  <a:pt x="2794" y="63234"/>
                </a:lnTo>
                <a:cubicBezTo>
                  <a:pt x="0" y="60441"/>
                  <a:pt x="0" y="55906"/>
                  <a:pt x="2794" y="53112"/>
                </a:cubicBezTo>
                <a:cubicBezTo>
                  <a:pt x="5586" y="50319"/>
                  <a:pt x="10121" y="50319"/>
                  <a:pt x="12915" y="53112"/>
                </a:cubicBezTo>
                <a:lnTo>
                  <a:pt x="35595" y="75793"/>
                </a:lnTo>
                <a:lnTo>
                  <a:pt x="87880" y="3911"/>
                </a:lnTo>
                <a:cubicBezTo>
                  <a:pt x="90204" y="715"/>
                  <a:pt x="94673" y="0"/>
                  <a:pt x="97868" y="2324"/>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0" name="AutoShape 30"/>
          <p:cNvSpPr/>
          <p:nvPr/>
        </p:nvSpPr>
        <p:spPr>
          <a:xfrm>
            <a:off x="6547608" y="5765051"/>
            <a:ext cx="1405512" cy="16343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Listening Address: 127.0.0.1:30000</a:t>
            </a:r>
            <a:endParaRPr lang="en-US" sz="1100"/>
          </a:p>
        </p:txBody>
      </p:sp>
      <p:sp>
        <p:nvSpPr>
          <p:cNvPr id="31" name="Freeform 31"/>
          <p:cNvSpPr/>
          <p:nvPr/>
        </p:nvSpPr>
        <p:spPr>
          <a:xfrm>
            <a:off x="6339232" y="6063314"/>
            <a:ext cx="5360558" cy="8172"/>
          </a:xfrm>
          <a:custGeom>
            <a:avLst/>
            <a:gdLst/>
            <a:ahLst/>
            <a:cxnLst/>
            <a:rect l="l" t="t" r="r" b="b"/>
            <a:pathLst>
              <a:path w="5360558" h="8172">
                <a:moveTo>
                  <a:pt x="0" y="0"/>
                </a:moveTo>
                <a:lnTo>
                  <a:pt x="5360558" y="0"/>
                </a:lnTo>
                <a:lnTo>
                  <a:pt x="5360558" y="8172"/>
                </a:lnTo>
                <a:lnTo>
                  <a:pt x="0" y="8172"/>
                </a:lnTo>
                <a:lnTo>
                  <a:pt x="0" y="0"/>
                </a:lnTo>
                <a:close/>
              </a:path>
            </a:pathLst>
          </a:custGeom>
          <a:solidFill>
            <a:srgbClr val="FFFFFF">
              <a:alpha val="30196"/>
            </a:srgbClr>
          </a:solidFill>
          <a:ln w="12700">
            <a:noFill/>
            <a:prstDash val="solid"/>
          </a:ln>
        </p:spPr>
        <p:txBody>
          <a:bodyPr wrap="square" lIns="91440" tIns="45720" rIns="91440" bIns="45720" rtlCol="0" anchor="t">
            <a:noAutofit/>
          </a:bodyPr>
          <a:lstStyle/>
          <a:p>
            <a:pPr algn="ctr">
              <a:defRPr/>
            </a:pPr>
          </a:p>
        </p:txBody>
      </p:sp>
      <p:sp>
        <p:nvSpPr>
          <p:cNvPr id="32" name="Freeform 32"/>
          <p:cNvSpPr/>
          <p:nvPr/>
        </p:nvSpPr>
        <p:spPr>
          <a:xfrm>
            <a:off x="6363747" y="6198145"/>
            <a:ext cx="114402" cy="114402"/>
          </a:xfrm>
          <a:custGeom>
            <a:avLst/>
            <a:gdLst/>
            <a:ahLst/>
            <a:cxnLst/>
            <a:rect l="l" t="t" r="r" b="b"/>
            <a:pathLst>
              <a:path w="114402" h="114402">
                <a:moveTo>
                  <a:pt x="16344" y="0"/>
                </a:moveTo>
                <a:cubicBezTo>
                  <a:pt x="7329" y="0"/>
                  <a:pt x="0" y="7328"/>
                  <a:pt x="0" y="16343"/>
                </a:cubicBezTo>
                <a:lnTo>
                  <a:pt x="0" y="32686"/>
                </a:lnTo>
                <a:cubicBezTo>
                  <a:pt x="0" y="41700"/>
                  <a:pt x="7329" y="49029"/>
                  <a:pt x="16344" y="49029"/>
                </a:cubicBezTo>
                <a:lnTo>
                  <a:pt x="98059" y="49029"/>
                </a:lnTo>
                <a:cubicBezTo>
                  <a:pt x="107072" y="49029"/>
                  <a:pt x="114402" y="41700"/>
                  <a:pt x="114402" y="32686"/>
                </a:cubicBezTo>
                <a:lnTo>
                  <a:pt x="114402" y="16343"/>
                </a:lnTo>
                <a:cubicBezTo>
                  <a:pt x="114402" y="7328"/>
                  <a:pt x="107072" y="0"/>
                  <a:pt x="98059" y="0"/>
                </a:cubicBezTo>
                <a:lnTo>
                  <a:pt x="16344" y="0"/>
                </a:lnTo>
                <a:close/>
                <a:moveTo>
                  <a:pt x="71501" y="18386"/>
                </a:moveTo>
                <a:cubicBezTo>
                  <a:pt x="74884" y="18386"/>
                  <a:pt x="77630" y="21132"/>
                  <a:pt x="77630" y="24514"/>
                </a:cubicBezTo>
                <a:cubicBezTo>
                  <a:pt x="77630" y="27897"/>
                  <a:pt x="74884" y="30643"/>
                  <a:pt x="71501" y="30643"/>
                </a:cubicBezTo>
                <a:cubicBezTo>
                  <a:pt x="68119" y="30643"/>
                  <a:pt x="65373" y="27897"/>
                  <a:pt x="65373" y="24514"/>
                </a:cubicBezTo>
                <a:cubicBezTo>
                  <a:pt x="65373" y="21132"/>
                  <a:pt x="68119" y="18386"/>
                  <a:pt x="71501" y="18386"/>
                </a:cubicBezTo>
                <a:close/>
                <a:moveTo>
                  <a:pt x="85802" y="24514"/>
                </a:moveTo>
                <a:cubicBezTo>
                  <a:pt x="85802" y="21132"/>
                  <a:pt x="88548" y="18386"/>
                  <a:pt x="91930" y="18386"/>
                </a:cubicBezTo>
                <a:cubicBezTo>
                  <a:pt x="95313" y="18386"/>
                  <a:pt x="98059" y="21132"/>
                  <a:pt x="98059" y="24514"/>
                </a:cubicBezTo>
                <a:cubicBezTo>
                  <a:pt x="98059" y="27897"/>
                  <a:pt x="95313" y="30643"/>
                  <a:pt x="91930" y="30643"/>
                </a:cubicBezTo>
                <a:cubicBezTo>
                  <a:pt x="88548" y="30643"/>
                  <a:pt x="85802" y="27897"/>
                  <a:pt x="85802" y="24514"/>
                </a:cubicBezTo>
                <a:close/>
                <a:moveTo>
                  <a:pt x="16344" y="65372"/>
                </a:moveTo>
                <a:cubicBezTo>
                  <a:pt x="7329" y="65372"/>
                  <a:pt x="0" y="72702"/>
                  <a:pt x="0" y="81715"/>
                </a:cubicBezTo>
                <a:lnTo>
                  <a:pt x="0" y="98058"/>
                </a:lnTo>
                <a:cubicBezTo>
                  <a:pt x="0" y="107073"/>
                  <a:pt x="7329" y="114402"/>
                  <a:pt x="16344" y="114402"/>
                </a:cubicBezTo>
                <a:lnTo>
                  <a:pt x="98059" y="114402"/>
                </a:lnTo>
                <a:cubicBezTo>
                  <a:pt x="107072" y="114402"/>
                  <a:pt x="114402" y="107073"/>
                  <a:pt x="114402" y="98058"/>
                </a:cubicBezTo>
                <a:lnTo>
                  <a:pt x="114402" y="81715"/>
                </a:lnTo>
                <a:cubicBezTo>
                  <a:pt x="114402" y="72702"/>
                  <a:pt x="107072" y="65372"/>
                  <a:pt x="98059" y="65372"/>
                </a:cubicBezTo>
                <a:lnTo>
                  <a:pt x="16344" y="65372"/>
                </a:lnTo>
                <a:close/>
                <a:moveTo>
                  <a:pt x="71501" y="83758"/>
                </a:moveTo>
                <a:cubicBezTo>
                  <a:pt x="74884" y="83758"/>
                  <a:pt x="77630" y="86504"/>
                  <a:pt x="77630" y="89887"/>
                </a:cubicBezTo>
                <a:cubicBezTo>
                  <a:pt x="77630" y="93269"/>
                  <a:pt x="74884" y="96016"/>
                  <a:pt x="71501" y="96016"/>
                </a:cubicBezTo>
                <a:cubicBezTo>
                  <a:pt x="68119" y="96016"/>
                  <a:pt x="65373" y="93269"/>
                  <a:pt x="65373" y="89887"/>
                </a:cubicBezTo>
                <a:cubicBezTo>
                  <a:pt x="65373" y="86504"/>
                  <a:pt x="68119" y="83758"/>
                  <a:pt x="71501" y="83758"/>
                </a:cubicBezTo>
                <a:close/>
                <a:moveTo>
                  <a:pt x="85802" y="89887"/>
                </a:moveTo>
                <a:cubicBezTo>
                  <a:pt x="85802" y="86504"/>
                  <a:pt x="88548" y="83758"/>
                  <a:pt x="91930" y="83758"/>
                </a:cubicBezTo>
                <a:cubicBezTo>
                  <a:pt x="95313" y="83758"/>
                  <a:pt x="98059" y="86504"/>
                  <a:pt x="98059" y="89887"/>
                </a:cubicBezTo>
                <a:cubicBezTo>
                  <a:pt x="98059" y="93269"/>
                  <a:pt x="95313" y="96016"/>
                  <a:pt x="91930" y="96016"/>
                </a:cubicBezTo>
                <a:cubicBezTo>
                  <a:pt x="88548" y="96016"/>
                  <a:pt x="85802" y="93269"/>
                  <a:pt x="85802" y="89887"/>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3" name="AutoShape 33"/>
          <p:cNvSpPr/>
          <p:nvPr/>
        </p:nvSpPr>
        <p:spPr>
          <a:xfrm>
            <a:off x="6544727" y="6165458"/>
            <a:ext cx="5220436" cy="196118"/>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7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Huawei NPU has been transformed into an AI inference server!</a:t>
            </a:r>
            <a:endParaRPr lang="en-US" sz="1100"/>
          </a:p>
        </p:txBody>
      </p:sp>
      <p:sp>
        <p:nvSpPr>
          <p:cNvPr id="34" name="Freeform 34"/>
          <p:cNvSpPr/>
          <p:nvPr/>
        </p:nvSpPr>
        <p:spPr>
          <a:xfrm>
            <a:off x="6369685" y="4568821"/>
            <a:ext cx="309234" cy="307160"/>
          </a:xfrm>
          <a:custGeom>
            <a:avLst/>
            <a:gdLst/>
            <a:ahLst/>
            <a:cxnLst/>
            <a:rect l="l" t="t" r="r" b="b"/>
            <a:pathLst>
              <a:path w="309234" h="307160">
                <a:moveTo>
                  <a:pt x="154617" y="307160"/>
                </a:moveTo>
                <a:cubicBezTo>
                  <a:pt x="239953" y="307160"/>
                  <a:pt x="309234" y="238343"/>
                  <a:pt x="309234" y="153580"/>
                </a:cubicBezTo>
                <a:cubicBezTo>
                  <a:pt x="309234" y="68816"/>
                  <a:pt x="239953" y="0"/>
                  <a:pt x="154617" y="0"/>
                </a:cubicBezTo>
                <a:cubicBezTo>
                  <a:pt x="69281" y="0"/>
                  <a:pt x="0" y="68816"/>
                  <a:pt x="0" y="153580"/>
                </a:cubicBezTo>
                <a:cubicBezTo>
                  <a:pt x="0" y="238343"/>
                  <a:pt x="69281" y="307160"/>
                  <a:pt x="154617" y="307160"/>
                </a:cubicBezTo>
                <a:close/>
                <a:moveTo>
                  <a:pt x="205591" y="127603"/>
                </a:moveTo>
                <a:lnTo>
                  <a:pt x="157276" y="204393"/>
                </a:lnTo>
                <a:cubicBezTo>
                  <a:pt x="154738" y="208412"/>
                  <a:pt x="150390" y="210932"/>
                  <a:pt x="145617" y="211173"/>
                </a:cubicBezTo>
                <a:cubicBezTo>
                  <a:pt x="140846" y="211413"/>
                  <a:pt x="136257" y="209253"/>
                  <a:pt x="133417" y="205414"/>
                </a:cubicBezTo>
                <a:lnTo>
                  <a:pt x="104426" y="167019"/>
                </a:lnTo>
                <a:cubicBezTo>
                  <a:pt x="99596" y="160660"/>
                  <a:pt x="100924" y="151661"/>
                  <a:pt x="107326" y="146860"/>
                </a:cubicBezTo>
                <a:cubicBezTo>
                  <a:pt x="113729" y="142061"/>
                  <a:pt x="122789" y="143382"/>
                  <a:pt x="127621" y="149741"/>
                </a:cubicBezTo>
                <a:lnTo>
                  <a:pt x="143927" y="171338"/>
                </a:lnTo>
                <a:lnTo>
                  <a:pt x="181012" y="112365"/>
                </a:lnTo>
                <a:cubicBezTo>
                  <a:pt x="185240" y="105647"/>
                  <a:pt x="194178" y="103548"/>
                  <a:pt x="201004" y="107808"/>
                </a:cubicBezTo>
                <a:cubicBezTo>
                  <a:pt x="207827" y="112066"/>
                  <a:pt x="209880" y="120884"/>
                  <a:pt x="205591" y="127663"/>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35" name="Freeform 35"/>
          <p:cNvSpPr/>
          <p:nvPr/>
        </p:nvSpPr>
        <p:spPr>
          <a:xfrm>
            <a:off x="6272530" y="4211320"/>
            <a:ext cx="5590540" cy="1101725"/>
          </a:xfrm>
          <a:custGeom>
            <a:avLst/>
            <a:gdLst/>
            <a:ahLst/>
            <a:cxnLst/>
            <a:rect l="l" t="t" r="r" b="b"/>
            <a:pathLst>
              <a:path w="5590540" h="1101725">
                <a:moveTo>
                  <a:pt x="77916" y="0"/>
                </a:moveTo>
                <a:lnTo>
                  <a:pt x="5512624" y="0"/>
                </a:lnTo>
                <a:cubicBezTo>
                  <a:pt x="5555657" y="0"/>
                  <a:pt x="5590540" y="83958"/>
                  <a:pt x="5590540" y="187523"/>
                </a:cubicBezTo>
                <a:lnTo>
                  <a:pt x="5590540" y="914202"/>
                </a:lnTo>
                <a:cubicBezTo>
                  <a:pt x="5590540" y="1017769"/>
                  <a:pt x="5555657" y="1101725"/>
                  <a:pt x="5512624" y="1101725"/>
                </a:cubicBezTo>
                <a:lnTo>
                  <a:pt x="77916" y="1101725"/>
                </a:lnTo>
                <a:cubicBezTo>
                  <a:pt x="34884" y="1101725"/>
                  <a:pt x="0" y="1017769"/>
                  <a:pt x="0" y="914202"/>
                </a:cubicBezTo>
                <a:lnTo>
                  <a:pt x="0" y="187523"/>
                </a:lnTo>
                <a:cubicBezTo>
                  <a:pt x="0" y="84027"/>
                  <a:pt x="34914" y="0"/>
                  <a:pt x="77916" y="0"/>
                </a:cubicBezTo>
                <a:close/>
              </a:path>
            </a:pathLst>
          </a:custGeom>
          <a:solidFill>
            <a:srgbClr val="5B92E5">
              <a:alpha val="10196"/>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36" name="AutoShape 36"/>
          <p:cNvSpPr/>
          <p:nvPr/>
        </p:nvSpPr>
        <p:spPr>
          <a:xfrm>
            <a:off x="6700520" y="4288790"/>
            <a:ext cx="4543425" cy="92202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Inference Service Started</a:t>
            </a:r>
            <a:endParaRPr lang="en-US" sz="1100"/>
          </a:p>
          <a:p>
            <a:pPr indent="0" algn="l">
              <a:lnSpc>
                <a:spcPct val="100000"/>
              </a:lnSpc>
            </a:pPr>
            <a:endParaRPr lang="en-US" sz="1100"/>
          </a:p>
          <a:p>
            <a:pPr indent="0" algn="l">
              <a:lnSpc>
                <a:spcPct val="100000"/>
              </a:lnSpc>
            </a:pP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Display</a:t>
            </a: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Platform plugin fl is activated</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7" name="Freeform 37"/>
          <p:cNvSpPr/>
          <p:nvPr/>
        </p:nvSpPr>
        <p:spPr>
          <a:xfrm>
            <a:off x="6402705" y="2032000"/>
            <a:ext cx="5132070" cy="628015"/>
          </a:xfrm>
          <a:custGeom>
            <a:avLst/>
            <a:gdLst/>
            <a:ahLst/>
            <a:cxnLst/>
            <a:rect l="l" t="t" r="r" b="b"/>
            <a:pathLst>
              <a:path w="5132070" h="628015">
                <a:moveTo>
                  <a:pt x="65378" y="0"/>
                </a:moveTo>
                <a:lnTo>
                  <a:pt x="5066692" y="0"/>
                </a:lnTo>
                <a:cubicBezTo>
                  <a:pt x="5102799" y="0"/>
                  <a:pt x="5132070" y="43259"/>
                  <a:pt x="5132070" y="96620"/>
                </a:cubicBezTo>
                <a:lnTo>
                  <a:pt x="5132070" y="531395"/>
                </a:lnTo>
                <a:cubicBezTo>
                  <a:pt x="5132070" y="584756"/>
                  <a:pt x="5102799" y="628015"/>
                  <a:pt x="5066692" y="628015"/>
                </a:cubicBezTo>
                <a:lnTo>
                  <a:pt x="65378" y="628015"/>
                </a:lnTo>
                <a:cubicBezTo>
                  <a:pt x="29295" y="628015"/>
                  <a:pt x="0" y="584721"/>
                  <a:pt x="0" y="531395"/>
                </a:cubicBezTo>
                <a:lnTo>
                  <a:pt x="0" y="96620"/>
                </a:lnTo>
                <a:cubicBezTo>
                  <a:pt x="0" y="43294"/>
                  <a:pt x="29295" y="0"/>
                  <a:pt x="65378"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070" b="0" i="0" u="none" strike="noStrike">
                <a:solidFill>
                  <a:srgbClr val="000000"/>
                </a:solidFill>
                <a:latin typeface="Calibri" panose="020F0502020204030204"/>
                <a:ea typeface="Calibri" panose="020F0502020204030204"/>
                <a:cs typeface="Calibri" panose="020F0502020204030204"/>
                <a:sym typeface="Calibri" panose="020F0502020204030204"/>
              </a:rPr>
              <a:t>vllm serve --model /root/Qwen3-4B --served-model-name qwen --enforce-eager --port 30000</a:t>
            </a:r>
            <a:endParaRPr lang="en-US" sz="1100"/>
          </a:p>
          <a:p>
            <a:pPr indent="0" algn="l">
              <a:lnSpc>
                <a:spcPct val="100000"/>
              </a:lnSpc>
            </a:pPr>
            <a:endParaRPr lang="en-US" sz="1100"/>
          </a:p>
          <a:p>
            <a:pPr indent="0" algn="l">
              <a:lnSpc>
                <a:spcPct val="100000"/>
              </a:lnSpc>
            </a:pPr>
            <a:r>
              <a:rPr lang="en-US" sz="107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8" name="Freeform 38"/>
          <p:cNvSpPr/>
          <p:nvPr/>
        </p:nvSpPr>
        <p:spPr>
          <a:xfrm>
            <a:off x="6409690" y="2886075"/>
            <a:ext cx="5159375" cy="1229995"/>
          </a:xfrm>
          <a:custGeom>
            <a:avLst/>
            <a:gdLst/>
            <a:ahLst/>
            <a:cxnLst/>
            <a:rect l="l" t="t" r="r" b="b"/>
            <a:pathLst>
              <a:path w="5159375" h="1229995">
                <a:moveTo>
                  <a:pt x="154588" y="0"/>
                </a:moveTo>
                <a:lnTo>
                  <a:pt x="5004787" y="0"/>
                </a:lnTo>
                <a:cubicBezTo>
                  <a:pt x="5090107" y="0"/>
                  <a:pt x="5159375" y="68892"/>
                  <a:pt x="5159375" y="153749"/>
                </a:cubicBezTo>
                <a:lnTo>
                  <a:pt x="5159375" y="1076246"/>
                </a:lnTo>
                <a:cubicBezTo>
                  <a:pt x="5159375" y="1161103"/>
                  <a:pt x="5090107" y="1229995"/>
                  <a:pt x="5004787" y="1229995"/>
                </a:cubicBezTo>
                <a:lnTo>
                  <a:pt x="154588" y="1229995"/>
                </a:lnTo>
                <a:cubicBezTo>
                  <a:pt x="69268" y="1229995"/>
                  <a:pt x="0" y="1161103"/>
                  <a:pt x="0" y="1076246"/>
                </a:cubicBezTo>
                <a:lnTo>
                  <a:pt x="0" y="153749"/>
                </a:lnTo>
                <a:cubicBezTo>
                  <a:pt x="0" y="68892"/>
                  <a:pt x="69268" y="0"/>
                  <a:pt x="154588" y="0"/>
                </a:cubicBezTo>
                <a:close/>
              </a:path>
            </a:pathLst>
          </a:custGeom>
          <a:solidFill>
            <a:srgbClr val="5B92E5">
              <a:alpha val="10196"/>
            </a:srgbClr>
          </a:solidFill>
          <a:ln w="12700">
            <a:noFill/>
            <a:prstDash val="solid"/>
          </a:ln>
        </p:spPr>
        <p:txBody>
          <a:bodyPr wrap="square" lIns="91440" tIns="45720" rIns="91440" bIns="45720" rtlCol="0" anchor="t">
            <a:noAutofit/>
          </a:bodyPr>
          <a:lstStyle/>
          <a:p>
            <a:pPr indent="0" algn="l">
              <a:lnSpc>
                <a:spcPct val="100000"/>
              </a:lnSpc>
              <a:defRPr/>
            </a:pPr>
            <a:r>
              <a:rPr lang="en-US" sz="1425" b="0" i="0" u="none" strike="noStrike">
                <a:solidFill>
                  <a:srgbClr val="000000"/>
                </a:solidFill>
                <a:latin typeface="Calibri" panose="020F0502020204030204"/>
                <a:ea typeface="Calibri" panose="020F0502020204030204"/>
                <a:cs typeface="Calibri" panose="020F0502020204030204"/>
                <a:sym typeface="Calibri" panose="020F0502020204030204"/>
              </a:rPr>
              <a:t>--model </a:t>
            </a:r>
            <a:r>
              <a:rPr lang="en-US" sz="1425"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Model weights path</a:t>
            </a:r>
            <a:endParaRPr lang="en-US" sz="1100"/>
          </a:p>
          <a:p>
            <a:pPr indent="0" algn="l">
              <a:lnSpc>
                <a:spcPct val="100000"/>
              </a:lnSpc>
            </a:pPr>
            <a:r>
              <a:rPr lang="en-US" sz="1425" b="0" i="0" u="none" strike="noStrike">
                <a:solidFill>
                  <a:srgbClr val="000000"/>
                </a:solidFill>
                <a:latin typeface="Calibri" panose="020F0502020204030204"/>
                <a:ea typeface="Calibri" panose="020F0502020204030204"/>
                <a:cs typeface="Calibri" panose="020F0502020204030204"/>
                <a:sym typeface="Calibri" panose="020F0502020204030204"/>
              </a:rPr>
              <a:t>--served-model-name </a:t>
            </a:r>
            <a:r>
              <a:rPr lang="en-US" sz="1425"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Service external name</a:t>
            </a:r>
            <a:endPar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425" b="0" i="0" u="none" strike="noStrike">
                <a:solidFill>
                  <a:srgbClr val="000000"/>
                </a:solidFill>
                <a:latin typeface="Calibri" panose="020F0502020204030204"/>
                <a:ea typeface="Calibri" panose="020F0502020204030204"/>
                <a:cs typeface="Calibri" panose="020F0502020204030204"/>
                <a:sym typeface="Calibri" panose="020F0502020204030204"/>
              </a:rPr>
              <a:t>--enforce-eager</a:t>
            </a:r>
            <a:r>
              <a:rPr lang="en-US" sz="1425"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Disable</a:t>
            </a:r>
            <a:r>
              <a:rPr lang="en-US" sz="1425" b="0" i="0" u="none" strike="noStrike">
                <a:solidFill>
                  <a:srgbClr val="000000"/>
                </a:solidFill>
                <a:latin typeface="Calibri" panose="020F0502020204030204"/>
                <a:ea typeface="Calibri" panose="020F0502020204030204"/>
                <a:cs typeface="Calibri" panose="020F0502020204030204"/>
                <a:sym typeface="Calibri" panose="020F0502020204030204"/>
              </a:rPr>
              <a:t>CUDA Graph</a:t>
            </a:r>
            <a:r>
              <a:rPr lang="en-US" sz="1425"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425" b="0" i="0" u="none" strike="noStrike">
                <a:solidFill>
                  <a:srgbClr val="000000"/>
                </a:solidFill>
                <a:latin typeface="Calibri" panose="020F0502020204030204"/>
                <a:ea typeface="Calibri" panose="020F0502020204030204"/>
                <a:cs typeface="Calibri" panose="020F0502020204030204"/>
                <a:sym typeface="Calibri" panose="020F0502020204030204"/>
              </a:rPr>
              <a:t>NPU</a:t>
            </a:r>
            <a:r>
              <a:rPr lang="en-US" sz="1425"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compatible)</a:t>
            </a:r>
            <a:endPar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425" b="0" i="0" u="none" strike="noStrike">
                <a:solidFill>
                  <a:srgbClr val="000000"/>
                </a:solidFill>
                <a:latin typeface="Calibri" panose="020F0502020204030204"/>
                <a:ea typeface="Calibri" panose="020F0502020204030204"/>
                <a:cs typeface="Calibri" panose="020F0502020204030204"/>
                <a:sym typeface="Calibri" panose="020F0502020204030204"/>
              </a:rPr>
              <a:t>--port </a:t>
            </a:r>
            <a:r>
              <a:rPr lang="en-US" sz="1425"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Service runs on</a:t>
            </a:r>
            <a:r>
              <a:rPr lang="en-US" sz="1425" b="0" i="0" u="none" strike="noStrike">
                <a:solidFill>
                  <a:srgbClr val="000000"/>
                </a:solidFill>
                <a:latin typeface="Calibri" panose="020F0502020204030204"/>
                <a:ea typeface="Calibri" panose="020F0502020204030204"/>
                <a:cs typeface="Calibri" panose="020F0502020204030204"/>
                <a:sym typeface="Calibri" panose="020F0502020204030204"/>
              </a:rPr>
              <a:t>30000</a:t>
            </a:r>
            <a:r>
              <a:rPr lang="en-US" sz="1425"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port</a:t>
            </a:r>
            <a:endPar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39" name="Freeform 39"/>
          <p:cNvSpPr/>
          <p:nvPr/>
        </p:nvSpPr>
        <p:spPr>
          <a:xfrm>
            <a:off x="6272530" y="5567680"/>
            <a:ext cx="5590540" cy="1101725"/>
          </a:xfrm>
          <a:custGeom>
            <a:avLst/>
            <a:gdLst/>
            <a:ahLst/>
            <a:cxnLst/>
            <a:rect l="l" t="t" r="r" b="b"/>
            <a:pathLst>
              <a:path w="5590540" h="1101725">
                <a:moveTo>
                  <a:pt x="77916" y="0"/>
                </a:moveTo>
                <a:lnTo>
                  <a:pt x="5512624" y="0"/>
                </a:lnTo>
                <a:cubicBezTo>
                  <a:pt x="5555657" y="0"/>
                  <a:pt x="5590540" y="83958"/>
                  <a:pt x="5590540" y="187523"/>
                </a:cubicBezTo>
                <a:lnTo>
                  <a:pt x="5590540" y="914202"/>
                </a:lnTo>
                <a:cubicBezTo>
                  <a:pt x="5590540" y="1017769"/>
                  <a:pt x="5555657" y="1101725"/>
                  <a:pt x="5512624" y="1101725"/>
                </a:cubicBezTo>
                <a:lnTo>
                  <a:pt x="77916" y="1101725"/>
                </a:lnTo>
                <a:cubicBezTo>
                  <a:pt x="34884" y="1101725"/>
                  <a:pt x="0" y="1017769"/>
                  <a:pt x="0" y="914202"/>
                </a:cubicBezTo>
                <a:lnTo>
                  <a:pt x="0" y="187523"/>
                </a:lnTo>
                <a:cubicBezTo>
                  <a:pt x="0" y="84027"/>
                  <a:pt x="34914" y="0"/>
                  <a:pt x="77916" y="0"/>
                </a:cubicBezTo>
                <a:close/>
              </a:path>
            </a:pathLst>
          </a:custGeom>
          <a:solidFill>
            <a:srgbClr val="5B92E5">
              <a:alpha val="10196"/>
            </a:srgbClr>
          </a:solidFill>
          <a:ln w="12700">
            <a:noFill/>
            <a:prstDash val="solid"/>
          </a:ln>
        </p:spPr>
        <p:txBody>
          <a:bodyPr wrap="square" lIns="91440" tIns="45720" rIns="91440" bIns="45720" rtlCol="0" anchor="t">
            <a:noAutofit/>
          </a:bodyPr>
          <a:lstStyle/>
          <a:p>
            <a:pPr indent="0" algn="l">
              <a:lnSpc>
                <a:spcPct val="100000"/>
              </a:lnSpc>
              <a:defRPr/>
            </a:pPr>
            <a:r>
              <a:rPr lang="en-US" sz="134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When the inference service starts, it automatically launches</a:t>
            </a:r>
            <a:r>
              <a:rPr lang="en-US" sz="1340" b="0" i="0" u="none" strike="noStrike">
                <a:solidFill>
                  <a:srgbClr val="000000"/>
                </a:solidFill>
                <a:latin typeface="Calibri" panose="020F0502020204030204"/>
                <a:ea typeface="Calibri" panose="020F0502020204030204"/>
                <a:cs typeface="Calibri" panose="020F0502020204030204"/>
                <a:sym typeface="Calibri" panose="020F0502020204030204"/>
              </a:rPr>
              <a:t>FlagGems</a:t>
            </a:r>
            <a:r>
              <a:rPr lang="en-US" sz="134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operators, which can be queried via</a:t>
            </a:r>
            <a:b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br>
            <a:r>
              <a:rPr lang="en-US" sz="1340" b="0" i="0" u="none" strike="noStrike">
                <a:solidFill>
                  <a:srgbClr val="000000"/>
                </a:solidFill>
                <a:latin typeface="Calibri" panose="020F0502020204030204"/>
                <a:ea typeface="Calibri" panose="020F0502020204030204"/>
                <a:cs typeface="Calibri" panose="020F0502020204030204"/>
                <a:sym typeface="Calibri" panose="020F0502020204030204"/>
              </a:rPr>
              <a:t>cat /tmp/flaggems_enable_oplist.txt </a:t>
            </a:r>
            <a:r>
              <a:rPr lang="en-US" sz="134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to view activated</a:t>
            </a:r>
            <a:r>
              <a:rPr lang="en-US" sz="1340" b="0" i="0" u="none" strike="noStrike">
                <a:solidFill>
                  <a:srgbClr val="000000"/>
                </a:solidFill>
                <a:latin typeface="Calibri" panose="020F0502020204030204"/>
                <a:ea typeface="Calibri" panose="020F0502020204030204"/>
                <a:cs typeface="Calibri" panose="020F0502020204030204"/>
                <a:sym typeface="Calibri" panose="020F0502020204030204"/>
              </a:rPr>
              <a:t>FlagGems</a:t>
            </a:r>
            <a:r>
              <a:rPr lang="en-US" sz="134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operators</a:t>
            </a:r>
            <a:endParaRPr lang="en-US" sz="11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81000" y="647700"/>
            <a:ext cx="6021705"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146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Step 6: Client Configuration and Conversation</a:t>
            </a:r>
            <a:endParaRPr lang="en-US" sz="1100"/>
          </a:p>
        </p:txBody>
      </p:sp>
      <p:sp>
        <p:nvSpPr>
          <p:cNvPr id="3" name="Freeform 3"/>
          <p:cNvSpPr/>
          <p:nvPr/>
        </p:nvSpPr>
        <p:spPr>
          <a:xfrm>
            <a:off x="381000" y="14859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400050" y="1676400"/>
            <a:ext cx="5600700" cy="4349115"/>
          </a:xfrm>
          <a:custGeom>
            <a:avLst/>
            <a:gdLst/>
            <a:ahLst/>
            <a:cxnLst/>
            <a:rect l="l" t="t" r="r" b="b"/>
            <a:pathLst>
              <a:path w="5600700" h="4349115">
                <a:moveTo>
                  <a:pt x="38100" y="0"/>
                </a:moveTo>
                <a:lnTo>
                  <a:pt x="5486397" y="0"/>
                </a:lnTo>
                <a:cubicBezTo>
                  <a:pt x="5549483" y="0"/>
                  <a:pt x="5600700" y="91708"/>
                  <a:pt x="5600700" y="204669"/>
                </a:cubicBezTo>
                <a:lnTo>
                  <a:pt x="5600700" y="4144446"/>
                </a:lnTo>
                <a:cubicBezTo>
                  <a:pt x="5600700" y="4257407"/>
                  <a:pt x="5549483" y="4349115"/>
                  <a:pt x="5486397" y="4349115"/>
                </a:cubicBezTo>
                <a:lnTo>
                  <a:pt x="38100" y="4349115"/>
                </a:lnTo>
                <a:cubicBezTo>
                  <a:pt x="17073" y="4349115"/>
                  <a:pt x="0" y="4318546"/>
                  <a:pt x="0" y="4280893"/>
                </a:cubicBezTo>
                <a:lnTo>
                  <a:pt x="0" y="68222"/>
                </a:lnTo>
                <a:cubicBezTo>
                  <a:pt x="0" y="30569"/>
                  <a:pt x="17073" y="0"/>
                  <a:pt x="38100" y="0"/>
                </a:cubicBezTo>
                <a:close/>
              </a:path>
            </a:pathLst>
          </a:custGeom>
          <a:solidFill>
            <a:srgbClr val="FFFFFF">
              <a:alpha val="100000"/>
            </a:srgbClr>
          </a:soli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5" name="Freeform 5"/>
          <p:cNvSpPr/>
          <p:nvPr/>
        </p:nvSpPr>
        <p:spPr>
          <a:xfrm>
            <a:off x="400050" y="1676400"/>
            <a:ext cx="38100" cy="2428875"/>
          </a:xfrm>
          <a:custGeom>
            <a:avLst/>
            <a:gdLst/>
            <a:ahLst/>
            <a:cxnLst/>
            <a:rect l="l" t="t" r="r" b="b"/>
            <a:pathLst>
              <a:path w="38100" h="2428875">
                <a:moveTo>
                  <a:pt x="38100" y="0"/>
                </a:moveTo>
                <a:lnTo>
                  <a:pt x="38100" y="0"/>
                </a:lnTo>
                <a:lnTo>
                  <a:pt x="38100" y="2428875"/>
                </a:lnTo>
                <a:lnTo>
                  <a:pt x="38100" y="2428875"/>
                </a:lnTo>
                <a:cubicBezTo>
                  <a:pt x="17073" y="2428875"/>
                  <a:pt x="0" y="2411802"/>
                  <a:pt x="0" y="2390775"/>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600357" y="1963818"/>
            <a:ext cx="192063" cy="202405"/>
          </a:xfrm>
          <a:custGeom>
            <a:avLst/>
            <a:gdLst/>
            <a:ahLst/>
            <a:cxnLst/>
            <a:rect l="l" t="t" r="r" b="b"/>
            <a:pathLst>
              <a:path w="192063" h="202405">
                <a:moveTo>
                  <a:pt x="73262" y="9486"/>
                </a:moveTo>
                <a:cubicBezTo>
                  <a:pt x="74378" y="3980"/>
                  <a:pt x="79252" y="0"/>
                  <a:pt x="84908" y="0"/>
                </a:cubicBezTo>
                <a:lnTo>
                  <a:pt x="107158" y="0"/>
                </a:lnTo>
                <a:cubicBezTo>
                  <a:pt x="112813" y="0"/>
                  <a:pt x="117688" y="3980"/>
                  <a:pt x="118803" y="9486"/>
                </a:cubicBezTo>
                <a:lnTo>
                  <a:pt x="124198" y="35532"/>
                </a:lnTo>
                <a:cubicBezTo>
                  <a:pt x="129445" y="37764"/>
                  <a:pt x="134356" y="40629"/>
                  <a:pt x="138822" y="44015"/>
                </a:cubicBezTo>
                <a:lnTo>
                  <a:pt x="164048" y="35643"/>
                </a:lnTo>
                <a:cubicBezTo>
                  <a:pt x="169404" y="33856"/>
                  <a:pt x="175285" y="36090"/>
                  <a:pt x="178112" y="41001"/>
                </a:cubicBezTo>
                <a:lnTo>
                  <a:pt x="189236" y="60274"/>
                </a:lnTo>
                <a:cubicBezTo>
                  <a:pt x="192064" y="65186"/>
                  <a:pt x="191059" y="71362"/>
                  <a:pt x="186817" y="75120"/>
                </a:cubicBezTo>
                <a:lnTo>
                  <a:pt x="166986" y="92756"/>
                </a:lnTo>
                <a:cubicBezTo>
                  <a:pt x="167320" y="95509"/>
                  <a:pt x="167470" y="98337"/>
                  <a:pt x="167470" y="101202"/>
                </a:cubicBezTo>
                <a:cubicBezTo>
                  <a:pt x="167470" y="104067"/>
                  <a:pt x="167284" y="106895"/>
                  <a:pt x="166986" y="109647"/>
                </a:cubicBezTo>
                <a:lnTo>
                  <a:pt x="186856" y="127321"/>
                </a:lnTo>
                <a:cubicBezTo>
                  <a:pt x="191097" y="131079"/>
                  <a:pt x="192064" y="137293"/>
                  <a:pt x="189274" y="142167"/>
                </a:cubicBezTo>
                <a:lnTo>
                  <a:pt x="178148" y="161439"/>
                </a:lnTo>
                <a:cubicBezTo>
                  <a:pt x="175321" y="166314"/>
                  <a:pt x="169443" y="168584"/>
                  <a:pt x="164084" y="166798"/>
                </a:cubicBezTo>
                <a:lnTo>
                  <a:pt x="138858" y="158426"/>
                </a:lnTo>
                <a:cubicBezTo>
                  <a:pt x="134356" y="161811"/>
                  <a:pt x="129445" y="164640"/>
                  <a:pt x="124236" y="166911"/>
                </a:cubicBezTo>
                <a:lnTo>
                  <a:pt x="118878" y="192918"/>
                </a:lnTo>
                <a:cubicBezTo>
                  <a:pt x="117724" y="198461"/>
                  <a:pt x="112850" y="202404"/>
                  <a:pt x="107232" y="202404"/>
                </a:cubicBezTo>
                <a:lnTo>
                  <a:pt x="84982" y="202404"/>
                </a:lnTo>
                <a:cubicBezTo>
                  <a:pt x="79327" y="202404"/>
                  <a:pt x="74453" y="198424"/>
                  <a:pt x="73337" y="192918"/>
                </a:cubicBezTo>
                <a:lnTo>
                  <a:pt x="67978" y="166911"/>
                </a:lnTo>
                <a:cubicBezTo>
                  <a:pt x="62732" y="164677"/>
                  <a:pt x="57858" y="161811"/>
                  <a:pt x="53356" y="158426"/>
                </a:cubicBezTo>
                <a:lnTo>
                  <a:pt x="28018" y="166798"/>
                </a:lnTo>
                <a:cubicBezTo>
                  <a:pt x="22660" y="168584"/>
                  <a:pt x="16782" y="166352"/>
                  <a:pt x="13954" y="161439"/>
                </a:cubicBezTo>
                <a:lnTo>
                  <a:pt x="2829" y="142167"/>
                </a:lnTo>
                <a:cubicBezTo>
                  <a:pt x="0" y="137256"/>
                  <a:pt x="1006" y="131079"/>
                  <a:pt x="5247" y="127321"/>
                </a:cubicBezTo>
                <a:lnTo>
                  <a:pt x="25116" y="109647"/>
                </a:lnTo>
                <a:cubicBezTo>
                  <a:pt x="24781" y="106895"/>
                  <a:pt x="24632" y="104067"/>
                  <a:pt x="24632" y="101202"/>
                </a:cubicBezTo>
                <a:cubicBezTo>
                  <a:pt x="24632" y="98337"/>
                  <a:pt x="24818" y="95509"/>
                  <a:pt x="25116" y="92756"/>
                </a:cubicBezTo>
                <a:lnTo>
                  <a:pt x="5247" y="75083"/>
                </a:lnTo>
                <a:cubicBezTo>
                  <a:pt x="1006" y="71325"/>
                  <a:pt x="39" y="65111"/>
                  <a:pt x="2829" y="60237"/>
                </a:cubicBezTo>
                <a:lnTo>
                  <a:pt x="13954" y="40965"/>
                </a:lnTo>
                <a:cubicBezTo>
                  <a:pt x="16782" y="36052"/>
                  <a:pt x="22660" y="33820"/>
                  <a:pt x="28018" y="35606"/>
                </a:cubicBezTo>
                <a:lnTo>
                  <a:pt x="53245" y="43978"/>
                </a:lnTo>
                <a:cubicBezTo>
                  <a:pt x="57747" y="40593"/>
                  <a:pt x="62658" y="37764"/>
                  <a:pt x="67867" y="35493"/>
                </a:cubicBezTo>
                <a:lnTo>
                  <a:pt x="73262" y="9486"/>
                </a:lnTo>
                <a:close/>
                <a:moveTo>
                  <a:pt x="96033" y="130968"/>
                </a:moveTo>
                <a:cubicBezTo>
                  <a:pt x="106666" y="130928"/>
                  <a:pt x="116472" y="125218"/>
                  <a:pt x="121755" y="115989"/>
                </a:cubicBezTo>
                <a:cubicBezTo>
                  <a:pt x="127037" y="106760"/>
                  <a:pt x="126995" y="95412"/>
                  <a:pt x="121644" y="86224"/>
                </a:cubicBezTo>
                <a:cubicBezTo>
                  <a:pt x="116291" y="77033"/>
                  <a:pt x="106444" y="71396"/>
                  <a:pt x="95809" y="71436"/>
                </a:cubicBezTo>
                <a:cubicBezTo>
                  <a:pt x="85176" y="71476"/>
                  <a:pt x="75370" y="77186"/>
                  <a:pt x="70087" y="86415"/>
                </a:cubicBezTo>
                <a:cubicBezTo>
                  <a:pt x="64805" y="95644"/>
                  <a:pt x="64847" y="106992"/>
                  <a:pt x="70198" y="116180"/>
                </a:cubicBezTo>
                <a:cubicBezTo>
                  <a:pt x="75551" y="125371"/>
                  <a:pt x="85398" y="131008"/>
                  <a:pt x="96033" y="130968"/>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874395" y="1905000"/>
            <a:ext cx="52863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88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Configure Model Address and Name</a:t>
            </a:r>
            <a:endParaRPr lang="en-US" sz="1100"/>
          </a:p>
        </p:txBody>
      </p:sp>
      <p:sp>
        <p:nvSpPr>
          <p:cNvPr id="8" name="Freeform 8"/>
          <p:cNvSpPr/>
          <p:nvPr/>
        </p:nvSpPr>
        <p:spPr>
          <a:xfrm>
            <a:off x="6572250" y="3357563"/>
            <a:ext cx="4895850" cy="9525"/>
          </a:xfrm>
          <a:custGeom>
            <a:avLst/>
            <a:gdLst/>
            <a:ahLst/>
            <a:cxnLst/>
            <a:rect l="l" t="t" r="r" b="b"/>
            <a:pathLst>
              <a:path w="4895850" h="9525">
                <a:moveTo>
                  <a:pt x="0" y="0"/>
                </a:moveTo>
                <a:lnTo>
                  <a:pt x="4895850" y="0"/>
                </a:lnTo>
                <a:lnTo>
                  <a:pt x="4895850" y="9525"/>
                </a:lnTo>
                <a:lnTo>
                  <a:pt x="0" y="9525"/>
                </a:lnTo>
                <a:lnTo>
                  <a:pt x="0" y="0"/>
                </a:lnTo>
                <a:close/>
              </a:path>
            </a:pathLst>
          </a:custGeom>
          <a:solidFill>
            <a:srgbClr val="FFFFFF">
              <a:alpha val="2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6547247" y="5095467"/>
            <a:ext cx="145666" cy="174501"/>
          </a:xfrm>
          <a:custGeom>
            <a:avLst/>
            <a:gdLst/>
            <a:ahLst/>
            <a:cxnLst/>
            <a:rect l="l" t="t" r="r" b="b"/>
            <a:pathLst>
              <a:path w="145666" h="174501">
                <a:moveTo>
                  <a:pt x="94172" y="20500"/>
                </a:moveTo>
                <a:cubicBezTo>
                  <a:pt x="98041" y="15180"/>
                  <a:pt x="96850" y="7738"/>
                  <a:pt x="91530" y="3869"/>
                </a:cubicBezTo>
                <a:cubicBezTo>
                  <a:pt x="86209" y="0"/>
                  <a:pt x="78768" y="1190"/>
                  <a:pt x="74898" y="6510"/>
                </a:cubicBezTo>
                <a:lnTo>
                  <a:pt x="35459" y="60721"/>
                </a:lnTo>
                <a:lnTo>
                  <a:pt x="21506" y="46769"/>
                </a:lnTo>
                <a:cubicBezTo>
                  <a:pt x="16855" y="42118"/>
                  <a:pt x="9302" y="42118"/>
                  <a:pt x="4650" y="46769"/>
                </a:cubicBezTo>
                <a:cubicBezTo>
                  <a:pt x="0" y="51419"/>
                  <a:pt x="0" y="58972"/>
                  <a:pt x="4650" y="63623"/>
                </a:cubicBezTo>
                <a:lnTo>
                  <a:pt x="28464" y="87437"/>
                </a:lnTo>
                <a:cubicBezTo>
                  <a:pt x="30919" y="89891"/>
                  <a:pt x="34342" y="91156"/>
                  <a:pt x="37803" y="90896"/>
                </a:cubicBezTo>
                <a:cubicBezTo>
                  <a:pt x="41263" y="90636"/>
                  <a:pt x="44462" y="88850"/>
                  <a:pt x="46508" y="86022"/>
                </a:cubicBezTo>
                <a:lnTo>
                  <a:pt x="94133" y="20538"/>
                </a:lnTo>
                <a:close/>
                <a:moveTo>
                  <a:pt x="141797" y="71102"/>
                </a:moveTo>
                <a:cubicBezTo>
                  <a:pt x="145666" y="65780"/>
                  <a:pt x="144475" y="58340"/>
                  <a:pt x="139155" y="54470"/>
                </a:cubicBezTo>
                <a:cubicBezTo>
                  <a:pt x="133834" y="50601"/>
                  <a:pt x="126393" y="51791"/>
                  <a:pt x="122523" y="57111"/>
                </a:cubicBezTo>
                <a:lnTo>
                  <a:pt x="59271" y="144065"/>
                </a:lnTo>
                <a:lnTo>
                  <a:pt x="33412" y="118206"/>
                </a:lnTo>
                <a:cubicBezTo>
                  <a:pt x="28761" y="113555"/>
                  <a:pt x="21207" y="113555"/>
                  <a:pt x="16558" y="118206"/>
                </a:cubicBezTo>
                <a:cubicBezTo>
                  <a:pt x="11907" y="122857"/>
                  <a:pt x="11907" y="130410"/>
                  <a:pt x="16558" y="135062"/>
                </a:cubicBezTo>
                <a:lnTo>
                  <a:pt x="52275" y="170779"/>
                </a:lnTo>
                <a:cubicBezTo>
                  <a:pt x="54732" y="173235"/>
                  <a:pt x="58156" y="174500"/>
                  <a:pt x="61615" y="174240"/>
                </a:cubicBezTo>
                <a:cubicBezTo>
                  <a:pt x="65075" y="173979"/>
                  <a:pt x="68275" y="172193"/>
                  <a:pt x="70322" y="169365"/>
                </a:cubicBezTo>
                <a:lnTo>
                  <a:pt x="141758" y="71139"/>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pic>
        <p:nvPicPr>
          <p:cNvPr id="10" name="Picture 10"/>
          <p:cNvPicPr>
            <a:picLocks noChangeAspect="1"/>
          </p:cNvPicPr>
          <p:nvPr/>
        </p:nvPicPr>
        <p:blipFill>
          <a:blip r:embed="rId1"/>
          <a:srcRect/>
          <a:stretch>
            <a:fillRect/>
          </a:stretch>
        </p:blipFill>
        <p:spPr>
          <a:xfrm>
            <a:off x="485775" y="2310765"/>
            <a:ext cx="5505450" cy="2780665"/>
          </a:xfrm>
          <a:prstGeom prst="rect">
            <a:avLst/>
          </a:prstGeom>
          <a:ln w="12700">
            <a:noFill/>
            <a:prstDash val="solid"/>
          </a:ln>
        </p:spPr>
      </p:pic>
      <p:pic>
        <p:nvPicPr>
          <p:cNvPr id="11" name="Picture 11"/>
          <p:cNvPicPr>
            <a:picLocks noChangeAspect="1"/>
          </p:cNvPicPr>
          <p:nvPr/>
        </p:nvPicPr>
        <p:blipFill>
          <a:blip r:embed="rId2"/>
          <a:srcRect/>
          <a:stretch>
            <a:fillRect/>
          </a:stretch>
        </p:blipFill>
        <p:spPr>
          <a:xfrm>
            <a:off x="6402705" y="647700"/>
            <a:ext cx="5019675" cy="3115945"/>
          </a:xfrm>
          <a:prstGeom prst="rect">
            <a:avLst/>
          </a:prstGeom>
          <a:ln w="12700">
            <a:noFill/>
            <a:prstDash val="solid"/>
          </a:ln>
        </p:spPr>
      </p:pic>
      <p:sp>
        <p:nvSpPr>
          <p:cNvPr id="12" name="Freeform 12"/>
          <p:cNvSpPr/>
          <p:nvPr/>
        </p:nvSpPr>
        <p:spPr>
          <a:xfrm>
            <a:off x="6336030" y="4500245"/>
            <a:ext cx="5132070" cy="628015"/>
          </a:xfrm>
          <a:custGeom>
            <a:avLst/>
            <a:gdLst/>
            <a:ahLst/>
            <a:cxnLst/>
            <a:rect l="l" t="t" r="r" b="b"/>
            <a:pathLst>
              <a:path w="5132070" h="628015">
                <a:moveTo>
                  <a:pt x="65378" y="0"/>
                </a:moveTo>
                <a:lnTo>
                  <a:pt x="5066692" y="0"/>
                </a:lnTo>
                <a:cubicBezTo>
                  <a:pt x="5102799" y="0"/>
                  <a:pt x="5132070" y="43259"/>
                  <a:pt x="5132070" y="96620"/>
                </a:cubicBezTo>
                <a:lnTo>
                  <a:pt x="5132070" y="531395"/>
                </a:lnTo>
                <a:cubicBezTo>
                  <a:pt x="5132070" y="584756"/>
                  <a:pt x="5102799" y="628015"/>
                  <a:pt x="5066692" y="628015"/>
                </a:cubicBezTo>
                <a:lnTo>
                  <a:pt x="65378" y="628015"/>
                </a:lnTo>
                <a:cubicBezTo>
                  <a:pt x="29295" y="628015"/>
                  <a:pt x="0" y="584721"/>
                  <a:pt x="0" y="531395"/>
                </a:cubicBezTo>
                <a:lnTo>
                  <a:pt x="0" y="96620"/>
                </a:lnTo>
                <a:cubicBezTo>
                  <a:pt x="0" y="43294"/>
                  <a:pt x="29295" y="0"/>
                  <a:pt x="65378"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070" b="0" i="0" u="none" strike="noStrike">
                <a:solidFill>
                  <a:srgbClr val="000000"/>
                </a:solidFill>
                <a:latin typeface="Calibri" panose="020F0502020204030204"/>
                <a:ea typeface="Calibri" panose="020F0502020204030204"/>
                <a:cs typeface="Calibri" panose="020F0502020204030204"/>
                <a:sym typeface="Calibri" panose="020F0502020204030204"/>
              </a:rPr>
              <a:t>vllm serve --model /root/Qwen3-4B --served-model-name </a:t>
            </a:r>
            <a:r>
              <a:rPr lang="en-US" sz="1070" b="1" i="0" u="none" strike="noStrike">
                <a:solidFill>
                  <a:srgbClr val="FF0000"/>
                </a:solidFill>
                <a:latin typeface="Calibri" panose="020F0502020204030204"/>
                <a:ea typeface="Calibri" panose="020F0502020204030204"/>
                <a:cs typeface="Calibri" panose="020F0502020204030204"/>
                <a:sym typeface="Calibri" panose="020F0502020204030204"/>
              </a:rPr>
              <a:t>qwen </a:t>
            </a:r>
            <a:r>
              <a:rPr lang="en-US" sz="1070" b="0" i="0" u="none" strike="noStrike">
                <a:solidFill>
                  <a:srgbClr val="000000"/>
                </a:solidFill>
                <a:latin typeface="Calibri" panose="020F0502020204030204"/>
                <a:ea typeface="Calibri" panose="020F0502020204030204"/>
                <a:cs typeface="Calibri" panose="020F0502020204030204"/>
                <a:sym typeface="Calibri" panose="020F0502020204030204"/>
              </a:rPr>
              <a:t>--enforce-eager --port 30000</a:t>
            </a:r>
            <a:endParaRPr lang="en-US" sz="1100"/>
          </a:p>
          <a:p>
            <a:pPr indent="0" algn="l">
              <a:lnSpc>
                <a:spcPct val="100000"/>
              </a:lnSpc>
            </a:pPr>
            <a:endParaRPr lang="en-US" sz="1100"/>
          </a:p>
          <a:p>
            <a:pPr indent="0" algn="l">
              <a:lnSpc>
                <a:spcPct val="100000"/>
              </a:lnSpc>
            </a:pPr>
            <a:r>
              <a:rPr lang="en-US" sz="107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cxnSp>
        <p:nvCxnSpPr>
          <p:cNvPr id="13" name="Connector 13"/>
          <p:cNvCxnSpPr/>
          <p:nvPr/>
        </p:nvCxnSpPr>
        <p:spPr>
          <a:xfrm rot="10800000" flipV="1">
            <a:off x="2951480" y="2802890"/>
            <a:ext cx="5102860" cy="897255"/>
          </a:xfrm>
          <a:prstGeom prst="straightConnector1">
            <a:avLst/>
          </a:prstGeom>
          <a:noFill/>
          <a:ln w="12700" cap="flat">
            <a:solidFill>
              <a:srgbClr val="FF0000">
                <a:alpha val="100000"/>
              </a:srgbClr>
            </a:solidFill>
            <a:prstDash val="solid"/>
            <a:headEnd type="none" w="med" len="med"/>
            <a:tailEnd type="arrow" w="med" len="med"/>
          </a:ln>
        </p:spPr>
      </p:cxnSp>
      <p:cxnSp>
        <p:nvCxnSpPr>
          <p:cNvPr id="14" name="Connector 14"/>
          <p:cNvCxnSpPr/>
          <p:nvPr/>
        </p:nvCxnSpPr>
        <p:spPr>
          <a:xfrm rot="10800000">
            <a:off x="5124450" y="4123690"/>
            <a:ext cx="1250950" cy="376555"/>
          </a:xfrm>
          <a:prstGeom prst="straightConnector1">
            <a:avLst/>
          </a:prstGeom>
          <a:noFill/>
          <a:ln w="12700" cap="flat">
            <a:solidFill>
              <a:srgbClr val="FF0000">
                <a:alpha val="100000"/>
              </a:srgbClr>
            </a:solidFill>
            <a:prstDash val="solid"/>
            <a:headEnd type="none" w="med" len="med"/>
            <a:tailEnd type="arrow" w="med" len="med"/>
          </a:ln>
        </p:spPr>
      </p:cxnSp>
      <p:sp>
        <p:nvSpPr>
          <p:cNvPr id="15" name="Freeform 15"/>
          <p:cNvSpPr/>
          <p:nvPr/>
        </p:nvSpPr>
        <p:spPr>
          <a:xfrm>
            <a:off x="6375400" y="3829685"/>
            <a:ext cx="5159375" cy="541020"/>
          </a:xfrm>
          <a:custGeom>
            <a:avLst/>
            <a:gdLst/>
            <a:ahLst/>
            <a:cxnLst/>
            <a:rect l="l" t="t" r="r" b="b"/>
            <a:pathLst>
              <a:path w="5159375" h="541020">
                <a:moveTo>
                  <a:pt x="154588" y="0"/>
                </a:moveTo>
                <a:lnTo>
                  <a:pt x="5004787" y="0"/>
                </a:lnTo>
                <a:cubicBezTo>
                  <a:pt x="5090107" y="0"/>
                  <a:pt x="5159375" y="30302"/>
                  <a:pt x="5159375" y="67627"/>
                </a:cubicBezTo>
                <a:lnTo>
                  <a:pt x="5159375" y="473393"/>
                </a:lnTo>
                <a:cubicBezTo>
                  <a:pt x="5159375" y="510718"/>
                  <a:pt x="5090107" y="541020"/>
                  <a:pt x="5004787" y="541020"/>
                </a:cubicBezTo>
                <a:lnTo>
                  <a:pt x="154588" y="541020"/>
                </a:lnTo>
                <a:cubicBezTo>
                  <a:pt x="69268" y="541020"/>
                  <a:pt x="0" y="510718"/>
                  <a:pt x="0" y="473393"/>
                </a:cubicBezTo>
                <a:lnTo>
                  <a:pt x="0" y="67627"/>
                </a:lnTo>
                <a:cubicBezTo>
                  <a:pt x="0" y="30302"/>
                  <a:pt x="69268" y="0"/>
                  <a:pt x="154588" y="0"/>
                </a:cubicBezTo>
                <a:close/>
              </a:path>
            </a:pathLst>
          </a:custGeom>
          <a:solidFill>
            <a:srgbClr val="5B92E5">
              <a:alpha val="10196"/>
            </a:srgbClr>
          </a:solidFill>
          <a:ln w="12700">
            <a:noFill/>
            <a:prstDash val="solid"/>
          </a:ln>
        </p:spPr>
        <p:txBody>
          <a:bodyPr wrap="square" lIns="91440" tIns="45720" rIns="91440" bIns="45720" rtlCol="0" anchor="t">
            <a:noAutofit/>
          </a:bodyPr>
          <a:lstStyle/>
          <a:p>
            <a:pPr indent="0" algn="l">
              <a:lnSpc>
                <a:spcPct val="100000"/>
              </a:lnSpc>
              <a:defRPr/>
            </a:pPr>
            <a:r>
              <a:rPr lang="en-US" sz="920" b="1" i="0" u="none" strike="noStrike">
                <a:solidFill>
                  <a:srgbClr val="000000"/>
                </a:solidFill>
                <a:latin typeface="Calibri" panose="020F0502020204030204"/>
                <a:ea typeface="Calibri" panose="020F0502020204030204"/>
                <a:cs typeface="Calibri" panose="020F0502020204030204"/>
                <a:sym typeface="Calibri" panose="020F0502020204030204"/>
              </a:rPr>
              <a:t>Base URL</a:t>
            </a:r>
            <a:r>
              <a:rPr lang="en-US" sz="920" b="0" i="0" u="none" strike="noStrike">
                <a:solidFill>
                  <a:srgbClr val="000000"/>
                </a:solidFill>
                <a:latin typeface="Calibri" panose="020F0502020204030204"/>
                <a:ea typeface="Calibri" panose="020F0502020204030204"/>
                <a:cs typeface="Calibri" panose="020F0502020204030204"/>
                <a:sym typeface="Calibri" panose="020F0502020204030204"/>
              </a:rPr>
              <a:t> = </a:t>
            </a:r>
            <a:r>
              <a:rPr lang="en-US" sz="920" b="1" i="0" u="none" strike="noStrike">
                <a:solidFill>
                  <a:srgbClr val="000000"/>
                </a:solidFill>
                <a:latin typeface="Calibri" panose="020F0502020204030204"/>
                <a:ea typeface="Calibri" panose="020F0502020204030204"/>
                <a:cs typeface="Calibri" panose="020F0502020204030204"/>
                <a:sym typeface="Calibri" panose="020F0502020204030204"/>
              </a:rPr>
              <a:t>Service URL/v1</a:t>
            </a:r>
            <a:endParaRPr lang="en-US" sz="1100"/>
          </a:p>
          <a:p>
            <a:pPr indent="0" algn="l">
              <a:lnSpc>
                <a:spcPct val="100000"/>
              </a:lnSpc>
            </a:pPr>
            <a:endParaRPr lang="en-US" sz="1100"/>
          </a:p>
          <a:p>
            <a:pPr indent="0" algn="l">
              <a:lnSpc>
                <a:spcPct val="100000"/>
              </a:lnSpc>
            </a:pPr>
            <a:endParaRPr lang="en-US" sz="1100"/>
          </a:p>
          <a:p>
            <a:pPr indent="0" algn="l">
              <a:lnSpc>
                <a:spcPct val="100000"/>
              </a:lnSpc>
            </a:pPr>
            <a:r>
              <a:rPr lang="en-US" sz="92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6" name="Freeform 16"/>
          <p:cNvSpPr/>
          <p:nvPr/>
        </p:nvSpPr>
        <p:spPr>
          <a:xfrm>
            <a:off x="6402705" y="5295900"/>
            <a:ext cx="5159375" cy="541020"/>
          </a:xfrm>
          <a:custGeom>
            <a:avLst/>
            <a:gdLst/>
            <a:ahLst/>
            <a:cxnLst/>
            <a:rect l="l" t="t" r="r" b="b"/>
            <a:pathLst>
              <a:path w="5159375" h="541020">
                <a:moveTo>
                  <a:pt x="154588" y="0"/>
                </a:moveTo>
                <a:lnTo>
                  <a:pt x="5004787" y="0"/>
                </a:lnTo>
                <a:cubicBezTo>
                  <a:pt x="5090107" y="0"/>
                  <a:pt x="5159375" y="30302"/>
                  <a:pt x="5159375" y="67628"/>
                </a:cubicBezTo>
                <a:lnTo>
                  <a:pt x="5159375" y="473392"/>
                </a:lnTo>
                <a:cubicBezTo>
                  <a:pt x="5159375" y="510718"/>
                  <a:pt x="5090107" y="541020"/>
                  <a:pt x="5004787" y="541020"/>
                </a:cubicBezTo>
                <a:lnTo>
                  <a:pt x="154588" y="541020"/>
                </a:lnTo>
                <a:cubicBezTo>
                  <a:pt x="69268" y="541020"/>
                  <a:pt x="0" y="510718"/>
                  <a:pt x="0" y="473392"/>
                </a:cubicBezTo>
                <a:lnTo>
                  <a:pt x="0" y="67628"/>
                </a:lnTo>
                <a:cubicBezTo>
                  <a:pt x="0" y="30302"/>
                  <a:pt x="69268" y="0"/>
                  <a:pt x="154588" y="0"/>
                </a:cubicBezTo>
                <a:close/>
              </a:path>
            </a:pathLst>
          </a:custGeom>
          <a:solidFill>
            <a:srgbClr val="5B92E5">
              <a:alpha val="10196"/>
            </a:srgbClr>
          </a:solidFill>
          <a:ln w="12700">
            <a:noFill/>
            <a:prstDash val="solid"/>
          </a:ln>
        </p:spPr>
        <p:txBody>
          <a:bodyPr wrap="square" lIns="91440" tIns="45720" rIns="91440" bIns="45720" rtlCol="0" anchor="t">
            <a:noAutofit/>
          </a:bodyPr>
          <a:lstStyle/>
          <a:p>
            <a:pPr indent="0" algn="l">
              <a:lnSpc>
                <a:spcPct val="100000"/>
              </a:lnSpc>
              <a:defRPr/>
            </a:pPr>
            <a:r>
              <a:rPr lang="en-US" sz="920" b="1" i="0" u="none" strike="noStrike">
                <a:solidFill>
                  <a:srgbClr val="000000"/>
                </a:solidFill>
                <a:latin typeface="Calibri" panose="020F0502020204030204"/>
                <a:ea typeface="Calibri" panose="020F0502020204030204"/>
                <a:cs typeface="Calibri" panose="020F0502020204030204"/>
                <a:sym typeface="Calibri" panose="020F0502020204030204"/>
              </a:rPr>
              <a:t>Chat Model Name = </a:t>
            </a:r>
            <a:r>
              <a:rPr lang="en-US" sz="920" b="1" i="0" u="none" strike="noStrike">
                <a:solidFill>
                  <a:srgbClr val="FF0000"/>
                </a:solidFill>
                <a:latin typeface="Calibri" panose="020F0502020204030204"/>
                <a:ea typeface="Calibri" panose="020F0502020204030204"/>
                <a:cs typeface="Calibri" panose="020F0502020204030204"/>
                <a:sym typeface="Calibri" panose="020F0502020204030204"/>
              </a:rPr>
              <a:t>qwen</a:t>
            </a:r>
            <a:endParaRPr lang="en-US" sz="1100"/>
          </a:p>
          <a:p>
            <a:pPr indent="0" algn="l">
              <a:lnSpc>
                <a:spcPct val="100000"/>
              </a:lnSpc>
            </a:pPr>
            <a:endParaRPr lang="en-US" sz="1100"/>
          </a:p>
          <a:p>
            <a:pPr indent="0" algn="l">
              <a:lnSpc>
                <a:spcPct val="100000"/>
              </a:lnSpc>
            </a:pPr>
            <a:endParaRPr lang="en-US" sz="1100"/>
          </a:p>
          <a:p>
            <a:pPr indent="0" algn="l">
              <a:lnSpc>
                <a:spcPct val="100000"/>
              </a:lnSpc>
            </a:pPr>
            <a:r>
              <a:rPr lang="en-US" sz="92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1561465" y="1524000"/>
            <a:ext cx="8115300" cy="4425950"/>
          </a:xfrm>
          <a:prstGeom prst="rect">
            <a:avLst/>
          </a:prstGeom>
          <a:ln w="12700">
            <a:noFill/>
            <a:prstDash val="solid"/>
          </a:ln>
        </p:spPr>
      </p:pic>
      <p:sp>
        <p:nvSpPr>
          <p:cNvPr id="3" name="AutoShape 3"/>
          <p:cNvSpPr/>
          <p:nvPr/>
        </p:nvSpPr>
        <p:spPr>
          <a:xfrm>
            <a:off x="381000" y="647700"/>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146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Step 6: Client Configuration and Dialogue</a:t>
            </a:r>
            <a:endParaRPr lang="en-US" sz="1100"/>
          </a:p>
        </p:txBody>
      </p:sp>
      <p:sp>
        <p:nvSpPr>
          <p:cNvPr id="4" name="Freeform 4"/>
          <p:cNvSpPr/>
          <p:nvPr/>
        </p:nvSpPr>
        <p:spPr>
          <a:xfrm>
            <a:off x="381000" y="14859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81000" y="609600"/>
            <a:ext cx="11572875"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6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Core Value Brought by FlagOS</a:t>
            </a:r>
            <a:endParaRPr lang="en-US" sz="1100"/>
          </a:p>
        </p:txBody>
      </p:sp>
      <p:sp>
        <p:nvSpPr>
          <p:cNvPr id="3" name="Freeform 3"/>
          <p:cNvSpPr/>
          <p:nvPr/>
        </p:nvSpPr>
        <p:spPr>
          <a:xfrm>
            <a:off x="381000" y="13335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81000" y="1466850"/>
            <a:ext cx="5657850" cy="1924050"/>
          </a:xfrm>
          <a:custGeom>
            <a:avLst/>
            <a:gdLst/>
            <a:ahLst/>
            <a:cxnLst/>
            <a:rect l="l" t="t" r="r" b="b"/>
            <a:pathLst>
              <a:path w="5657850" h="1924050">
                <a:moveTo>
                  <a:pt x="38100" y="0"/>
                </a:moveTo>
                <a:lnTo>
                  <a:pt x="5619750" y="0"/>
                </a:lnTo>
                <a:cubicBezTo>
                  <a:pt x="5640777" y="0"/>
                  <a:pt x="5657850" y="17073"/>
                  <a:pt x="5657850" y="38100"/>
                </a:cubicBezTo>
                <a:lnTo>
                  <a:pt x="5657850" y="1809742"/>
                </a:lnTo>
                <a:cubicBezTo>
                  <a:pt x="5657850" y="1872873"/>
                  <a:pt x="5606673" y="1924050"/>
                  <a:pt x="5543542" y="1924050"/>
                </a:cubicBezTo>
                <a:lnTo>
                  <a:pt x="114308" y="1924050"/>
                </a:lnTo>
                <a:cubicBezTo>
                  <a:pt x="51177" y="1924050"/>
                  <a:pt x="0" y="1872873"/>
                  <a:pt x="0" y="1809742"/>
                </a:cubicBezTo>
                <a:lnTo>
                  <a:pt x="0" y="38100"/>
                </a:lnTo>
                <a:cubicBezTo>
                  <a:pt x="0" y="17073"/>
                  <a:pt x="17073" y="0"/>
                  <a:pt x="38100" y="0"/>
                </a:cubicBezTo>
                <a:close/>
              </a:path>
            </a:pathLst>
          </a:custGeom>
          <a:solidFill>
            <a:srgbClr val="FFFFFF">
              <a:alpha val="100000"/>
            </a:srgbClr>
          </a:soli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5" name="Freeform 5"/>
          <p:cNvSpPr/>
          <p:nvPr/>
        </p:nvSpPr>
        <p:spPr>
          <a:xfrm>
            <a:off x="381000" y="1466850"/>
            <a:ext cx="5657850" cy="38100"/>
          </a:xfrm>
          <a:custGeom>
            <a:avLst/>
            <a:gdLst/>
            <a:ahLst/>
            <a:cxnLst/>
            <a:rect l="l" t="t" r="r" b="b"/>
            <a:pathLst>
              <a:path w="5657850" h="38100">
                <a:moveTo>
                  <a:pt x="38100" y="0"/>
                </a:moveTo>
                <a:lnTo>
                  <a:pt x="5619750" y="0"/>
                </a:lnTo>
                <a:cubicBezTo>
                  <a:pt x="5640777" y="0"/>
                  <a:pt x="5657850" y="17073"/>
                  <a:pt x="5657850" y="38100"/>
                </a:cubicBezTo>
                <a:lnTo>
                  <a:pt x="5657850" y="38100"/>
                </a:lnTo>
                <a:lnTo>
                  <a:pt x="0" y="38100"/>
                </a:ln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495300" y="1600200"/>
            <a:ext cx="457200" cy="457200"/>
          </a:xfrm>
          <a:custGeom>
            <a:avLst/>
            <a:gdLst/>
            <a:ahLst/>
            <a:cxnLst/>
            <a:rect l="l" t="t" r="r" b="b"/>
            <a:pathLst>
              <a:path w="457200" h="457200">
                <a:moveTo>
                  <a:pt x="114300" y="0"/>
                </a:moveTo>
                <a:lnTo>
                  <a:pt x="342900" y="0"/>
                </a:lnTo>
                <a:cubicBezTo>
                  <a:pt x="405983" y="0"/>
                  <a:pt x="457200" y="51217"/>
                  <a:pt x="457200" y="114300"/>
                </a:cubicBezTo>
                <a:lnTo>
                  <a:pt x="457200" y="342900"/>
                </a:lnTo>
                <a:cubicBezTo>
                  <a:pt x="457200" y="405983"/>
                  <a:pt x="405983" y="457200"/>
                  <a:pt x="342900" y="457200"/>
                </a:cubicBezTo>
                <a:lnTo>
                  <a:pt x="114300" y="457200"/>
                </a:lnTo>
                <a:cubicBezTo>
                  <a:pt x="51217" y="457200"/>
                  <a:pt x="0" y="405983"/>
                  <a:pt x="0" y="342900"/>
                </a:cubicBezTo>
                <a:lnTo>
                  <a:pt x="0" y="114300"/>
                </a:lnTo>
                <a:cubicBezTo>
                  <a:pt x="0" y="51217"/>
                  <a:pt x="51217" y="0"/>
                  <a:pt x="114300" y="0"/>
                </a:cubicBezTo>
                <a:close/>
              </a:path>
            </a:pathLst>
          </a:custGeom>
          <a:gradFill rotWithShape="1">
            <a:gsLst>
              <a:gs pos="0">
                <a:srgbClr val="5B92E5">
                  <a:alpha val="100000"/>
                </a:srgbClr>
              </a:gs>
              <a:gs pos="100000">
                <a:srgbClr val="87CEEB">
                  <a:alpha val="100000"/>
                </a:srgbClr>
              </a:gs>
            </a:gsLst>
            <a:lin ang="2700000"/>
          </a:gra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634602" y="1733550"/>
            <a:ext cx="178669" cy="190202"/>
          </a:xfrm>
          <a:custGeom>
            <a:avLst/>
            <a:gdLst/>
            <a:ahLst/>
            <a:cxnLst/>
            <a:rect l="l" t="t" r="r" b="b"/>
            <a:pathLst>
              <a:path w="178669" h="190202">
                <a:moveTo>
                  <a:pt x="89298" y="0"/>
                </a:moveTo>
                <a:cubicBezTo>
                  <a:pt x="91010" y="0"/>
                  <a:pt x="92721" y="372"/>
                  <a:pt x="94284" y="1080"/>
                </a:cubicBezTo>
                <a:lnTo>
                  <a:pt x="164382" y="30806"/>
                </a:lnTo>
                <a:cubicBezTo>
                  <a:pt x="172567" y="34268"/>
                  <a:pt x="178669" y="42342"/>
                  <a:pt x="178632" y="52090"/>
                </a:cubicBezTo>
                <a:cubicBezTo>
                  <a:pt x="178446" y="88999"/>
                  <a:pt x="163267" y="156530"/>
                  <a:pt x="99158" y="187226"/>
                </a:cubicBezTo>
                <a:cubicBezTo>
                  <a:pt x="92944" y="190202"/>
                  <a:pt x="85725" y="190202"/>
                  <a:pt x="79513" y="187226"/>
                </a:cubicBezTo>
                <a:cubicBezTo>
                  <a:pt x="15367" y="156530"/>
                  <a:pt x="224" y="88999"/>
                  <a:pt x="39" y="52090"/>
                </a:cubicBezTo>
                <a:cubicBezTo>
                  <a:pt x="0" y="42342"/>
                  <a:pt x="6103" y="34268"/>
                  <a:pt x="14289" y="30806"/>
                </a:cubicBezTo>
                <a:lnTo>
                  <a:pt x="84349" y="1080"/>
                </a:lnTo>
                <a:cubicBezTo>
                  <a:pt x="85912" y="372"/>
                  <a:pt x="87586" y="0"/>
                  <a:pt x="89298" y="0"/>
                </a:cubicBezTo>
                <a:close/>
                <a:moveTo>
                  <a:pt x="89298" y="24854"/>
                </a:moveTo>
                <a:lnTo>
                  <a:pt x="89298" y="165534"/>
                </a:lnTo>
                <a:cubicBezTo>
                  <a:pt x="140644" y="140680"/>
                  <a:pt x="154448" y="85613"/>
                  <a:pt x="154782" y="52648"/>
                </a:cubicBezTo>
                <a:lnTo>
                  <a:pt x="89298" y="24892"/>
                </a:lnTo>
                <a:lnTo>
                  <a:pt x="89298" y="24892"/>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1066800" y="1695450"/>
            <a:ext cx="141668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77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Autonomous and Controllable</a:t>
            </a:r>
            <a:endParaRPr lang="en-US" sz="1100"/>
          </a:p>
        </p:txBody>
      </p:sp>
      <p:sp>
        <p:nvSpPr>
          <p:cNvPr id="9" name="AutoShape 9"/>
          <p:cNvSpPr/>
          <p:nvPr/>
        </p:nvSpPr>
        <p:spPr>
          <a:xfrm>
            <a:off x="495300" y="2317115"/>
            <a:ext cx="5505450" cy="4191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22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Break free from dependency on APIs and ecosystems, with all data deployed locally.</a:t>
            </a:r>
            <a:endParaRPr lang="en-US" sz="1100"/>
          </a:p>
        </p:txBody>
      </p:sp>
      <p:sp>
        <p:nvSpPr>
          <p:cNvPr id="10" name="Freeform 10"/>
          <p:cNvSpPr/>
          <p:nvPr/>
        </p:nvSpPr>
        <p:spPr>
          <a:xfrm>
            <a:off x="6153150" y="1466850"/>
            <a:ext cx="5657850" cy="1924050"/>
          </a:xfrm>
          <a:custGeom>
            <a:avLst/>
            <a:gdLst/>
            <a:ahLst/>
            <a:cxnLst/>
            <a:rect l="l" t="t" r="r" b="b"/>
            <a:pathLst>
              <a:path w="5657850" h="1924050">
                <a:moveTo>
                  <a:pt x="38100" y="0"/>
                </a:moveTo>
                <a:lnTo>
                  <a:pt x="5619750" y="0"/>
                </a:lnTo>
                <a:cubicBezTo>
                  <a:pt x="5640777" y="0"/>
                  <a:pt x="5657850" y="17073"/>
                  <a:pt x="5657850" y="38100"/>
                </a:cubicBezTo>
                <a:lnTo>
                  <a:pt x="5657850" y="1809742"/>
                </a:lnTo>
                <a:cubicBezTo>
                  <a:pt x="5657850" y="1872873"/>
                  <a:pt x="5606673" y="1924050"/>
                  <a:pt x="5543542" y="1924050"/>
                </a:cubicBezTo>
                <a:lnTo>
                  <a:pt x="114308" y="1924050"/>
                </a:lnTo>
                <a:cubicBezTo>
                  <a:pt x="51177" y="1924050"/>
                  <a:pt x="0" y="1872873"/>
                  <a:pt x="0" y="1809742"/>
                </a:cubicBezTo>
                <a:lnTo>
                  <a:pt x="0" y="38100"/>
                </a:lnTo>
                <a:cubicBezTo>
                  <a:pt x="0" y="17073"/>
                  <a:pt x="17073" y="0"/>
                  <a:pt x="38100" y="0"/>
                </a:cubicBezTo>
                <a:close/>
              </a:path>
            </a:pathLst>
          </a:custGeom>
          <a:solidFill>
            <a:srgbClr val="FFFFFF">
              <a:alpha val="100000"/>
            </a:srgbClr>
          </a:soli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1" name="Freeform 11"/>
          <p:cNvSpPr/>
          <p:nvPr/>
        </p:nvSpPr>
        <p:spPr>
          <a:xfrm>
            <a:off x="6153150" y="1466850"/>
            <a:ext cx="5657850" cy="38100"/>
          </a:xfrm>
          <a:custGeom>
            <a:avLst/>
            <a:gdLst/>
            <a:ahLst/>
            <a:cxnLst/>
            <a:rect l="l" t="t" r="r" b="b"/>
            <a:pathLst>
              <a:path w="5657850" h="38100">
                <a:moveTo>
                  <a:pt x="38100" y="0"/>
                </a:moveTo>
                <a:lnTo>
                  <a:pt x="5619750" y="0"/>
                </a:lnTo>
                <a:cubicBezTo>
                  <a:pt x="5640777" y="0"/>
                  <a:pt x="5657850" y="17073"/>
                  <a:pt x="5657850" y="38100"/>
                </a:cubicBezTo>
                <a:lnTo>
                  <a:pt x="5657850" y="38100"/>
                </a:lnTo>
                <a:lnTo>
                  <a:pt x="0" y="38100"/>
                </a:lnTo>
                <a:lnTo>
                  <a:pt x="0" y="38100"/>
                </a:lnTo>
                <a:cubicBezTo>
                  <a:pt x="0" y="17073"/>
                  <a:pt x="17073" y="0"/>
                  <a:pt x="38100"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6267450" y="1600200"/>
            <a:ext cx="457200" cy="457200"/>
          </a:xfrm>
          <a:custGeom>
            <a:avLst/>
            <a:gdLst/>
            <a:ahLst/>
            <a:cxnLst/>
            <a:rect l="l" t="t" r="r" b="b"/>
            <a:pathLst>
              <a:path w="457200" h="457200">
                <a:moveTo>
                  <a:pt x="114300" y="0"/>
                </a:moveTo>
                <a:lnTo>
                  <a:pt x="342900" y="0"/>
                </a:lnTo>
                <a:cubicBezTo>
                  <a:pt x="405983" y="0"/>
                  <a:pt x="457200" y="51217"/>
                  <a:pt x="457200" y="114300"/>
                </a:cubicBezTo>
                <a:lnTo>
                  <a:pt x="457200" y="342900"/>
                </a:lnTo>
                <a:cubicBezTo>
                  <a:pt x="457200" y="405983"/>
                  <a:pt x="405983" y="457200"/>
                  <a:pt x="342900" y="457200"/>
                </a:cubicBezTo>
                <a:lnTo>
                  <a:pt x="114300" y="457200"/>
                </a:lnTo>
                <a:cubicBezTo>
                  <a:pt x="51217" y="457200"/>
                  <a:pt x="0" y="405983"/>
                  <a:pt x="0" y="342900"/>
                </a:cubicBezTo>
                <a:lnTo>
                  <a:pt x="0" y="114300"/>
                </a:lnTo>
                <a:cubicBezTo>
                  <a:pt x="0" y="51217"/>
                  <a:pt x="51217" y="0"/>
                  <a:pt x="114300" y="0"/>
                </a:cubicBezTo>
                <a:close/>
              </a:path>
            </a:pathLst>
          </a:custGeom>
          <a:gradFill rotWithShape="1">
            <a:gsLst>
              <a:gs pos="0">
                <a:srgbClr val="1E90FF">
                  <a:alpha val="100000"/>
                </a:srgbClr>
              </a:gs>
              <a:gs pos="100000">
                <a:srgbClr val="00CED1">
                  <a:alpha val="100000"/>
                </a:srgbClr>
              </a:gs>
            </a:gsLst>
            <a:lin ang="2700000"/>
          </a:gra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6394958" y="1742703"/>
            <a:ext cx="187189" cy="187189"/>
          </a:xfrm>
          <a:custGeom>
            <a:avLst/>
            <a:gdLst/>
            <a:ahLst/>
            <a:cxnLst/>
            <a:rect l="l" t="t" r="r" b="b"/>
            <a:pathLst>
              <a:path w="187189" h="187189">
                <a:moveTo>
                  <a:pt x="53467" y="109909"/>
                </a:moveTo>
                <a:lnTo>
                  <a:pt x="14958" y="109909"/>
                </a:lnTo>
                <a:cubicBezTo>
                  <a:pt x="5693" y="109909"/>
                  <a:pt x="0" y="99826"/>
                  <a:pt x="4762" y="91864"/>
                </a:cubicBezTo>
                <a:lnTo>
                  <a:pt x="24446" y="59047"/>
                </a:lnTo>
                <a:cubicBezTo>
                  <a:pt x="27683" y="53652"/>
                  <a:pt x="33487" y="50378"/>
                  <a:pt x="39775" y="50378"/>
                </a:cubicBezTo>
                <a:lnTo>
                  <a:pt x="75120" y="50378"/>
                </a:lnTo>
                <a:cubicBezTo>
                  <a:pt x="103436" y="2418"/>
                  <a:pt x="145666" y="0"/>
                  <a:pt x="173906" y="4130"/>
                </a:cubicBezTo>
                <a:cubicBezTo>
                  <a:pt x="178669" y="4837"/>
                  <a:pt x="182389" y="8558"/>
                  <a:pt x="183059" y="13283"/>
                </a:cubicBezTo>
                <a:cubicBezTo>
                  <a:pt x="187189" y="41523"/>
                  <a:pt x="184771" y="83753"/>
                  <a:pt x="136811" y="112068"/>
                </a:cubicBezTo>
                <a:lnTo>
                  <a:pt x="136811" y="147414"/>
                </a:lnTo>
                <a:cubicBezTo>
                  <a:pt x="136811" y="153702"/>
                  <a:pt x="133537" y="159506"/>
                  <a:pt x="128142" y="162743"/>
                </a:cubicBezTo>
                <a:lnTo>
                  <a:pt x="95325" y="182427"/>
                </a:lnTo>
                <a:cubicBezTo>
                  <a:pt x="87400" y="187189"/>
                  <a:pt x="77280" y="181459"/>
                  <a:pt x="77280" y="172231"/>
                </a:cubicBezTo>
                <a:lnTo>
                  <a:pt x="77280" y="133722"/>
                </a:lnTo>
                <a:cubicBezTo>
                  <a:pt x="77280" y="120588"/>
                  <a:pt x="66601" y="109909"/>
                  <a:pt x="53467" y="109909"/>
                </a:cubicBezTo>
                <a:lnTo>
                  <a:pt x="53430" y="109909"/>
                </a:lnTo>
                <a:close/>
                <a:moveTo>
                  <a:pt x="154669" y="50378"/>
                </a:moveTo>
                <a:cubicBezTo>
                  <a:pt x="154669" y="40521"/>
                  <a:pt x="146668" y="32520"/>
                  <a:pt x="136811" y="32520"/>
                </a:cubicBezTo>
                <a:cubicBezTo>
                  <a:pt x="126954" y="32520"/>
                  <a:pt x="118951" y="40521"/>
                  <a:pt x="118951" y="50378"/>
                </a:cubicBezTo>
                <a:cubicBezTo>
                  <a:pt x="118951" y="60235"/>
                  <a:pt x="126954" y="68238"/>
                  <a:pt x="136811" y="68238"/>
                </a:cubicBezTo>
                <a:cubicBezTo>
                  <a:pt x="146668" y="68238"/>
                  <a:pt x="154669" y="60235"/>
                  <a:pt x="154669" y="50378"/>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6838950" y="1695450"/>
            <a:ext cx="165798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Development Efficiency</a:t>
            </a:r>
            <a:endParaRPr lang="en-US" sz="1100"/>
          </a:p>
        </p:txBody>
      </p:sp>
      <p:sp>
        <p:nvSpPr>
          <p:cNvPr id="15" name="AutoShape 15"/>
          <p:cNvSpPr/>
          <p:nvPr/>
        </p:nvSpPr>
        <p:spPr>
          <a:xfrm>
            <a:off x="6305550" y="2409190"/>
            <a:ext cx="5505450" cy="27559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825"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No need to rewrite operators for NPUs. One codebase runs across platforms, reducing development costs.</a:t>
            </a:r>
            <a:endParaRPr lang="en-US" sz="1100"/>
          </a:p>
        </p:txBody>
      </p:sp>
      <p:sp>
        <p:nvSpPr>
          <p:cNvPr id="16" name="Freeform 16"/>
          <p:cNvSpPr/>
          <p:nvPr/>
        </p:nvSpPr>
        <p:spPr>
          <a:xfrm>
            <a:off x="381000" y="3524250"/>
            <a:ext cx="5657850" cy="1714500"/>
          </a:xfrm>
          <a:custGeom>
            <a:avLst/>
            <a:gdLst/>
            <a:ahLst/>
            <a:cxnLst/>
            <a:rect l="l" t="t" r="r" b="b"/>
            <a:pathLst>
              <a:path w="5657850" h="1714500">
                <a:moveTo>
                  <a:pt x="38100" y="0"/>
                </a:moveTo>
                <a:lnTo>
                  <a:pt x="5619750" y="0"/>
                </a:lnTo>
                <a:cubicBezTo>
                  <a:pt x="5640777" y="0"/>
                  <a:pt x="5657850" y="17073"/>
                  <a:pt x="5657850" y="38100"/>
                </a:cubicBezTo>
                <a:lnTo>
                  <a:pt x="5657850" y="1600194"/>
                </a:lnTo>
                <a:cubicBezTo>
                  <a:pt x="5657850" y="1663324"/>
                  <a:pt x="5606674" y="1714500"/>
                  <a:pt x="5543544" y="1714500"/>
                </a:cubicBezTo>
                <a:lnTo>
                  <a:pt x="114306" y="1714500"/>
                </a:lnTo>
                <a:cubicBezTo>
                  <a:pt x="51176" y="1714500"/>
                  <a:pt x="0" y="1663324"/>
                  <a:pt x="0" y="1600194"/>
                </a:cubicBezTo>
                <a:lnTo>
                  <a:pt x="0" y="38100"/>
                </a:lnTo>
                <a:cubicBezTo>
                  <a:pt x="0" y="17073"/>
                  <a:pt x="17073" y="0"/>
                  <a:pt x="38100" y="0"/>
                </a:cubicBezTo>
                <a:close/>
              </a:path>
            </a:pathLst>
          </a:custGeom>
          <a:solidFill>
            <a:srgbClr val="FFFFFF">
              <a:alpha val="100000"/>
            </a:srgbClr>
          </a:soli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7" name="Freeform 17"/>
          <p:cNvSpPr/>
          <p:nvPr/>
        </p:nvSpPr>
        <p:spPr>
          <a:xfrm>
            <a:off x="381000" y="3524250"/>
            <a:ext cx="5657850" cy="38100"/>
          </a:xfrm>
          <a:custGeom>
            <a:avLst/>
            <a:gdLst/>
            <a:ahLst/>
            <a:cxnLst/>
            <a:rect l="l" t="t" r="r" b="b"/>
            <a:pathLst>
              <a:path w="5657850" h="38100">
                <a:moveTo>
                  <a:pt x="38100" y="0"/>
                </a:moveTo>
                <a:lnTo>
                  <a:pt x="5619750" y="0"/>
                </a:lnTo>
                <a:cubicBezTo>
                  <a:pt x="5640777" y="0"/>
                  <a:pt x="5657850" y="17073"/>
                  <a:pt x="5657850" y="38100"/>
                </a:cubicBezTo>
                <a:lnTo>
                  <a:pt x="5657850" y="38100"/>
                </a:lnTo>
                <a:lnTo>
                  <a:pt x="0" y="38100"/>
                </a:ln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495300" y="3657600"/>
            <a:ext cx="457200" cy="457200"/>
          </a:xfrm>
          <a:custGeom>
            <a:avLst/>
            <a:gdLst/>
            <a:ahLst/>
            <a:cxnLst/>
            <a:rect l="l" t="t" r="r" b="b"/>
            <a:pathLst>
              <a:path w="457200" h="457200">
                <a:moveTo>
                  <a:pt x="114300" y="0"/>
                </a:moveTo>
                <a:lnTo>
                  <a:pt x="342900" y="0"/>
                </a:lnTo>
                <a:cubicBezTo>
                  <a:pt x="405983" y="0"/>
                  <a:pt x="457200" y="51217"/>
                  <a:pt x="457200" y="114300"/>
                </a:cubicBezTo>
                <a:lnTo>
                  <a:pt x="457200" y="342900"/>
                </a:lnTo>
                <a:cubicBezTo>
                  <a:pt x="457200" y="405983"/>
                  <a:pt x="405983" y="457200"/>
                  <a:pt x="342900" y="457200"/>
                </a:cubicBezTo>
                <a:lnTo>
                  <a:pt x="114300" y="457200"/>
                </a:lnTo>
                <a:cubicBezTo>
                  <a:pt x="51217" y="457200"/>
                  <a:pt x="0" y="405983"/>
                  <a:pt x="0" y="342900"/>
                </a:cubicBezTo>
                <a:lnTo>
                  <a:pt x="0" y="114300"/>
                </a:lnTo>
                <a:cubicBezTo>
                  <a:pt x="0" y="51217"/>
                  <a:pt x="51217" y="0"/>
                  <a:pt x="114300" y="0"/>
                </a:cubicBezTo>
                <a:close/>
              </a:path>
            </a:pathLst>
          </a:custGeom>
          <a:gradFill rotWithShape="1">
            <a:gsLst>
              <a:gs pos="0">
                <a:srgbClr val="87CEEB">
                  <a:alpha val="100000"/>
                </a:srgbClr>
              </a:gs>
              <a:gs pos="100000">
                <a:srgbClr val="5B92E5">
                  <a:alpha val="100000"/>
                </a:srgbClr>
              </a:gs>
            </a:gsLst>
            <a:lin ang="2700000"/>
          </a:gra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628650" y="3790950"/>
            <a:ext cx="190500" cy="190500"/>
          </a:xfrm>
          <a:custGeom>
            <a:avLst/>
            <a:gdLst/>
            <a:ahLst/>
            <a:cxnLst/>
            <a:rect l="l" t="t" r="r" b="b"/>
            <a:pathLst>
              <a:path w="190500" h="190500">
                <a:moveTo>
                  <a:pt x="0" y="95250"/>
                </a:moveTo>
                <a:cubicBezTo>
                  <a:pt x="0" y="42680"/>
                  <a:pt x="42680" y="0"/>
                  <a:pt x="95250" y="0"/>
                </a:cubicBezTo>
                <a:cubicBezTo>
                  <a:pt x="147820" y="0"/>
                  <a:pt x="190500" y="42680"/>
                  <a:pt x="190500" y="95250"/>
                </a:cubicBezTo>
                <a:cubicBezTo>
                  <a:pt x="190500" y="147820"/>
                  <a:pt x="147820" y="190500"/>
                  <a:pt x="95250" y="190500"/>
                </a:cubicBezTo>
                <a:cubicBezTo>
                  <a:pt x="42680" y="190500"/>
                  <a:pt x="0" y="147820"/>
                  <a:pt x="0" y="95250"/>
                </a:cubicBezTo>
                <a:close/>
                <a:moveTo>
                  <a:pt x="107156" y="35719"/>
                </a:moveTo>
                <a:cubicBezTo>
                  <a:pt x="107156" y="29148"/>
                  <a:pt x="101821" y="23812"/>
                  <a:pt x="95250" y="23812"/>
                </a:cubicBezTo>
                <a:cubicBezTo>
                  <a:pt x="88679" y="23812"/>
                  <a:pt x="83344" y="29148"/>
                  <a:pt x="83344" y="35719"/>
                </a:cubicBezTo>
                <a:cubicBezTo>
                  <a:pt x="83344" y="42290"/>
                  <a:pt x="88679" y="47625"/>
                  <a:pt x="95250" y="47625"/>
                </a:cubicBezTo>
                <a:cubicBezTo>
                  <a:pt x="101821" y="47625"/>
                  <a:pt x="107156" y="42290"/>
                  <a:pt x="107156" y="35719"/>
                </a:cubicBezTo>
                <a:close/>
                <a:moveTo>
                  <a:pt x="95250" y="154781"/>
                </a:moveTo>
                <a:cubicBezTo>
                  <a:pt x="108384" y="154781"/>
                  <a:pt x="119062" y="144103"/>
                  <a:pt x="119062" y="130969"/>
                </a:cubicBezTo>
                <a:cubicBezTo>
                  <a:pt x="119062" y="124941"/>
                  <a:pt x="116830" y="119397"/>
                  <a:pt x="113109" y="115230"/>
                </a:cubicBezTo>
                <a:lnTo>
                  <a:pt x="138968" y="63550"/>
                </a:lnTo>
                <a:cubicBezTo>
                  <a:pt x="141163" y="59122"/>
                  <a:pt x="139377" y="53764"/>
                  <a:pt x="134987" y="51570"/>
                </a:cubicBezTo>
                <a:cubicBezTo>
                  <a:pt x="130597" y="49374"/>
                  <a:pt x="125202" y="51159"/>
                  <a:pt x="123006" y="55550"/>
                </a:cubicBezTo>
                <a:lnTo>
                  <a:pt x="97147" y="107231"/>
                </a:lnTo>
                <a:cubicBezTo>
                  <a:pt x="96515" y="107193"/>
                  <a:pt x="95882" y="107156"/>
                  <a:pt x="95250" y="107156"/>
                </a:cubicBezTo>
                <a:cubicBezTo>
                  <a:pt x="82116" y="107156"/>
                  <a:pt x="71438" y="117834"/>
                  <a:pt x="71438" y="130969"/>
                </a:cubicBezTo>
                <a:cubicBezTo>
                  <a:pt x="71438" y="144103"/>
                  <a:pt x="82116" y="154781"/>
                  <a:pt x="95250" y="154781"/>
                </a:cubicBezTo>
                <a:close/>
                <a:moveTo>
                  <a:pt x="65484" y="53577"/>
                </a:moveTo>
                <a:cubicBezTo>
                  <a:pt x="65484" y="47007"/>
                  <a:pt x="60148" y="41673"/>
                  <a:pt x="53577" y="41673"/>
                </a:cubicBezTo>
                <a:cubicBezTo>
                  <a:pt x="47007" y="41673"/>
                  <a:pt x="41673" y="47007"/>
                  <a:pt x="41673" y="53577"/>
                </a:cubicBezTo>
                <a:cubicBezTo>
                  <a:pt x="41673" y="60148"/>
                  <a:pt x="47007" y="65484"/>
                  <a:pt x="53577" y="65484"/>
                </a:cubicBezTo>
                <a:cubicBezTo>
                  <a:pt x="60148" y="65484"/>
                  <a:pt x="65484" y="60148"/>
                  <a:pt x="65484" y="53577"/>
                </a:cubicBezTo>
                <a:close/>
                <a:moveTo>
                  <a:pt x="35719" y="107156"/>
                </a:moveTo>
                <a:cubicBezTo>
                  <a:pt x="42290" y="107156"/>
                  <a:pt x="47625" y="101821"/>
                  <a:pt x="47625" y="95250"/>
                </a:cubicBezTo>
                <a:cubicBezTo>
                  <a:pt x="47625" y="88679"/>
                  <a:pt x="42290" y="83344"/>
                  <a:pt x="35719" y="83344"/>
                </a:cubicBezTo>
                <a:cubicBezTo>
                  <a:pt x="29148" y="83344"/>
                  <a:pt x="23812" y="88679"/>
                  <a:pt x="23812" y="95250"/>
                </a:cubicBezTo>
                <a:cubicBezTo>
                  <a:pt x="23812" y="101821"/>
                  <a:pt x="29148" y="107156"/>
                  <a:pt x="35719" y="107156"/>
                </a:cubicBezTo>
                <a:close/>
                <a:moveTo>
                  <a:pt x="166688" y="95250"/>
                </a:moveTo>
                <a:cubicBezTo>
                  <a:pt x="166688" y="88679"/>
                  <a:pt x="161352" y="83344"/>
                  <a:pt x="154781" y="83344"/>
                </a:cubicBezTo>
                <a:cubicBezTo>
                  <a:pt x="148210" y="83344"/>
                  <a:pt x="142875" y="88679"/>
                  <a:pt x="142875" y="95250"/>
                </a:cubicBezTo>
                <a:cubicBezTo>
                  <a:pt x="142875" y="101821"/>
                  <a:pt x="148210" y="107156"/>
                  <a:pt x="154781" y="107156"/>
                </a:cubicBezTo>
                <a:cubicBezTo>
                  <a:pt x="161352" y="107156"/>
                  <a:pt x="166688" y="101821"/>
                  <a:pt x="166688" y="9525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1066800" y="3752850"/>
            <a:ext cx="145351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7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Performance Assurance</a:t>
            </a:r>
            <a:endParaRPr lang="en-US" sz="1100"/>
          </a:p>
        </p:txBody>
      </p:sp>
      <p:sp>
        <p:nvSpPr>
          <p:cNvPr id="21" name="AutoShape 21"/>
          <p:cNvSpPr/>
          <p:nvPr/>
        </p:nvSpPr>
        <p:spPr>
          <a:xfrm>
            <a:off x="514350" y="4295775"/>
            <a:ext cx="5505450" cy="20955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Triton language delivers</a:t>
            </a:r>
            <a:r>
              <a:rPr lang="en-US" sz="7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near hand-written CUDA performance</a:t>
            </a: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while maintaining code readability and maintainability.</a:t>
            </a:r>
            <a:endParaRPr lang="en-US" sz="1100"/>
          </a:p>
        </p:txBody>
      </p:sp>
      <p:sp>
        <p:nvSpPr>
          <p:cNvPr id="22" name="Freeform 22"/>
          <p:cNvSpPr/>
          <p:nvPr/>
        </p:nvSpPr>
        <p:spPr>
          <a:xfrm>
            <a:off x="6153150" y="3524250"/>
            <a:ext cx="5657850" cy="1714500"/>
          </a:xfrm>
          <a:custGeom>
            <a:avLst/>
            <a:gdLst/>
            <a:ahLst/>
            <a:cxnLst/>
            <a:rect l="l" t="t" r="r" b="b"/>
            <a:pathLst>
              <a:path w="5657850" h="1714500">
                <a:moveTo>
                  <a:pt x="38100" y="0"/>
                </a:moveTo>
                <a:lnTo>
                  <a:pt x="5619750" y="0"/>
                </a:lnTo>
                <a:cubicBezTo>
                  <a:pt x="5640777" y="0"/>
                  <a:pt x="5657850" y="17073"/>
                  <a:pt x="5657850" y="38100"/>
                </a:cubicBezTo>
                <a:lnTo>
                  <a:pt x="5657850" y="1600194"/>
                </a:lnTo>
                <a:cubicBezTo>
                  <a:pt x="5657850" y="1663324"/>
                  <a:pt x="5606674" y="1714500"/>
                  <a:pt x="5543544" y="1714500"/>
                </a:cubicBezTo>
                <a:lnTo>
                  <a:pt x="114306" y="1714500"/>
                </a:lnTo>
                <a:cubicBezTo>
                  <a:pt x="51176" y="1714500"/>
                  <a:pt x="0" y="1663324"/>
                  <a:pt x="0" y="1600194"/>
                </a:cubicBezTo>
                <a:lnTo>
                  <a:pt x="0" y="38100"/>
                </a:lnTo>
                <a:cubicBezTo>
                  <a:pt x="0" y="17073"/>
                  <a:pt x="17073" y="0"/>
                  <a:pt x="38100" y="0"/>
                </a:cubicBezTo>
                <a:close/>
              </a:path>
            </a:pathLst>
          </a:custGeom>
          <a:solidFill>
            <a:srgbClr val="FFFFFF">
              <a:alpha val="100000"/>
            </a:srgbClr>
          </a:soli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3" name="Freeform 23"/>
          <p:cNvSpPr/>
          <p:nvPr/>
        </p:nvSpPr>
        <p:spPr>
          <a:xfrm>
            <a:off x="6153150" y="3524250"/>
            <a:ext cx="5657850" cy="38100"/>
          </a:xfrm>
          <a:custGeom>
            <a:avLst/>
            <a:gdLst/>
            <a:ahLst/>
            <a:cxnLst/>
            <a:rect l="l" t="t" r="r" b="b"/>
            <a:pathLst>
              <a:path w="5657850" h="38100">
                <a:moveTo>
                  <a:pt x="38100" y="0"/>
                </a:moveTo>
                <a:lnTo>
                  <a:pt x="5619750" y="0"/>
                </a:lnTo>
                <a:cubicBezTo>
                  <a:pt x="5640777" y="0"/>
                  <a:pt x="5657850" y="17073"/>
                  <a:pt x="5657850" y="38100"/>
                </a:cubicBezTo>
                <a:lnTo>
                  <a:pt x="5657850" y="38100"/>
                </a:lnTo>
                <a:lnTo>
                  <a:pt x="0" y="38100"/>
                </a:ln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4" name="Freeform 24"/>
          <p:cNvSpPr/>
          <p:nvPr/>
        </p:nvSpPr>
        <p:spPr>
          <a:xfrm>
            <a:off x="6267450" y="3657600"/>
            <a:ext cx="457200" cy="457200"/>
          </a:xfrm>
          <a:custGeom>
            <a:avLst/>
            <a:gdLst/>
            <a:ahLst/>
            <a:cxnLst/>
            <a:rect l="l" t="t" r="r" b="b"/>
            <a:pathLst>
              <a:path w="457200" h="457200">
                <a:moveTo>
                  <a:pt x="114300" y="0"/>
                </a:moveTo>
                <a:lnTo>
                  <a:pt x="342900" y="0"/>
                </a:lnTo>
                <a:cubicBezTo>
                  <a:pt x="405983" y="0"/>
                  <a:pt x="457200" y="51217"/>
                  <a:pt x="457200" y="114300"/>
                </a:cubicBezTo>
                <a:lnTo>
                  <a:pt x="457200" y="342900"/>
                </a:lnTo>
                <a:cubicBezTo>
                  <a:pt x="457200" y="405983"/>
                  <a:pt x="405983" y="457200"/>
                  <a:pt x="342900" y="457200"/>
                </a:cubicBezTo>
                <a:lnTo>
                  <a:pt x="114300" y="457200"/>
                </a:lnTo>
                <a:cubicBezTo>
                  <a:pt x="51217" y="457200"/>
                  <a:pt x="0" y="405983"/>
                  <a:pt x="0" y="342900"/>
                </a:cubicBezTo>
                <a:lnTo>
                  <a:pt x="0" y="114300"/>
                </a:lnTo>
                <a:cubicBezTo>
                  <a:pt x="0" y="51217"/>
                  <a:pt x="51217" y="0"/>
                  <a:pt x="114300" y="0"/>
                </a:cubicBezTo>
                <a:close/>
              </a:path>
            </a:pathLst>
          </a:custGeom>
          <a:gradFill rotWithShape="1">
            <a:gsLst>
              <a:gs pos="0">
                <a:srgbClr val="00CED1">
                  <a:alpha val="100000"/>
                </a:srgbClr>
              </a:gs>
              <a:gs pos="100000">
                <a:srgbClr val="1E90FF">
                  <a:alpha val="100000"/>
                </a:srgbClr>
              </a:gs>
            </a:gsLst>
            <a:lin ang="2700000"/>
          </a:gradFill>
          <a:ln w="12700">
            <a:noFill/>
            <a:prstDash val="solid"/>
          </a:ln>
        </p:spPr>
        <p:txBody>
          <a:bodyPr wrap="square" lIns="91440" tIns="45720" rIns="91440" bIns="45720" rtlCol="0" anchor="t">
            <a:noAutofit/>
          </a:bodyPr>
          <a:lstStyle/>
          <a:p>
            <a:pPr algn="ctr">
              <a:defRPr/>
            </a:pPr>
          </a:p>
        </p:txBody>
      </p:sp>
      <p:sp>
        <p:nvSpPr>
          <p:cNvPr id="25" name="Freeform 25"/>
          <p:cNvSpPr/>
          <p:nvPr/>
        </p:nvSpPr>
        <p:spPr>
          <a:xfrm>
            <a:off x="6412706" y="3802856"/>
            <a:ext cx="166687" cy="166688"/>
          </a:xfrm>
          <a:custGeom>
            <a:avLst/>
            <a:gdLst/>
            <a:ahLst/>
            <a:cxnLst/>
            <a:rect l="l" t="t" r="r" b="b"/>
            <a:pathLst>
              <a:path w="166687" h="166688">
                <a:moveTo>
                  <a:pt x="62508" y="0"/>
                </a:moveTo>
                <a:lnTo>
                  <a:pt x="8929" y="0"/>
                </a:lnTo>
                <a:cubicBezTo>
                  <a:pt x="3981" y="0"/>
                  <a:pt x="0" y="3980"/>
                  <a:pt x="0" y="8930"/>
                </a:cubicBezTo>
                <a:lnTo>
                  <a:pt x="0" y="62508"/>
                </a:lnTo>
                <a:cubicBezTo>
                  <a:pt x="0" y="66116"/>
                  <a:pt x="2158" y="69391"/>
                  <a:pt x="5507" y="70768"/>
                </a:cubicBezTo>
                <a:cubicBezTo>
                  <a:pt x="8854" y="72145"/>
                  <a:pt x="12689" y="71363"/>
                  <a:pt x="15255" y="68833"/>
                </a:cubicBezTo>
                <a:lnTo>
                  <a:pt x="30138" y="53950"/>
                </a:lnTo>
                <a:lnTo>
                  <a:pt x="59531" y="83344"/>
                </a:lnTo>
                <a:lnTo>
                  <a:pt x="30138" y="112738"/>
                </a:lnTo>
                <a:lnTo>
                  <a:pt x="15255" y="97855"/>
                </a:lnTo>
                <a:cubicBezTo>
                  <a:pt x="12689" y="95287"/>
                  <a:pt x="8854" y="94543"/>
                  <a:pt x="5507" y="95920"/>
                </a:cubicBezTo>
                <a:cubicBezTo>
                  <a:pt x="2158" y="97297"/>
                  <a:pt x="0" y="100572"/>
                  <a:pt x="0" y="104180"/>
                </a:cubicBezTo>
                <a:lnTo>
                  <a:pt x="0" y="157758"/>
                </a:lnTo>
                <a:cubicBezTo>
                  <a:pt x="0" y="162708"/>
                  <a:pt x="3981" y="166688"/>
                  <a:pt x="8929" y="166688"/>
                </a:cubicBezTo>
                <a:lnTo>
                  <a:pt x="62508" y="166688"/>
                </a:lnTo>
                <a:cubicBezTo>
                  <a:pt x="66117" y="166688"/>
                  <a:pt x="69392" y="164530"/>
                  <a:pt x="70768" y="161181"/>
                </a:cubicBezTo>
                <a:cubicBezTo>
                  <a:pt x="72144" y="157832"/>
                  <a:pt x="71399" y="154000"/>
                  <a:pt x="68833" y="151433"/>
                </a:cubicBezTo>
                <a:lnTo>
                  <a:pt x="53950" y="136549"/>
                </a:lnTo>
                <a:lnTo>
                  <a:pt x="83344" y="107156"/>
                </a:lnTo>
                <a:lnTo>
                  <a:pt x="112737" y="136549"/>
                </a:lnTo>
                <a:lnTo>
                  <a:pt x="97854" y="151433"/>
                </a:lnTo>
                <a:cubicBezTo>
                  <a:pt x="95287" y="154000"/>
                  <a:pt x="94543" y="157832"/>
                  <a:pt x="95921" y="161181"/>
                </a:cubicBezTo>
                <a:cubicBezTo>
                  <a:pt x="97296" y="164530"/>
                  <a:pt x="100571" y="166688"/>
                  <a:pt x="104179" y="166688"/>
                </a:cubicBezTo>
                <a:lnTo>
                  <a:pt x="157758" y="166688"/>
                </a:lnTo>
                <a:cubicBezTo>
                  <a:pt x="162706" y="166688"/>
                  <a:pt x="166687" y="162708"/>
                  <a:pt x="166687" y="157758"/>
                </a:cubicBezTo>
                <a:lnTo>
                  <a:pt x="166687" y="104180"/>
                </a:lnTo>
                <a:cubicBezTo>
                  <a:pt x="166687" y="100572"/>
                  <a:pt x="164528" y="97297"/>
                  <a:pt x="161181" y="95920"/>
                </a:cubicBezTo>
                <a:cubicBezTo>
                  <a:pt x="157832" y="94543"/>
                  <a:pt x="154000" y="95287"/>
                  <a:pt x="151434" y="97855"/>
                </a:cubicBezTo>
                <a:lnTo>
                  <a:pt x="136550" y="112738"/>
                </a:lnTo>
                <a:lnTo>
                  <a:pt x="107156" y="83344"/>
                </a:lnTo>
                <a:lnTo>
                  <a:pt x="136550" y="53950"/>
                </a:lnTo>
                <a:lnTo>
                  <a:pt x="151434" y="68833"/>
                </a:lnTo>
                <a:cubicBezTo>
                  <a:pt x="154000" y="71401"/>
                  <a:pt x="157832" y="72145"/>
                  <a:pt x="161181" y="70768"/>
                </a:cubicBezTo>
                <a:cubicBezTo>
                  <a:pt x="164528" y="69391"/>
                  <a:pt x="166687" y="66116"/>
                  <a:pt x="166687" y="62508"/>
                </a:cubicBezTo>
                <a:lnTo>
                  <a:pt x="166687" y="8930"/>
                </a:lnTo>
                <a:cubicBezTo>
                  <a:pt x="166687" y="3980"/>
                  <a:pt x="162706" y="0"/>
                  <a:pt x="157758" y="0"/>
                </a:cubicBezTo>
                <a:lnTo>
                  <a:pt x="104179" y="0"/>
                </a:lnTo>
                <a:cubicBezTo>
                  <a:pt x="100571" y="0"/>
                  <a:pt x="97296" y="2158"/>
                  <a:pt x="95921" y="5507"/>
                </a:cubicBezTo>
                <a:cubicBezTo>
                  <a:pt x="94543" y="8856"/>
                  <a:pt x="95324" y="12688"/>
                  <a:pt x="97854" y="15255"/>
                </a:cubicBezTo>
                <a:lnTo>
                  <a:pt x="112737" y="30139"/>
                </a:lnTo>
                <a:lnTo>
                  <a:pt x="83344" y="59532"/>
                </a:lnTo>
                <a:lnTo>
                  <a:pt x="53950" y="30139"/>
                </a:lnTo>
                <a:lnTo>
                  <a:pt x="68833" y="15255"/>
                </a:lnTo>
                <a:cubicBezTo>
                  <a:pt x="71399" y="12688"/>
                  <a:pt x="72144" y="8856"/>
                  <a:pt x="70768" y="5507"/>
                </a:cubicBezTo>
                <a:cubicBezTo>
                  <a:pt x="69392" y="2158"/>
                  <a:pt x="66117" y="0"/>
                  <a:pt x="62508"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6821805" y="3752850"/>
            <a:ext cx="162560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88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Future Extensibility</a:t>
            </a:r>
            <a:endParaRPr lang="en-US" sz="1100"/>
          </a:p>
        </p:txBody>
      </p:sp>
      <p:sp>
        <p:nvSpPr>
          <p:cNvPr id="27" name="AutoShape 27"/>
          <p:cNvSpPr/>
          <p:nvPr/>
        </p:nvSpPr>
        <p:spPr>
          <a:xfrm>
            <a:off x="6267450" y="4191000"/>
            <a:ext cx="5505450" cy="20955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The same code can run on more domestic chips in the future. The community ecosystem continues to expand.</a:t>
            </a:r>
            <a:endParaRPr lang="en-US" sz="1100"/>
          </a:p>
        </p:txBody>
      </p:sp>
      <p:sp>
        <p:nvSpPr>
          <p:cNvPr id="28" name="Freeform 28"/>
          <p:cNvSpPr/>
          <p:nvPr/>
        </p:nvSpPr>
        <p:spPr>
          <a:xfrm>
            <a:off x="400050" y="5314950"/>
            <a:ext cx="11410950" cy="762000"/>
          </a:xfrm>
          <a:custGeom>
            <a:avLst/>
            <a:gdLst/>
            <a:ahLst/>
            <a:cxnLst/>
            <a:rect l="l" t="t" r="r" b="b"/>
            <a:pathLst>
              <a:path w="11410950" h="762000">
                <a:moveTo>
                  <a:pt x="38100" y="0"/>
                </a:moveTo>
                <a:lnTo>
                  <a:pt x="11296650" y="0"/>
                </a:lnTo>
                <a:cubicBezTo>
                  <a:pt x="11359733" y="0"/>
                  <a:pt x="11410950" y="51217"/>
                  <a:pt x="11410950" y="114300"/>
                </a:cubicBezTo>
                <a:lnTo>
                  <a:pt x="11410950" y="647700"/>
                </a:lnTo>
                <a:cubicBezTo>
                  <a:pt x="11410950" y="710783"/>
                  <a:pt x="11359733" y="762000"/>
                  <a:pt x="11296650" y="762000"/>
                </a:cubicBezTo>
                <a:lnTo>
                  <a:pt x="38100" y="762000"/>
                </a:lnTo>
                <a:cubicBezTo>
                  <a:pt x="17073" y="762000"/>
                  <a:pt x="0" y="744927"/>
                  <a:pt x="0" y="723900"/>
                </a:cubicBezTo>
                <a:lnTo>
                  <a:pt x="0" y="38100"/>
                </a:lnTo>
                <a:cubicBezTo>
                  <a:pt x="0" y="17073"/>
                  <a:pt x="17073" y="0"/>
                  <a:pt x="38100" y="0"/>
                </a:cubicBezTo>
                <a:close/>
              </a:path>
            </a:pathLst>
          </a:custGeom>
          <a:gradFill rotWithShape="1">
            <a:gsLst>
              <a:gs pos="0">
                <a:srgbClr val="5B92E5">
                  <a:alpha val="10000"/>
                </a:srgbClr>
              </a:gs>
              <a:gs pos="100000">
                <a:srgbClr val="1E90FF">
                  <a:alpha val="10000"/>
                </a:srgbClr>
              </a:gs>
            </a:gsLst>
            <a:lin ang="0"/>
          </a:gradFill>
          <a:ln w="12700">
            <a:noFill/>
            <a:prstDash val="solid"/>
          </a:ln>
        </p:spPr>
        <p:txBody>
          <a:bodyPr wrap="square" lIns="91440" tIns="45720" rIns="91440" bIns="45720" rtlCol="0" anchor="t">
            <a:noAutofit/>
          </a:bodyPr>
          <a:lstStyle/>
          <a:p>
            <a:pPr algn="ctr">
              <a:defRPr/>
            </a:pPr>
          </a:p>
        </p:txBody>
      </p:sp>
      <p:sp>
        <p:nvSpPr>
          <p:cNvPr id="29" name="Freeform 29"/>
          <p:cNvSpPr/>
          <p:nvPr/>
        </p:nvSpPr>
        <p:spPr>
          <a:xfrm>
            <a:off x="400050" y="5314950"/>
            <a:ext cx="38100" cy="762000"/>
          </a:xfrm>
          <a:custGeom>
            <a:avLst/>
            <a:gdLst/>
            <a:ahLst/>
            <a:cxnLst/>
            <a:rect l="l" t="t" r="r" b="b"/>
            <a:pathLst>
              <a:path w="38100" h="762000">
                <a:moveTo>
                  <a:pt x="38100" y="0"/>
                </a:moveTo>
                <a:lnTo>
                  <a:pt x="38100" y="0"/>
                </a:lnTo>
                <a:lnTo>
                  <a:pt x="38100" y="762000"/>
                </a:lnTo>
                <a:lnTo>
                  <a:pt x="38100" y="762000"/>
                </a:lnTo>
                <a:cubicBezTo>
                  <a:pt x="17073" y="762000"/>
                  <a:pt x="0" y="744927"/>
                  <a:pt x="0" y="7239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30" name="Freeform 30"/>
          <p:cNvSpPr/>
          <p:nvPr/>
        </p:nvSpPr>
        <p:spPr>
          <a:xfrm>
            <a:off x="533400" y="542925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gradFill rotWithShape="1">
            <a:gsLst>
              <a:gs pos="0">
                <a:srgbClr val="5B92E5">
                  <a:alpha val="100000"/>
                </a:srgbClr>
              </a:gs>
              <a:gs pos="100000">
                <a:srgbClr val="1E90FF">
                  <a:alpha val="100000"/>
                </a:srgbClr>
              </a:gs>
            </a:gsLst>
            <a:lin ang="2700000"/>
          </a:gradFill>
          <a:ln w="12700">
            <a:noFill/>
            <a:prstDash val="solid"/>
          </a:ln>
        </p:spPr>
        <p:txBody>
          <a:bodyPr wrap="square" lIns="91440" tIns="45720" rIns="91440" bIns="45720" rtlCol="0" anchor="t">
            <a:noAutofit/>
          </a:bodyPr>
          <a:lstStyle/>
          <a:p>
            <a:pPr algn="ctr">
              <a:defRPr/>
            </a:pPr>
          </a:p>
        </p:txBody>
      </p:sp>
      <p:sp>
        <p:nvSpPr>
          <p:cNvPr id="31" name="Freeform 31"/>
          <p:cNvSpPr/>
          <p:nvPr/>
        </p:nvSpPr>
        <p:spPr>
          <a:xfrm>
            <a:off x="676557" y="5567362"/>
            <a:ext cx="247086" cy="235341"/>
          </a:xfrm>
          <a:custGeom>
            <a:avLst/>
            <a:gdLst/>
            <a:ahLst/>
            <a:cxnLst/>
            <a:rect l="l" t="t" r="r" b="b"/>
            <a:pathLst>
              <a:path w="247086" h="235341">
                <a:moveTo>
                  <a:pt x="133143" y="5849"/>
                </a:moveTo>
                <a:cubicBezTo>
                  <a:pt x="131312" y="2278"/>
                  <a:pt x="127607" y="0"/>
                  <a:pt x="123588" y="0"/>
                </a:cubicBezTo>
                <a:cubicBezTo>
                  <a:pt x="119570" y="0"/>
                  <a:pt x="115864" y="2278"/>
                  <a:pt x="114032" y="5849"/>
                </a:cubicBezTo>
                <a:lnTo>
                  <a:pt x="81172" y="70232"/>
                </a:lnTo>
                <a:lnTo>
                  <a:pt x="9779" y="81573"/>
                </a:lnTo>
                <a:cubicBezTo>
                  <a:pt x="5806" y="82197"/>
                  <a:pt x="2502" y="85010"/>
                  <a:pt x="1251" y="88851"/>
                </a:cubicBezTo>
                <a:cubicBezTo>
                  <a:pt x="0" y="92691"/>
                  <a:pt x="1028" y="96888"/>
                  <a:pt x="3841" y="99745"/>
                </a:cubicBezTo>
                <a:lnTo>
                  <a:pt x="54919" y="150868"/>
                </a:lnTo>
                <a:lnTo>
                  <a:pt x="43667" y="222259"/>
                </a:lnTo>
                <a:cubicBezTo>
                  <a:pt x="43042" y="226234"/>
                  <a:pt x="44694" y="230252"/>
                  <a:pt x="47954" y="232619"/>
                </a:cubicBezTo>
                <a:cubicBezTo>
                  <a:pt x="51213" y="234985"/>
                  <a:pt x="55499" y="235342"/>
                  <a:pt x="59116" y="233512"/>
                </a:cubicBezTo>
                <a:lnTo>
                  <a:pt x="123588" y="200741"/>
                </a:lnTo>
                <a:lnTo>
                  <a:pt x="188016" y="233512"/>
                </a:lnTo>
                <a:cubicBezTo>
                  <a:pt x="191588" y="235342"/>
                  <a:pt x="195920" y="234985"/>
                  <a:pt x="199178" y="232619"/>
                </a:cubicBezTo>
                <a:cubicBezTo>
                  <a:pt x="202437" y="230252"/>
                  <a:pt x="204089" y="226279"/>
                  <a:pt x="203465" y="222259"/>
                </a:cubicBezTo>
                <a:lnTo>
                  <a:pt x="192168" y="150868"/>
                </a:lnTo>
                <a:lnTo>
                  <a:pt x="243246" y="99745"/>
                </a:lnTo>
                <a:cubicBezTo>
                  <a:pt x="246104" y="96888"/>
                  <a:pt x="247087" y="92691"/>
                  <a:pt x="245836" y="88851"/>
                </a:cubicBezTo>
                <a:cubicBezTo>
                  <a:pt x="244585" y="85010"/>
                  <a:pt x="241326" y="82197"/>
                  <a:pt x="237308" y="81573"/>
                </a:cubicBezTo>
                <a:lnTo>
                  <a:pt x="165960" y="70232"/>
                </a:lnTo>
                <a:lnTo>
                  <a:pt x="133143" y="5849"/>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2" name="AutoShape 32"/>
          <p:cNvSpPr/>
          <p:nvPr/>
        </p:nvSpPr>
        <p:spPr>
          <a:xfrm>
            <a:off x="1219200" y="5438775"/>
            <a:ext cx="9382125" cy="266700"/>
          </a:xfrm>
          <a:prstGeom prst="rect">
            <a:avLst/>
          </a:prstGeom>
          <a:noFill/>
          <a:ln w="12700">
            <a:noFill/>
            <a:prstDash val="solid"/>
          </a:ln>
        </p:spPr>
        <p:txBody>
          <a:bodyPr wrap="square" lIns="0" tIns="0" rIns="0" bIns="0" rtlCol="0" anchor="ctr">
            <a:noAutofit/>
          </a:bodyPr>
          <a:lstStyle/>
          <a:p>
            <a:pPr indent="0" algn="l">
              <a:lnSpc>
                <a:spcPct val="117000"/>
              </a:lnSpc>
              <a:defRPr/>
            </a:pPr>
            <a:endParaRPr lang="en-US" sz="1100"/>
          </a:p>
          <a:p>
            <a:pPr indent="0" algn="l">
              <a:lnSpc>
                <a:spcPct val="117000"/>
              </a:lnSpc>
            </a:pPr>
            <a:r>
              <a:rPr lang="en-US" sz="7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FlagOS: A unified, open-source system software stack designed for various AI chips</a:t>
            </a:r>
            <a:endPar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17000"/>
              </a:lnSpc>
            </a:pPr>
            <a:r>
              <a:rPr lang="en-US" sz="7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5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3" name="AutoShape 33"/>
          <p:cNvSpPr/>
          <p:nvPr/>
        </p:nvSpPr>
        <p:spPr>
          <a:xfrm>
            <a:off x="1219200" y="5743575"/>
            <a:ext cx="9363075" cy="20955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7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It makes domestic computing power truly </a:t>
            </a:r>
            <a:r>
              <a:rPr lang="en-US" sz="7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usable, easy to use, and powerful</a:t>
            </a:r>
            <a:r>
              <a:rPr lang="en-US" sz="7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 paving the way for autonomous and controllable AI infrastructure in China</a:t>
            </a:r>
            <a:r>
              <a:rPr lang="en-US" sz="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58600" cy="6858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3000" b="0" i="0" u="none" strike="noStrike">
                <a:solidFill>
                  <a:srgbClr val="5B92E5"/>
                </a:solidFill>
                <a:latin typeface="Alimama ShuHeiTi"/>
                <a:ea typeface="Alimama ShuHeiTi"/>
                <a:cs typeface="Alimama ShuHeiTi"/>
                <a:sym typeface="Alimama ShuHeiTi"/>
              </a:rPr>
              <a:t>Reference Resources and Tools</a:t>
            </a:r>
            <a:endParaRPr lang="en-US" sz="1100"/>
          </a:p>
        </p:txBody>
      </p:sp>
      <p:sp>
        <p:nvSpPr>
          <p:cNvPr id="3" name="Freeform 3"/>
          <p:cNvSpPr/>
          <p:nvPr/>
        </p:nvSpPr>
        <p:spPr>
          <a:xfrm>
            <a:off x="398318" y="2365975"/>
            <a:ext cx="2682585" cy="1596735"/>
          </a:xfrm>
          <a:custGeom>
            <a:avLst/>
            <a:gdLst/>
            <a:ahLst/>
            <a:cxnLst/>
            <a:rect l="l" t="t" r="r" b="b"/>
            <a:pathLst>
              <a:path w="2682585" h="1596735">
                <a:moveTo>
                  <a:pt x="114294" y="0"/>
                </a:moveTo>
                <a:lnTo>
                  <a:pt x="2568292" y="0"/>
                </a:lnTo>
                <a:cubicBezTo>
                  <a:pt x="2631415" y="0"/>
                  <a:pt x="2682585" y="51171"/>
                  <a:pt x="2682585" y="114294"/>
                </a:cubicBezTo>
                <a:lnTo>
                  <a:pt x="2682585" y="1482442"/>
                </a:lnTo>
                <a:cubicBezTo>
                  <a:pt x="2682585" y="1545565"/>
                  <a:pt x="2631415" y="1596735"/>
                  <a:pt x="2568292" y="1596735"/>
                </a:cubicBezTo>
                <a:lnTo>
                  <a:pt x="114294" y="1596735"/>
                </a:lnTo>
                <a:cubicBezTo>
                  <a:pt x="51171" y="1596735"/>
                  <a:pt x="0" y="1545565"/>
                  <a:pt x="0" y="1482442"/>
                </a:cubicBezTo>
                <a:lnTo>
                  <a:pt x="0" y="114294"/>
                </a:lnTo>
                <a:cubicBezTo>
                  <a:pt x="0" y="51214"/>
                  <a:pt x="51214" y="0"/>
                  <a:pt x="114294" y="0"/>
                </a:cubicBezTo>
                <a:close/>
              </a:path>
            </a:pathLst>
          </a:custGeom>
          <a:solidFill>
            <a:srgbClr val="F2F2F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4" name="Freeform 4"/>
          <p:cNvSpPr/>
          <p:nvPr/>
        </p:nvSpPr>
        <p:spPr>
          <a:xfrm>
            <a:off x="1566863" y="2573796"/>
            <a:ext cx="342900" cy="342900"/>
          </a:xfrm>
          <a:custGeom>
            <a:avLst/>
            <a:gdLst/>
            <a:ahLst/>
            <a:cxnLst/>
            <a:rect l="l" t="t" r="r" b="b"/>
            <a:pathLst>
              <a:path w="342900" h="342900">
                <a:moveTo>
                  <a:pt x="0" y="171450"/>
                </a:moveTo>
                <a:cubicBezTo>
                  <a:pt x="0" y="76824"/>
                  <a:pt x="76824" y="0"/>
                  <a:pt x="171450" y="0"/>
                </a:cubicBezTo>
                <a:cubicBezTo>
                  <a:pt x="266076" y="0"/>
                  <a:pt x="342900" y="76824"/>
                  <a:pt x="342900" y="171450"/>
                </a:cubicBezTo>
                <a:cubicBezTo>
                  <a:pt x="342900" y="266076"/>
                  <a:pt x="266076" y="342900"/>
                  <a:pt x="171450" y="342900"/>
                </a:cubicBezTo>
                <a:cubicBezTo>
                  <a:pt x="76824" y="342900"/>
                  <a:pt x="0" y="266076"/>
                  <a:pt x="0" y="171450"/>
                </a:cubicBezTo>
                <a:close/>
                <a:moveTo>
                  <a:pt x="126110" y="98516"/>
                </a:moveTo>
                <a:cubicBezTo>
                  <a:pt x="121020" y="101329"/>
                  <a:pt x="117873" y="106754"/>
                  <a:pt x="117873" y="112514"/>
                </a:cubicBezTo>
                <a:lnTo>
                  <a:pt x="117873" y="230386"/>
                </a:lnTo>
                <a:cubicBezTo>
                  <a:pt x="117873" y="236212"/>
                  <a:pt x="121020" y="241571"/>
                  <a:pt x="126110" y="244384"/>
                </a:cubicBezTo>
                <a:cubicBezTo>
                  <a:pt x="131199" y="247197"/>
                  <a:pt x="137361" y="247129"/>
                  <a:pt x="142384" y="244048"/>
                </a:cubicBezTo>
                <a:lnTo>
                  <a:pt x="238824" y="185111"/>
                </a:lnTo>
                <a:cubicBezTo>
                  <a:pt x="243580" y="182166"/>
                  <a:pt x="246526" y="177009"/>
                  <a:pt x="246526" y="171383"/>
                </a:cubicBezTo>
                <a:cubicBezTo>
                  <a:pt x="246526" y="165757"/>
                  <a:pt x="243580" y="160600"/>
                  <a:pt x="238824" y="157654"/>
                </a:cubicBezTo>
                <a:lnTo>
                  <a:pt x="142384" y="98718"/>
                </a:lnTo>
                <a:cubicBezTo>
                  <a:pt x="137428" y="95703"/>
                  <a:pt x="131199" y="95570"/>
                  <a:pt x="126110" y="98383"/>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563274" y="3030810"/>
            <a:ext cx="235267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725"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Interactive Understanding of Transformer Architecture</a:t>
            </a:r>
            <a:endParaRPr lang="en-US" sz="1100"/>
          </a:p>
        </p:txBody>
      </p:sp>
      <p:sp>
        <p:nvSpPr>
          <p:cNvPr id="6" name="AutoShape 6"/>
          <p:cNvSpPr/>
          <p:nvPr/>
        </p:nvSpPr>
        <p:spPr>
          <a:xfrm>
            <a:off x="572799" y="3373524"/>
            <a:ext cx="2333625"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poloclub.github.io/transformer-explainer</a:t>
            </a:r>
            <a:endParaRPr lang="en-US" sz="1100"/>
          </a:p>
        </p:txBody>
      </p:sp>
      <p:sp>
        <p:nvSpPr>
          <p:cNvPr id="7" name="Freeform 7"/>
          <p:cNvSpPr/>
          <p:nvPr/>
        </p:nvSpPr>
        <p:spPr>
          <a:xfrm>
            <a:off x="3296920" y="2348657"/>
            <a:ext cx="2714625" cy="1628775"/>
          </a:xfrm>
          <a:custGeom>
            <a:avLst/>
            <a:gdLst/>
            <a:ahLst/>
            <a:cxnLst/>
            <a:rect l="l" t="t" r="r" b="b"/>
            <a:pathLst>
              <a:path w="2714625" h="1628775">
                <a:moveTo>
                  <a:pt x="114308" y="0"/>
                </a:moveTo>
                <a:lnTo>
                  <a:pt x="2600317" y="0"/>
                </a:lnTo>
                <a:cubicBezTo>
                  <a:pt x="2663448" y="0"/>
                  <a:pt x="2714625" y="51177"/>
                  <a:pt x="2714625" y="114308"/>
                </a:cubicBezTo>
                <a:lnTo>
                  <a:pt x="2714625" y="1514467"/>
                </a:lnTo>
                <a:cubicBezTo>
                  <a:pt x="2714625" y="1577598"/>
                  <a:pt x="2663448" y="1628775"/>
                  <a:pt x="2600317" y="1628775"/>
                </a:cubicBezTo>
                <a:lnTo>
                  <a:pt x="114308" y="1628775"/>
                </a:lnTo>
                <a:cubicBezTo>
                  <a:pt x="51177" y="1628775"/>
                  <a:pt x="0" y="1577598"/>
                  <a:pt x="0" y="1514467"/>
                </a:cubicBezTo>
                <a:lnTo>
                  <a:pt x="0" y="114308"/>
                </a:lnTo>
                <a:cubicBezTo>
                  <a:pt x="0" y="51219"/>
                  <a:pt x="51219" y="0"/>
                  <a:pt x="114308"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4449953" y="2560588"/>
            <a:ext cx="386968" cy="300038"/>
          </a:xfrm>
          <a:custGeom>
            <a:avLst/>
            <a:gdLst/>
            <a:ahLst/>
            <a:cxnLst/>
            <a:rect l="l" t="t" r="r" b="b"/>
            <a:pathLst>
              <a:path w="386968" h="300038">
                <a:moveTo>
                  <a:pt x="193484" y="0"/>
                </a:moveTo>
                <a:cubicBezTo>
                  <a:pt x="139370" y="0"/>
                  <a:pt x="96038" y="24646"/>
                  <a:pt x="64495" y="53980"/>
                </a:cubicBezTo>
                <a:cubicBezTo>
                  <a:pt x="33152" y="83113"/>
                  <a:pt x="12189" y="117871"/>
                  <a:pt x="2210" y="141781"/>
                </a:cubicBezTo>
                <a:cubicBezTo>
                  <a:pt x="0" y="147073"/>
                  <a:pt x="0" y="152965"/>
                  <a:pt x="2210" y="158257"/>
                </a:cubicBezTo>
                <a:cubicBezTo>
                  <a:pt x="12189" y="182167"/>
                  <a:pt x="33152" y="216992"/>
                  <a:pt x="64495" y="246058"/>
                </a:cubicBezTo>
                <a:cubicBezTo>
                  <a:pt x="96038" y="275325"/>
                  <a:pt x="139370" y="300038"/>
                  <a:pt x="193484" y="300038"/>
                </a:cubicBezTo>
                <a:cubicBezTo>
                  <a:pt x="247598" y="300038"/>
                  <a:pt x="290929" y="275392"/>
                  <a:pt x="322474" y="246058"/>
                </a:cubicBezTo>
                <a:cubicBezTo>
                  <a:pt x="353817" y="216925"/>
                  <a:pt x="374779" y="182167"/>
                  <a:pt x="384758" y="158257"/>
                </a:cubicBezTo>
                <a:cubicBezTo>
                  <a:pt x="386967" y="152965"/>
                  <a:pt x="386967" y="147073"/>
                  <a:pt x="384758" y="141781"/>
                </a:cubicBezTo>
                <a:cubicBezTo>
                  <a:pt x="374779" y="117871"/>
                  <a:pt x="353817" y="83046"/>
                  <a:pt x="322474" y="53980"/>
                </a:cubicBezTo>
                <a:cubicBezTo>
                  <a:pt x="290929" y="24713"/>
                  <a:pt x="247598" y="0"/>
                  <a:pt x="193484" y="0"/>
                </a:cubicBezTo>
                <a:close/>
                <a:moveTo>
                  <a:pt x="97044" y="150019"/>
                </a:moveTo>
                <a:cubicBezTo>
                  <a:pt x="97044" y="96792"/>
                  <a:pt x="140257" y="53578"/>
                  <a:pt x="193484" y="53578"/>
                </a:cubicBezTo>
                <a:cubicBezTo>
                  <a:pt x="246711" y="53578"/>
                  <a:pt x="289926" y="96792"/>
                  <a:pt x="289926" y="150019"/>
                </a:cubicBezTo>
                <a:cubicBezTo>
                  <a:pt x="289926" y="203246"/>
                  <a:pt x="246711" y="246460"/>
                  <a:pt x="193484" y="246460"/>
                </a:cubicBezTo>
                <a:cubicBezTo>
                  <a:pt x="140257" y="246460"/>
                  <a:pt x="97044" y="203246"/>
                  <a:pt x="97044" y="150019"/>
                </a:cubicBezTo>
                <a:close/>
                <a:moveTo>
                  <a:pt x="193484" y="107156"/>
                </a:moveTo>
                <a:cubicBezTo>
                  <a:pt x="193484" y="130798"/>
                  <a:pt x="174263" y="150019"/>
                  <a:pt x="150622" y="150019"/>
                </a:cubicBezTo>
                <a:cubicBezTo>
                  <a:pt x="142920" y="150019"/>
                  <a:pt x="135687" y="148010"/>
                  <a:pt x="129391" y="144393"/>
                </a:cubicBezTo>
                <a:cubicBezTo>
                  <a:pt x="128722" y="151693"/>
                  <a:pt x="129324" y="159193"/>
                  <a:pt x="131334" y="166628"/>
                </a:cubicBezTo>
                <a:cubicBezTo>
                  <a:pt x="140509" y="200918"/>
                  <a:pt x="175803" y="221277"/>
                  <a:pt x="210093" y="212103"/>
                </a:cubicBezTo>
                <a:cubicBezTo>
                  <a:pt x="244383" y="202927"/>
                  <a:pt x="264743" y="167633"/>
                  <a:pt x="255568" y="133343"/>
                </a:cubicBezTo>
                <a:cubicBezTo>
                  <a:pt x="247397" y="102736"/>
                  <a:pt x="218398" y="83247"/>
                  <a:pt x="187859" y="85926"/>
                </a:cubicBezTo>
                <a:cubicBezTo>
                  <a:pt x="191408" y="92155"/>
                  <a:pt x="193484" y="99388"/>
                  <a:pt x="193484" y="107156"/>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3433763" y="2996171"/>
            <a:ext cx="24193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5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Large Model Architecture Visualization</a:t>
            </a:r>
            <a:endParaRPr lang="en-US" sz="1100"/>
          </a:p>
        </p:txBody>
      </p:sp>
      <p:sp>
        <p:nvSpPr>
          <p:cNvPr id="10" name="AutoShape 10"/>
          <p:cNvSpPr/>
          <p:nvPr/>
        </p:nvSpPr>
        <p:spPr>
          <a:xfrm>
            <a:off x="3443288" y="3338885"/>
            <a:ext cx="2400300"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7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bbycroft.net/llm</a:t>
            </a:r>
            <a:endParaRPr lang="en-US" sz="1100"/>
          </a:p>
        </p:txBody>
      </p:sp>
      <p:sp>
        <p:nvSpPr>
          <p:cNvPr id="11" name="Freeform 11"/>
          <p:cNvSpPr/>
          <p:nvPr/>
        </p:nvSpPr>
        <p:spPr>
          <a:xfrm>
            <a:off x="6191250" y="2348657"/>
            <a:ext cx="2714625" cy="1628775"/>
          </a:xfrm>
          <a:custGeom>
            <a:avLst/>
            <a:gdLst/>
            <a:ahLst/>
            <a:cxnLst/>
            <a:rect l="l" t="t" r="r" b="b"/>
            <a:pathLst>
              <a:path w="2714625" h="1628775">
                <a:moveTo>
                  <a:pt x="114308" y="0"/>
                </a:moveTo>
                <a:lnTo>
                  <a:pt x="2600317" y="0"/>
                </a:lnTo>
                <a:cubicBezTo>
                  <a:pt x="2663448" y="0"/>
                  <a:pt x="2714625" y="51177"/>
                  <a:pt x="2714625" y="114308"/>
                </a:cubicBezTo>
                <a:lnTo>
                  <a:pt x="2714625" y="1514467"/>
                </a:lnTo>
                <a:cubicBezTo>
                  <a:pt x="2714625" y="1577598"/>
                  <a:pt x="2663448" y="1628775"/>
                  <a:pt x="2600317" y="1628775"/>
                </a:cubicBezTo>
                <a:lnTo>
                  <a:pt x="114308" y="1628775"/>
                </a:lnTo>
                <a:cubicBezTo>
                  <a:pt x="51177" y="1628775"/>
                  <a:pt x="0" y="1577598"/>
                  <a:pt x="0" y="1514467"/>
                </a:cubicBezTo>
                <a:lnTo>
                  <a:pt x="0" y="114308"/>
                </a:lnTo>
                <a:cubicBezTo>
                  <a:pt x="0" y="51219"/>
                  <a:pt x="51219" y="0"/>
                  <a:pt x="114308"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7398544" y="2560588"/>
            <a:ext cx="300038" cy="300038"/>
          </a:xfrm>
          <a:custGeom>
            <a:avLst/>
            <a:gdLst/>
            <a:ahLst/>
            <a:cxnLst/>
            <a:rect l="l" t="t" r="r" b="b"/>
            <a:pathLst>
              <a:path w="300038" h="300038">
                <a:moveTo>
                  <a:pt x="0" y="42863"/>
                </a:moveTo>
                <a:cubicBezTo>
                  <a:pt x="0" y="19220"/>
                  <a:pt x="19221" y="0"/>
                  <a:pt x="42862" y="0"/>
                </a:cubicBezTo>
                <a:lnTo>
                  <a:pt x="257175" y="0"/>
                </a:lnTo>
                <a:cubicBezTo>
                  <a:pt x="280816" y="0"/>
                  <a:pt x="300037" y="19220"/>
                  <a:pt x="300037" y="42863"/>
                </a:cubicBezTo>
                <a:lnTo>
                  <a:pt x="300037" y="257175"/>
                </a:lnTo>
                <a:cubicBezTo>
                  <a:pt x="300037" y="280818"/>
                  <a:pt x="280816" y="300038"/>
                  <a:pt x="257175" y="300038"/>
                </a:cubicBezTo>
                <a:lnTo>
                  <a:pt x="42862" y="300038"/>
                </a:lnTo>
                <a:cubicBezTo>
                  <a:pt x="19221" y="300038"/>
                  <a:pt x="0" y="280818"/>
                  <a:pt x="0" y="257175"/>
                </a:cubicBezTo>
                <a:lnTo>
                  <a:pt x="0" y="42863"/>
                </a:lnTo>
                <a:close/>
                <a:moveTo>
                  <a:pt x="32148" y="225028"/>
                </a:moveTo>
                <a:lnTo>
                  <a:pt x="32148" y="246460"/>
                </a:lnTo>
                <a:cubicBezTo>
                  <a:pt x="32148" y="252353"/>
                  <a:pt x="36968" y="257175"/>
                  <a:pt x="42862" y="257175"/>
                </a:cubicBezTo>
                <a:lnTo>
                  <a:pt x="64294" y="257175"/>
                </a:lnTo>
                <a:cubicBezTo>
                  <a:pt x="70187" y="257175"/>
                  <a:pt x="75009" y="252353"/>
                  <a:pt x="75009" y="246460"/>
                </a:cubicBezTo>
                <a:lnTo>
                  <a:pt x="75009" y="225028"/>
                </a:lnTo>
                <a:cubicBezTo>
                  <a:pt x="75009" y="219135"/>
                  <a:pt x="70187" y="214313"/>
                  <a:pt x="64294" y="214313"/>
                </a:cubicBezTo>
                <a:lnTo>
                  <a:pt x="42862" y="214313"/>
                </a:lnTo>
                <a:cubicBezTo>
                  <a:pt x="36968" y="214313"/>
                  <a:pt x="32148" y="219135"/>
                  <a:pt x="32148" y="225028"/>
                </a:cubicBezTo>
                <a:close/>
                <a:moveTo>
                  <a:pt x="235744" y="214313"/>
                </a:moveTo>
                <a:cubicBezTo>
                  <a:pt x="229850" y="214313"/>
                  <a:pt x="225027" y="219135"/>
                  <a:pt x="225027" y="225028"/>
                </a:cubicBezTo>
                <a:lnTo>
                  <a:pt x="225027" y="246460"/>
                </a:lnTo>
                <a:cubicBezTo>
                  <a:pt x="225027" y="252353"/>
                  <a:pt x="229850" y="257175"/>
                  <a:pt x="235744" y="257175"/>
                </a:cubicBezTo>
                <a:lnTo>
                  <a:pt x="257175" y="257175"/>
                </a:lnTo>
                <a:cubicBezTo>
                  <a:pt x="263069" y="257175"/>
                  <a:pt x="267891" y="252353"/>
                  <a:pt x="267891" y="246460"/>
                </a:cubicBezTo>
                <a:lnTo>
                  <a:pt x="267891" y="225028"/>
                </a:lnTo>
                <a:cubicBezTo>
                  <a:pt x="267891" y="219135"/>
                  <a:pt x="263069" y="214313"/>
                  <a:pt x="257175" y="214313"/>
                </a:cubicBezTo>
                <a:lnTo>
                  <a:pt x="235744" y="214313"/>
                </a:lnTo>
                <a:close/>
                <a:moveTo>
                  <a:pt x="32148" y="139303"/>
                </a:moveTo>
                <a:lnTo>
                  <a:pt x="32148" y="160735"/>
                </a:lnTo>
                <a:cubicBezTo>
                  <a:pt x="32148" y="166628"/>
                  <a:pt x="36968" y="171450"/>
                  <a:pt x="42862" y="171450"/>
                </a:cubicBezTo>
                <a:lnTo>
                  <a:pt x="64294" y="171450"/>
                </a:lnTo>
                <a:cubicBezTo>
                  <a:pt x="70187" y="171450"/>
                  <a:pt x="75009" y="166628"/>
                  <a:pt x="75009" y="160735"/>
                </a:cubicBezTo>
                <a:lnTo>
                  <a:pt x="75009" y="139303"/>
                </a:lnTo>
                <a:cubicBezTo>
                  <a:pt x="75009" y="133410"/>
                  <a:pt x="70187" y="128588"/>
                  <a:pt x="64294" y="128588"/>
                </a:cubicBezTo>
                <a:lnTo>
                  <a:pt x="42862" y="128588"/>
                </a:lnTo>
                <a:cubicBezTo>
                  <a:pt x="36968" y="128588"/>
                  <a:pt x="32148" y="133410"/>
                  <a:pt x="32148" y="139303"/>
                </a:cubicBezTo>
                <a:close/>
                <a:moveTo>
                  <a:pt x="235744" y="128588"/>
                </a:moveTo>
                <a:cubicBezTo>
                  <a:pt x="229850" y="128588"/>
                  <a:pt x="225027" y="133410"/>
                  <a:pt x="225027" y="139303"/>
                </a:cubicBezTo>
                <a:lnTo>
                  <a:pt x="225027" y="160735"/>
                </a:lnTo>
                <a:cubicBezTo>
                  <a:pt x="225027" y="166628"/>
                  <a:pt x="229850" y="171450"/>
                  <a:pt x="235744" y="171450"/>
                </a:cubicBezTo>
                <a:lnTo>
                  <a:pt x="257175" y="171450"/>
                </a:lnTo>
                <a:cubicBezTo>
                  <a:pt x="263069" y="171450"/>
                  <a:pt x="267891" y="166628"/>
                  <a:pt x="267891" y="160735"/>
                </a:cubicBezTo>
                <a:lnTo>
                  <a:pt x="267891" y="139303"/>
                </a:lnTo>
                <a:cubicBezTo>
                  <a:pt x="267891" y="133410"/>
                  <a:pt x="263069" y="128588"/>
                  <a:pt x="257175" y="128588"/>
                </a:cubicBezTo>
                <a:lnTo>
                  <a:pt x="235744" y="128588"/>
                </a:lnTo>
                <a:close/>
                <a:moveTo>
                  <a:pt x="32148" y="53578"/>
                </a:moveTo>
                <a:lnTo>
                  <a:pt x="32148" y="75010"/>
                </a:lnTo>
                <a:cubicBezTo>
                  <a:pt x="32148" y="80903"/>
                  <a:pt x="36968" y="85725"/>
                  <a:pt x="42862" y="85725"/>
                </a:cubicBezTo>
                <a:lnTo>
                  <a:pt x="64294" y="85725"/>
                </a:lnTo>
                <a:cubicBezTo>
                  <a:pt x="70187" y="85725"/>
                  <a:pt x="75009" y="80903"/>
                  <a:pt x="75009" y="75010"/>
                </a:cubicBezTo>
                <a:lnTo>
                  <a:pt x="75009" y="53578"/>
                </a:lnTo>
                <a:cubicBezTo>
                  <a:pt x="75009" y="47685"/>
                  <a:pt x="70187" y="42863"/>
                  <a:pt x="64294" y="42863"/>
                </a:cubicBezTo>
                <a:lnTo>
                  <a:pt x="42862" y="42863"/>
                </a:lnTo>
                <a:cubicBezTo>
                  <a:pt x="36968" y="42863"/>
                  <a:pt x="32148" y="47685"/>
                  <a:pt x="32148" y="53578"/>
                </a:cubicBezTo>
                <a:close/>
                <a:moveTo>
                  <a:pt x="235744" y="42863"/>
                </a:moveTo>
                <a:cubicBezTo>
                  <a:pt x="229850" y="42863"/>
                  <a:pt x="225027" y="47685"/>
                  <a:pt x="225027" y="53578"/>
                </a:cubicBezTo>
                <a:lnTo>
                  <a:pt x="225027" y="75010"/>
                </a:lnTo>
                <a:cubicBezTo>
                  <a:pt x="225027" y="80903"/>
                  <a:pt x="229850" y="85725"/>
                  <a:pt x="235744" y="85725"/>
                </a:cubicBezTo>
                <a:lnTo>
                  <a:pt x="257175" y="85725"/>
                </a:lnTo>
                <a:cubicBezTo>
                  <a:pt x="263069" y="85725"/>
                  <a:pt x="267891" y="80903"/>
                  <a:pt x="267891" y="75010"/>
                </a:cubicBezTo>
                <a:lnTo>
                  <a:pt x="267891" y="53578"/>
                </a:lnTo>
                <a:cubicBezTo>
                  <a:pt x="267891" y="47685"/>
                  <a:pt x="263069" y="42863"/>
                  <a:pt x="257175" y="42863"/>
                </a:cubicBezTo>
                <a:lnTo>
                  <a:pt x="235744" y="42863"/>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6338888" y="2996171"/>
            <a:ext cx="24193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785"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Animated Demonstration of Attention Mechanism</a:t>
            </a:r>
            <a:endParaRPr lang="en-US" sz="1100"/>
          </a:p>
        </p:txBody>
      </p:sp>
      <p:sp>
        <p:nvSpPr>
          <p:cNvPr id="14" name="AutoShape 14"/>
          <p:cNvSpPr/>
          <p:nvPr/>
        </p:nvSpPr>
        <p:spPr>
          <a:xfrm>
            <a:off x="6348413" y="3338885"/>
            <a:ext cx="24003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prvnsmpth.github.io/animated-transformer</a:t>
            </a:r>
            <a:endParaRPr lang="en-US" sz="1100"/>
          </a:p>
        </p:txBody>
      </p:sp>
      <p:sp>
        <p:nvSpPr>
          <p:cNvPr id="15" name="Freeform 15"/>
          <p:cNvSpPr/>
          <p:nvPr/>
        </p:nvSpPr>
        <p:spPr>
          <a:xfrm>
            <a:off x="9096374" y="2348657"/>
            <a:ext cx="2714625" cy="1628775"/>
          </a:xfrm>
          <a:custGeom>
            <a:avLst/>
            <a:gdLst/>
            <a:ahLst/>
            <a:cxnLst/>
            <a:rect l="l" t="t" r="r" b="b"/>
            <a:pathLst>
              <a:path w="2714625" h="1628775">
                <a:moveTo>
                  <a:pt x="114308" y="0"/>
                </a:moveTo>
                <a:lnTo>
                  <a:pt x="2600317" y="0"/>
                </a:lnTo>
                <a:cubicBezTo>
                  <a:pt x="2663448" y="0"/>
                  <a:pt x="2714625" y="51177"/>
                  <a:pt x="2714625" y="114308"/>
                </a:cubicBezTo>
                <a:lnTo>
                  <a:pt x="2714625" y="1514467"/>
                </a:lnTo>
                <a:cubicBezTo>
                  <a:pt x="2714625" y="1577598"/>
                  <a:pt x="2663448" y="1628775"/>
                  <a:pt x="2600317" y="1628775"/>
                </a:cubicBezTo>
                <a:lnTo>
                  <a:pt x="114308" y="1628775"/>
                </a:lnTo>
                <a:cubicBezTo>
                  <a:pt x="51177" y="1628775"/>
                  <a:pt x="0" y="1577598"/>
                  <a:pt x="0" y="1514467"/>
                </a:cubicBezTo>
                <a:lnTo>
                  <a:pt x="0" y="114308"/>
                </a:lnTo>
                <a:cubicBezTo>
                  <a:pt x="0" y="51219"/>
                  <a:pt x="51219" y="0"/>
                  <a:pt x="114308"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10287596" y="2544515"/>
            <a:ext cx="332184" cy="325152"/>
          </a:xfrm>
          <a:custGeom>
            <a:avLst/>
            <a:gdLst/>
            <a:ahLst/>
            <a:cxnLst/>
            <a:rect l="l" t="t" r="r" b="b"/>
            <a:pathLst>
              <a:path w="332184" h="325152">
                <a:moveTo>
                  <a:pt x="111107" y="260791"/>
                </a:moveTo>
                <a:cubicBezTo>
                  <a:pt x="111107" y="262131"/>
                  <a:pt x="109567" y="263203"/>
                  <a:pt x="107625" y="263203"/>
                </a:cubicBezTo>
                <a:cubicBezTo>
                  <a:pt x="105415" y="263403"/>
                  <a:pt x="103873" y="262333"/>
                  <a:pt x="103873" y="260791"/>
                </a:cubicBezTo>
                <a:cubicBezTo>
                  <a:pt x="103873" y="259452"/>
                  <a:pt x="105415" y="258380"/>
                  <a:pt x="107357" y="258380"/>
                </a:cubicBezTo>
                <a:cubicBezTo>
                  <a:pt x="109366" y="258178"/>
                  <a:pt x="111107" y="259252"/>
                  <a:pt x="111107" y="260791"/>
                </a:cubicBezTo>
                <a:close/>
                <a:moveTo>
                  <a:pt x="90279" y="257778"/>
                </a:moveTo>
                <a:cubicBezTo>
                  <a:pt x="89809" y="259117"/>
                  <a:pt x="91151" y="260657"/>
                  <a:pt x="93158" y="261059"/>
                </a:cubicBezTo>
                <a:cubicBezTo>
                  <a:pt x="94900" y="261729"/>
                  <a:pt x="96909" y="261059"/>
                  <a:pt x="97311" y="259720"/>
                </a:cubicBezTo>
                <a:cubicBezTo>
                  <a:pt x="97713" y="258380"/>
                  <a:pt x="96440" y="256840"/>
                  <a:pt x="94431" y="256237"/>
                </a:cubicBezTo>
                <a:cubicBezTo>
                  <a:pt x="92690" y="255768"/>
                  <a:pt x="90748" y="256439"/>
                  <a:pt x="90279" y="257778"/>
                </a:cubicBezTo>
                <a:close/>
                <a:moveTo>
                  <a:pt x="119881" y="256639"/>
                </a:moveTo>
                <a:cubicBezTo>
                  <a:pt x="117939" y="257108"/>
                  <a:pt x="116599" y="258380"/>
                  <a:pt x="116799" y="259921"/>
                </a:cubicBezTo>
                <a:cubicBezTo>
                  <a:pt x="117001" y="261259"/>
                  <a:pt x="118743" y="262131"/>
                  <a:pt x="120752" y="261662"/>
                </a:cubicBezTo>
                <a:cubicBezTo>
                  <a:pt x="122694" y="261193"/>
                  <a:pt x="124033" y="259921"/>
                  <a:pt x="123831" y="258581"/>
                </a:cubicBezTo>
                <a:cubicBezTo>
                  <a:pt x="123631" y="257308"/>
                  <a:pt x="121824" y="256439"/>
                  <a:pt x="119881" y="256639"/>
                </a:cubicBezTo>
                <a:close/>
                <a:moveTo>
                  <a:pt x="163950" y="0"/>
                </a:moveTo>
                <a:cubicBezTo>
                  <a:pt x="71058" y="0"/>
                  <a:pt x="0" y="70522"/>
                  <a:pt x="0" y="163414"/>
                </a:cubicBezTo>
                <a:cubicBezTo>
                  <a:pt x="0" y="237686"/>
                  <a:pt x="46748" y="301243"/>
                  <a:pt x="113518" y="323611"/>
                </a:cubicBezTo>
                <a:cubicBezTo>
                  <a:pt x="122092" y="325152"/>
                  <a:pt x="125105" y="319861"/>
                  <a:pt x="125105" y="315507"/>
                </a:cubicBezTo>
                <a:cubicBezTo>
                  <a:pt x="125105" y="311356"/>
                  <a:pt x="124905" y="288451"/>
                  <a:pt x="124905" y="274387"/>
                </a:cubicBezTo>
                <a:cubicBezTo>
                  <a:pt x="124905" y="274387"/>
                  <a:pt x="78023" y="284433"/>
                  <a:pt x="68178" y="254429"/>
                </a:cubicBezTo>
                <a:cubicBezTo>
                  <a:pt x="68178" y="254429"/>
                  <a:pt x="60544" y="234940"/>
                  <a:pt x="49561" y="229917"/>
                </a:cubicBezTo>
                <a:cubicBezTo>
                  <a:pt x="49561" y="229917"/>
                  <a:pt x="34223" y="219402"/>
                  <a:pt x="50631" y="219603"/>
                </a:cubicBezTo>
                <a:cubicBezTo>
                  <a:pt x="50631" y="219603"/>
                  <a:pt x="67308" y="220943"/>
                  <a:pt x="76483" y="236882"/>
                </a:cubicBezTo>
                <a:cubicBezTo>
                  <a:pt x="91151" y="262734"/>
                  <a:pt x="115729" y="255301"/>
                  <a:pt x="125306" y="250878"/>
                </a:cubicBezTo>
                <a:cubicBezTo>
                  <a:pt x="126846" y="240163"/>
                  <a:pt x="131199" y="232730"/>
                  <a:pt x="136021" y="228311"/>
                </a:cubicBezTo>
                <a:cubicBezTo>
                  <a:pt x="98584" y="224156"/>
                  <a:pt x="60812" y="218733"/>
                  <a:pt x="60812" y="154305"/>
                </a:cubicBezTo>
                <a:cubicBezTo>
                  <a:pt x="60812" y="135888"/>
                  <a:pt x="65900" y="126645"/>
                  <a:pt x="76617" y="114858"/>
                </a:cubicBezTo>
                <a:cubicBezTo>
                  <a:pt x="74876" y="110505"/>
                  <a:pt x="69183" y="92556"/>
                  <a:pt x="78358" y="69383"/>
                </a:cubicBezTo>
                <a:cubicBezTo>
                  <a:pt x="92355" y="65030"/>
                  <a:pt x="124569" y="87466"/>
                  <a:pt x="124569" y="87466"/>
                </a:cubicBezTo>
                <a:cubicBezTo>
                  <a:pt x="137963" y="83716"/>
                  <a:pt x="152363" y="81773"/>
                  <a:pt x="166628" y="81773"/>
                </a:cubicBezTo>
                <a:cubicBezTo>
                  <a:pt x="180893" y="81773"/>
                  <a:pt x="195292" y="83716"/>
                  <a:pt x="208687" y="87466"/>
                </a:cubicBezTo>
                <a:cubicBezTo>
                  <a:pt x="208687" y="87466"/>
                  <a:pt x="240900" y="64963"/>
                  <a:pt x="254898" y="69383"/>
                </a:cubicBezTo>
                <a:cubicBezTo>
                  <a:pt x="264072" y="92623"/>
                  <a:pt x="258380" y="110505"/>
                  <a:pt x="256639" y="114858"/>
                </a:cubicBezTo>
                <a:cubicBezTo>
                  <a:pt x="267355" y="126712"/>
                  <a:pt x="273918" y="135954"/>
                  <a:pt x="273918" y="154305"/>
                </a:cubicBezTo>
                <a:cubicBezTo>
                  <a:pt x="273918" y="218933"/>
                  <a:pt x="234471" y="224090"/>
                  <a:pt x="197033" y="228311"/>
                </a:cubicBezTo>
                <a:cubicBezTo>
                  <a:pt x="203195" y="233600"/>
                  <a:pt x="208419" y="243646"/>
                  <a:pt x="208419" y="259385"/>
                </a:cubicBezTo>
                <a:cubicBezTo>
                  <a:pt x="208419" y="281955"/>
                  <a:pt x="208218" y="309881"/>
                  <a:pt x="208218" y="315374"/>
                </a:cubicBezTo>
                <a:cubicBezTo>
                  <a:pt x="208218" y="319726"/>
                  <a:pt x="211299" y="325019"/>
                  <a:pt x="219804" y="323478"/>
                </a:cubicBezTo>
                <a:cubicBezTo>
                  <a:pt x="286778" y="301243"/>
                  <a:pt x="332184" y="237686"/>
                  <a:pt x="332184" y="163414"/>
                </a:cubicBezTo>
                <a:cubicBezTo>
                  <a:pt x="332184" y="70522"/>
                  <a:pt x="256840" y="0"/>
                  <a:pt x="163950" y="0"/>
                </a:cubicBezTo>
                <a:close/>
                <a:moveTo>
                  <a:pt x="65097" y="230989"/>
                </a:moveTo>
                <a:cubicBezTo>
                  <a:pt x="64227" y="231658"/>
                  <a:pt x="64428" y="233199"/>
                  <a:pt x="65566" y="234471"/>
                </a:cubicBezTo>
                <a:cubicBezTo>
                  <a:pt x="66638" y="235543"/>
                  <a:pt x="68178" y="236011"/>
                  <a:pt x="69049" y="235141"/>
                </a:cubicBezTo>
                <a:cubicBezTo>
                  <a:pt x="69919" y="234471"/>
                  <a:pt x="69718" y="232931"/>
                  <a:pt x="68580" y="231658"/>
                </a:cubicBezTo>
                <a:cubicBezTo>
                  <a:pt x="67508" y="230586"/>
                  <a:pt x="65968" y="230118"/>
                  <a:pt x="65097" y="230989"/>
                </a:cubicBezTo>
                <a:close/>
                <a:moveTo>
                  <a:pt x="57864" y="225564"/>
                </a:moveTo>
                <a:cubicBezTo>
                  <a:pt x="57395" y="226434"/>
                  <a:pt x="58065" y="227505"/>
                  <a:pt x="59404" y="228176"/>
                </a:cubicBezTo>
                <a:cubicBezTo>
                  <a:pt x="60476" y="228845"/>
                  <a:pt x="61816" y="228645"/>
                  <a:pt x="62283" y="227707"/>
                </a:cubicBezTo>
                <a:cubicBezTo>
                  <a:pt x="62753" y="226836"/>
                  <a:pt x="62083" y="225765"/>
                  <a:pt x="60744" y="225095"/>
                </a:cubicBezTo>
                <a:cubicBezTo>
                  <a:pt x="59404" y="224694"/>
                  <a:pt x="58332" y="224894"/>
                  <a:pt x="57864" y="225564"/>
                </a:cubicBezTo>
                <a:close/>
                <a:moveTo>
                  <a:pt x="79563" y="249407"/>
                </a:moveTo>
                <a:cubicBezTo>
                  <a:pt x="78492" y="250276"/>
                  <a:pt x="78894" y="252286"/>
                  <a:pt x="80434" y="253558"/>
                </a:cubicBezTo>
                <a:cubicBezTo>
                  <a:pt x="81974" y="255099"/>
                  <a:pt x="83917" y="255301"/>
                  <a:pt x="84787" y="254227"/>
                </a:cubicBezTo>
                <a:cubicBezTo>
                  <a:pt x="85658" y="253358"/>
                  <a:pt x="85256" y="251348"/>
                  <a:pt x="83917" y="250076"/>
                </a:cubicBezTo>
                <a:cubicBezTo>
                  <a:pt x="82443" y="248535"/>
                  <a:pt x="80434" y="248333"/>
                  <a:pt x="79563" y="249407"/>
                </a:cubicBezTo>
                <a:close/>
                <a:moveTo>
                  <a:pt x="71928" y="239561"/>
                </a:moveTo>
                <a:cubicBezTo>
                  <a:pt x="70857" y="240231"/>
                  <a:pt x="70857" y="241972"/>
                  <a:pt x="71928" y="243512"/>
                </a:cubicBezTo>
                <a:cubicBezTo>
                  <a:pt x="73000" y="245053"/>
                  <a:pt x="74808" y="245722"/>
                  <a:pt x="75679" y="245053"/>
                </a:cubicBezTo>
                <a:cubicBezTo>
                  <a:pt x="76750" y="244182"/>
                  <a:pt x="76750" y="242441"/>
                  <a:pt x="75679" y="240900"/>
                </a:cubicBezTo>
                <a:cubicBezTo>
                  <a:pt x="74741" y="239360"/>
                  <a:pt x="73000" y="238690"/>
                  <a:pt x="71928" y="239561"/>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9244012" y="2996171"/>
            <a:ext cx="24193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85"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Word Embedding Visualization</a:t>
            </a:r>
            <a:endParaRPr lang="en-US" sz="1100"/>
          </a:p>
        </p:txBody>
      </p:sp>
      <p:sp>
        <p:nvSpPr>
          <p:cNvPr id="18" name="AutoShape 18"/>
          <p:cNvSpPr/>
          <p:nvPr/>
        </p:nvSpPr>
        <p:spPr>
          <a:xfrm>
            <a:off x="9253537" y="3338885"/>
            <a:ext cx="24003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https://projector.tensorflow.org/</a:t>
            </a:r>
            <a:endParaRPr lang="en-US" sz="1100"/>
          </a:p>
        </p:txBody>
      </p:sp>
      <p:sp>
        <p:nvSpPr>
          <p:cNvPr id="19" name="Freeform 19"/>
          <p:cNvSpPr/>
          <p:nvPr/>
        </p:nvSpPr>
        <p:spPr>
          <a:xfrm>
            <a:off x="381000" y="4170164"/>
            <a:ext cx="2714625" cy="1409700"/>
          </a:xfrm>
          <a:custGeom>
            <a:avLst/>
            <a:gdLst/>
            <a:ahLst/>
            <a:cxnLst/>
            <a:rect l="l" t="t" r="r" b="b"/>
            <a:pathLst>
              <a:path w="2714625" h="1409700">
                <a:moveTo>
                  <a:pt x="114297" y="0"/>
                </a:moveTo>
                <a:lnTo>
                  <a:pt x="2600328" y="0"/>
                </a:lnTo>
                <a:cubicBezTo>
                  <a:pt x="2663452" y="0"/>
                  <a:pt x="2714625" y="51173"/>
                  <a:pt x="2714625" y="114297"/>
                </a:cubicBezTo>
                <a:lnTo>
                  <a:pt x="2714625" y="1295403"/>
                </a:lnTo>
                <a:cubicBezTo>
                  <a:pt x="2714625" y="1358527"/>
                  <a:pt x="2663452" y="1409700"/>
                  <a:pt x="2600328" y="1409700"/>
                </a:cubicBezTo>
                <a:lnTo>
                  <a:pt x="114297" y="1409700"/>
                </a:lnTo>
                <a:cubicBezTo>
                  <a:pt x="51173" y="1409700"/>
                  <a:pt x="0" y="1358527"/>
                  <a:pt x="0" y="1295403"/>
                </a:cubicBezTo>
                <a:lnTo>
                  <a:pt x="0" y="114297"/>
                </a:lnTo>
                <a:cubicBezTo>
                  <a:pt x="0" y="51173"/>
                  <a:pt x="51173" y="0"/>
                  <a:pt x="114297"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1588294" y="4360664"/>
            <a:ext cx="300038" cy="342900"/>
          </a:xfrm>
          <a:custGeom>
            <a:avLst/>
            <a:gdLst/>
            <a:ahLst/>
            <a:cxnLst/>
            <a:rect l="l" t="t" r="r" b="b"/>
            <a:pathLst>
              <a:path w="300038" h="342900">
                <a:moveTo>
                  <a:pt x="257175" y="342900"/>
                </a:moveTo>
                <a:lnTo>
                  <a:pt x="64294" y="342900"/>
                </a:lnTo>
                <a:cubicBezTo>
                  <a:pt x="28799" y="342900"/>
                  <a:pt x="0" y="314101"/>
                  <a:pt x="0" y="278606"/>
                </a:cubicBezTo>
                <a:lnTo>
                  <a:pt x="0" y="64294"/>
                </a:lnTo>
                <a:cubicBezTo>
                  <a:pt x="0" y="28799"/>
                  <a:pt x="28799" y="0"/>
                  <a:pt x="64294" y="0"/>
                </a:cubicBezTo>
                <a:lnTo>
                  <a:pt x="267891" y="0"/>
                </a:lnTo>
                <a:cubicBezTo>
                  <a:pt x="285638" y="0"/>
                  <a:pt x="300038" y="14399"/>
                  <a:pt x="300038" y="32148"/>
                </a:cubicBezTo>
                <a:lnTo>
                  <a:pt x="300038" y="225027"/>
                </a:lnTo>
                <a:cubicBezTo>
                  <a:pt x="300038" y="239025"/>
                  <a:pt x="291062" y="250947"/>
                  <a:pt x="278606" y="255367"/>
                </a:cubicBezTo>
                <a:lnTo>
                  <a:pt x="278606" y="300038"/>
                </a:lnTo>
                <a:cubicBezTo>
                  <a:pt x="290460" y="300038"/>
                  <a:pt x="300038" y="309615"/>
                  <a:pt x="300038" y="321469"/>
                </a:cubicBezTo>
                <a:cubicBezTo>
                  <a:pt x="300038" y="333323"/>
                  <a:pt x="290460" y="342900"/>
                  <a:pt x="278606" y="342900"/>
                </a:cubicBezTo>
                <a:lnTo>
                  <a:pt x="257175" y="342900"/>
                </a:lnTo>
                <a:close/>
                <a:moveTo>
                  <a:pt x="64294" y="257175"/>
                </a:moveTo>
                <a:cubicBezTo>
                  <a:pt x="52440" y="257175"/>
                  <a:pt x="42862" y="266752"/>
                  <a:pt x="42862" y="278606"/>
                </a:cubicBezTo>
                <a:cubicBezTo>
                  <a:pt x="42862" y="290460"/>
                  <a:pt x="52440" y="300038"/>
                  <a:pt x="64294" y="300038"/>
                </a:cubicBezTo>
                <a:lnTo>
                  <a:pt x="235744" y="300038"/>
                </a:lnTo>
                <a:lnTo>
                  <a:pt x="235744" y="257175"/>
                </a:lnTo>
                <a:lnTo>
                  <a:pt x="64294" y="257175"/>
                </a:lnTo>
                <a:close/>
                <a:moveTo>
                  <a:pt x="85725" y="101798"/>
                </a:moveTo>
                <a:cubicBezTo>
                  <a:pt x="85725" y="110706"/>
                  <a:pt x="92892" y="117873"/>
                  <a:pt x="101798" y="117873"/>
                </a:cubicBezTo>
                <a:lnTo>
                  <a:pt x="219671" y="117873"/>
                </a:lnTo>
                <a:cubicBezTo>
                  <a:pt x="228578" y="117873"/>
                  <a:pt x="235744" y="110706"/>
                  <a:pt x="235744" y="101798"/>
                </a:cubicBezTo>
                <a:cubicBezTo>
                  <a:pt x="235744" y="92892"/>
                  <a:pt x="228578" y="85725"/>
                  <a:pt x="219671" y="85725"/>
                </a:cubicBezTo>
                <a:lnTo>
                  <a:pt x="101798" y="85725"/>
                </a:lnTo>
                <a:cubicBezTo>
                  <a:pt x="92892" y="85725"/>
                  <a:pt x="85725" y="92892"/>
                  <a:pt x="85725" y="101798"/>
                </a:cubicBezTo>
                <a:close/>
                <a:moveTo>
                  <a:pt x="101798" y="150019"/>
                </a:moveTo>
                <a:cubicBezTo>
                  <a:pt x="92892" y="150019"/>
                  <a:pt x="85725" y="157185"/>
                  <a:pt x="85725" y="166092"/>
                </a:cubicBezTo>
                <a:cubicBezTo>
                  <a:pt x="85725" y="175000"/>
                  <a:pt x="92892" y="182166"/>
                  <a:pt x="101798" y="182166"/>
                </a:cubicBezTo>
                <a:lnTo>
                  <a:pt x="219671" y="182166"/>
                </a:lnTo>
                <a:cubicBezTo>
                  <a:pt x="228578" y="182166"/>
                  <a:pt x="235744" y="175000"/>
                  <a:pt x="235744" y="166092"/>
                </a:cubicBezTo>
                <a:cubicBezTo>
                  <a:pt x="235744" y="157185"/>
                  <a:pt x="228578" y="150019"/>
                  <a:pt x="219671" y="150019"/>
                </a:cubicBezTo>
                <a:lnTo>
                  <a:pt x="101798" y="15001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528637" y="4817715"/>
            <a:ext cx="24193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85"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FlagOS Documentation</a:t>
            </a:r>
            <a:endParaRPr lang="en-US" sz="1100"/>
          </a:p>
        </p:txBody>
      </p:sp>
      <p:sp>
        <p:nvSpPr>
          <p:cNvPr id="22" name="AutoShape 22"/>
          <p:cNvSpPr/>
          <p:nvPr/>
        </p:nvSpPr>
        <p:spPr>
          <a:xfrm>
            <a:off x="538162" y="5160429"/>
            <a:ext cx="2400300"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7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docs.flagos.io</a:t>
            </a:r>
            <a:endParaRPr lang="en-US" sz="1100"/>
          </a:p>
        </p:txBody>
      </p:sp>
      <p:sp>
        <p:nvSpPr>
          <p:cNvPr id="23" name="Freeform 23"/>
          <p:cNvSpPr/>
          <p:nvPr/>
        </p:nvSpPr>
        <p:spPr>
          <a:xfrm>
            <a:off x="3294784" y="4178823"/>
            <a:ext cx="2693843" cy="1388918"/>
          </a:xfrm>
          <a:custGeom>
            <a:avLst/>
            <a:gdLst/>
            <a:ahLst/>
            <a:cxnLst/>
            <a:rect l="l" t="t" r="r" b="b"/>
            <a:pathLst>
              <a:path w="2693843" h="1388918">
                <a:moveTo>
                  <a:pt x="114294" y="0"/>
                </a:moveTo>
                <a:lnTo>
                  <a:pt x="2579549" y="0"/>
                </a:lnTo>
                <a:cubicBezTo>
                  <a:pt x="2642672" y="0"/>
                  <a:pt x="2693843" y="51171"/>
                  <a:pt x="2693843" y="114294"/>
                </a:cubicBezTo>
                <a:lnTo>
                  <a:pt x="2693843" y="1274624"/>
                </a:lnTo>
                <a:cubicBezTo>
                  <a:pt x="2693843" y="1337747"/>
                  <a:pt x="2642672" y="1388918"/>
                  <a:pt x="2579549" y="1388918"/>
                </a:cubicBezTo>
                <a:lnTo>
                  <a:pt x="114294" y="1388918"/>
                </a:lnTo>
                <a:cubicBezTo>
                  <a:pt x="51213" y="1388918"/>
                  <a:pt x="0" y="1337705"/>
                  <a:pt x="0" y="1274624"/>
                </a:cubicBezTo>
                <a:lnTo>
                  <a:pt x="0" y="114294"/>
                </a:lnTo>
                <a:cubicBezTo>
                  <a:pt x="0" y="51213"/>
                  <a:pt x="51213" y="0"/>
                  <a:pt x="114294" y="0"/>
                </a:cubicBezTo>
                <a:close/>
              </a:path>
            </a:pathLst>
          </a:custGeom>
          <a:solidFill>
            <a:srgbClr val="F5F5F5">
              <a:alpha val="100000"/>
            </a:srgbClr>
          </a:solidFill>
          <a:ln w="12700">
            <a:solidFill>
              <a:srgbClr val="5B92E5">
                <a:alpha val="100000"/>
              </a:srgbClr>
            </a:solidFill>
            <a:prstDash val="dash"/>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4" name="Freeform 24"/>
          <p:cNvSpPr/>
          <p:nvPr/>
        </p:nvSpPr>
        <p:spPr>
          <a:xfrm>
            <a:off x="4493418" y="4399434"/>
            <a:ext cx="300038" cy="300038"/>
          </a:xfrm>
          <a:custGeom>
            <a:avLst/>
            <a:gdLst/>
            <a:ahLst/>
            <a:cxnLst/>
            <a:rect l="l" t="t" r="r" b="b"/>
            <a:pathLst>
              <a:path w="300038" h="300038">
                <a:moveTo>
                  <a:pt x="42862" y="85725"/>
                </a:moveTo>
                <a:lnTo>
                  <a:pt x="85725" y="85725"/>
                </a:lnTo>
                <a:lnTo>
                  <a:pt x="85725" y="42863"/>
                </a:lnTo>
                <a:lnTo>
                  <a:pt x="42862" y="42863"/>
                </a:lnTo>
                <a:lnTo>
                  <a:pt x="42862" y="85725"/>
                </a:lnTo>
                <a:close/>
                <a:moveTo>
                  <a:pt x="0" y="32146"/>
                </a:moveTo>
                <a:cubicBezTo>
                  <a:pt x="0" y="14400"/>
                  <a:pt x="14399" y="0"/>
                  <a:pt x="32148" y="0"/>
                </a:cubicBezTo>
                <a:lnTo>
                  <a:pt x="96441" y="0"/>
                </a:lnTo>
                <a:cubicBezTo>
                  <a:pt x="114188" y="0"/>
                  <a:pt x="128588" y="14400"/>
                  <a:pt x="128588" y="32146"/>
                </a:cubicBezTo>
                <a:lnTo>
                  <a:pt x="128588" y="96442"/>
                </a:lnTo>
                <a:cubicBezTo>
                  <a:pt x="128588" y="114188"/>
                  <a:pt x="114188" y="128588"/>
                  <a:pt x="96441" y="128588"/>
                </a:cubicBezTo>
                <a:lnTo>
                  <a:pt x="32148" y="128588"/>
                </a:lnTo>
                <a:cubicBezTo>
                  <a:pt x="14399" y="128588"/>
                  <a:pt x="0" y="114188"/>
                  <a:pt x="0" y="96442"/>
                </a:cubicBezTo>
                <a:lnTo>
                  <a:pt x="0" y="32146"/>
                </a:lnTo>
                <a:close/>
                <a:moveTo>
                  <a:pt x="42862" y="257175"/>
                </a:moveTo>
                <a:lnTo>
                  <a:pt x="85725" y="257175"/>
                </a:lnTo>
                <a:lnTo>
                  <a:pt x="85725" y="214313"/>
                </a:lnTo>
                <a:lnTo>
                  <a:pt x="42862" y="214313"/>
                </a:lnTo>
                <a:lnTo>
                  <a:pt x="42862" y="257175"/>
                </a:lnTo>
                <a:close/>
                <a:moveTo>
                  <a:pt x="0" y="203596"/>
                </a:moveTo>
                <a:cubicBezTo>
                  <a:pt x="0" y="185850"/>
                  <a:pt x="14399" y="171450"/>
                  <a:pt x="32148" y="171450"/>
                </a:cubicBezTo>
                <a:lnTo>
                  <a:pt x="96441" y="171450"/>
                </a:lnTo>
                <a:cubicBezTo>
                  <a:pt x="114188" y="171450"/>
                  <a:pt x="128588" y="185850"/>
                  <a:pt x="128588" y="203596"/>
                </a:cubicBezTo>
                <a:lnTo>
                  <a:pt x="128588" y="267892"/>
                </a:lnTo>
                <a:cubicBezTo>
                  <a:pt x="128588" y="285638"/>
                  <a:pt x="114188" y="300038"/>
                  <a:pt x="96441" y="300038"/>
                </a:cubicBezTo>
                <a:lnTo>
                  <a:pt x="32148" y="300038"/>
                </a:lnTo>
                <a:cubicBezTo>
                  <a:pt x="14399" y="300038"/>
                  <a:pt x="0" y="285638"/>
                  <a:pt x="0" y="267892"/>
                </a:cubicBezTo>
                <a:lnTo>
                  <a:pt x="0" y="203596"/>
                </a:lnTo>
                <a:close/>
                <a:moveTo>
                  <a:pt x="214312" y="42863"/>
                </a:moveTo>
                <a:lnTo>
                  <a:pt x="214312" y="85725"/>
                </a:lnTo>
                <a:lnTo>
                  <a:pt x="257175" y="85725"/>
                </a:lnTo>
                <a:lnTo>
                  <a:pt x="257175" y="42863"/>
                </a:lnTo>
                <a:lnTo>
                  <a:pt x="214312" y="42863"/>
                </a:lnTo>
                <a:close/>
                <a:moveTo>
                  <a:pt x="203598" y="0"/>
                </a:moveTo>
                <a:lnTo>
                  <a:pt x="267891" y="0"/>
                </a:lnTo>
                <a:cubicBezTo>
                  <a:pt x="285638" y="0"/>
                  <a:pt x="300038" y="14400"/>
                  <a:pt x="300038" y="32146"/>
                </a:cubicBezTo>
                <a:lnTo>
                  <a:pt x="300038" y="96442"/>
                </a:lnTo>
                <a:cubicBezTo>
                  <a:pt x="300038" y="114188"/>
                  <a:pt x="285638" y="128588"/>
                  <a:pt x="267891" y="128588"/>
                </a:cubicBezTo>
                <a:lnTo>
                  <a:pt x="203598" y="128588"/>
                </a:lnTo>
                <a:cubicBezTo>
                  <a:pt x="185849" y="128588"/>
                  <a:pt x="171450" y="114188"/>
                  <a:pt x="171450" y="96442"/>
                </a:cubicBezTo>
                <a:lnTo>
                  <a:pt x="171450" y="32146"/>
                </a:lnTo>
                <a:cubicBezTo>
                  <a:pt x="171450" y="14400"/>
                  <a:pt x="185849" y="0"/>
                  <a:pt x="203598" y="0"/>
                </a:cubicBezTo>
                <a:close/>
                <a:moveTo>
                  <a:pt x="192881" y="214313"/>
                </a:moveTo>
                <a:cubicBezTo>
                  <a:pt x="181052" y="214313"/>
                  <a:pt x="171450" y="204710"/>
                  <a:pt x="171450" y="192882"/>
                </a:cubicBezTo>
                <a:cubicBezTo>
                  <a:pt x="171450" y="181053"/>
                  <a:pt x="181052" y="171450"/>
                  <a:pt x="192881" y="171450"/>
                </a:cubicBezTo>
                <a:cubicBezTo>
                  <a:pt x="204709" y="171450"/>
                  <a:pt x="214312" y="181053"/>
                  <a:pt x="214312" y="192882"/>
                </a:cubicBezTo>
                <a:cubicBezTo>
                  <a:pt x="214312" y="204710"/>
                  <a:pt x="204709" y="214313"/>
                  <a:pt x="192881" y="214313"/>
                </a:cubicBezTo>
                <a:close/>
                <a:moveTo>
                  <a:pt x="192881" y="257175"/>
                </a:moveTo>
                <a:cubicBezTo>
                  <a:pt x="204735" y="257175"/>
                  <a:pt x="214312" y="266752"/>
                  <a:pt x="214312" y="278606"/>
                </a:cubicBezTo>
                <a:cubicBezTo>
                  <a:pt x="214312" y="290461"/>
                  <a:pt x="204735" y="300038"/>
                  <a:pt x="192881" y="300038"/>
                </a:cubicBezTo>
                <a:cubicBezTo>
                  <a:pt x="181027" y="300038"/>
                  <a:pt x="171450" y="290461"/>
                  <a:pt x="171450" y="278606"/>
                </a:cubicBezTo>
                <a:cubicBezTo>
                  <a:pt x="171450" y="266752"/>
                  <a:pt x="181027" y="257175"/>
                  <a:pt x="192881" y="257175"/>
                </a:cubicBezTo>
                <a:close/>
                <a:moveTo>
                  <a:pt x="257175" y="278606"/>
                </a:moveTo>
                <a:cubicBezTo>
                  <a:pt x="257175" y="266752"/>
                  <a:pt x="266752" y="257175"/>
                  <a:pt x="278606" y="257175"/>
                </a:cubicBezTo>
                <a:cubicBezTo>
                  <a:pt x="290460" y="257175"/>
                  <a:pt x="300038" y="266752"/>
                  <a:pt x="300038" y="278606"/>
                </a:cubicBezTo>
                <a:cubicBezTo>
                  <a:pt x="300038" y="290461"/>
                  <a:pt x="290460" y="300038"/>
                  <a:pt x="278606" y="300038"/>
                </a:cubicBezTo>
                <a:cubicBezTo>
                  <a:pt x="266752" y="300038"/>
                  <a:pt x="257175" y="290461"/>
                  <a:pt x="257175" y="278606"/>
                </a:cubicBezTo>
                <a:close/>
                <a:moveTo>
                  <a:pt x="278606" y="214313"/>
                </a:moveTo>
                <a:cubicBezTo>
                  <a:pt x="266777" y="214313"/>
                  <a:pt x="257175" y="204710"/>
                  <a:pt x="257175" y="192882"/>
                </a:cubicBezTo>
                <a:cubicBezTo>
                  <a:pt x="257175" y="181053"/>
                  <a:pt x="266777" y="171450"/>
                  <a:pt x="278606" y="171450"/>
                </a:cubicBezTo>
                <a:cubicBezTo>
                  <a:pt x="290434" y="171450"/>
                  <a:pt x="300038" y="181053"/>
                  <a:pt x="300038" y="192882"/>
                </a:cubicBezTo>
                <a:cubicBezTo>
                  <a:pt x="300038" y="204710"/>
                  <a:pt x="290434" y="214313"/>
                  <a:pt x="278606" y="214313"/>
                </a:cubicBezTo>
                <a:close/>
                <a:moveTo>
                  <a:pt x="257175" y="235744"/>
                </a:moveTo>
                <a:cubicBezTo>
                  <a:pt x="257175" y="247572"/>
                  <a:pt x="247573" y="257175"/>
                  <a:pt x="235744" y="257175"/>
                </a:cubicBezTo>
                <a:cubicBezTo>
                  <a:pt x="223916" y="257175"/>
                  <a:pt x="214312" y="247572"/>
                  <a:pt x="214312" y="235744"/>
                </a:cubicBezTo>
                <a:cubicBezTo>
                  <a:pt x="214312" y="223916"/>
                  <a:pt x="223916" y="214313"/>
                  <a:pt x="235744" y="214313"/>
                </a:cubicBezTo>
                <a:cubicBezTo>
                  <a:pt x="247573" y="214313"/>
                  <a:pt x="257175" y="223916"/>
                  <a:pt x="257175" y="235744"/>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5" name="Freeform 25"/>
          <p:cNvSpPr/>
          <p:nvPr/>
        </p:nvSpPr>
        <p:spPr>
          <a:xfrm>
            <a:off x="6199909" y="4178823"/>
            <a:ext cx="2693843" cy="1388918"/>
          </a:xfrm>
          <a:custGeom>
            <a:avLst/>
            <a:gdLst/>
            <a:ahLst/>
            <a:cxnLst/>
            <a:rect l="l" t="t" r="r" b="b"/>
            <a:pathLst>
              <a:path w="2693843" h="1388918">
                <a:moveTo>
                  <a:pt x="114294" y="0"/>
                </a:moveTo>
                <a:lnTo>
                  <a:pt x="2579549" y="0"/>
                </a:lnTo>
                <a:cubicBezTo>
                  <a:pt x="2642672" y="0"/>
                  <a:pt x="2693843" y="51171"/>
                  <a:pt x="2693843" y="114294"/>
                </a:cubicBezTo>
                <a:lnTo>
                  <a:pt x="2693843" y="1274624"/>
                </a:lnTo>
                <a:cubicBezTo>
                  <a:pt x="2693843" y="1337747"/>
                  <a:pt x="2642672" y="1388918"/>
                  <a:pt x="2579549" y="1388918"/>
                </a:cubicBezTo>
                <a:lnTo>
                  <a:pt x="114294" y="1388918"/>
                </a:lnTo>
                <a:cubicBezTo>
                  <a:pt x="51213" y="1388918"/>
                  <a:pt x="0" y="1337705"/>
                  <a:pt x="0" y="1274624"/>
                </a:cubicBezTo>
                <a:lnTo>
                  <a:pt x="0" y="114294"/>
                </a:lnTo>
                <a:cubicBezTo>
                  <a:pt x="0" y="51213"/>
                  <a:pt x="51213" y="0"/>
                  <a:pt x="114294" y="0"/>
                </a:cubicBezTo>
                <a:close/>
              </a:path>
            </a:pathLst>
          </a:custGeom>
          <a:solidFill>
            <a:srgbClr val="F5F5F5">
              <a:alpha val="100000"/>
            </a:srgbClr>
          </a:solidFill>
          <a:ln w="12700">
            <a:solidFill>
              <a:srgbClr val="5B92E5">
                <a:alpha val="100000"/>
              </a:srgbClr>
            </a:solidFill>
            <a:prstDash val="dash"/>
          </a:ln>
        </p:spPr>
        <p:txBody>
          <a:bodyPr wrap="square" lIns="91440" tIns="45720" rIns="91440" bIns="45720" rtlCol="0" anchor="t">
            <a:noAutofit/>
          </a:bodyPr>
          <a:lstStyle/>
          <a:p>
            <a:pPr algn="ctr">
              <a:defRPr/>
            </a:pPr>
          </a:p>
        </p:txBody>
      </p:sp>
      <p:sp>
        <p:nvSpPr>
          <p:cNvPr id="26" name="Freeform 26"/>
          <p:cNvSpPr/>
          <p:nvPr/>
        </p:nvSpPr>
        <p:spPr>
          <a:xfrm>
            <a:off x="7398544" y="4399434"/>
            <a:ext cx="300038" cy="300038"/>
          </a:xfrm>
          <a:custGeom>
            <a:avLst/>
            <a:gdLst/>
            <a:ahLst/>
            <a:cxnLst/>
            <a:rect l="l" t="t" r="r" b="b"/>
            <a:pathLst>
              <a:path w="300038" h="300038">
                <a:moveTo>
                  <a:pt x="42862" y="85725"/>
                </a:moveTo>
                <a:lnTo>
                  <a:pt x="85725" y="85725"/>
                </a:lnTo>
                <a:lnTo>
                  <a:pt x="85725" y="42863"/>
                </a:lnTo>
                <a:lnTo>
                  <a:pt x="42862" y="42863"/>
                </a:lnTo>
                <a:lnTo>
                  <a:pt x="42862" y="85725"/>
                </a:lnTo>
                <a:close/>
                <a:moveTo>
                  <a:pt x="0" y="32146"/>
                </a:moveTo>
                <a:cubicBezTo>
                  <a:pt x="0" y="14400"/>
                  <a:pt x="14399" y="0"/>
                  <a:pt x="32148" y="0"/>
                </a:cubicBezTo>
                <a:lnTo>
                  <a:pt x="96441" y="0"/>
                </a:lnTo>
                <a:cubicBezTo>
                  <a:pt x="114188" y="0"/>
                  <a:pt x="128587" y="14400"/>
                  <a:pt x="128587" y="32146"/>
                </a:cubicBezTo>
                <a:lnTo>
                  <a:pt x="128587" y="96442"/>
                </a:lnTo>
                <a:cubicBezTo>
                  <a:pt x="128587" y="114188"/>
                  <a:pt x="114188" y="128588"/>
                  <a:pt x="96441" y="128588"/>
                </a:cubicBezTo>
                <a:lnTo>
                  <a:pt x="32148" y="128588"/>
                </a:lnTo>
                <a:cubicBezTo>
                  <a:pt x="14399" y="128588"/>
                  <a:pt x="0" y="114188"/>
                  <a:pt x="0" y="96442"/>
                </a:cubicBezTo>
                <a:lnTo>
                  <a:pt x="0" y="32146"/>
                </a:lnTo>
                <a:close/>
                <a:moveTo>
                  <a:pt x="42862" y="257175"/>
                </a:moveTo>
                <a:lnTo>
                  <a:pt x="85725" y="257175"/>
                </a:lnTo>
                <a:lnTo>
                  <a:pt x="85725" y="214313"/>
                </a:lnTo>
                <a:lnTo>
                  <a:pt x="42862" y="214313"/>
                </a:lnTo>
                <a:lnTo>
                  <a:pt x="42862" y="257175"/>
                </a:lnTo>
                <a:close/>
                <a:moveTo>
                  <a:pt x="0" y="203596"/>
                </a:moveTo>
                <a:cubicBezTo>
                  <a:pt x="0" y="185850"/>
                  <a:pt x="14399" y="171450"/>
                  <a:pt x="32148" y="171450"/>
                </a:cubicBezTo>
                <a:lnTo>
                  <a:pt x="96441" y="171450"/>
                </a:lnTo>
                <a:cubicBezTo>
                  <a:pt x="114188" y="171450"/>
                  <a:pt x="128587" y="185850"/>
                  <a:pt x="128587" y="203596"/>
                </a:cubicBezTo>
                <a:lnTo>
                  <a:pt x="128587" y="267892"/>
                </a:lnTo>
                <a:cubicBezTo>
                  <a:pt x="128587" y="285638"/>
                  <a:pt x="114188" y="300038"/>
                  <a:pt x="96441" y="300038"/>
                </a:cubicBezTo>
                <a:lnTo>
                  <a:pt x="32148" y="300038"/>
                </a:lnTo>
                <a:cubicBezTo>
                  <a:pt x="14399" y="300038"/>
                  <a:pt x="0" y="285638"/>
                  <a:pt x="0" y="267892"/>
                </a:cubicBezTo>
                <a:lnTo>
                  <a:pt x="0" y="203596"/>
                </a:lnTo>
                <a:close/>
                <a:moveTo>
                  <a:pt x="214312" y="42863"/>
                </a:moveTo>
                <a:lnTo>
                  <a:pt x="214312" y="85725"/>
                </a:lnTo>
                <a:lnTo>
                  <a:pt x="257175" y="85725"/>
                </a:lnTo>
                <a:lnTo>
                  <a:pt x="257175" y="42863"/>
                </a:lnTo>
                <a:lnTo>
                  <a:pt x="214312" y="42863"/>
                </a:lnTo>
                <a:close/>
                <a:moveTo>
                  <a:pt x="203598" y="0"/>
                </a:moveTo>
                <a:lnTo>
                  <a:pt x="267891" y="0"/>
                </a:lnTo>
                <a:cubicBezTo>
                  <a:pt x="285638" y="0"/>
                  <a:pt x="300037" y="14400"/>
                  <a:pt x="300037" y="32146"/>
                </a:cubicBezTo>
                <a:lnTo>
                  <a:pt x="300037" y="96442"/>
                </a:lnTo>
                <a:cubicBezTo>
                  <a:pt x="300037" y="114188"/>
                  <a:pt x="285638" y="128588"/>
                  <a:pt x="267891" y="128588"/>
                </a:cubicBezTo>
                <a:lnTo>
                  <a:pt x="203598" y="128588"/>
                </a:lnTo>
                <a:cubicBezTo>
                  <a:pt x="185849" y="128588"/>
                  <a:pt x="171450" y="114188"/>
                  <a:pt x="171450" y="96442"/>
                </a:cubicBezTo>
                <a:lnTo>
                  <a:pt x="171450" y="32146"/>
                </a:lnTo>
                <a:cubicBezTo>
                  <a:pt x="171450" y="14400"/>
                  <a:pt x="185849" y="0"/>
                  <a:pt x="203598" y="0"/>
                </a:cubicBezTo>
                <a:close/>
                <a:moveTo>
                  <a:pt x="192881" y="214313"/>
                </a:moveTo>
                <a:cubicBezTo>
                  <a:pt x="181052" y="214313"/>
                  <a:pt x="171450" y="204710"/>
                  <a:pt x="171450" y="192882"/>
                </a:cubicBezTo>
                <a:cubicBezTo>
                  <a:pt x="171450" y="181053"/>
                  <a:pt x="181052" y="171450"/>
                  <a:pt x="192881" y="171450"/>
                </a:cubicBezTo>
                <a:cubicBezTo>
                  <a:pt x="204709" y="171450"/>
                  <a:pt x="214312" y="181053"/>
                  <a:pt x="214312" y="192882"/>
                </a:cubicBezTo>
                <a:cubicBezTo>
                  <a:pt x="214312" y="204710"/>
                  <a:pt x="204709" y="214313"/>
                  <a:pt x="192881" y="214313"/>
                </a:cubicBezTo>
                <a:close/>
                <a:moveTo>
                  <a:pt x="192881" y="257175"/>
                </a:moveTo>
                <a:cubicBezTo>
                  <a:pt x="204735" y="257175"/>
                  <a:pt x="214312" y="266752"/>
                  <a:pt x="214312" y="278606"/>
                </a:cubicBezTo>
                <a:cubicBezTo>
                  <a:pt x="214312" y="290461"/>
                  <a:pt x="204735" y="300038"/>
                  <a:pt x="192881" y="300038"/>
                </a:cubicBezTo>
                <a:cubicBezTo>
                  <a:pt x="181027" y="300038"/>
                  <a:pt x="171450" y="290461"/>
                  <a:pt x="171450" y="278606"/>
                </a:cubicBezTo>
                <a:cubicBezTo>
                  <a:pt x="171450" y="266752"/>
                  <a:pt x="181027" y="257175"/>
                  <a:pt x="192881" y="257175"/>
                </a:cubicBezTo>
                <a:close/>
                <a:moveTo>
                  <a:pt x="257175" y="278606"/>
                </a:moveTo>
                <a:cubicBezTo>
                  <a:pt x="257175" y="266752"/>
                  <a:pt x="266752" y="257175"/>
                  <a:pt x="278606" y="257175"/>
                </a:cubicBezTo>
                <a:cubicBezTo>
                  <a:pt x="290460" y="257175"/>
                  <a:pt x="300037" y="266752"/>
                  <a:pt x="300037" y="278606"/>
                </a:cubicBezTo>
                <a:cubicBezTo>
                  <a:pt x="300037" y="290461"/>
                  <a:pt x="290460" y="300038"/>
                  <a:pt x="278606" y="300038"/>
                </a:cubicBezTo>
                <a:cubicBezTo>
                  <a:pt x="266752" y="300038"/>
                  <a:pt x="257175" y="290461"/>
                  <a:pt x="257175" y="278606"/>
                </a:cubicBezTo>
                <a:close/>
                <a:moveTo>
                  <a:pt x="278606" y="214313"/>
                </a:moveTo>
                <a:cubicBezTo>
                  <a:pt x="266777" y="214313"/>
                  <a:pt x="257175" y="204710"/>
                  <a:pt x="257175" y="192882"/>
                </a:cubicBezTo>
                <a:cubicBezTo>
                  <a:pt x="257175" y="181053"/>
                  <a:pt x="266777" y="171450"/>
                  <a:pt x="278606" y="171450"/>
                </a:cubicBezTo>
                <a:cubicBezTo>
                  <a:pt x="290434" y="171450"/>
                  <a:pt x="300037" y="181053"/>
                  <a:pt x="300037" y="192882"/>
                </a:cubicBezTo>
                <a:cubicBezTo>
                  <a:pt x="300037" y="204710"/>
                  <a:pt x="290434" y="214313"/>
                  <a:pt x="278606" y="214313"/>
                </a:cubicBezTo>
                <a:close/>
                <a:moveTo>
                  <a:pt x="257175" y="235744"/>
                </a:moveTo>
                <a:cubicBezTo>
                  <a:pt x="257175" y="247572"/>
                  <a:pt x="247573" y="257175"/>
                  <a:pt x="235744" y="257175"/>
                </a:cubicBezTo>
                <a:cubicBezTo>
                  <a:pt x="223916" y="257175"/>
                  <a:pt x="214312" y="247572"/>
                  <a:pt x="214312" y="235744"/>
                </a:cubicBezTo>
                <a:cubicBezTo>
                  <a:pt x="214312" y="223916"/>
                  <a:pt x="223916" y="214313"/>
                  <a:pt x="235744" y="214313"/>
                </a:cubicBezTo>
                <a:cubicBezTo>
                  <a:pt x="247573" y="214313"/>
                  <a:pt x="257175" y="223916"/>
                  <a:pt x="257175" y="235744"/>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6356206" y="4835017"/>
            <a:ext cx="23812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8" name="AutoShape 28"/>
          <p:cNvSpPr/>
          <p:nvPr/>
        </p:nvSpPr>
        <p:spPr>
          <a:xfrm>
            <a:off x="6365731" y="5177730"/>
            <a:ext cx="2362200"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9" name="Freeform 29"/>
          <p:cNvSpPr/>
          <p:nvPr/>
        </p:nvSpPr>
        <p:spPr>
          <a:xfrm>
            <a:off x="9105034" y="4178823"/>
            <a:ext cx="2693843" cy="1388918"/>
          </a:xfrm>
          <a:custGeom>
            <a:avLst/>
            <a:gdLst/>
            <a:ahLst/>
            <a:cxnLst/>
            <a:rect l="l" t="t" r="r" b="b"/>
            <a:pathLst>
              <a:path w="2693843" h="1388918">
                <a:moveTo>
                  <a:pt x="114294" y="0"/>
                </a:moveTo>
                <a:lnTo>
                  <a:pt x="2579549" y="0"/>
                </a:lnTo>
                <a:cubicBezTo>
                  <a:pt x="2642672" y="0"/>
                  <a:pt x="2693843" y="51171"/>
                  <a:pt x="2693843" y="114294"/>
                </a:cubicBezTo>
                <a:lnTo>
                  <a:pt x="2693843" y="1274624"/>
                </a:lnTo>
                <a:cubicBezTo>
                  <a:pt x="2693843" y="1337747"/>
                  <a:pt x="2642672" y="1388918"/>
                  <a:pt x="2579549" y="1388918"/>
                </a:cubicBezTo>
                <a:lnTo>
                  <a:pt x="114294" y="1388918"/>
                </a:lnTo>
                <a:cubicBezTo>
                  <a:pt x="51213" y="1388918"/>
                  <a:pt x="0" y="1337705"/>
                  <a:pt x="0" y="1274624"/>
                </a:cubicBezTo>
                <a:lnTo>
                  <a:pt x="0" y="114294"/>
                </a:lnTo>
                <a:cubicBezTo>
                  <a:pt x="0" y="51213"/>
                  <a:pt x="51213" y="0"/>
                  <a:pt x="114294" y="0"/>
                </a:cubicBezTo>
                <a:close/>
              </a:path>
            </a:pathLst>
          </a:custGeom>
          <a:solidFill>
            <a:srgbClr val="F5F5F5">
              <a:alpha val="100000"/>
            </a:srgbClr>
          </a:solidFill>
          <a:ln w="12700">
            <a:solidFill>
              <a:srgbClr val="5B92E5">
                <a:alpha val="100000"/>
              </a:srgbClr>
            </a:solidFill>
            <a:prstDash val="dash"/>
          </a:ln>
        </p:spPr>
        <p:txBody>
          <a:bodyPr wrap="square" lIns="91440" tIns="45720" rIns="91440" bIns="45720" rtlCol="0" anchor="t">
            <a:noAutofit/>
          </a:bodyPr>
          <a:lstStyle/>
          <a:p>
            <a:pPr algn="ctr">
              <a:defRPr/>
            </a:pPr>
          </a:p>
        </p:txBody>
      </p:sp>
      <p:sp>
        <p:nvSpPr>
          <p:cNvPr id="30" name="Freeform 30"/>
          <p:cNvSpPr/>
          <p:nvPr/>
        </p:nvSpPr>
        <p:spPr>
          <a:xfrm>
            <a:off x="10303669" y="4399434"/>
            <a:ext cx="300038" cy="300038"/>
          </a:xfrm>
          <a:custGeom>
            <a:avLst/>
            <a:gdLst/>
            <a:ahLst/>
            <a:cxnLst/>
            <a:rect l="l" t="t" r="r" b="b"/>
            <a:pathLst>
              <a:path w="300038" h="300038">
                <a:moveTo>
                  <a:pt x="42863" y="85725"/>
                </a:moveTo>
                <a:lnTo>
                  <a:pt x="85725" y="85725"/>
                </a:lnTo>
                <a:lnTo>
                  <a:pt x="85725" y="42863"/>
                </a:lnTo>
                <a:lnTo>
                  <a:pt x="42863" y="42863"/>
                </a:lnTo>
                <a:lnTo>
                  <a:pt x="42863" y="85725"/>
                </a:lnTo>
                <a:close/>
                <a:moveTo>
                  <a:pt x="0" y="32146"/>
                </a:moveTo>
                <a:cubicBezTo>
                  <a:pt x="0" y="14400"/>
                  <a:pt x="14399" y="0"/>
                  <a:pt x="32148" y="0"/>
                </a:cubicBezTo>
                <a:lnTo>
                  <a:pt x="96441" y="0"/>
                </a:lnTo>
                <a:cubicBezTo>
                  <a:pt x="114188" y="0"/>
                  <a:pt x="128587" y="14400"/>
                  <a:pt x="128587" y="32146"/>
                </a:cubicBezTo>
                <a:lnTo>
                  <a:pt x="128587" y="96442"/>
                </a:lnTo>
                <a:cubicBezTo>
                  <a:pt x="128587" y="114188"/>
                  <a:pt x="114188" y="128588"/>
                  <a:pt x="96441" y="128588"/>
                </a:cubicBezTo>
                <a:lnTo>
                  <a:pt x="32148" y="128588"/>
                </a:lnTo>
                <a:cubicBezTo>
                  <a:pt x="14399" y="128588"/>
                  <a:pt x="0" y="114188"/>
                  <a:pt x="0" y="96442"/>
                </a:cubicBezTo>
                <a:lnTo>
                  <a:pt x="0" y="32146"/>
                </a:lnTo>
                <a:close/>
                <a:moveTo>
                  <a:pt x="42863" y="257175"/>
                </a:moveTo>
                <a:lnTo>
                  <a:pt x="85725" y="257175"/>
                </a:lnTo>
                <a:lnTo>
                  <a:pt x="85725" y="214313"/>
                </a:lnTo>
                <a:lnTo>
                  <a:pt x="42863" y="214313"/>
                </a:lnTo>
                <a:lnTo>
                  <a:pt x="42863" y="257175"/>
                </a:lnTo>
                <a:close/>
                <a:moveTo>
                  <a:pt x="0" y="203596"/>
                </a:moveTo>
                <a:cubicBezTo>
                  <a:pt x="0" y="185850"/>
                  <a:pt x="14399" y="171450"/>
                  <a:pt x="32148" y="171450"/>
                </a:cubicBezTo>
                <a:lnTo>
                  <a:pt x="96441" y="171450"/>
                </a:lnTo>
                <a:cubicBezTo>
                  <a:pt x="114188" y="171450"/>
                  <a:pt x="128587" y="185850"/>
                  <a:pt x="128587" y="203596"/>
                </a:cubicBezTo>
                <a:lnTo>
                  <a:pt x="128587" y="267892"/>
                </a:lnTo>
                <a:cubicBezTo>
                  <a:pt x="128587" y="285638"/>
                  <a:pt x="114188" y="300038"/>
                  <a:pt x="96441" y="300038"/>
                </a:cubicBezTo>
                <a:lnTo>
                  <a:pt x="32148" y="300038"/>
                </a:lnTo>
                <a:cubicBezTo>
                  <a:pt x="14399" y="300038"/>
                  <a:pt x="0" y="285638"/>
                  <a:pt x="0" y="267892"/>
                </a:cubicBezTo>
                <a:lnTo>
                  <a:pt x="0" y="203596"/>
                </a:lnTo>
                <a:close/>
                <a:moveTo>
                  <a:pt x="214313" y="42863"/>
                </a:moveTo>
                <a:lnTo>
                  <a:pt x="214313" y="85725"/>
                </a:lnTo>
                <a:lnTo>
                  <a:pt x="257175" y="85725"/>
                </a:lnTo>
                <a:lnTo>
                  <a:pt x="257175" y="42863"/>
                </a:lnTo>
                <a:lnTo>
                  <a:pt x="214313" y="42863"/>
                </a:lnTo>
                <a:close/>
                <a:moveTo>
                  <a:pt x="203598" y="0"/>
                </a:moveTo>
                <a:lnTo>
                  <a:pt x="267891" y="0"/>
                </a:lnTo>
                <a:cubicBezTo>
                  <a:pt x="285638" y="0"/>
                  <a:pt x="300037" y="14400"/>
                  <a:pt x="300037" y="32146"/>
                </a:cubicBezTo>
                <a:lnTo>
                  <a:pt x="300037" y="96442"/>
                </a:lnTo>
                <a:cubicBezTo>
                  <a:pt x="300037" y="114188"/>
                  <a:pt x="285638" y="128588"/>
                  <a:pt x="267891" y="128588"/>
                </a:cubicBezTo>
                <a:lnTo>
                  <a:pt x="203598" y="128588"/>
                </a:lnTo>
                <a:cubicBezTo>
                  <a:pt x="185849" y="128588"/>
                  <a:pt x="171450" y="114188"/>
                  <a:pt x="171450" y="96442"/>
                </a:cubicBezTo>
                <a:lnTo>
                  <a:pt x="171450" y="32146"/>
                </a:lnTo>
                <a:cubicBezTo>
                  <a:pt x="171450" y="14400"/>
                  <a:pt x="185849" y="0"/>
                  <a:pt x="203598" y="0"/>
                </a:cubicBezTo>
                <a:close/>
                <a:moveTo>
                  <a:pt x="192881" y="214313"/>
                </a:moveTo>
                <a:cubicBezTo>
                  <a:pt x="181052" y="214313"/>
                  <a:pt x="171450" y="204710"/>
                  <a:pt x="171450" y="192882"/>
                </a:cubicBezTo>
                <a:cubicBezTo>
                  <a:pt x="171450" y="181053"/>
                  <a:pt x="181052" y="171450"/>
                  <a:pt x="192881" y="171450"/>
                </a:cubicBezTo>
                <a:cubicBezTo>
                  <a:pt x="204709" y="171450"/>
                  <a:pt x="214313" y="181053"/>
                  <a:pt x="214313" y="192882"/>
                </a:cubicBezTo>
                <a:cubicBezTo>
                  <a:pt x="214313" y="204710"/>
                  <a:pt x="204709" y="214313"/>
                  <a:pt x="192881" y="214313"/>
                </a:cubicBezTo>
                <a:close/>
                <a:moveTo>
                  <a:pt x="192881" y="257175"/>
                </a:moveTo>
                <a:cubicBezTo>
                  <a:pt x="204735" y="257175"/>
                  <a:pt x="214313" y="266752"/>
                  <a:pt x="214313" y="278606"/>
                </a:cubicBezTo>
                <a:cubicBezTo>
                  <a:pt x="214313" y="290461"/>
                  <a:pt x="204735" y="300038"/>
                  <a:pt x="192881" y="300038"/>
                </a:cubicBezTo>
                <a:cubicBezTo>
                  <a:pt x="181027" y="300038"/>
                  <a:pt x="171450" y="290461"/>
                  <a:pt x="171450" y="278606"/>
                </a:cubicBezTo>
                <a:cubicBezTo>
                  <a:pt x="171450" y="266752"/>
                  <a:pt x="181027" y="257175"/>
                  <a:pt x="192881" y="257175"/>
                </a:cubicBezTo>
                <a:close/>
                <a:moveTo>
                  <a:pt x="257175" y="278606"/>
                </a:moveTo>
                <a:cubicBezTo>
                  <a:pt x="257175" y="266752"/>
                  <a:pt x="266752" y="257175"/>
                  <a:pt x="278606" y="257175"/>
                </a:cubicBezTo>
                <a:cubicBezTo>
                  <a:pt x="290460" y="257175"/>
                  <a:pt x="300037" y="266752"/>
                  <a:pt x="300037" y="278606"/>
                </a:cubicBezTo>
                <a:cubicBezTo>
                  <a:pt x="300037" y="290461"/>
                  <a:pt x="290460" y="300038"/>
                  <a:pt x="278606" y="300038"/>
                </a:cubicBezTo>
                <a:cubicBezTo>
                  <a:pt x="266752" y="300038"/>
                  <a:pt x="257175" y="290461"/>
                  <a:pt x="257175" y="278606"/>
                </a:cubicBezTo>
                <a:close/>
                <a:moveTo>
                  <a:pt x="278606" y="214313"/>
                </a:moveTo>
                <a:cubicBezTo>
                  <a:pt x="266777" y="214313"/>
                  <a:pt x="257175" y="204710"/>
                  <a:pt x="257175" y="192882"/>
                </a:cubicBezTo>
                <a:cubicBezTo>
                  <a:pt x="257175" y="181053"/>
                  <a:pt x="266777" y="171450"/>
                  <a:pt x="278606" y="171450"/>
                </a:cubicBezTo>
                <a:cubicBezTo>
                  <a:pt x="290434" y="171450"/>
                  <a:pt x="300037" y="181053"/>
                  <a:pt x="300037" y="192882"/>
                </a:cubicBezTo>
                <a:cubicBezTo>
                  <a:pt x="300037" y="204710"/>
                  <a:pt x="290434" y="214313"/>
                  <a:pt x="278606" y="214313"/>
                </a:cubicBezTo>
                <a:close/>
                <a:moveTo>
                  <a:pt x="257175" y="235744"/>
                </a:moveTo>
                <a:cubicBezTo>
                  <a:pt x="257175" y="247572"/>
                  <a:pt x="247573" y="257175"/>
                  <a:pt x="235744" y="257175"/>
                </a:cubicBezTo>
                <a:cubicBezTo>
                  <a:pt x="223916" y="257175"/>
                  <a:pt x="214313" y="247572"/>
                  <a:pt x="214313" y="235744"/>
                </a:cubicBezTo>
                <a:cubicBezTo>
                  <a:pt x="214313" y="223916"/>
                  <a:pt x="223916" y="214313"/>
                  <a:pt x="235744" y="214313"/>
                </a:cubicBezTo>
                <a:cubicBezTo>
                  <a:pt x="247573" y="214313"/>
                  <a:pt x="257175" y="223916"/>
                  <a:pt x="257175" y="235744"/>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9261331" y="4835017"/>
            <a:ext cx="23812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32" name="AutoShape 32"/>
          <p:cNvSpPr/>
          <p:nvPr/>
        </p:nvSpPr>
        <p:spPr>
          <a:xfrm>
            <a:off x="9270856" y="5177730"/>
            <a:ext cx="2362200"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33" name="AutoShape 33"/>
          <p:cNvSpPr/>
          <p:nvPr/>
        </p:nvSpPr>
        <p:spPr>
          <a:xfrm>
            <a:off x="3438842" y="4800570"/>
            <a:ext cx="24193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885"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Experience How Text is Tokenized</a:t>
            </a:r>
            <a:endParaRPr lang="en-US" sz="1100"/>
          </a:p>
        </p:txBody>
      </p:sp>
      <p:sp>
        <p:nvSpPr>
          <p:cNvPr id="34" name="AutoShape 34"/>
          <p:cNvSpPr/>
          <p:nvPr/>
        </p:nvSpPr>
        <p:spPr>
          <a:xfrm>
            <a:off x="3369627" y="5147094"/>
            <a:ext cx="2400300"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7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https://tiktokenizer.vercel.app/</a:t>
            </a:r>
            <a:endParaRPr lang="en-US" sz="1100"/>
          </a:p>
        </p:txBody>
      </p:sp>
    </p:spTree>
  </p:cSld>
  <p:clrMapOvr>
    <a:masterClrMapping/>
  </p:clrMapOvr>
  <p:transition spd="slow">
    <p:fade/>
  </p:transition>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76200"/>
          </a:xfrm>
          <a:custGeom>
            <a:avLst/>
            <a:gdLst/>
            <a:ahLst/>
            <a:cxnLst/>
            <a:rect l="l" t="t" r="r" b="b"/>
            <a:pathLst>
              <a:path w="12192000" h="76200">
                <a:moveTo>
                  <a:pt x="0" y="0"/>
                </a:moveTo>
                <a:lnTo>
                  <a:pt x="12192000" y="0"/>
                </a:lnTo>
                <a:lnTo>
                  <a:pt x="12192000" y="76200"/>
                </a:lnTo>
                <a:lnTo>
                  <a:pt x="0" y="762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3" name="AutoShape 3"/>
          <p:cNvSpPr/>
          <p:nvPr/>
        </p:nvSpPr>
        <p:spPr>
          <a:xfrm>
            <a:off x="2133519" y="686358"/>
            <a:ext cx="8229600" cy="9144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2560" b="0" i="0" u="none" strike="noStrike">
                <a:solidFill>
                  <a:srgbClr val="5B92E5"/>
                </a:solidFill>
                <a:latin typeface="Alimama ShuHeiTi"/>
                <a:ea typeface="Alimama ShuHeiTi"/>
                <a:cs typeface="Alimama ShuHeiTi"/>
                <a:sym typeface="Alimama ShuHeiTi"/>
              </a:rPr>
              <a:t>Acknowledgments to the following individuals for their support of this course</a:t>
            </a:r>
            <a:endParaRPr lang="en-US" sz="1100"/>
          </a:p>
        </p:txBody>
      </p:sp>
      <p:sp>
        <p:nvSpPr>
          <p:cNvPr id="4" name="AutoShape 4"/>
          <p:cNvSpPr/>
          <p:nvPr/>
        </p:nvSpPr>
        <p:spPr>
          <a:xfrm>
            <a:off x="4077335" y="2058035"/>
            <a:ext cx="1463675" cy="440055"/>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600" b="0" i="0" u="none" strike="noStrike">
                <a:solidFill>
                  <a:srgbClr val="333333"/>
                </a:solidFill>
                <a:latin typeface="微软雅黑" panose="020B0503020204020204" charset="-122"/>
                <a:ea typeface="微软雅黑" panose="020B0503020204020204" charset="-122"/>
                <a:cs typeface="MiSans" panose="00000500000000000000" charset="-122"/>
                <a:sym typeface="MiSans" panose="00000500000000000000" charset="-122"/>
              </a:rPr>
              <a:t>Cao Zhou</a:t>
            </a:r>
            <a:endParaRPr lang="en-US" sz="1600" b="0" i="0" u="none" strike="noStrike">
              <a:solidFill>
                <a:srgbClr val="333333"/>
              </a:solidFill>
              <a:latin typeface="微软雅黑" panose="020B0503020204020204" charset="-122"/>
              <a:ea typeface="微软雅黑" panose="020B0503020204020204" charset="-122"/>
              <a:cs typeface="MiSans" panose="00000500000000000000" charset="-122"/>
              <a:sym typeface="MiSans" panose="00000500000000000000" charset="-122"/>
            </a:endParaRPr>
          </a:p>
        </p:txBody>
      </p:sp>
      <p:sp>
        <p:nvSpPr>
          <p:cNvPr id="5" name="AutoShape 5"/>
          <p:cNvSpPr/>
          <p:nvPr/>
        </p:nvSpPr>
        <p:spPr>
          <a:xfrm>
            <a:off x="4077335" y="2591435"/>
            <a:ext cx="1463675" cy="440055"/>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600" b="0" i="0" u="none" strike="noStrike">
                <a:solidFill>
                  <a:srgbClr val="333333"/>
                </a:solidFill>
                <a:latin typeface="微软雅黑" panose="020B0503020204020204" charset="-122"/>
                <a:ea typeface="微软雅黑" panose="020B0503020204020204" charset="-122"/>
                <a:cs typeface="MiSans" panose="00000500000000000000" charset="-122"/>
                <a:sym typeface="MiSans" panose="00000500000000000000" charset="-122"/>
              </a:rPr>
              <a:t>Teng Qiming</a:t>
            </a:r>
            <a:endParaRPr lang="en-US" sz="1600" b="0" i="0" u="none" strike="noStrike">
              <a:solidFill>
                <a:srgbClr val="333333"/>
              </a:solidFill>
              <a:latin typeface="微软雅黑" panose="020B0503020204020204" charset="-122"/>
              <a:ea typeface="微软雅黑" panose="020B0503020204020204" charset="-122"/>
              <a:cs typeface="MiSans" panose="00000500000000000000" charset="-122"/>
              <a:sym typeface="MiSans" panose="00000500000000000000" charset="-122"/>
            </a:endParaRPr>
          </a:p>
        </p:txBody>
      </p:sp>
      <p:sp>
        <p:nvSpPr>
          <p:cNvPr id="6" name="AutoShape 6"/>
          <p:cNvSpPr/>
          <p:nvPr/>
        </p:nvSpPr>
        <p:spPr>
          <a:xfrm>
            <a:off x="4077335" y="3124200"/>
            <a:ext cx="1463675" cy="440055"/>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600" b="0" i="0" u="none" strike="noStrike">
                <a:solidFill>
                  <a:srgbClr val="333333"/>
                </a:solidFill>
                <a:latin typeface="微软雅黑" panose="020B0503020204020204" charset="-122"/>
                <a:ea typeface="微软雅黑" panose="020B0503020204020204" charset="-122"/>
                <a:cs typeface="MiSans" panose="00000500000000000000" charset="-122"/>
                <a:sym typeface="MiSans" panose="00000500000000000000" charset="-122"/>
              </a:rPr>
              <a:t>Wang Yunbo</a:t>
            </a:r>
            <a:endParaRPr lang="en-US" sz="1600" b="0" i="0" u="none" strike="noStrike">
              <a:solidFill>
                <a:srgbClr val="333333"/>
              </a:solidFill>
              <a:latin typeface="微软雅黑" panose="020B0503020204020204" charset="-122"/>
              <a:ea typeface="微软雅黑" panose="020B0503020204020204" charset="-122"/>
              <a:cs typeface="MiSans" panose="00000500000000000000" charset="-122"/>
              <a:sym typeface="MiSans" panose="00000500000000000000" charset="-122"/>
            </a:endParaRPr>
          </a:p>
        </p:txBody>
      </p:sp>
      <p:sp>
        <p:nvSpPr>
          <p:cNvPr id="7" name="AutoShape 7"/>
          <p:cNvSpPr/>
          <p:nvPr/>
        </p:nvSpPr>
        <p:spPr>
          <a:xfrm>
            <a:off x="4077335" y="3657600"/>
            <a:ext cx="1463675" cy="440055"/>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600" b="0" i="0" u="none" strike="noStrike">
                <a:solidFill>
                  <a:srgbClr val="333333"/>
                </a:solidFill>
                <a:latin typeface="微软雅黑" panose="020B0503020204020204" charset="-122"/>
                <a:ea typeface="微软雅黑" panose="020B0503020204020204" charset="-122"/>
                <a:cs typeface="MiSans" panose="00000500000000000000" charset="-122"/>
                <a:sym typeface="MiSans" panose="00000500000000000000" charset="-122"/>
              </a:rPr>
              <a:t>Liu Guang</a:t>
            </a:r>
            <a:endParaRPr lang="en-US" sz="1600" b="0" i="0" u="none" strike="noStrike">
              <a:solidFill>
                <a:srgbClr val="333333"/>
              </a:solidFill>
              <a:latin typeface="微软雅黑" panose="020B0503020204020204" charset="-122"/>
              <a:ea typeface="微软雅黑" panose="020B0503020204020204" charset="-122"/>
              <a:cs typeface="MiSans" panose="00000500000000000000" charset="-122"/>
              <a:sym typeface="MiSans" panose="00000500000000000000" charset="-122"/>
            </a:endParaRPr>
          </a:p>
        </p:txBody>
      </p:sp>
      <p:sp>
        <p:nvSpPr>
          <p:cNvPr id="8" name="AutoShape 8"/>
          <p:cNvSpPr/>
          <p:nvPr/>
        </p:nvSpPr>
        <p:spPr>
          <a:xfrm>
            <a:off x="4077335" y="4191000"/>
            <a:ext cx="1463675" cy="440055"/>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600" b="0" i="0" u="none" strike="noStrike">
                <a:solidFill>
                  <a:srgbClr val="333333"/>
                </a:solidFill>
                <a:latin typeface="微软雅黑" panose="020B0503020204020204" charset="-122"/>
                <a:ea typeface="微软雅黑" panose="020B0503020204020204" charset="-122"/>
                <a:cs typeface="MiSans" panose="00000500000000000000" charset="-122"/>
                <a:sym typeface="MiSans" panose="00000500000000000000" charset="-122"/>
              </a:rPr>
              <a:t>Tao Jian</a:t>
            </a:r>
            <a:endParaRPr lang="en-US" sz="1600" b="0" i="0" u="none" strike="noStrike">
              <a:solidFill>
                <a:srgbClr val="333333"/>
              </a:solidFill>
              <a:latin typeface="微软雅黑" panose="020B0503020204020204" charset="-122"/>
              <a:ea typeface="微软雅黑" panose="020B0503020204020204" charset="-122"/>
              <a:cs typeface="MiSans" panose="00000500000000000000" charset="-122"/>
              <a:sym typeface="MiSans" panose="00000500000000000000" charset="-122"/>
            </a:endParaRPr>
          </a:p>
        </p:txBody>
      </p:sp>
      <p:sp>
        <p:nvSpPr>
          <p:cNvPr id="9" name="AutoShape 9"/>
          <p:cNvSpPr/>
          <p:nvPr/>
        </p:nvSpPr>
        <p:spPr>
          <a:xfrm>
            <a:off x="4077335" y="4723765"/>
            <a:ext cx="1463675" cy="440055"/>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600" b="0" i="0" u="none" strike="noStrike">
                <a:solidFill>
                  <a:srgbClr val="333333"/>
                </a:solidFill>
                <a:latin typeface="微软雅黑" panose="020B0503020204020204" charset="-122"/>
                <a:ea typeface="微软雅黑" panose="020B0503020204020204" charset="-122"/>
                <a:cs typeface="MiSans" panose="00000500000000000000" charset="-122"/>
                <a:sym typeface="MiSans" panose="00000500000000000000" charset="-122"/>
              </a:rPr>
              <a:t>Shi Lijuan</a:t>
            </a:r>
            <a:endParaRPr lang="en-US" sz="1600" b="0" i="0" u="none" strike="noStrike">
              <a:solidFill>
                <a:srgbClr val="333333"/>
              </a:solidFill>
              <a:latin typeface="微软雅黑" panose="020B0503020204020204" charset="-122"/>
              <a:ea typeface="微软雅黑" panose="020B0503020204020204" charset="-122"/>
              <a:cs typeface="MiSans" panose="00000500000000000000" charset="-122"/>
              <a:sym typeface="MiSans" panose="00000500000000000000" charset="-122"/>
            </a:endParaRPr>
          </a:p>
        </p:txBody>
      </p:sp>
      <p:sp>
        <p:nvSpPr>
          <p:cNvPr id="10" name="Freeform 10"/>
          <p:cNvSpPr/>
          <p:nvPr/>
        </p:nvSpPr>
        <p:spPr>
          <a:xfrm>
            <a:off x="6096000" y="2058033"/>
            <a:ext cx="25977" cy="3046918"/>
          </a:xfrm>
          <a:custGeom>
            <a:avLst/>
            <a:gdLst/>
            <a:ahLst/>
            <a:cxnLst/>
            <a:rect l="l" t="t" r="r" b="b"/>
            <a:pathLst>
              <a:path w="25977" h="3046918">
                <a:moveTo>
                  <a:pt x="0" y="0"/>
                </a:moveTo>
                <a:lnTo>
                  <a:pt x="25977" y="0"/>
                </a:lnTo>
                <a:lnTo>
                  <a:pt x="25977" y="3046918"/>
                </a:lnTo>
                <a:lnTo>
                  <a:pt x="0" y="3046918"/>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endParaRPr sz="1600">
              <a:latin typeface="微软雅黑" panose="020B0503020204020204" charset="-122"/>
              <a:ea typeface="微软雅黑" panose="020B0503020204020204" charset="-122"/>
            </a:endParaRPr>
          </a:p>
        </p:txBody>
      </p:sp>
      <p:sp>
        <p:nvSpPr>
          <p:cNvPr id="11" name="Freeform 11"/>
          <p:cNvSpPr/>
          <p:nvPr/>
        </p:nvSpPr>
        <p:spPr>
          <a:xfrm>
            <a:off x="6096000" y="2058033"/>
            <a:ext cx="17318" cy="3046918"/>
          </a:xfrm>
          <a:custGeom>
            <a:avLst/>
            <a:gdLst/>
            <a:ahLst/>
            <a:cxnLst/>
            <a:rect l="l" t="t" r="r" b="b"/>
            <a:pathLst>
              <a:path w="17318" h="3046918">
                <a:moveTo>
                  <a:pt x="0" y="0"/>
                </a:moveTo>
                <a:lnTo>
                  <a:pt x="17318" y="0"/>
                </a:lnTo>
                <a:lnTo>
                  <a:pt x="17318" y="3046918"/>
                </a:lnTo>
                <a:lnTo>
                  <a:pt x="0" y="3046918"/>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endParaRPr sz="1600">
              <a:latin typeface="微软雅黑" panose="020B0503020204020204" charset="-122"/>
              <a:ea typeface="微软雅黑" panose="020B0503020204020204" charset="-122"/>
            </a:endParaRPr>
          </a:p>
        </p:txBody>
      </p:sp>
      <p:sp>
        <p:nvSpPr>
          <p:cNvPr id="12" name="AutoShape 12"/>
          <p:cNvSpPr/>
          <p:nvPr/>
        </p:nvSpPr>
        <p:spPr>
          <a:xfrm>
            <a:off x="6511290" y="2058035"/>
            <a:ext cx="2201545" cy="440055"/>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600" b="0" i="0" u="none" strike="noStrike">
                <a:solidFill>
                  <a:srgbClr val="333333"/>
                </a:solidFill>
                <a:latin typeface="微软雅黑" panose="020B0503020204020204" charset="-122"/>
                <a:ea typeface="微软雅黑" panose="020B0503020204020204" charset="-122"/>
                <a:cs typeface="MiSans" panose="00000500000000000000" charset="-122"/>
                <a:sym typeface="MiSans" panose="00000500000000000000" charset="-122"/>
              </a:rPr>
              <a:t>Chen Jingyi</a:t>
            </a:r>
            <a:endParaRPr lang="en-US" sz="1600" b="0" i="0" u="none" strike="noStrike">
              <a:solidFill>
                <a:srgbClr val="333333"/>
              </a:solidFill>
              <a:latin typeface="微软雅黑" panose="020B0503020204020204" charset="-122"/>
              <a:ea typeface="微软雅黑" panose="020B0503020204020204" charset="-122"/>
              <a:cs typeface="MiSans" panose="00000500000000000000" charset="-122"/>
              <a:sym typeface="MiSans" panose="00000500000000000000" charset="-122"/>
            </a:endParaRPr>
          </a:p>
        </p:txBody>
      </p:sp>
      <p:sp>
        <p:nvSpPr>
          <p:cNvPr id="13" name="AutoShape 13"/>
          <p:cNvSpPr/>
          <p:nvPr/>
        </p:nvSpPr>
        <p:spPr>
          <a:xfrm>
            <a:off x="6511290" y="2591435"/>
            <a:ext cx="2201545" cy="440055"/>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600" b="0" i="0" u="none" strike="noStrike">
                <a:solidFill>
                  <a:srgbClr val="333333"/>
                </a:solidFill>
                <a:latin typeface="微软雅黑" panose="020B0503020204020204" charset="-122"/>
                <a:ea typeface="微软雅黑" panose="020B0503020204020204" charset="-122"/>
                <a:cs typeface="MiSans" panose="00000500000000000000" charset="-122"/>
                <a:sym typeface="MiSans" panose="00000500000000000000" charset="-122"/>
              </a:rPr>
              <a:t>Liu Yunling</a:t>
            </a:r>
            <a:endParaRPr lang="en-US" sz="1600" b="0" i="0" u="none" strike="noStrike">
              <a:solidFill>
                <a:srgbClr val="333333"/>
              </a:solidFill>
              <a:latin typeface="微软雅黑" panose="020B0503020204020204" charset="-122"/>
              <a:ea typeface="微软雅黑" panose="020B0503020204020204" charset="-122"/>
              <a:cs typeface="MiSans" panose="00000500000000000000" charset="-122"/>
              <a:sym typeface="MiSans" panose="00000500000000000000" charset="-122"/>
            </a:endParaRPr>
          </a:p>
        </p:txBody>
      </p:sp>
      <p:sp>
        <p:nvSpPr>
          <p:cNvPr id="14" name="AutoShape 14"/>
          <p:cNvSpPr/>
          <p:nvPr/>
        </p:nvSpPr>
        <p:spPr>
          <a:xfrm>
            <a:off x="6511290" y="3124200"/>
            <a:ext cx="2201545" cy="440055"/>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600" b="0" i="0" u="none" strike="noStrike">
                <a:solidFill>
                  <a:srgbClr val="333333"/>
                </a:solidFill>
                <a:latin typeface="微软雅黑" panose="020B0503020204020204" charset="-122"/>
                <a:ea typeface="微软雅黑" panose="020B0503020204020204" charset="-122"/>
                <a:cs typeface="MiSans" panose="00000500000000000000" charset="-122"/>
                <a:sym typeface="MiSans" panose="00000500000000000000" charset="-122"/>
              </a:rPr>
              <a:t>Li Cheng</a:t>
            </a:r>
            <a:endParaRPr lang="en-US" sz="1600" b="0" i="0" u="none" strike="noStrike">
              <a:solidFill>
                <a:srgbClr val="333333"/>
              </a:solidFill>
              <a:latin typeface="微软雅黑" panose="020B0503020204020204" charset="-122"/>
              <a:ea typeface="微软雅黑" panose="020B0503020204020204" charset="-122"/>
              <a:cs typeface="MiSans" panose="00000500000000000000" charset="-122"/>
              <a:sym typeface="MiSans" panose="00000500000000000000" charset="-122"/>
            </a:endParaRPr>
          </a:p>
        </p:txBody>
      </p:sp>
      <p:sp>
        <p:nvSpPr>
          <p:cNvPr id="15" name="AutoShape 15"/>
          <p:cNvSpPr/>
          <p:nvPr/>
        </p:nvSpPr>
        <p:spPr>
          <a:xfrm>
            <a:off x="6511290" y="3657600"/>
            <a:ext cx="2201545" cy="440055"/>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600" b="0" i="0" u="none" strike="noStrike">
                <a:solidFill>
                  <a:srgbClr val="333333"/>
                </a:solidFill>
                <a:latin typeface="微软雅黑" panose="020B0503020204020204" charset="-122"/>
                <a:ea typeface="微软雅黑" panose="020B0503020204020204" charset="-122"/>
                <a:cs typeface="MiSans" panose="00000500000000000000" charset="-122"/>
                <a:sym typeface="MiSans" panose="00000500000000000000" charset="-122"/>
              </a:rPr>
              <a:t>Zhao Zhiqiang</a:t>
            </a:r>
            <a:endParaRPr lang="en-US" sz="1600" b="0" i="0" u="none" strike="noStrike">
              <a:solidFill>
                <a:srgbClr val="333333"/>
              </a:solidFill>
              <a:latin typeface="微软雅黑" panose="020B0503020204020204" charset="-122"/>
              <a:ea typeface="微软雅黑" panose="020B0503020204020204" charset="-122"/>
              <a:cs typeface="MiSans" panose="00000500000000000000" charset="-122"/>
              <a:sym typeface="MiSans" panose="00000500000000000000" charset="-122"/>
            </a:endParaRPr>
          </a:p>
        </p:txBody>
      </p:sp>
      <p:sp>
        <p:nvSpPr>
          <p:cNvPr id="16" name="AutoShape 16"/>
          <p:cNvSpPr/>
          <p:nvPr/>
        </p:nvSpPr>
        <p:spPr>
          <a:xfrm>
            <a:off x="6511290" y="4191000"/>
            <a:ext cx="2201545" cy="440055"/>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600" b="0" i="0" u="none" strike="noStrike">
                <a:solidFill>
                  <a:srgbClr val="333333"/>
                </a:solidFill>
                <a:latin typeface="微软雅黑" panose="020B0503020204020204" charset="-122"/>
                <a:ea typeface="微软雅黑" panose="020B0503020204020204" charset="-122"/>
                <a:cs typeface="MiSans" panose="00000500000000000000" charset="-122"/>
                <a:sym typeface="MiSans" panose="00000500000000000000" charset="-122"/>
              </a:rPr>
              <a:t>J</a:t>
            </a:r>
            <a:r>
              <a:rPr lang="en-US" sz="1600" b="0" i="0" u="none" strike="noStrike">
                <a:solidFill>
                  <a:srgbClr val="333333"/>
                </a:solidFill>
                <a:latin typeface="微软雅黑" panose="020B0503020204020204" charset="-122"/>
                <a:ea typeface="微软雅黑" panose="020B0503020204020204" charset="-122"/>
                <a:cs typeface="MiSans" panose="00000500000000000000" charset="-122"/>
                <a:sym typeface="MiSans" panose="00000500000000000000" charset="-122"/>
              </a:rPr>
              <a:t>ieran Zhang</a:t>
            </a:r>
            <a:endParaRPr lang="en-US" sz="1600" b="0" i="0" u="none" strike="noStrike">
              <a:solidFill>
                <a:srgbClr val="333333"/>
              </a:solidFill>
              <a:latin typeface="微软雅黑" panose="020B0503020204020204" charset="-122"/>
              <a:ea typeface="微软雅黑" panose="020B0503020204020204" charset="-122"/>
              <a:cs typeface="MiSans" panose="00000500000000000000" charset="-122"/>
              <a:sym typeface="MiSans" panose="00000500000000000000" charset="-122"/>
            </a:endParaRPr>
          </a:p>
        </p:txBody>
      </p:sp>
      <p:sp>
        <p:nvSpPr>
          <p:cNvPr id="17" name="AutoShape 16"/>
          <p:cNvSpPr/>
          <p:nvPr/>
        </p:nvSpPr>
        <p:spPr>
          <a:xfrm>
            <a:off x="6511290" y="4723765"/>
            <a:ext cx="2201545" cy="440055"/>
          </a:xfrm>
          <a:prstGeom prst="rect">
            <a:avLst/>
          </a:prstGeom>
          <a:noFill/>
          <a:ln w="12700">
            <a:noFill/>
            <a:prstDash val="solid"/>
          </a:ln>
        </p:spPr>
        <p:txBody>
          <a:bodyPr wrap="square" lIns="0" tIns="0" rIns="0" bIns="0" rtlCol="0" anchor="ctr">
            <a:noAutofit/>
          </a:bodyPr>
          <a:p>
            <a:pPr indent="0" algn="ctr">
              <a:lnSpc>
                <a:spcPct val="117000"/>
              </a:lnSpc>
              <a:defRPr/>
            </a:pPr>
            <a:r>
              <a:rPr lang="en-US" sz="1600" b="0" i="0" u="none" strike="noStrike">
                <a:solidFill>
                  <a:srgbClr val="333333"/>
                </a:solidFill>
                <a:latin typeface="微软雅黑" panose="020B0503020204020204" charset="-122"/>
                <a:ea typeface="微软雅黑" panose="020B0503020204020204" charset="-122"/>
                <a:cs typeface="MiSans" panose="00000500000000000000" charset="-122"/>
                <a:sym typeface="MiSans" panose="00000500000000000000" charset="-122"/>
              </a:rPr>
              <a:t>Zhu Qigang</a:t>
            </a:r>
            <a:endParaRPr lang="en-US" sz="1600" b="0" i="0" u="none" strike="noStrike">
              <a:solidFill>
                <a:srgbClr val="333333"/>
              </a:solidFill>
              <a:latin typeface="微软雅黑" panose="020B0503020204020204" charset="-122"/>
              <a:ea typeface="微软雅黑" panose="020B0503020204020204" charset="-122"/>
              <a:cs typeface="MiSans" panose="00000500000000000000" charset="-122"/>
              <a:sym typeface="MiSans" panose="00000500000000000000" charset="-122"/>
            </a:endParaRPr>
          </a:p>
        </p:txBody>
      </p:sp>
    </p:spTree>
  </p:cSld>
  <p:clrMapOvr>
    <a:masterClrMapping/>
  </p:clrMapOvr>
  <p:transition spd="slow">
    <p:fade/>
  </p:transition>
</p:sld>
</file>

<file path=ppt/tags/tag1.xml><?xml version="1.0" encoding="utf-8"?>
<p:tagLst xmlns:p="http://schemas.openxmlformats.org/presentationml/2006/main">
  <p:tag name="KSO_WM_DIAGRAM_VIRTUALLY_FRAME" val="{&quot;height&quot;:342.30496062992125,&quot;left&quot;:27.05,&quot;top&quot;:116.79503937007875,&quot;width&quot;:987.3}"/>
</p:tagLst>
</file>

<file path=ppt/tags/tag2.xml><?xml version="1.0" encoding="utf-8"?>
<p:tagLst xmlns:p="http://schemas.openxmlformats.org/presentationml/2006/main">
  <p:tag name="KSO_WM_DIAGRAM_VIRTUALLY_FRAME" val="{&quot;height&quot;:342.30496062992125,&quot;left&quot;:27.05,&quot;top&quot;:116.79503937007875,&quot;width&quot;:987.3}"/>
</p:tagLst>
</file>

<file path=ppt/tags/tag3.xml><?xml version="1.0" encoding="utf-8"?>
<p:tagLst xmlns:p="http://schemas.openxmlformats.org/presentationml/2006/main">
  <p:tag name="KSO_WM_DIAGRAM_VIRTUALLY_FRAME" val="{&quot;height&quot;:342.30496062992125,&quot;left&quot;:27.05,&quot;top&quot;:116.79503937007875,&quot;width&quot;:987.3}"/>
</p:tagLst>
</file>

<file path=ppt/tags/tag4.xml><?xml version="1.0" encoding="utf-8"?>
<p:tagLst xmlns:p="http://schemas.openxmlformats.org/presentationml/2006/main">
  <p:tag name="KSO_WM_DIAGRAM_VIRTUALLY_FRAME" val="{&quot;height&quot;:342.30496062992125,&quot;left&quot;:27.05,&quot;top&quot;:116.79503937007875,&quot;width&quot;:987.3}"/>
</p:tagLst>
</file>

<file path=ppt/tags/tag5.xml><?xml version="1.0" encoding="utf-8"?>
<p:tagLst xmlns:p="http://schemas.openxmlformats.org/presentationml/2006/main">
  <p:tag name="KSO_WM_DIAGRAM_VIRTUALLY_FRAME" val="{&quot;height&quot;:342.30496062992125,&quot;left&quot;:27.05,&quot;top&quot;:116.79503937007875,&quot;width&quot;:987.3}"/>
</p:tagLst>
</file>

<file path=ppt/tags/tag6.xml><?xml version="1.0" encoding="utf-8"?>
<p:tagLst xmlns:p="http://schemas.openxmlformats.org/presentationml/2006/main">
  <p:tag name="KSO_WM_DIAGRAM_VIRTUALLY_FRAME" val="{&quot;height&quot;:342.30496062992125,&quot;left&quot;:27.05,&quot;top&quot;:116.79503937007875,&quot;width&quot;:987.3}"/>
</p:tagLst>
</file>

<file path=ppt/tags/tag7.xml><?xml version="1.0" encoding="utf-8"?>
<p:tagLst xmlns:p="http://schemas.openxmlformats.org/presentationml/2006/main">
  <p:tag name="KSO_WM_DIAGRAM_VIRTUALLY_FRAME" val="{&quot;height&quot;:342.30496062992125,&quot;left&quot;:27.05,&quot;top&quot;:116.79503937007875,&quot;width&quot;:987.3}"/>
</p:tagLst>
</file>

<file path=ppt/tags/tag8.xml><?xml version="1.0" encoding="utf-8"?>
<p:tagLst xmlns:p="http://schemas.openxmlformats.org/presentationml/2006/main">
  <p:tag name="KSO_WM_DIAGRAM_VIRTUALLY_FRAME" val="{&quot;height&quot;:342.30496062992125,&quot;left&quot;:27.05,&quot;top&quot;:116.79503937007875,&quot;width&quot;:987.3}"/>
</p:tagLst>
</file>

<file path=ppt/tags/tag9.xml><?xml version="1.0" encoding="utf-8"?>
<p:tagLst xmlns:p="http://schemas.openxmlformats.org/presentationml/2006/main">
  <p:tag name="KSO_WM_DIAGRAM_VIRTUALLY_FRAME" val="{&quot;height&quot;:342.30496062992125,&quot;left&quot;:27.05,&quot;top&quot;:116.79503937007875,&quot;width&quot;:987.3}"/>
</p:tagLst>
</file>

<file path=ppt/tags/tag10.xml><?xml version="1.0" encoding="utf-8"?>
<p:tagLst xmlns:p="http://schemas.openxmlformats.org/presentationml/2006/main">
  <p:tag name="KSO_WM_DIAGRAM_VIRTUALLY_FRAME" val="{&quot;height&quot;:342.30496062992125,&quot;left&quot;:27.05,&quot;top&quot;:116.79503937007875,&quot;width&quot;:987.3}"/>
</p:tagLst>
</file>

<file path=ppt/tags/tag11.xml><?xml version="1.0" encoding="utf-8"?>
<p:tagLst xmlns:p="http://schemas.openxmlformats.org/presentationml/2006/main">
  <p:tag name="KSO_WM_DIAGRAM_VIRTUALLY_FRAME" val="{&quot;height&quot;:342.30496062992125,&quot;left&quot;:27.05,&quot;top&quot;:116.79503937007875,&quot;width&quot;:987.3}"/>
</p:tagLst>
</file>

<file path=ppt/tags/tag12.xml><?xml version="1.0" encoding="utf-8"?>
<p:tagLst xmlns:p="http://schemas.openxmlformats.org/presentationml/2006/main">
  <p:tag name="KSO_WM_DIAGRAM_VIRTUALLY_FRAME" val="{&quot;height&quot;:342.30496062992125,&quot;left&quot;:27.05,&quot;top&quot;:116.79503937007875,&quot;width&quot;:987.3}"/>
</p:tagLst>
</file>

<file path=ppt/tags/tag13.xml><?xml version="1.0" encoding="utf-8"?>
<p:tagLst xmlns:p="http://schemas.openxmlformats.org/presentationml/2006/main">
  <p:tag name="KSO_WM_DIAGRAM_VIRTUALLY_FRAME" val="{&quot;height&quot;:342.30496062992125,&quot;left&quot;:27.05,&quot;top&quot;:116.79503937007875,&quot;width&quot;:987.3}"/>
</p:tagLst>
</file>

<file path=ppt/tags/tag14.xml><?xml version="1.0" encoding="utf-8"?>
<p:tagLst xmlns:p="http://schemas.openxmlformats.org/presentationml/2006/main">
  <p:tag name="KSO_WM_DIAGRAM_VIRTUALLY_FRAME" val="{&quot;height&quot;:342.30496062992125,&quot;left&quot;:27.05,&quot;top&quot;:116.79503937007875,&quot;width&quot;:987.3}"/>
</p:tagLst>
</file>

<file path=ppt/tags/tag15.xml><?xml version="1.0" encoding="utf-8"?>
<p:tagLst xmlns:p="http://schemas.openxmlformats.org/presentationml/2006/main">
  <p:tag name="KSO_WM_DIAGRAM_VIRTUALLY_FRAME" val="{&quot;height&quot;:342.30496062992125,&quot;left&quot;:27.05,&quot;top&quot;:116.79503937007875,&quot;width&quot;:987.3}"/>
</p:tagLst>
</file>

<file path=ppt/tags/tag16.xml><?xml version="1.0" encoding="utf-8"?>
<p:tagLst xmlns:p="http://schemas.openxmlformats.org/presentationml/2006/main">
  <p:tag name="KSO_WM_DIAGRAM_VIRTUALLY_FRAME" val="{&quot;height&quot;:342.30496062992125,&quot;left&quot;:27.05,&quot;top&quot;:116.79503937007875,&quot;width&quot;:987.3}"/>
</p:tagLst>
</file>

<file path=ppt/tags/tag17.xml><?xml version="1.0" encoding="utf-8"?>
<p:tagLst xmlns:p="http://schemas.openxmlformats.org/presentationml/2006/main">
  <p:tag name="KSO_WM_DIAGRAM_VIRTUALLY_FRAME" val="{&quot;height&quot;:342.30496062992125,&quot;left&quot;:27.05,&quot;top&quot;:116.79503937007875,&quot;width&quot;:987.3}"/>
</p:tagLst>
</file>

<file path=ppt/tags/tag18.xml><?xml version="1.0" encoding="utf-8"?>
<p:tagLst xmlns:p="http://schemas.openxmlformats.org/presentationml/2006/main">
  <p:tag name="KSO_WM_DIAGRAM_VIRTUALLY_FRAME" val="{&quot;height&quot;:342.30496062992125,&quot;left&quot;:27.05,&quot;top&quot;:116.79503937007875,&quot;width&quot;:987.3}"/>
</p:tagLst>
</file>

<file path=ppt/tags/tag19.xml><?xml version="1.0" encoding="utf-8"?>
<p:tagLst xmlns:p="http://schemas.openxmlformats.org/presentationml/2006/main">
  <p:tag name="KSO_WM_DIAGRAM_VIRTUALLY_FRAME" val="{&quot;height&quot;:342.30496062992125,&quot;left&quot;:27.05,&quot;top&quot;:116.79503937007875,&quot;width&quot;:987.3}"/>
</p:tagLst>
</file>

<file path=ppt/tags/tag20.xml><?xml version="1.0" encoding="utf-8"?>
<p:tagLst xmlns:p="http://schemas.openxmlformats.org/presentationml/2006/main">
  <p:tag name="KSO_WM_DIAGRAM_VIRTUALLY_FRAME" val="{&quot;height&quot;:342.30496062992125,&quot;left&quot;:27.05,&quot;top&quot;:116.79503937007875,&quot;width&quot;:987.3}"/>
</p:tagLst>
</file>

<file path=ppt/tags/tag21.xml><?xml version="1.0" encoding="utf-8"?>
<p:tagLst xmlns:p="http://schemas.openxmlformats.org/presentationml/2006/main">
  <p:tag name="KSO_WM_DIAGRAM_VIRTUALLY_FRAME" val="{&quot;height&quot;:342.30496062992125,&quot;left&quot;:27.05,&quot;top&quot;:116.79503937007875,&quot;width&quot;:987.3}"/>
</p:tagLst>
</file>

<file path=ppt/tags/tag22.xml><?xml version="1.0" encoding="utf-8"?>
<p:tagLst xmlns:p="http://schemas.openxmlformats.org/presentationml/2006/main">
  <p:tag name="KSO_WM_DIAGRAM_VIRTUALLY_FRAME" val="{&quot;height&quot;:342.30496062992125,&quot;left&quot;:27.05,&quot;top&quot;:116.79503937007875,&quot;width&quot;:987.3}"/>
</p:tagLst>
</file>

<file path=ppt/tags/tag23.xml><?xml version="1.0" encoding="utf-8"?>
<p:tagLst xmlns:p="http://schemas.openxmlformats.org/presentationml/2006/main">
  <p:tag name="KSO_WM_DIAGRAM_VIRTUALLY_FRAME" val="{&quot;height&quot;:342.30496062992125,&quot;left&quot;:27.05,&quot;top&quot;:116.79503937007875,&quot;width&quot;:987.3}"/>
</p:tagLst>
</file>

<file path=ppt/tags/tag24.xml><?xml version="1.0" encoding="utf-8"?>
<p:tagLst xmlns:p="http://schemas.openxmlformats.org/presentationml/2006/main">
  <p:tag name="KSO_WM_DIAGRAM_VIRTUALLY_FRAME" val="{&quot;height&quot;:342.30496062992125,&quot;left&quot;:27.05,&quot;top&quot;:116.79503937007875,&quot;width&quot;:987.3}"/>
</p:tagLst>
</file>

<file path=ppt/tags/tag25.xml><?xml version="1.0" encoding="utf-8"?>
<p:tagLst xmlns:p="http://schemas.openxmlformats.org/presentationml/2006/main">
  <p:tag name="KSO_WM_DIAGRAM_VIRTUALLY_FRAME" val="{&quot;height&quot;:342.30496062992125,&quot;left&quot;:27.05,&quot;top&quot;:116.79503937007875,&quot;width&quot;:987.3}"/>
</p:tagLst>
</file>

<file path=ppt/tags/tag26.xml><?xml version="1.0" encoding="utf-8"?>
<p:tagLst xmlns:p="http://schemas.openxmlformats.org/presentationml/2006/main">
  <p:tag name="KSO_WM_DIAGRAM_VIRTUALLY_FRAME" val="{&quot;height&quot;:342.30496062992125,&quot;left&quot;:27.05,&quot;top&quot;:116.79503937007875,&quot;width&quot;:987.3}"/>
</p:tagLst>
</file>

<file path=ppt/tags/tag27.xml><?xml version="1.0" encoding="utf-8"?>
<p:tagLst xmlns:p="http://schemas.openxmlformats.org/presentationml/2006/main">
  <p:tag name="KSO_WM_DIAGRAM_VIRTUALLY_FRAME" val="{&quot;height&quot;:342.30496062992125,&quot;left&quot;:27.05,&quot;top&quot;:116.79503937007875,&quot;width&quot;:987.3}"/>
</p:tagLst>
</file>

<file path=ppt/tags/tag28.xml><?xml version="1.0" encoding="utf-8"?>
<p:tagLst xmlns:p="http://schemas.openxmlformats.org/presentationml/2006/main">
  <p:tag name="KSO_WM_DIAGRAM_VIRTUALLY_FRAME" val="{&quot;height&quot;:342.30496062992125,&quot;left&quot;:27.05,&quot;top&quot;:116.79503937007875,&quot;width&quot;:987.3}"/>
</p:tagLst>
</file>

<file path=ppt/tags/tag29.xml><?xml version="1.0" encoding="utf-8"?>
<p:tagLst xmlns:p="http://schemas.openxmlformats.org/presentationml/2006/main">
  <p:tag name="KSO_WM_DIAGRAM_VIRTUALLY_FRAME" val="{&quot;height&quot;:342.30496062992125,&quot;left&quot;:27.05,&quot;top&quot;:116.79503937007875,&quot;width&quot;:987.3}"/>
</p:tagLst>
</file>

<file path=ppt/tags/tag30.xml><?xml version="1.0" encoding="utf-8"?>
<p:tagLst xmlns:p="http://schemas.openxmlformats.org/presentationml/2006/main">
  <p:tag name="KSO_WM_DIAGRAM_VIRTUALLY_FRAME" val="{&quot;height&quot;:342.30496062992125,&quot;left&quot;:27.05,&quot;top&quot;:116.79503937007875,&quot;width&quot;:987.3}"/>
</p:tagLst>
</file>

<file path=ppt/tags/tag31.xml><?xml version="1.0" encoding="utf-8"?>
<p:tagLst xmlns:p="http://schemas.openxmlformats.org/presentationml/2006/main">
  <p:tag name="KSO_WM_DIAGRAM_VIRTUALLY_FRAME" val="{&quot;height&quot;:342.30496062992125,&quot;left&quot;:27.05,&quot;top&quot;:116.79503937007875,&quot;width&quot;:987.3}"/>
</p:tagLst>
</file>

<file path=ppt/tags/tag32.xml><?xml version="1.0" encoding="utf-8"?>
<p:tagLst xmlns:p="http://schemas.openxmlformats.org/presentationml/2006/main">
  <p:tag name="KSO_WM_DIAGRAM_VIRTUALLY_FRAME" val="{&quot;height&quot;:342.30496062992125,&quot;left&quot;:27.05,&quot;top&quot;:116.79503937007875,&quot;width&quot;:987.3}"/>
</p:tagLst>
</file>

<file path=ppt/tags/tag33.xml><?xml version="1.0" encoding="utf-8"?>
<p:tagLst xmlns:p="http://schemas.openxmlformats.org/presentationml/2006/main">
  <p:tag name="KSO_WM_DIAGRAM_VIRTUALLY_FRAME" val="{&quot;height&quot;:342.30496062992125,&quot;left&quot;:27.05,&quot;top&quot;:116.79503937007875,&quot;width&quot;:987.3}"/>
</p:tagLst>
</file>

<file path=ppt/tags/tag34.xml><?xml version="1.0" encoding="utf-8"?>
<p:tagLst xmlns:p="http://schemas.openxmlformats.org/presentationml/2006/main">
  <p:tag name="KSO_WM_DIAGRAM_VIRTUALLY_FRAME" val="{&quot;height&quot;:188.25,&quot;left&quot;:30,&quot;top&quot;:138.46291338582677,&quot;width&quot;:898.8365354330708}"/>
</p:tagLst>
</file>

<file path=ppt/tags/tag35.xml><?xml version="1.0" encoding="utf-8"?>
<p:tagLst xmlns:p="http://schemas.openxmlformats.org/presentationml/2006/main">
  <p:tag name="KSO_WM_DIAGRAM_VIRTUALLY_FRAME" val="{&quot;height&quot;:188.25,&quot;left&quot;:30,&quot;top&quot;:138.46291338582677,&quot;width&quot;:898.8365354330708}"/>
</p:tagLst>
</file>

<file path=ppt/tags/tag36.xml><?xml version="1.0" encoding="utf-8"?>
<p:tagLst xmlns:p="http://schemas.openxmlformats.org/presentationml/2006/main">
  <p:tag name="KSO_WM_DIAGRAM_VIRTUALLY_FRAME" val="{&quot;height&quot;:188.25,&quot;left&quot;:30,&quot;top&quot;:138.46291338582677,&quot;width&quot;:898.8365354330708}"/>
</p:tagLst>
</file>

<file path=ppt/tags/tag37.xml><?xml version="1.0" encoding="utf-8"?>
<p:tagLst xmlns:p="http://schemas.openxmlformats.org/presentationml/2006/main">
  <p:tag name="KSO_WM_DIAGRAM_VIRTUALLY_FRAME" val="{&quot;height&quot;:188.25,&quot;left&quot;:30,&quot;top&quot;:138.46291338582677,&quot;width&quot;:898.8365354330708}"/>
</p:tagLst>
</file>

<file path=ppt/tags/tag38.xml><?xml version="1.0" encoding="utf-8"?>
<p:tagLst xmlns:p="http://schemas.openxmlformats.org/presentationml/2006/main">
  <p:tag name="KSO_WM_DIAGRAM_VIRTUALLY_FRAME" val="{&quot;height&quot;:188.25,&quot;left&quot;:30,&quot;top&quot;:138.46291338582677,&quot;width&quot;:898.8365354330708}"/>
</p:tagLst>
</file>

<file path=ppt/tags/tag39.xml><?xml version="1.0" encoding="utf-8"?>
<p:tagLst xmlns:p="http://schemas.openxmlformats.org/presentationml/2006/main">
  <p:tag name="KSO_WM_DIAGRAM_VIRTUALLY_FRAME" val="{&quot;height&quot;:188.25,&quot;left&quot;:30,&quot;top&quot;:138.46291338582677,&quot;width&quot;:898.8365354330708}"/>
</p:tagLst>
</file>

<file path=ppt/tags/tag40.xml><?xml version="1.0" encoding="utf-8"?>
<p:tagLst xmlns:p="http://schemas.openxmlformats.org/presentationml/2006/main">
  <p:tag name="KSO_WM_DIAGRAM_VIRTUALLY_FRAME" val="{&quot;height&quot;:188.25,&quot;left&quot;:30,&quot;top&quot;:138.46291338582677,&quot;width&quot;:898.8365354330708}"/>
</p:tagLst>
</file>

<file path=ppt/tags/tag41.xml><?xml version="1.0" encoding="utf-8"?>
<p:tagLst xmlns:p="http://schemas.openxmlformats.org/presentationml/2006/main">
  <p:tag name="KSO_WM_DIAGRAM_VIRTUALLY_FRAME" val="{&quot;height&quot;:188.25,&quot;left&quot;:30,&quot;top&quot;:138.46291338582677,&quot;width&quot;:898.8365354330708}"/>
</p:tagLst>
</file>

<file path=ppt/tags/tag42.xml><?xml version="1.0" encoding="utf-8"?>
<p:tagLst xmlns:p="http://schemas.openxmlformats.org/presentationml/2006/main">
  <p:tag name="KSO_WM_DIAGRAM_VIRTUALLY_FRAME" val="{&quot;height&quot;:188.25,&quot;left&quot;:30,&quot;top&quot;:138.46291338582677,&quot;width&quot;:898.8365354330708}"/>
</p:tagLst>
</file>

<file path=ppt/tags/tag43.xml><?xml version="1.0" encoding="utf-8"?>
<p:tagLst xmlns:p="http://schemas.openxmlformats.org/presentationml/2006/main">
  <p:tag name="KSO_WM_DIAGRAM_VIRTUALLY_FRAME" val="{&quot;height&quot;:188.25,&quot;left&quot;:30,&quot;top&quot;:138.46291338582677,&quot;width&quot;:898.8365354330708}"/>
</p:tagLst>
</file>

<file path=ppt/tags/tag44.xml><?xml version="1.0" encoding="utf-8"?>
<p:tagLst xmlns:p="http://schemas.openxmlformats.org/presentationml/2006/main">
  <p:tag name="KSO_WM_DIAGRAM_VIRTUALLY_FRAME" val="{&quot;height&quot;:188.25,&quot;left&quot;:30,&quot;top&quot;:138.46291338582677,&quot;width&quot;:898.8365354330708}"/>
</p:tagLst>
</file>

<file path=ppt/tags/tag45.xml><?xml version="1.0" encoding="utf-8"?>
<p:tagLst xmlns:p="http://schemas.openxmlformats.org/presentationml/2006/main">
  <p:tag name="KSO_WM_DIAGRAM_VIRTUALLY_FRAME" val="{&quot;height&quot;:188.25,&quot;left&quot;:30,&quot;top&quot;:138.46291338582677,&quot;width&quot;:898.8365354330708}"/>
</p:tagLst>
</file>

<file path=ppt/tags/tag46.xml><?xml version="1.0" encoding="utf-8"?>
<p:tagLst xmlns:p="http://schemas.openxmlformats.org/presentationml/2006/main">
  <p:tag name="KSO_WM_DIAGRAM_VIRTUALLY_FRAME" val="{&quot;height&quot;:188.25,&quot;left&quot;:30,&quot;top&quot;:138.46291338582677,&quot;width&quot;:898.8365354330708}"/>
</p:tagLst>
</file>

<file path=ppt/tags/tag47.xml><?xml version="1.0" encoding="utf-8"?>
<p:tagLst xmlns:p="http://schemas.openxmlformats.org/presentationml/2006/main">
  <p:tag name="KSO_WM_DIAGRAM_VIRTUALLY_FRAME" val="{&quot;height&quot;:188.25,&quot;left&quot;:30,&quot;top&quot;:138.46291338582677,&quot;width&quot;:898.8365354330708}"/>
</p:tagLst>
</file>

<file path=ppt/tags/tag48.xml><?xml version="1.0" encoding="utf-8"?>
<p:tagLst xmlns:p="http://schemas.openxmlformats.org/presentationml/2006/main">
  <p:tag name="KSO_WM_DIAGRAM_VIRTUALLY_FRAME" val="{&quot;height&quot;:188.25,&quot;left&quot;:30,&quot;top&quot;:138.46291338582677,&quot;width&quot;:898.8365354330708}"/>
</p:tagLst>
</file>

<file path=ppt/tags/tag49.xml><?xml version="1.0" encoding="utf-8"?>
<p:tagLst xmlns:p="http://schemas.openxmlformats.org/presentationml/2006/main">
  <p:tag name="KSO_WM_DIAGRAM_VIRTUALLY_FRAME" val="{&quot;height&quot;:188.25,&quot;left&quot;:30,&quot;top&quot;:138.46291338582677,&quot;width&quot;:898.8365354330708}"/>
</p:tagLst>
</file>

<file path=ppt/tags/tag50.xml><?xml version="1.0" encoding="utf-8"?>
<p:tagLst xmlns:p="http://schemas.openxmlformats.org/presentationml/2006/main">
  <p:tag name="KSO_WM_DIAGRAM_VIRTUALLY_FRAME" val="{&quot;height&quot;:188.25,&quot;left&quot;:30,&quot;top&quot;:138.46291338582677,&quot;width&quot;:898.8365354330708}"/>
</p:tagLst>
</file>

<file path=ppt/tags/tag51.xml><?xml version="1.0" encoding="utf-8"?>
<p:tagLst xmlns:p="http://schemas.openxmlformats.org/presentationml/2006/main">
  <p:tag name="KSO_WM_DIAGRAM_VIRTUALLY_FRAME" val="{&quot;height&quot;:188.25,&quot;left&quot;:30,&quot;top&quot;:138.46291338582677,&quot;width&quot;:898.8365354330708}"/>
</p:tagLst>
</file>

<file path=ppt/tags/tag52.xml><?xml version="1.0" encoding="utf-8"?>
<p:tagLst xmlns:p="http://schemas.openxmlformats.org/presentationml/2006/main">
  <p:tag name="KSO_WM_DIAGRAM_VIRTUALLY_FRAME" val="{&quot;height&quot;:186.26755905511808,&quot;left&quot;:52.395039370078734,&quot;top&quot;:160.09,&quot;width&quot;:849.3625196850395}"/>
</p:tagLst>
</file>

<file path=ppt/tags/tag53.xml><?xml version="1.0" encoding="utf-8"?>
<p:tagLst xmlns:p="http://schemas.openxmlformats.org/presentationml/2006/main">
  <p:tag name="KSO_WM_DIAGRAM_VIRTUALLY_FRAME" val="{&quot;height&quot;:186.26755905511808,&quot;left&quot;:52.395039370078734,&quot;top&quot;:160.09,&quot;width&quot;:849.3625196850395}"/>
</p:tagLst>
</file>

<file path=ppt/tags/tag54.xml><?xml version="1.0" encoding="utf-8"?>
<p:tagLst xmlns:p="http://schemas.openxmlformats.org/presentationml/2006/main">
  <p:tag name="KSO_WM_DIAGRAM_VIRTUALLY_FRAME" val="{&quot;height&quot;:186.26755905511808,&quot;left&quot;:52.395039370078734,&quot;top&quot;:160.09,&quot;width&quot;:849.3625196850395}"/>
</p:tagLst>
</file>

<file path=ppt/tags/tag55.xml><?xml version="1.0" encoding="utf-8"?>
<p:tagLst xmlns:p="http://schemas.openxmlformats.org/presentationml/2006/main">
  <p:tag name="KSO_WM_DIAGRAM_VIRTUALLY_FRAME" val="{&quot;height&quot;:186.26755905511808,&quot;left&quot;:52.395039370078734,&quot;top&quot;:160.09,&quot;width&quot;:849.3625196850395}"/>
</p:tagLst>
</file>

<file path=ppt/tags/tag56.xml><?xml version="1.0" encoding="utf-8"?>
<p:tagLst xmlns:p="http://schemas.openxmlformats.org/presentationml/2006/main">
  <p:tag name="KSO_WM_DIAGRAM_VIRTUALLY_FRAME" val="{&quot;height&quot;:186.26755905511808,&quot;left&quot;:52.395039370078734,&quot;top&quot;:160.09,&quot;width&quot;:849.3625196850395}"/>
</p:tagLst>
</file>

<file path=ppt/tags/tag57.xml><?xml version="1.0" encoding="utf-8"?>
<p:tagLst xmlns:p="http://schemas.openxmlformats.org/presentationml/2006/main">
  <p:tag name="KSO_WM_DIAGRAM_VIRTUALLY_FRAME" val="{&quot;height&quot;:186.26755905511808,&quot;left&quot;:52.395039370078734,&quot;top&quot;:160.09,&quot;width&quot;:849.3625196850395}"/>
</p:tagLst>
</file>

<file path=ppt/tags/tag58.xml><?xml version="1.0" encoding="utf-8"?>
<p:tagLst xmlns:p="http://schemas.openxmlformats.org/presentationml/2006/main">
  <p:tag name="KSO_WM_DIAGRAM_VIRTUALLY_FRAME" val="{&quot;height&quot;:186.26755905511808,&quot;left&quot;:52.395039370078734,&quot;top&quot;:160.09,&quot;width&quot;:849.3625196850395}"/>
</p:tagLst>
</file>

<file path=ppt/tags/tag59.xml><?xml version="1.0" encoding="utf-8"?>
<p:tagLst xmlns:p="http://schemas.openxmlformats.org/presentationml/2006/main">
  <p:tag name="KSO_WM_DIAGRAM_VIRTUALLY_FRAME" val="{&quot;height&quot;:186.26755905511808,&quot;left&quot;:52.395039370078734,&quot;top&quot;:160.09,&quot;width&quot;:849.3625196850395}"/>
</p:tagLst>
</file>

<file path=ppt/tags/tag60.xml><?xml version="1.0" encoding="utf-8"?>
<p:tagLst xmlns:p="http://schemas.openxmlformats.org/presentationml/2006/main">
  <p:tag name="KSO_WM_DIAGRAM_VIRTUALLY_FRAME" val="{&quot;height&quot;:186.26755905511808,&quot;left&quot;:52.395039370078734,&quot;top&quot;:160.09,&quot;width&quot;:849.3625196850395}"/>
</p:tagLst>
</file>

<file path=ppt/tags/tag61.xml><?xml version="1.0" encoding="utf-8"?>
<p:tagLst xmlns:p="http://schemas.openxmlformats.org/presentationml/2006/main">
  <p:tag name="KSO_WM_DIAGRAM_VIRTUALLY_FRAME" val="{&quot;height&quot;:186.26755905511808,&quot;left&quot;:52.395039370078734,&quot;top&quot;:160.09,&quot;width&quot;:849.3625196850395}"/>
</p:tagLst>
</file>

<file path=ppt/tags/tag62.xml><?xml version="1.0" encoding="utf-8"?>
<p:tagLst xmlns:p="http://schemas.openxmlformats.org/presentationml/2006/main">
  <p:tag name="KSO_WM_DIAGRAM_VIRTUALLY_FRAME" val="{&quot;height&quot;:186.26755905511808,&quot;left&quot;:52.395039370078734,&quot;top&quot;:160.09,&quot;width&quot;:849.3625196850395}"/>
</p:tagLst>
</file>

<file path=ppt/tags/tag63.xml><?xml version="1.0" encoding="utf-8"?>
<p:tagLst xmlns:p="http://schemas.openxmlformats.org/presentationml/2006/main">
  <p:tag name="KSO_WM_DIAGRAM_VIRTUALLY_FRAME" val="{&quot;height&quot;:186.26755905511808,&quot;left&quot;:52.395039370078734,&quot;top&quot;:160.09,&quot;width&quot;:849.3625196850395}"/>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21425</Words>
  <Application>WPS 演示</Application>
  <PresentationFormat>宽屏</PresentationFormat>
  <Paragraphs>1597</Paragraphs>
  <Slides>57</Slides>
  <Notes>57</Notes>
  <HiddenSlides>0</HiddenSlides>
  <MMClips>0</MMClips>
  <ScaleCrop>false</ScaleCrop>
  <HeadingPairs>
    <vt:vector size="8" baseType="variant">
      <vt:variant>
        <vt:lpstr>已用的字体</vt:lpstr>
      </vt:variant>
      <vt:variant>
        <vt:i4>16</vt:i4>
      </vt:variant>
      <vt:variant>
        <vt:lpstr>主题</vt:lpstr>
      </vt:variant>
      <vt:variant>
        <vt:i4>2</vt:i4>
      </vt:variant>
      <vt:variant>
        <vt:lpstr>嵌入 OLE 服务器</vt:lpstr>
      </vt:variant>
      <vt:variant>
        <vt:i4>1</vt:i4>
      </vt:variant>
      <vt:variant>
        <vt:lpstr>幻灯片标题</vt:lpstr>
      </vt:variant>
      <vt:variant>
        <vt:i4>57</vt:i4>
      </vt:variant>
    </vt:vector>
  </HeadingPairs>
  <TitlesOfParts>
    <vt:vector size="76" baseType="lpstr">
      <vt:lpstr>Arial</vt:lpstr>
      <vt:lpstr>宋体</vt:lpstr>
      <vt:lpstr>Wingdings</vt:lpstr>
      <vt:lpstr>Arial</vt:lpstr>
      <vt:lpstr>Alimama ShuHeiTi</vt:lpstr>
      <vt:lpstr>Segoe Print</vt:lpstr>
      <vt:lpstr>MiSans</vt:lpstr>
      <vt:lpstr>Calibri</vt:lpstr>
      <vt:lpstr>微软雅黑</vt:lpstr>
      <vt:lpstr>Arial Unicode MS</vt:lpstr>
      <vt:lpstr>等线</vt:lpstr>
      <vt:lpstr>MiSans</vt:lpstr>
      <vt:lpstr>Noto Sans SC</vt:lpstr>
      <vt:lpstr>Calibri</vt:lpstr>
      <vt:lpstr>Calibri</vt:lpstr>
      <vt:lpstr>quote-cjk-patch</vt:lpstr>
      <vt:lpstr>Office 主题​​</vt:lpstr>
      <vt:lpstr>Custom Theme</vt:lpstr>
      <vt:lpstr>Package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orix zhu</dc:creator>
  <cp:lastModifiedBy>Zhiqiang Zhao</cp:lastModifiedBy>
  <cp:revision>12</cp:revision>
  <dcterms:created xsi:type="dcterms:W3CDTF">2026-03-18T03:13:00Z</dcterms:created>
  <dcterms:modified xsi:type="dcterms:W3CDTF">2026-04-29T07:17:12Z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2E281ECA15874DA593B66381B3108EAF_13</vt:lpwstr>
  </property>
</Properties>
</file>